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732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Não abrir pela agenda. A tese é uma só: numa operação coordenada, o trabalho decisivo acontece antes do embarque. No final, mostramos o que o rio respondeu.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1:20. Perguntar à plateia: quem já foi a campo numa operação sem saber exatamente o que devia procurar? Deixar a pergunta no ar dois segundos. Na rotina, o roteiro é a norma; na operação coordenada, o roteiro precisa ser construído antes — e é essa etapa que costuma ser pulada.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Só o essencial para situar quem não conhece a operação. Destacar os dois números em azul-escuro: duas reuniões com toda a equipe e um formulário de 51 quesitos — são o planejamento que se vê.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A primeira decisão de planejamento foi dizer não. A peça gráfica tinha cinco frentes; a OS ficou com quatro. Condições operacionais das embarcações é objeto de outra fiscalização — misturar contaminaria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O exemplo do georreferenciamento é o mais didático: começamos querendo a coordenada de todos os pontos de embarque. Mas o fiscal estará na saída ou na chegada — nunca em todos. Insistir produziria fichas vazias. Fechar com a ressalva: escopo não é licença para ignorar irregularidade.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1:30. Coração do método. A regra é fiscalizar o mais perto possível do horário do Termo. Mas são 84 embarcações em cinco dias: não dá para estar em todas as partidas e chegadas. Sem o Cenário B, metade das fichas voltaria em branco. Com ele, o fiscal sabe o que buscar quando chega depois — e o formulário tem campo para isso: qual evidência e que horário ela comprova.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1:40. O formulário não foi entregue pronto à equipe. Na 1ª reunião, com todos, coletamos subsídios: o que o fiscal consegue verificar no porto e o que não consegue. Na 2ª, apresentamos a versão, fizemos os ajustes e tiramos as dúvidas antes do embarque. Resultado: 4 seções e 51 quesitos, na ordem em que o trabalho acontece. Destaque para a Seção 1: é preenchida antes de sair — é o Termo de Autorização transcrito. O planejamento está dentro do formulário.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Sem estas quatro regras, cinco unidades produzem cinco relatórios que não se somam. 'Saiu no horário' em Manaus não se compara com 'atrasou um pouco' em Santarém; hh:mm se compara. O próprio formulário instrui: não registre juízo de atraso — a diferença é calculada depois, a partir dos dois horários.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Duas Ordens de Serviço, duas reuniões com toda a equipe, um formulário e uma programação por unidade — tudo pronto antes de 14/09. Quem embarcou já sabia o que procurar.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1:50. Primeiro resultado prévio, e o mais contraintuitivo: a saída, em geral, cumpre o horário. O problema aparece na chegada, e o atraso se forma nos pontos intermediários — em alguns casos chegou a aproximadamente 10 horas. Consequência para o método: se tivéssemos fiscalizado só a partida, o diagnóstico seria de cumprimento. Frisar que são resultados prévios; os RETE regionais chegam até 09/10.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1:40. Segundo resultado, e o que interessa à regulação. Em Macapá a navegação obedece à maré, e a maré não se repete no mesmo horário: no regime semidiurno a preamar atrasa, em média, cerca de 50 minutos por dia — numa semana, perto de 6 horas. O Termo fixa dia e hora; o rio não. Por isso o horário do Termo não é aferível e, às vezes, a mudança alcança até o dia da saída. Não é falha do fiscal nem, necessariamente, da empresa: é uma pergunta para a norma — e entra no RETE como sugestão de alteração normativa. Se houver tempo, mostrar a tábua de marés da Marinha para o porto de Santana.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As três perguntas que se fazem a toda operação coordenada: deu certo, fez sentido, fez diferença. Duas já têm resposta prévia. Ser honesto sobre o que ainda está em apuração vale mais aqui do que número bonito.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Uma frase por lição. As duas últimas vieram do campo e mudam a próxima operação: medir a chegada e olhar os pontos intermediários. E a questão da maré sobe para a regulação.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Fechar com a frase e abrir para perguntas. Tempo total: cerca de 15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852160" cy="5852160"/>
          </a:xfrm>
          <a:prstGeom prst="ellipse">
            <a:avLst/>
          </a:prstGeom>
          <a:solidFill>
            <a:srgbClr val="1C7293">
              <a:alpha val="24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241280" y="3749040"/>
            <a:ext cx="3840480" cy="3840480"/>
          </a:xfrm>
          <a:prstGeom prst="ellipse">
            <a:avLst/>
          </a:prstGeom>
          <a:solidFill>
            <a:srgbClr val="14284F"/>
          </a:solidFill>
          <a:ln w="12700">
            <a:solidFill>
              <a:srgbClr val="142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080061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7830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FISCAIS  ·  2026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30552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CERTA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planeja uma operação coordenada — e o que o rio responde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6634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Operação Navegação Interior  ·  esquema operacional e frota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8978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Renan Medeiros Santos  ·  Coordenador Geral da operação  ·  </a:t>
            </a:r>
            <a:r>
              <a:rPr lang="en-US" sz="1150" dirty="0" err="1">
                <a:solidFill>
                  <a:srgbClr val="7D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</a:t>
            </a:r>
            <a:r>
              <a:rPr lang="en-US" sz="1150" dirty="0">
                <a:solidFill>
                  <a:srgbClr val="7D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URESN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uma operação coordenada é diferente?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5394960" cy="3154680"/>
          </a:xfrm>
          <a:prstGeom prst="roundRect">
            <a:avLst>
              <a:gd name="adj" fmla="val 1739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77240" y="1554480"/>
            <a:ext cx="493776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905256" y="1554480"/>
            <a:ext cx="4681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DE ROTINA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22960" y="232257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74520" y="2560320"/>
            <a:ext cx="182880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057400" y="22860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2103120" y="232257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2560320"/>
            <a:ext cx="182880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337560" y="22860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3383280" y="232257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2560320"/>
            <a:ext cx="182880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617720" y="22860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4663440" y="232257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já existe.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474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Confere-se item a item o que a norma exige. Planejar parece redundante — e a equipe torce o nariz.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45352" y="1325880"/>
            <a:ext cx="5394960" cy="3154680"/>
          </a:xfrm>
          <a:prstGeom prst="roundRect">
            <a:avLst>
              <a:gd name="adj" fmla="val 1739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473952" y="1554480"/>
            <a:ext cx="4937760" cy="512064"/>
          </a:xfrm>
          <a:prstGeom prst="roundRect">
            <a:avLst>
              <a:gd name="adj" fmla="val 10714"/>
            </a:avLst>
          </a:prstGeom>
          <a:solidFill>
            <a:srgbClr val="D98F1E"/>
          </a:solidFill>
          <a:ln w="12700">
            <a:solidFill>
              <a:srgbClr val="D98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6601968" y="1554480"/>
            <a:ext cx="4681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COORDENADA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73952" y="228600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406F"/>
          </a:solidFill>
          <a:ln w="12700">
            <a:solidFill>
              <a:srgbClr val="2A4C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6510528" y="23225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388352" y="2560320"/>
            <a:ext cx="91440" cy="0"/>
          </a:xfrm>
          <a:prstGeom prst="line">
            <a:avLst/>
          </a:prstGeom>
          <a:noFill/>
          <a:ln w="19050">
            <a:solidFill>
              <a:srgbClr val="6B85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7479792" y="228600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406F"/>
          </a:solidFill>
          <a:ln w="12700">
            <a:solidFill>
              <a:srgbClr val="2A4C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7516368" y="23225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394192" y="2560320"/>
            <a:ext cx="91440" cy="0"/>
          </a:xfrm>
          <a:prstGeom prst="line">
            <a:avLst/>
          </a:prstGeom>
          <a:noFill/>
          <a:ln w="19050">
            <a:solidFill>
              <a:srgbClr val="6B85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8485632" y="228600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406F"/>
          </a:solidFill>
          <a:ln w="12700">
            <a:solidFill>
              <a:srgbClr val="2A4C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 txBox="1"/>
          <p:nvPr/>
        </p:nvSpPr>
        <p:spPr>
          <a:xfrm>
            <a:off x="8522208" y="23225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400032" y="2560320"/>
            <a:ext cx="91440" cy="0"/>
          </a:xfrm>
          <a:prstGeom prst="line">
            <a:avLst/>
          </a:prstGeom>
          <a:noFill/>
          <a:ln w="19050">
            <a:solidFill>
              <a:srgbClr val="6B85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9491472" y="228600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406F"/>
          </a:solidFill>
          <a:ln w="12700">
            <a:solidFill>
              <a:srgbClr val="2A4C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 txBox="1"/>
          <p:nvPr/>
        </p:nvSpPr>
        <p:spPr>
          <a:xfrm>
            <a:off x="9528048" y="23225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405872" y="2560320"/>
            <a:ext cx="91440" cy="0"/>
          </a:xfrm>
          <a:prstGeom prst="line">
            <a:avLst/>
          </a:prstGeom>
          <a:noFill/>
          <a:ln w="19050">
            <a:solidFill>
              <a:srgbClr val="6B85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10497312" y="228600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2406F"/>
          </a:solidFill>
          <a:ln w="12700">
            <a:solidFill>
              <a:srgbClr val="2A4C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 txBox="1"/>
          <p:nvPr/>
        </p:nvSpPr>
        <p:spPr>
          <a:xfrm>
            <a:off x="10533888" y="2322576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6473952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é construído antes de embarcar.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473952" y="3474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checklist pronto. Cada fiscal precisa saber exatamente o que procurar — e como registrar.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548640" y="47548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 txBox="1"/>
          <p:nvPr/>
        </p:nvSpPr>
        <p:spPr>
          <a:xfrm>
            <a:off x="822960" y="48006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fiscal chega ao porto sem saber o que procurar, a operação não anda.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Operação Hora Certa em números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1696212" cy="2148840"/>
          </a:xfrm>
          <a:prstGeom prst="roundRect">
            <a:avLst>
              <a:gd name="adj" fmla="val 3235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6962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87168"/>
            <a:ext cx="1513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27732" y="1371600"/>
            <a:ext cx="1696212" cy="2148840"/>
          </a:xfrm>
          <a:prstGeom prst="roundRect">
            <a:avLst>
              <a:gd name="adj" fmla="val 3235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2427732" y="1508760"/>
            <a:ext cx="16962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2519172" y="2487168"/>
            <a:ext cx="1513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6824" y="1371600"/>
            <a:ext cx="1696212" cy="2148840"/>
          </a:xfrm>
          <a:prstGeom prst="roundRect">
            <a:avLst>
              <a:gd name="adj" fmla="val 3235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4306824" y="1508760"/>
            <a:ext cx="16962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4398264" y="2487168"/>
            <a:ext cx="1513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embarcações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 mínima)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85916" y="1371600"/>
            <a:ext cx="1696212" cy="2148840"/>
          </a:xfrm>
          <a:prstGeom prst="roundRect">
            <a:avLst>
              <a:gd name="adj" fmla="val 3235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6185916" y="1508760"/>
            <a:ext cx="16962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6277356" y="2487168"/>
            <a:ext cx="1513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em campo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 18/09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65008" y="1371600"/>
            <a:ext cx="1696212" cy="2148840"/>
          </a:xfrm>
          <a:prstGeom prst="roundRect">
            <a:avLst>
              <a:gd name="adj" fmla="val 3235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8065008" y="1508760"/>
            <a:ext cx="16962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8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9" name="Text 16"/>
          <p:cNvSpPr txBox="1"/>
          <p:nvPr/>
        </p:nvSpPr>
        <p:spPr>
          <a:xfrm>
            <a:off x="8156448" y="2487168"/>
            <a:ext cx="1513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equipe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944100" y="1371600"/>
            <a:ext cx="1696212" cy="2148840"/>
          </a:xfrm>
          <a:prstGeom prst="roundRect">
            <a:avLst>
              <a:gd name="adj" fmla="val 3235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9944100" y="1508760"/>
            <a:ext cx="16962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8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4200" dirty="0"/>
          </a:p>
        </p:txBody>
      </p:sp>
      <p:sp>
        <p:nvSpPr>
          <p:cNvPr id="22" name="Text 19"/>
          <p:cNvSpPr txBox="1"/>
          <p:nvPr/>
        </p:nvSpPr>
        <p:spPr>
          <a:xfrm>
            <a:off x="10035540" y="2487168"/>
            <a:ext cx="15133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quesitos 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37947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822960" y="3840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normativa:  OS nº 11/2026/SFC  →  OS nº 7/2026/GCOR/SFC (designação)  →  OS nº 1/2026/URESN/GREBL/SFC (diretrizes de execução)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822960" y="47548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geral: URESN  ·  Unidades executoras: GREMN, GREBL, DREST, UREPV e URESN  ·  Manaus, Belém, Santarém, Porto Velho, Macapá e Santana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1 · O QUE A OPERAÇÃO MEDE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</a:t>
            </a:r>
            <a:r>
              <a:rPr lang="en-US" sz="2700" b="1" dirty="0" err="1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</a:t>
            </a: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Serviço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618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partida: cinco frentes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072030" cy="82296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94944" y="1609344"/>
            <a:ext cx="17794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do esquema operacional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03550" y="1572768"/>
            <a:ext cx="2072030" cy="82296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2949854" y="1609344"/>
            <a:ext cx="17794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das embarcações na frota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58461" y="1572768"/>
            <a:ext cx="2072030" cy="82296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204765" y="1609344"/>
            <a:ext cx="17794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da frota autorizada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3371" y="1572768"/>
            <a:ext cx="2072030" cy="822960"/>
          </a:xfrm>
          <a:prstGeom prst="roundRect">
            <a:avLst>
              <a:gd name="adj" fmla="val 6667"/>
            </a:avLst>
          </a:prstGeom>
          <a:solidFill>
            <a:srgbClr val="E9E9EC"/>
          </a:solidFill>
          <a:ln w="12700">
            <a:solidFill>
              <a:srgbClr val="D0D0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7459675" y="1609344"/>
            <a:ext cx="17794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operacionais das embarcações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3371" y="2432304"/>
            <a:ext cx="2072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desta etapa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568282" y="1572768"/>
            <a:ext cx="2072030" cy="82296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9714586" y="1609344"/>
            <a:ext cx="17794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 documentação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94476" y="2724912"/>
            <a:ext cx="0" cy="27432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480560" y="2999232"/>
            <a:ext cx="3227832" cy="512064"/>
          </a:xfrm>
          <a:prstGeom prst="roundRect">
            <a:avLst>
              <a:gd name="adj" fmla="val 10714"/>
            </a:avLst>
          </a:prstGeom>
          <a:solidFill>
            <a:srgbClr val="D98F1E"/>
          </a:solidFill>
          <a:ln w="12700">
            <a:solidFill>
              <a:srgbClr val="D98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4608576" y="299923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ESCOPO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94476" y="3511296"/>
            <a:ext cx="0" cy="27432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1815084" y="3785616"/>
            <a:ext cx="8558784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1815084" y="3785616"/>
            <a:ext cx="0" cy="256032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548640" y="4041648"/>
            <a:ext cx="2532888" cy="777240"/>
          </a:xfrm>
          <a:prstGeom prst="roundRect">
            <a:avLst>
              <a:gd name="adj" fmla="val 7059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658368" y="4096512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93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operacional</a:t>
            </a:r>
            <a:endParaRPr lang="en-US" sz="1350" dirty="0"/>
          </a:p>
          <a:p>
            <a:pPr marL="0" indent="0" algn="ctr">
              <a:lnSpc>
                <a:spcPts val="2093"/>
              </a:lnSpc>
              <a:buNone/>
            </a:pPr>
            <a:r>
              <a:rPr lang="en-US" sz="105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a)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668012" y="3785616"/>
            <a:ext cx="0" cy="256032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3401568" y="4041648"/>
            <a:ext cx="2532888" cy="777240"/>
          </a:xfrm>
          <a:prstGeom prst="roundRect">
            <a:avLst>
              <a:gd name="adj" fmla="val 7059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 txBox="1"/>
          <p:nvPr/>
        </p:nvSpPr>
        <p:spPr>
          <a:xfrm>
            <a:off x="3511296" y="4096512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93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 frota</a:t>
            </a:r>
            <a:endParaRPr lang="en-US" sz="1350" dirty="0"/>
          </a:p>
          <a:p>
            <a:pPr marL="0" indent="0" algn="ctr">
              <a:lnSpc>
                <a:spcPts val="2093"/>
              </a:lnSpc>
              <a:buNone/>
            </a:pPr>
            <a:r>
              <a:rPr lang="en-US" sz="105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b)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520940" y="3785616"/>
            <a:ext cx="0" cy="256032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6254496" y="4041648"/>
            <a:ext cx="2532888" cy="777240"/>
          </a:xfrm>
          <a:prstGeom prst="roundRect">
            <a:avLst>
              <a:gd name="adj" fmla="val 7059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 txBox="1"/>
          <p:nvPr/>
        </p:nvSpPr>
        <p:spPr>
          <a:xfrm>
            <a:off x="6364224" y="4096512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93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do cadastro</a:t>
            </a:r>
            <a:endParaRPr lang="en-US" sz="1350" dirty="0"/>
          </a:p>
          <a:p>
            <a:pPr marL="0" indent="0" algn="ctr">
              <a:lnSpc>
                <a:spcPts val="2093"/>
              </a:lnSpc>
              <a:buNone/>
            </a:pPr>
            <a:r>
              <a:rPr lang="en-US" sz="105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c)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10373868" y="3785616"/>
            <a:ext cx="0" cy="256032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9107424" y="4041648"/>
            <a:ext cx="2532888" cy="777240"/>
          </a:xfrm>
          <a:prstGeom prst="roundRect">
            <a:avLst>
              <a:gd name="adj" fmla="val 7059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 txBox="1"/>
          <p:nvPr/>
        </p:nvSpPr>
        <p:spPr>
          <a:xfrm>
            <a:off x="9217152" y="4096512"/>
            <a:ext cx="2313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93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 documentação</a:t>
            </a:r>
            <a:endParaRPr lang="en-US" sz="1350" dirty="0"/>
          </a:p>
          <a:p>
            <a:pPr marL="0" indent="0" algn="ctr">
              <a:lnSpc>
                <a:spcPts val="2093"/>
              </a:lnSpc>
              <a:buNone/>
            </a:pPr>
            <a:r>
              <a:rPr lang="en-US" sz="105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d)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 txBox="1"/>
          <p:nvPr/>
        </p:nvSpPr>
        <p:spPr>
          <a:xfrm>
            <a:off x="822960" y="51663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da operação: diagnóstico de cumprimento de esquema operacional e frota — e nada além disso.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1 · CONTINUAÇÃO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é subtrair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3447288" cy="566928"/>
          </a:xfrm>
          <a:prstGeom prst="roundRect">
            <a:avLst>
              <a:gd name="adj" fmla="val 9677"/>
            </a:avLst>
          </a:prstGeom>
          <a:solidFill>
            <a:srgbClr val="8A3B3B"/>
          </a:solidFill>
          <a:ln w="12700">
            <a:solidFill>
              <a:srgbClr val="8A3B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676656" y="1325880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da embarcação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694944" y="206654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Lotação, carga, habitabilidade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94944" y="277977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outra fiscalização — não se mistura o dado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1325880"/>
            <a:ext cx="3447288" cy="566928"/>
          </a:xfrm>
          <a:prstGeom prst="roundRect">
            <a:avLst>
              <a:gd name="adj" fmla="val 9677"/>
            </a:avLst>
          </a:prstGeom>
          <a:solidFill>
            <a:srgbClr val="8A3B3B"/>
          </a:solidFill>
          <a:ln w="12700">
            <a:solidFill>
              <a:srgbClr val="8A3B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4498848" y="1325880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e Autoridade Marítima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70832" y="2029968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4517136" y="206654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Mérito tarifário e matéria da Marinha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70832" y="2743200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4517136" y="277977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o objeto: foco produz dado comparável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93024" y="1325880"/>
            <a:ext cx="3447288" cy="566928"/>
          </a:xfrm>
          <a:prstGeom prst="roundRect">
            <a:avLst>
              <a:gd name="adj" fmla="val 9677"/>
            </a:avLst>
          </a:prstGeom>
          <a:solidFill>
            <a:srgbClr val="8A3B3B"/>
          </a:solidFill>
          <a:ln w="12700">
            <a:solidFill>
              <a:srgbClr val="8A3B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8321040" y="1325880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Georreferenciamento dos pontos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193024" y="2029968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8339328" y="206654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 de cada ponto intermediário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93024" y="2743200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8339328" y="277977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fiscal não estará em todos — o nome do local basta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370332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822960" y="37490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retirado é uma pergunta a menos no porto — e um dado a mais que chega inteiro.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822960" y="470916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escopo delimita a operação, não o fiscal: o que aparecer fora dele, o agente trata sob sua própria competência (OS, itens 4.1 e 4.2).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2 · O 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janela de fiscalização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66160" y="1280160"/>
            <a:ext cx="5056632" cy="603504"/>
          </a:xfrm>
          <a:prstGeom prst="roundRect">
            <a:avLst>
              <a:gd name="adj" fmla="val 9091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3694176" y="1280160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 estar na partida ou na chegada?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94476" y="1883664"/>
            <a:ext cx="0" cy="27432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310128" y="2157984"/>
            <a:ext cx="5568696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310128" y="2157984"/>
            <a:ext cx="0" cy="27432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878824" y="2157984"/>
            <a:ext cx="0" cy="27432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48640" y="2432304"/>
            <a:ext cx="5522976" cy="713232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58368" y="24871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 ·  Cenário A</a:t>
            </a:r>
            <a:endParaRPr lang="en-US" sz="1400" dirty="0"/>
          </a:p>
          <a:p>
            <a:pPr marL="0" indent="0" algn="ctr">
              <a:lnSpc>
                <a:spcPts val="2170"/>
              </a:lnSpc>
              <a:buNone/>
            </a:pPr>
            <a:r>
              <a:rPr lang="en-US" sz="1050" dirty="0">
                <a:solidFill>
                  <a:srgbClr val="D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formulário: itens 2.1, 2.3 e 2.4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273552"/>
            <a:ext cx="5522976" cy="420624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694944" y="331012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efetivo por observação direta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785616"/>
            <a:ext cx="5522976" cy="420624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94944" y="3822192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 e efetivo, separados, em hh:mm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5522976" cy="420624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694944" y="4334256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se foi na partida ou na chegada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17336" y="2432304"/>
            <a:ext cx="5522976" cy="713232"/>
          </a:xfrm>
          <a:prstGeom prst="roundRect">
            <a:avLst>
              <a:gd name="adj" fmla="val 7692"/>
            </a:avLst>
          </a:prstGeom>
          <a:solidFill>
            <a:srgbClr val="D98F1E"/>
          </a:solidFill>
          <a:ln w="12700">
            <a:solidFill>
              <a:srgbClr val="D98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6227064" y="24871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 ·  Cenário B</a:t>
            </a:r>
            <a:endParaRPr lang="en-US" sz="1400" dirty="0"/>
          </a:p>
          <a:p>
            <a:pPr marL="0" indent="0" algn="ctr">
              <a:lnSpc>
                <a:spcPts val="2170"/>
              </a:lnSpc>
              <a:buNone/>
            </a:pPr>
            <a:r>
              <a:rPr lang="en-US" sz="1050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formulário: itens 3.1 a 3.3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17336" y="3273552"/>
            <a:ext cx="5522976" cy="420624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6263640" y="331012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Bilhetes, listas ou relações de embarque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17336" y="3785616"/>
            <a:ext cx="5522976" cy="420624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6263640" y="3822192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atracação e diário de bordo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17336" y="4297680"/>
            <a:ext cx="5522976" cy="420624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6263640" y="4334256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afixado e declaração do preposto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17336" y="4809744"/>
            <a:ext cx="5522976" cy="420624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6263640" y="4846320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vídeos com data e hora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550468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 txBox="1"/>
          <p:nvPr/>
        </p:nvSpPr>
        <p:spPr>
          <a:xfrm>
            <a:off x="822960" y="5550408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Planejamos para a realidade do rio: nem toda saída terá fiscal no porto. O Cenário B evita a ficha vazia — desde que a evidência seja nomeada.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3 · O FORMULÁRIO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Construído com quem vai a campo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435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reuniões de planejamento com toda a equipe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532888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58368" y="1627632"/>
            <a:ext cx="2313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reunião</a:t>
            </a:r>
            <a:endParaRPr lang="en-US" sz="1500" dirty="0"/>
          </a:p>
          <a:p>
            <a:pPr marL="0" indent="0" algn="ctr">
              <a:lnSpc>
                <a:spcPts val="2325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subsídios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81528" y="2029968"/>
            <a:ext cx="320040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401568" y="1572768"/>
            <a:ext cx="2532888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3511296" y="1627632"/>
            <a:ext cx="2313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</a:t>
            </a:r>
            <a:endParaRPr lang="en-US" sz="1500" dirty="0"/>
          </a:p>
          <a:p>
            <a:pPr marL="0" indent="0" algn="ctr">
              <a:lnSpc>
                <a:spcPts val="2325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dos subsídios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34456" y="2029968"/>
            <a:ext cx="320040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254496" y="1572768"/>
            <a:ext cx="2532888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364224" y="1627632"/>
            <a:ext cx="2313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reunião</a:t>
            </a:r>
            <a:endParaRPr lang="en-US" sz="1500" dirty="0"/>
          </a:p>
          <a:p>
            <a:pPr marL="0" indent="0" algn="ctr">
              <a:lnSpc>
                <a:spcPts val="2325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apresentação, ajustes, dúvidas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787384" y="2029968"/>
            <a:ext cx="320040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107424" y="1572768"/>
            <a:ext cx="2532888" cy="914400"/>
          </a:xfrm>
          <a:prstGeom prst="roundRect">
            <a:avLst>
              <a:gd name="adj" fmla="val 6000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9217152" y="1627632"/>
            <a:ext cx="2313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final</a:t>
            </a:r>
            <a:endParaRPr lang="en-US" sz="1500" dirty="0"/>
          </a:p>
          <a:p>
            <a:pPr marL="0" indent="0" algn="ctr">
              <a:lnSpc>
                <a:spcPts val="2325"/>
              </a:lnSpc>
              <a:buNone/>
            </a:pPr>
            <a:r>
              <a:rPr lang="en-US" sz="115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seções · 51 quesitos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373868" y="2487168"/>
            <a:ext cx="0" cy="301752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1815084" y="2788920"/>
            <a:ext cx="8558784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1815084" y="2788920"/>
            <a:ext cx="0" cy="246888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48640" y="3035808"/>
            <a:ext cx="2532888" cy="530352"/>
          </a:xfrm>
          <a:prstGeom prst="roundRect">
            <a:avLst>
              <a:gd name="adj" fmla="val 10345"/>
            </a:avLst>
          </a:prstGeom>
          <a:solidFill>
            <a:srgbClr val="D98F1E"/>
          </a:solidFill>
          <a:ln w="12700">
            <a:solidFill>
              <a:srgbClr val="D98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676656" y="3035808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1 · Planejamento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675888"/>
            <a:ext cx="2532888" cy="438912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694944" y="37124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quesitos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206240"/>
            <a:ext cx="2532888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694944" y="4242816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campo: o Termo transcrito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668012" y="2788920"/>
            <a:ext cx="0" cy="246888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3401568" y="3035808"/>
            <a:ext cx="2532888" cy="530352"/>
          </a:xfrm>
          <a:prstGeom prst="roundRect">
            <a:avLst>
              <a:gd name="adj" fmla="val 10345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3529584" y="3035808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 · Campo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401568" y="3675888"/>
            <a:ext cx="2532888" cy="438912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 txBox="1"/>
          <p:nvPr/>
        </p:nvSpPr>
        <p:spPr>
          <a:xfrm>
            <a:off x="3547872" y="37124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quesitos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401568" y="4206240"/>
            <a:ext cx="2532888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 txBox="1"/>
          <p:nvPr/>
        </p:nvSpPr>
        <p:spPr>
          <a:xfrm>
            <a:off x="3547872" y="4242816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efetivamente observado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520940" y="2788920"/>
            <a:ext cx="0" cy="246888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6254496" y="3035808"/>
            <a:ext cx="2532888" cy="530352"/>
          </a:xfrm>
          <a:prstGeom prst="roundRect">
            <a:avLst>
              <a:gd name="adj" fmla="val 10345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 txBox="1"/>
          <p:nvPr/>
        </p:nvSpPr>
        <p:spPr>
          <a:xfrm>
            <a:off x="6382512" y="3035808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3 · Provas e medidas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254496" y="3675888"/>
            <a:ext cx="2532888" cy="438912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 txBox="1"/>
          <p:nvPr/>
        </p:nvSpPr>
        <p:spPr>
          <a:xfrm>
            <a:off x="6400800" y="37124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quesitos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254496" y="4206240"/>
            <a:ext cx="2532888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 txBox="1"/>
          <p:nvPr/>
        </p:nvSpPr>
        <p:spPr>
          <a:xfrm>
            <a:off x="6400800" y="4242816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Evidência, fato e enquadramento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10373868" y="2788920"/>
            <a:ext cx="0" cy="246888"/>
          </a:xfrm>
          <a:prstGeom prst="line">
            <a:avLst/>
          </a:prstGeom>
          <a:noFill/>
          <a:ln w="19050">
            <a:solidFill>
              <a:srgbClr val="B9C6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8"/>
          <p:cNvSpPr/>
          <p:nvPr/>
        </p:nvSpPr>
        <p:spPr>
          <a:xfrm>
            <a:off x="9107424" y="3035808"/>
            <a:ext cx="2532888" cy="530352"/>
          </a:xfrm>
          <a:prstGeom prst="roundRect">
            <a:avLst>
              <a:gd name="adj" fmla="val 10345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 txBox="1"/>
          <p:nvPr/>
        </p:nvSpPr>
        <p:spPr>
          <a:xfrm>
            <a:off x="9235440" y="3035808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4 · Documentação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9107424" y="3675888"/>
            <a:ext cx="2532888" cy="438912"/>
          </a:xfrm>
          <a:prstGeom prst="roundRect">
            <a:avLst>
              <a:gd name="adj" fmla="val 125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1"/>
          <p:cNvSpPr txBox="1"/>
          <p:nvPr/>
        </p:nvSpPr>
        <p:spPr>
          <a:xfrm>
            <a:off x="9253728" y="37124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quesitos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9107424" y="4206240"/>
            <a:ext cx="2532888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 txBox="1"/>
          <p:nvPr/>
        </p:nvSpPr>
        <p:spPr>
          <a:xfrm>
            <a:off x="9253728" y="4242816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à vista: nº e validade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 txBox="1"/>
          <p:nvPr/>
        </p:nvSpPr>
        <p:spPr>
          <a:xfrm>
            <a:off x="822960" y="51206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planejamento está dentro do formulário: a Seção 1 é preenchida antes de sair — é a régua de comparação (OS, item 8).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4 · COMO REGISTRAR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que tornam o dado comparável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2532888" cy="228600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685800" y="1536192"/>
            <a:ext cx="225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hh:mm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8600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 e efetivo, separados — o atraso é calculado depois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4612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formulário: itens 1.6, 1.9 e 2.3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1371600"/>
            <a:ext cx="2532888" cy="228600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3538728" y="1536192"/>
            <a:ext cx="225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ORIGEM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602736" y="228600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 |  declaração do preposto  |  observação direta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38728" y="324612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formulário: item 2.4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54496" y="1371600"/>
            <a:ext cx="2532888" cy="228600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6391656" y="1536192"/>
            <a:ext cx="225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228600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colhida e que horário ela comprova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91656" y="324612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formulário: itens 3.2 e 3.3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107424" y="1371600"/>
            <a:ext cx="2532888" cy="228600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9244584" y="1536192"/>
            <a:ext cx="225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Nº E VALIDADE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308592" y="228600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documento — “documento ok” não serve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244584" y="324612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formulário: itens 4.3 a 4.6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9319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822960" y="39776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comparável nasce da regra de registro, não do relatório.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822960" y="48920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é descrita, não julgada: fato (3.4) e enquadramento sugerido (3.5). O juízo definitivo é do processo.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PLANEJAMENTO NO CALENDÁRIO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antes do primeiro embarque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658368" y="1426464"/>
            <a:ext cx="1197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0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 GCOR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965960" y="1920240"/>
            <a:ext cx="192024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2157984" y="13716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2267712" y="1426464"/>
            <a:ext cx="1197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31/08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0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 coordenador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75304" y="1920240"/>
            <a:ext cx="192024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767328" y="13716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3877056" y="1426464"/>
            <a:ext cx="1197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09/09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 ponto focal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84648" y="1920240"/>
            <a:ext cx="192024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376672" y="13716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5486400" y="1426464"/>
            <a:ext cx="1197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11/09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alinhamento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793992" y="1920240"/>
            <a:ext cx="192024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986016" y="13716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D98F1E"/>
          </a:solidFill>
          <a:ln w="12700">
            <a:solidFill>
              <a:srgbClr val="D98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7095744" y="1426464"/>
            <a:ext cx="1197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14–18/09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00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403336" y="1920240"/>
            <a:ext cx="192024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8595360" y="13716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8705088" y="1426464"/>
            <a:ext cx="1197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0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regional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012680" y="1920240"/>
            <a:ext cx="192024" cy="0"/>
          </a:xfrm>
          <a:prstGeom prst="line">
            <a:avLst/>
          </a:prstGeom>
          <a:noFill/>
          <a:ln w="19050">
            <a:solidFill>
              <a:srgbClr val="8FA3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10204704" y="137160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10314432" y="1426464"/>
            <a:ext cx="11978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00" dirty="0">
                <a:solidFill>
                  <a:srgbClr val="AF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761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de planejamento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3090672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 txBox="1"/>
          <p:nvPr/>
        </p:nvSpPr>
        <p:spPr>
          <a:xfrm>
            <a:off x="658368" y="3145536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93"/>
              </a:lnSpc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 método</a:t>
            </a:r>
            <a:endParaRPr lang="en-US" sz="1350" dirty="0"/>
          </a:p>
          <a:p>
            <a:pPr marL="0" indent="0" algn="ctr">
              <a:lnSpc>
                <a:spcPts val="2093"/>
              </a:lnSpc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Ordem de Serviço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370832" y="3090672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 txBox="1"/>
          <p:nvPr/>
        </p:nvSpPr>
        <p:spPr>
          <a:xfrm>
            <a:off x="4480560" y="3145536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93"/>
              </a:lnSpc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endParaRPr lang="en-US" sz="1350" dirty="0"/>
          </a:p>
          <a:p>
            <a:pPr marL="0" indent="0" algn="ctr">
              <a:lnSpc>
                <a:spcPts val="2093"/>
              </a:lnSpc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duas reuniões com toda a equipe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193024" y="3090672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 txBox="1"/>
          <p:nvPr/>
        </p:nvSpPr>
        <p:spPr>
          <a:xfrm>
            <a:off x="8302752" y="3145536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93"/>
              </a:lnSpc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embarcações</a:t>
            </a:r>
            <a:endParaRPr lang="en-US" sz="1350" dirty="0"/>
          </a:p>
          <a:p>
            <a:pPr marL="0" indent="0" algn="ctr">
              <a:lnSpc>
                <a:spcPts val="2093"/>
              </a:lnSpc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cada unidade, com os horários do Termo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548640" y="4233672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 txBox="1"/>
          <p:nvPr/>
        </p:nvSpPr>
        <p:spPr>
          <a:xfrm>
            <a:off x="822960" y="4279392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 de embarque (OS, item 8): o Termo de Autorização transcrito na Seção 1. Sem a régua, não há comparação — há descrição de viagem.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239512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 txBox="1"/>
          <p:nvPr/>
        </p:nvSpPr>
        <p:spPr>
          <a:xfrm>
            <a:off x="822960" y="5285232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já conhecido: as mesmas embarcações da Operação Gratuidade Garantida. Planejamento anterior reaproveitado.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· RESULTADOS PRÉVIOS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atraso não está na saída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2130552"/>
            <a:ext cx="3108960" cy="0"/>
          </a:xfrm>
          <a:prstGeom prst="line">
            <a:avLst/>
          </a:prstGeom>
          <a:noFill/>
          <a:ln w="762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572000" y="2130552"/>
            <a:ext cx="3017520" cy="0"/>
          </a:xfrm>
          <a:prstGeom prst="line">
            <a:avLst/>
          </a:prstGeom>
          <a:noFill/>
          <a:ln w="76200">
            <a:solidFill>
              <a:srgbClr val="D98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589520" y="2130552"/>
            <a:ext cx="3108960" cy="0"/>
          </a:xfrm>
          <a:prstGeom prst="line">
            <a:avLst/>
          </a:prstGeom>
          <a:noFill/>
          <a:ln w="76200">
            <a:solidFill>
              <a:srgbClr val="8A3B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182880" y="1298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70432" y="1837944"/>
            <a:ext cx="585216" cy="58521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9933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1298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intermediário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279392" y="1837944"/>
            <a:ext cx="585216" cy="585216"/>
          </a:xfrm>
          <a:prstGeom prst="ellipse">
            <a:avLst/>
          </a:prstGeom>
          <a:solidFill>
            <a:srgbClr val="D98F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9933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09360" y="1298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intermediário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296912" y="1837944"/>
            <a:ext cx="585216" cy="585216"/>
          </a:xfrm>
          <a:prstGeom prst="ellipse">
            <a:avLst/>
          </a:prstGeom>
          <a:solidFill>
            <a:srgbClr val="D98F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99339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418320" y="12984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Chegada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10405872" y="1837944"/>
            <a:ext cx="585216" cy="585216"/>
          </a:xfrm>
          <a:prstGeom prst="ellipse">
            <a:avLst/>
          </a:prstGeom>
          <a:solidFill>
            <a:srgbClr val="8A3B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1993392"/>
            <a:ext cx="274320" cy="2743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48640" y="269748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4"/>
          <p:cNvSpPr txBox="1"/>
          <p:nvPr/>
        </p:nvSpPr>
        <p:spPr>
          <a:xfrm>
            <a:off x="694944" y="2734056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geral, no horário previsto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3566160" y="269748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6"/>
          <p:cNvSpPr txBox="1"/>
          <p:nvPr/>
        </p:nvSpPr>
        <p:spPr>
          <a:xfrm>
            <a:off x="3712464" y="2734056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nos pontos intermediários que o atraso se forma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9509760" y="2697480"/>
            <a:ext cx="2130552" cy="713232"/>
          </a:xfrm>
          <a:prstGeom prst="roundRect">
            <a:avLst>
              <a:gd name="adj" fmla="val 7692"/>
            </a:avLst>
          </a:prstGeom>
          <a:solidFill>
            <a:srgbClr val="F4E4E4"/>
          </a:solidFill>
          <a:ln w="12700">
            <a:solidFill>
              <a:srgbClr val="F4E4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 txBox="1"/>
          <p:nvPr/>
        </p:nvSpPr>
        <p:spPr>
          <a:xfrm>
            <a:off x="9656064" y="2734056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o descumprimento aparece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365760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 txBox="1"/>
          <p:nvPr/>
        </p:nvSpPr>
        <p:spPr>
          <a:xfrm>
            <a:off x="822960" y="3730752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A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h</a:t>
            </a:r>
            <a:endParaRPr lang="en-US" sz="5400" dirty="0"/>
          </a:p>
        </p:txBody>
      </p:sp>
      <p:sp>
        <p:nvSpPr>
          <p:cNvPr id="28" name="Text 21"/>
          <p:cNvSpPr txBox="1"/>
          <p:nvPr/>
        </p:nvSpPr>
        <p:spPr>
          <a:xfrm>
            <a:off x="3566160" y="3767328"/>
            <a:ext cx="7818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atraso na chegada, em alguns casos.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atraso não sai do porto: acumula-se ao longo do trajeto, nos pontos intermediários.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 txBox="1"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Fiscalizar só a partida mostraria um retrato de cumprimento — o diagnóstico precisa incluir a chegada.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prévios — consolidação dos RETE regionais até 09/10/2026.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· RESULTADOS PRÉVIOS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Macapá: quando a maré define o horário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846320" cy="2834640"/>
          </a:xfrm>
          <a:prstGeom prst="roundRect">
            <a:avLst>
              <a:gd name="adj" fmla="val 1935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22960" y="1572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TERMO FIXA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e hora fixos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59" y="2926080"/>
            <a:ext cx="44581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horário, toda </a:t>
            </a:r>
            <a:r>
              <a:rPr lang="en-US" sz="1400" dirty="0" err="1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r>
              <a:rPr lang="en-US" sz="1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</a:t>
            </a:r>
            <a:r>
              <a:rPr lang="en-US" sz="1400" dirty="0" err="1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r>
              <a:rPr lang="en-US" sz="1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400" dirty="0" err="1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maré</a:t>
            </a:r>
            <a:r>
              <a:rPr lang="en-US" sz="1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4290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9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régua da Seção 1 do formulário (itens 1.5 a 1.9).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04688" y="2450592"/>
            <a:ext cx="640080" cy="640080"/>
          </a:xfrm>
          <a:prstGeom prst="ellipse">
            <a:avLst/>
          </a:prstGeom>
          <a:solidFill>
            <a:srgbClr val="D98F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5504688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245352" y="137160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 txBox="1"/>
          <p:nvPr/>
        </p:nvSpPr>
        <p:spPr>
          <a:xfrm>
            <a:off x="6492240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RIO IMPÕE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preamar se desloca, em média, cerca de 50 min a cada dia.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92240" y="233172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6638544" y="236829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 ·  preamar de referência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903720" y="278892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 txBox="1"/>
          <p:nvPr/>
        </p:nvSpPr>
        <p:spPr>
          <a:xfrm>
            <a:off x="7050024" y="282549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 ·  ≈ 50 min mais tarde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315200" y="324612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 txBox="1"/>
          <p:nvPr/>
        </p:nvSpPr>
        <p:spPr>
          <a:xfrm>
            <a:off x="7461504" y="328269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 ·  ≈ 1h40 mais tarde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863840" y="3703320"/>
            <a:ext cx="3547872" cy="365760"/>
          </a:xfrm>
          <a:prstGeom prst="roundRect">
            <a:avLst>
              <a:gd name="adj" fmla="val 15000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 txBox="1"/>
          <p:nvPr/>
        </p:nvSpPr>
        <p:spPr>
          <a:xfrm>
            <a:off x="8010144" y="373989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dia, semana seguinte  ·  ≈ 6 h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48640" y="44348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 txBox="1"/>
          <p:nvPr/>
        </p:nvSpPr>
        <p:spPr>
          <a:xfrm>
            <a:off x="822960" y="44805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em Macapá, o horário do Termo não é aferível — e, às vezes, a maré muda até o dia da saída.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 txBox="1"/>
          <p:nvPr/>
        </p:nvSpPr>
        <p:spPr>
          <a:xfrm>
            <a:off x="822960" y="53035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regulação: como fixar horário no Termo quando a partida depende da maré?  →  sugestão de alteração normativa (OS, item 29, i).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perguntas que testam o planejamento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676656" y="1325880"/>
            <a:ext cx="3191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447288" cy="1280160"/>
          </a:xfrm>
          <a:prstGeom prst="roundRect">
            <a:avLst>
              <a:gd name="adj" fmla="val 4286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731520" y="216712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APURAÇÃO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84 embarcações — a consolidação dos RETE fecha em 09/10.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3447288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694944" y="351129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abordagens couberam na janela?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70832" y="1325880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4498848" y="1325880"/>
            <a:ext cx="3191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FEZ SENTIDO?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70832" y="2057400"/>
            <a:ext cx="3447288" cy="1280160"/>
          </a:xfrm>
          <a:prstGeom prst="roundRect">
            <a:avLst>
              <a:gd name="adj" fmla="val 4286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4553712" y="216712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SE VÊ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Macapá, o horário fixo do Termo não conversa com a maré: o método encontrou o limite da norma.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70832" y="3474720"/>
            <a:ext cx="3447288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4517136" y="351129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não conseguiu preencher?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93024" y="1325880"/>
            <a:ext cx="3447288" cy="603504"/>
          </a:xfrm>
          <a:prstGeom prst="roundRect">
            <a:avLst>
              <a:gd name="adj" fmla="val 9091"/>
            </a:avLst>
          </a:prstGeom>
          <a:solidFill>
            <a:srgbClr val="D98F1E"/>
          </a:solidFill>
          <a:ln w="12700">
            <a:solidFill>
              <a:srgbClr val="D98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8321040" y="1325880"/>
            <a:ext cx="3191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FEZ DIFERENÇA?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193024" y="2057400"/>
            <a:ext cx="3447288" cy="1280160"/>
          </a:xfrm>
          <a:prstGeom prst="roundRect">
            <a:avLst>
              <a:gd name="adj" fmla="val 4286"/>
            </a:avLst>
          </a:prstGeom>
          <a:solidFill>
            <a:srgbClr val="F3E2C6"/>
          </a:solidFill>
          <a:ln w="12700">
            <a:solidFill>
              <a:srgbClr val="F3E2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8375904" y="216712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SE VÊ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375904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sem medir a chegada, atrasos de até ~10 h passariam despercebidos.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93024" y="3474720"/>
            <a:ext cx="3447288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8339328" y="351129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achado a rotina não pegaria?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3434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 txBox="1"/>
          <p:nvPr/>
        </p:nvSpPr>
        <p:spPr>
          <a:xfrm>
            <a:off x="822960" y="4389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 resultado consolidado não invalida a resposta: o planejamento se avalia pelo que a equipe soube fazer ao chegar no porto.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PRÓXIMA OPERAÇÃO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lições de planejamento</a:t>
            </a:r>
            <a:endParaRPr lang="en-US" sz="2700" dirty="0"/>
          </a:p>
        </p:txBody>
      </p:sp>
      <p:pic>
        <p:nvPicPr>
          <p:cNvPr id="4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916" y="301752"/>
            <a:ext cx="76239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2532888" cy="2697480"/>
          </a:xfrm>
          <a:prstGeom prst="roundRect">
            <a:avLst>
              <a:gd name="adj" fmla="val 2166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513332" y="1600200"/>
            <a:ext cx="603504" cy="603504"/>
          </a:xfrm>
          <a:prstGeom prst="ellipse">
            <a:avLst/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1513332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37744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Planeje com quem vai a campo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20040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reuniões com toda a equipe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1568" y="1371600"/>
            <a:ext cx="2532888" cy="2697480"/>
          </a:xfrm>
          <a:prstGeom prst="roundRect">
            <a:avLst>
              <a:gd name="adj" fmla="val 2166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366260" y="1600200"/>
            <a:ext cx="603504" cy="603504"/>
          </a:xfrm>
          <a:prstGeom prst="ellipse">
            <a:avLst/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436626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37744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vai junto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20040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transcrito antes de sair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54496" y="1371600"/>
            <a:ext cx="2532888" cy="2697480"/>
          </a:xfrm>
          <a:prstGeom prst="roundRect">
            <a:avLst>
              <a:gd name="adj" fmla="val 2166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219188" y="1600200"/>
            <a:ext cx="603504" cy="603504"/>
          </a:xfrm>
          <a:prstGeom prst="ellipse">
            <a:avLst/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7219188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19088" y="237744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a chegada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19088" y="320040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costuma cumprir; o atraso aparece no fim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07424" y="1371600"/>
            <a:ext cx="2532888" cy="2697480"/>
          </a:xfrm>
          <a:prstGeom prst="roundRect">
            <a:avLst>
              <a:gd name="adj" fmla="val 2166"/>
            </a:avLst>
          </a:prstGeom>
          <a:solidFill>
            <a:srgbClr val="EEF2F8"/>
          </a:solidFill>
          <a:ln w="12700">
            <a:solidFill>
              <a:srgbClr val="DCE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10072116" y="1600200"/>
            <a:ext cx="603504" cy="603504"/>
          </a:xfrm>
          <a:prstGeom prst="ellipse">
            <a:avLst/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10072116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9272016" y="237744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o caminho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272016" y="320040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atraso se forma nos pontos intermediários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0265A"/>
          </a:solidFill>
          <a:ln w="12700">
            <a:solidFill>
              <a:srgbClr val="1026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822960" y="43891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leve ao regulador o que o rio ensinou: em linha de maré, o horário fixo do Termo não é aferível (OS, item 29, i).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Logomarca da ANTA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31520"/>
            <a:ext cx="1080061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103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Hora Certa mede uma coisa só: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26517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serviço acontece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foi autorizado.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só sabemos disso porque decidimos, antes de embarcar, o que olhar e como anotar.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Renan Medeiros Santos  ·  URESN  ·  Coordenador Geral da 2ª Operação Navegação Interior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2240</Words>
  <Application>Microsoft Office PowerPoint</Application>
  <PresentationFormat>Widescreen</PresentationFormat>
  <Paragraphs>250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ANTAQ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Operação Hora Certa - Encontro Nacional de Fiscais</dc:title>
  <dc:subject>PptxGenJS Presentation</dc:subject>
  <dc:creator>Renan Medeiros Santos</dc:creator>
  <cp:lastModifiedBy>Renan Santos</cp:lastModifiedBy>
  <cp:revision>3</cp:revision>
  <dcterms:created xsi:type="dcterms:W3CDTF">2026-09-22T22:51:51Z</dcterms:created>
  <dcterms:modified xsi:type="dcterms:W3CDTF">2026-09-23T11:52:21Z</dcterms:modified>
</cp:coreProperties>
</file>