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8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
Os colegas vão falar das operações de Gratuidade e Hora Certa — o que encontramos em campo. Eu vim falar do instrumento: por que a GCOR desenhou as operacionais desse jeito e o que se espera delas daqui para frente.
Em uma frase: a operacional é a fiscalização colocada para resolver problema, e não apenas para verificar conformidade.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(2 min)
A definição está na ODSE 11: problema regulatório predefinido, sobre um tema ou tipo de serviço, sem um agente regulado específico. Isso é a virada silenciosa do modelo — a unidade de planejamento deixou de ser a empresa e passou a ser o problema.
Três consequências práticas:
1. O tema é que define o escopo e o método. Não se sai a campo com o checklist pronto e se descobre o problema depois.
2. O foco continua sendo a operação das empresas. Mas se o problema nos levar a outro lugar, a operação é o meio de prova disso.
3. O produto não se esgota no auto de infração. O que a operacional entrega de mais valioso é o diagnóstico da causa e a proposta do instrumento que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SE PLANEJA (4 min) — este é o centro da apresentação
Quatro perguntas, e a ordem delas é a mensagem. Hoje a gente tende a fazer o caminho inverso: o instrumento já está dado — o checklist — e o problema aparece depois, no relatório.
1. De que forma abordar o problema. Qual o recorte, qual a hipótese que estamos testando, o que precisamos provar.
2. De quais informações precisamos. Duas frentes: o que só se descobre em campo, e o que a gente já recebe e não usa. Lembrar que a norma já obriga remessa bimestral de dados operacionais.
3. Que instrumentos temos para sanar o problema — e quais precisamos criar. Esta é a pergunta que abre espaço para propor alteração normativa, fiscalização eletrônica, dado, comunicação com o usuário. Muitos problemas persistem porque o instrumento adequado simplesmente não existe ainda.
4. Que resultado alcançamos. Hoje o único número que o sistema produz é hora lançada no Hefesto — mede esforço, não efeito. Se a operacional não define no planejamento o que vai medir, a gente nunca vai saber se o problema diminuiu.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A697-63FE-22FE-5FAD-2230AD1E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5EC9C-B05F-AF81-39C2-F35188F73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7950C-0E0C-588F-93C5-593119114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SE PLANEJA (4 min) — este é o centro da apresentação
Quatro perguntas, e a ordem delas é a mensagem. Hoje a gente tende a fazer o caminho inverso: o instrumento já está dado — o checklist — e o problema aparece depois, no relatório.
1. De que forma abordar o problema. Qual o recorte, qual a hipótese que estamos testando, o que precisamos provar.
2. De quais informações precisamos. Duas frentes: o que só se descobre em campo, e o que a gente já recebe e não usa. Lembrar que a norma já obriga remessa bimestral de dados operacionais.
3. Que instrumentos temos para sanar o problema — e quais precisamos criar. Esta é a pergunta que abre espaço para propor alteração normativa, fiscalização eletrônica, dado, comunicação com o usuário. Muitos problemas persistem porque o instrumento adequado simplesmente não existe ainda.
4. Que resultado alcançamos. Hoje o único número que o sistema produz é hora lançada no Hefesto — mede esforço, não efeito. Se a operacional não define no planejamento o que vai medir, a gente nunca vai saber se o problema diminuiu.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3F00A-8E45-9D62-4A95-F10E054CD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50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(2 min)
Hoje a leitura dominante é que operacional significa operação grande, com cinco regionais, diária e passagem. Não é.
Se o problema é comum a várias regiões, a operação coordenada é o formato certo: várias setoriais, mesmo período, mesmo método. Só assim dá para comparar regiões e dizer o tamanho do problema no setor.
Se o problema é de uma localidade só, a operação localizada resolve — recorte estreito, ciclo mais curto, uma setorial. E ela também serve como piloto: testa o método numa região antes de levar o tema para o país inteiro.
A escala decorre do problema. Não do calendário, nem do orçamento de diárias.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(2 min)
Um ponto que costuma passar despercebido: a SFC é a única área da ANTAQ que produz evidência empírica de campo. Regulação, outorga e tarifa trabalham com papel e dado declarado. Quem sabe o que acontece no guichê de Santana e no cais de Santarém somos nós. Isso não diminui a fiscalização — aumenta o peso dela dentro da Agência.
Mas só vale se o que a gente aprende virar alguma coisa: método padronizado, proposta de norma, ferramenta nova.
O convite é esse. Quando forem planejar a próxima operacional, não comecem pela lista de embarcações. Comecem pelo problema que vocês já conhecem e que nunca conseguimos resolver — e perguntem o que faria ele acabar.
[Encerrar e passar a palavra para as apresentações da Gratuidade Garantida e da Hora Certa.]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4206240" cy="420624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881360" y="822960"/>
            <a:ext cx="1371600" cy="1371600"/>
          </a:xfrm>
          <a:prstGeom prst="ellipse">
            <a:avLst/>
          </a:prstGeom>
          <a:solidFill>
            <a:srgbClr val="E2A03F">
              <a:alpha val="20000"/>
            </a:srgbClr>
          </a:solidFill>
          <a:ln w="12700">
            <a:solidFill>
              <a:srgbClr val="E2A03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SUPERINTENDÊNCIA DE FISCALIZAÇÃO  ·  GCOR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Fiscalizações operacionais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partir de 2026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GCOR está estruturando as operações coordenadas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Flávia Pontilhão  ·  Gerência de Coordenação das Unidades Regionais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operacional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1234440" y="1783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ação fiscalizadora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r>
              <a:rPr lang="en-US" sz="1900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Ataca</a:t>
            </a:r>
            <a:r>
              <a:rPr lang="en-US" sz="19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um problema regulatório conhecido, e que não temos conseguido enfrentar nas demais modalidades de fiscalização.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34747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1430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do problema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572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800" baseline="-25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 uma lista de verificação. O tema define o escopo, o método e o que vamos medir.</a:t>
            </a:r>
            <a:endParaRPr lang="en-US" sz="2800" baseline="-25000" dirty="0"/>
          </a:p>
        </p:txBody>
      </p:sp>
      <p:sp>
        <p:nvSpPr>
          <p:cNvPr id="10" name="Shape 8"/>
          <p:cNvSpPr/>
          <p:nvPr/>
        </p:nvSpPr>
        <p:spPr>
          <a:xfrm>
            <a:off x="4434840" y="31546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34747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7548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na operação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4572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 é como as empresas operam de fato — e o problema pode nos levar além disso.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46720" y="31546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366760" y="34747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366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ampliado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572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auto e da notificação: diagnóstico da causa e proposta de </a:t>
            </a:r>
            <a:r>
              <a:rPr lang="en-US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enfrentamento</a:t>
            </a:r>
            <a:r>
              <a:rPr lang="en-US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planeja uma operacional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423160" cy="4297680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problema?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977640"/>
            <a:ext cx="1920240" cy="218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O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fizemos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obtivemos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Por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conseguimos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resolver?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20440" y="2057400"/>
            <a:ext cx="2423160" cy="4297680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79476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que informações precisamos?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977640"/>
            <a:ext cx="1920240" cy="218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Visita de campo?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Histórico?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423160" cy="4297680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9224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instrumentos temos?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977640"/>
            <a:ext cx="1920240" cy="2003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infração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Interdição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Norma nova?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outros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15400" y="2057400"/>
            <a:ext cx="2423160" cy="4297680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18972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Preciso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pensar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numa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abordagem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diferenciada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?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977640"/>
            <a:ext cx="1920240" cy="218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SFC?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200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Antaq</a:t>
            </a:r>
            <a:r>
              <a:rPr lang="en-US" sz="20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5408-7F97-B907-FEEC-8D7A5BC7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3A592E-0A38-E3AF-BBA3-B234897370E8}"/>
              </a:ext>
            </a:extLst>
          </p:cNvPr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Medir</a:t>
            </a: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3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os</a:t>
            </a: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3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resultados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1A80E7-8471-FAB1-43BA-9002C706940B}"/>
              </a:ext>
            </a:extLst>
          </p:cNvPr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o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tendo </a:t>
            </a:r>
            <a:r>
              <a:rPr lang="en-US" sz="200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EC5323-C010-9307-724D-03FDE1D38F8E}"/>
              </a:ext>
            </a:extLst>
          </p:cNvPr>
          <p:cNvSpPr/>
          <p:nvPr/>
        </p:nvSpPr>
        <p:spPr>
          <a:xfrm>
            <a:off x="822960" y="2057400"/>
            <a:ext cx="2423160" cy="2701212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C4917B-46F8-A3CB-B183-905B1540757A}"/>
              </a:ext>
            </a:extLst>
          </p:cNvPr>
          <p:cNvSpPr txBox="1"/>
          <p:nvPr/>
        </p:nvSpPr>
        <p:spPr>
          <a:xfrm>
            <a:off x="109728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0397C6-53FC-97E6-B40C-8A858E7AE18D}"/>
              </a:ext>
            </a:extLst>
          </p:cNvPr>
          <p:cNvSpPr txBox="1"/>
          <p:nvPr/>
        </p:nvSpPr>
        <p:spPr>
          <a:xfrm>
            <a:off x="109728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Resolvemos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2D77D1-DCD6-E7DB-46C5-FD947EDB591A}"/>
              </a:ext>
            </a:extLst>
          </p:cNvPr>
          <p:cNvSpPr/>
          <p:nvPr/>
        </p:nvSpPr>
        <p:spPr>
          <a:xfrm>
            <a:off x="3520440" y="2057400"/>
            <a:ext cx="2423160" cy="2701212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E0FBDB2-CDA4-10A7-6759-0C8858A69D7D}"/>
              </a:ext>
            </a:extLst>
          </p:cNvPr>
          <p:cNvSpPr txBox="1"/>
          <p:nvPr/>
        </p:nvSpPr>
        <p:spPr>
          <a:xfrm>
            <a:off x="379476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8869298-B272-1BC1-A349-3E151F92E09D}"/>
              </a:ext>
            </a:extLst>
          </p:cNvPr>
          <p:cNvSpPr txBox="1"/>
          <p:nvPr/>
        </p:nvSpPr>
        <p:spPr>
          <a:xfrm>
            <a:off x="379476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Tivemos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algum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avanço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original?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71CB99D-3A8E-FF72-9975-EB6DD63E448A}"/>
              </a:ext>
            </a:extLst>
          </p:cNvPr>
          <p:cNvSpPr/>
          <p:nvPr/>
        </p:nvSpPr>
        <p:spPr>
          <a:xfrm>
            <a:off x="6217920" y="2057400"/>
            <a:ext cx="2423160" cy="2701212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0ACC886-0AF0-4679-2BE9-81CE6AC8F8CD}"/>
              </a:ext>
            </a:extLst>
          </p:cNvPr>
          <p:cNvSpPr txBox="1"/>
          <p:nvPr/>
        </p:nvSpPr>
        <p:spPr>
          <a:xfrm>
            <a:off x="649224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24D6A97-4EF0-1DFD-EE66-E3B5B0F899F4}"/>
              </a:ext>
            </a:extLst>
          </p:cNvPr>
          <p:cNvSpPr txBox="1"/>
          <p:nvPr/>
        </p:nvSpPr>
        <p:spPr>
          <a:xfrm>
            <a:off x="64922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Precisamos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nova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0834208-A210-4A1E-C368-0C4845E84CDB}"/>
              </a:ext>
            </a:extLst>
          </p:cNvPr>
          <p:cNvSpPr/>
          <p:nvPr/>
        </p:nvSpPr>
        <p:spPr>
          <a:xfrm>
            <a:off x="8915400" y="2057400"/>
            <a:ext cx="2423160" cy="2701212"/>
          </a:xfrm>
          <a:prstGeom prst="roundRect">
            <a:avLst>
              <a:gd name="adj" fmla="val 30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CA8217-D584-3B53-416B-1155555E6F29}"/>
              </a:ext>
            </a:extLst>
          </p:cNvPr>
          <p:cNvSpPr txBox="1"/>
          <p:nvPr/>
        </p:nvSpPr>
        <p:spPr>
          <a:xfrm>
            <a:off x="918972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8E88C74-C31C-AEE7-E212-01B8FC6E00DF}"/>
              </a:ext>
            </a:extLst>
          </p:cNvPr>
          <p:cNvSpPr txBox="1"/>
          <p:nvPr/>
        </p:nvSpPr>
        <p:spPr>
          <a:xfrm>
            <a:off x="9189720" y="2926079"/>
            <a:ext cx="1920240" cy="129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fiscalização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sozinha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2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consegue</a:t>
            </a: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resolver?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569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escala decorre do problema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não é sinônimo de operação grande com deslocamento.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18872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COORDENADA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788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problema é comum a várias regiões do país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840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E4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setoriais, mesmo período, mesmo método, resultado consolidado. Permite comparar regiões e dimensionar o problema no setor.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62940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LOCALIZADA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88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problema é único de uma região ou localidade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840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setorial, recorte estreito, ciclo mais curto. Serve também para testar método antes de levar o tema para todo o país.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define a escala é a extensão do </a:t>
            </a:r>
            <a:r>
              <a:rPr lang="en-US" i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muda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E2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operacional é onde a SFC testa o que a fiscalização inteira pode se tornar.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3520440"/>
            <a:ext cx="155448" cy="155448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3258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a única área da Agência que produz evidência empírica de campo.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389120"/>
            <a:ext cx="155448" cy="155448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32588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numa </a:t>
            </a:r>
            <a:r>
              <a:rPr lang="en-US" sz="1700" dirty="0" err="1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r>
              <a:rPr lang="en-US" sz="17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7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 virar método, norma ou ferramenta.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5257800"/>
            <a:ext cx="155448" cy="155448"/>
          </a:xfrm>
          <a:prstGeom prst="ellipse">
            <a:avLst/>
          </a:prstGeom>
          <a:solidFill>
            <a:srgbClr val="E2A03F"/>
          </a:solidFill>
          <a:ln w="12700">
            <a:solidFill>
              <a:srgbClr val="E2A0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325880" y="5166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 é este: planejem a próxima operacional pensando em resolver o problema.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1432</Words>
  <Application>Microsoft Office PowerPoint</Application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Flavia Mendonça de Araujo Pontilhão</cp:lastModifiedBy>
  <cp:revision>3</cp:revision>
  <dcterms:created xsi:type="dcterms:W3CDTF">2026-09-20T16:27:57Z</dcterms:created>
  <dcterms:modified xsi:type="dcterms:W3CDTF">2026-09-23T13:08:40Z</dcterms:modified>
</cp:coreProperties>
</file>