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310" r:id="rId6"/>
    <p:sldId id="260" r:id="rId7"/>
    <p:sldId id="261" r:id="rId8"/>
    <p:sldId id="314" r:id="rId9"/>
    <p:sldId id="263" r:id="rId10"/>
    <p:sldId id="264" r:id="rId11"/>
    <p:sldId id="265" r:id="rId12"/>
    <p:sldId id="266" r:id="rId13"/>
    <p:sldId id="311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312" r:id="rId30"/>
    <p:sldId id="282" r:id="rId31"/>
    <p:sldId id="284" r:id="rId32"/>
    <p:sldId id="285" r:id="rId33"/>
    <p:sldId id="287" r:id="rId34"/>
    <p:sldId id="315" r:id="rId35"/>
    <p:sldId id="288" r:id="rId36"/>
    <p:sldId id="291" r:id="rId37"/>
    <p:sldId id="290" r:id="rId38"/>
    <p:sldId id="292" r:id="rId39"/>
    <p:sldId id="294" r:id="rId40"/>
    <p:sldId id="293" r:id="rId41"/>
    <p:sldId id="296" r:id="rId42"/>
    <p:sldId id="298" r:id="rId43"/>
    <p:sldId id="316" r:id="rId44"/>
    <p:sldId id="297" r:id="rId45"/>
    <p:sldId id="300" r:id="rId46"/>
    <p:sldId id="301" r:id="rId47"/>
    <p:sldId id="317" r:id="rId48"/>
    <p:sldId id="318" r:id="rId49"/>
    <p:sldId id="302" r:id="rId50"/>
    <p:sldId id="303" r:id="rId51"/>
    <p:sldId id="304" r:id="rId52"/>
    <p:sldId id="313" r:id="rId53"/>
    <p:sldId id="305" r:id="rId54"/>
    <p:sldId id="306" r:id="rId55"/>
    <p:sldId id="307" r:id="rId56"/>
    <p:sldId id="308" r:id="rId57"/>
    <p:sldId id="309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7392451" y="0"/>
            <a:ext cx="4676274" cy="6858000"/>
          </a:xfrm>
          <a:prstGeom prst="parallelogram">
            <a:avLst/>
          </a:prstGeom>
          <a:solidFill>
            <a:srgbClr val="08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65760"/>
            <a:ext cx="1078992" cy="7377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4114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 dirty="0">
                <a:solidFill>
                  <a:srgbClr val="FFFFFF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700" b="1" i="0">
                <a:solidFill>
                  <a:srgbClr val="FFD300"/>
                </a:solidFill>
                <a:latin typeface="Aptos"/>
              </a:rPr>
              <a:t>ENAFIS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7315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487168"/>
            <a:ext cx="76809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3500" b="1" i="0">
                <a:solidFill>
                  <a:srgbClr val="FFFFFF"/>
                </a:solidFill>
                <a:latin typeface="Aptos"/>
              </a:rPr>
              <a:t>ENCONTRO NACIONAL
DE FISCALIZAÇÃO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7498079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CBE0F6"/>
                </a:solidFill>
                <a:latin typeface="Aptos"/>
              </a:rPr>
              <a:t>NOVAS NORMAS DA NAVEGAÇÃO INTERIOR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8172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Atualização, reorganização e principais alterações normativas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722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AECAE5"/>
                </a:solidFill>
                <a:latin typeface="Aptos"/>
              </a:rPr>
              <a:t>ANTAQ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4320"/>
            <a:ext cx="822960" cy="562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3312" y="310896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FFD300"/>
                </a:solidFill>
                <a:latin typeface="Aptos"/>
              </a:rPr>
              <a:t>ENAFIS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51560"/>
            <a:ext cx="4709160" cy="10789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NOVAS NORMAS DA
NAVEGAÇÃO INTERIOR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4434840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0" i="0">
                <a:solidFill>
                  <a:srgbClr val="CBE0F6"/>
                </a:solidFill>
                <a:latin typeface="Aptos"/>
              </a:rPr>
              <a:t>Panorama das regras vigentes e das novas resoluções publicadas em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7315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05840"/>
            <a:ext cx="2971800" cy="196596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005840"/>
            <a:ext cx="3246120" cy="196596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127248"/>
            <a:ext cx="2971800" cy="201168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3127248"/>
            <a:ext cx="3246120" cy="20116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245352"/>
            <a:ext cx="475488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0" i="0">
                <a:solidFill>
                  <a:srgbClr val="AECAE5"/>
                </a:solidFill>
                <a:latin typeface="Aptos"/>
              </a:rPr>
              <a:t>Agência Nacional de Transportes Aquaviários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ABERTURA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03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 DA NAVEGAÇÃO INTERIOR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O que a apresentação pretende mostrar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4884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148840"/>
            <a:ext cx="50292" cy="1298448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33172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70632"/>
            <a:ext cx="4754880" cy="44805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50" b="0" i="0">
                <a:solidFill>
                  <a:srgbClr val="142B42"/>
                </a:solidFill>
                <a:latin typeface="Aptos"/>
              </a:rPr>
              <a:t>Apresentar as novas normas;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48840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148840"/>
            <a:ext cx="50292" cy="129844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70632"/>
            <a:ext cx="4754880" cy="44805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50" b="0" i="0">
                <a:solidFill>
                  <a:srgbClr val="142B42"/>
                </a:solidFill>
                <a:latin typeface="Aptos"/>
              </a:rPr>
              <a:t>Fazer um paralelo entre as novas e as antigas normas;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49039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749039"/>
            <a:ext cx="50292" cy="129844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93192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1"/>
            <a:ext cx="4754880" cy="44805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50" b="0" i="0">
                <a:solidFill>
                  <a:srgbClr val="142B42"/>
                </a:solidFill>
                <a:latin typeface="Aptos"/>
              </a:rPr>
              <a:t>Conhecer o que mudou (novidades);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49039"/>
            <a:ext cx="5212080" cy="129844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749039"/>
            <a:ext cx="50292" cy="129844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70831"/>
            <a:ext cx="4754880" cy="44805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50" b="0" i="0">
                <a:solidFill>
                  <a:srgbClr val="142B42"/>
                </a:solidFill>
                <a:latin typeface="Aptos"/>
              </a:rPr>
              <a:t>Expor os pontos positivos e os negativos.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ABERTURA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04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NORMAS ATUALMENTE EM VIGOR: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Principais normas anteriormente aplicáveis à navegação interior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5740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05740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24028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79192"/>
            <a:ext cx="4754880" cy="22859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20" b="0" i="0">
                <a:solidFill>
                  <a:srgbClr val="142B42"/>
                </a:solidFill>
                <a:latin typeface="Aptos"/>
              </a:rPr>
              <a:t>Resolução nº 1.558/2009: regula o transporte longitudinal de cargas;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05740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05740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24028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79192"/>
            <a:ext cx="4754880" cy="22859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20" b="0" i="0">
                <a:solidFill>
                  <a:srgbClr val="142B42"/>
                </a:solidFill>
                <a:latin typeface="Aptos"/>
              </a:rPr>
              <a:t>Resolução nº 1.274/2009: regula o transporte de travessia;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55848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355848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53872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977639"/>
            <a:ext cx="4754880" cy="2286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20" b="0" i="0">
                <a:solidFill>
                  <a:srgbClr val="142B42"/>
                </a:solidFill>
                <a:latin typeface="Aptos"/>
              </a:rPr>
              <a:t>Resolução nº 3.285/2014: regula o transporte de travessia (operadores MEI);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355848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355848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53872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77639"/>
            <a:ext cx="4754880" cy="22860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20" b="0" i="0">
                <a:solidFill>
                  <a:srgbClr val="142B42"/>
                </a:solidFill>
                <a:latin typeface="Aptos"/>
              </a:rPr>
              <a:t>Resolução nº 912/2007: regula o transporte longitudinal de passageiros e o misto (carga e passageiros);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654296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654296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7720" y="4672584"/>
            <a:ext cx="4815840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029200"/>
            <a:ext cx="4754880" cy="4754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32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320" b="0" i="0" dirty="0">
                <a:solidFill>
                  <a:srgbClr val="142B42"/>
                </a:solidFill>
                <a:latin typeface="Aptos"/>
              </a:rPr>
              <a:t> nº </a:t>
            </a:r>
            <a:r>
              <a:rPr lang="pt-BR" sz="1320" dirty="0">
                <a:solidFill>
                  <a:srgbClr val="142B42"/>
                </a:solidFill>
                <a:latin typeface="Aptos"/>
              </a:rPr>
              <a:t>7.753/2020</a:t>
            </a:r>
            <a:r>
              <a:rPr sz="1320" b="0" i="0" dirty="0">
                <a:solidFill>
                  <a:srgbClr val="142B42"/>
                </a:solidFill>
                <a:latin typeface="Aptos"/>
              </a:rPr>
              <a:t>: regula </a:t>
            </a:r>
            <a:r>
              <a:rPr lang="pt-BR" sz="1320" b="0" i="0" dirty="0">
                <a:solidFill>
                  <a:srgbClr val="142B42"/>
                </a:solidFill>
                <a:latin typeface="Aptos"/>
              </a:rPr>
              <a:t>o transporte de travessia (natureza privada)</a:t>
            </a:r>
            <a:r>
              <a:rPr sz="132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654296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4654296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837176"/>
            <a:ext cx="475488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75504"/>
            <a:ext cx="4754880" cy="42976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r>
              <a:rPr sz="132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3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320" b="0" i="0" dirty="0" err="1">
                <a:solidFill>
                  <a:srgbClr val="142B42"/>
                </a:solidFill>
                <a:latin typeface="Aptos"/>
              </a:rPr>
              <a:t>Normativa</a:t>
            </a:r>
            <a:r>
              <a:rPr sz="1320" b="0" i="0" dirty="0">
                <a:solidFill>
                  <a:srgbClr val="142B42"/>
                </a:solidFill>
                <a:latin typeface="Aptos"/>
              </a:rPr>
              <a:t> nº 16/2017</a:t>
            </a:r>
            <a:r>
              <a:rPr lang="pt-BR" sz="1320" b="0" i="0" dirty="0">
                <a:solidFill>
                  <a:srgbClr val="142B42"/>
                </a:solidFill>
                <a:latin typeface="Aptos"/>
              </a:rPr>
              <a:t> (gratuidades a jovens carentes) e </a:t>
            </a:r>
            <a:r>
              <a:rPr lang="pt-BR" sz="1320" dirty="0">
                <a:solidFill>
                  <a:srgbClr val="142B42"/>
                </a:solidFill>
                <a:latin typeface="Aptos"/>
              </a:rPr>
              <a:t>Resolução nº 260/2004 (gratuidades aos idosos);</a:t>
            </a:r>
          </a:p>
          <a:p>
            <a:pPr algn="l"/>
            <a:endParaRPr sz="1320" b="0" i="0" dirty="0">
              <a:solidFill>
                <a:srgbClr val="142B4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6870192" y="1"/>
            <a:ext cx="4663440" cy="6858000"/>
          </a:xfrm>
          <a:prstGeom prst="parallelogram">
            <a:avLst/>
          </a:prstGeom>
          <a:solidFill>
            <a:srgbClr val="08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841248" cy="575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554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D300"/>
                </a:solidFill>
                <a:latin typeface="Aptos"/>
              </a:rPr>
              <a:t>CONTEXTO E NOVO MARCO REGULATÓRIO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29968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8686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NOVAS NORMAS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2224" y="2953512"/>
            <a:ext cx="1143000" cy="54864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92224" y="3310128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BE0F6"/>
                </a:solidFill>
                <a:latin typeface="Aptos"/>
              </a:rPr>
              <a:t>Da estrutura vigente às seis novas resoluções publicadas em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179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CAE5"/>
                </a:solidFill>
                <a:latin typeface="Aptos"/>
              </a:rPr>
              <a:t>ENAFIS 2026 · ANTAQ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06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Publicação de seis novas resoluções em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11680"/>
            <a:ext cx="10927080" cy="109728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50292" cy="109728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9456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MARCO REGULATÓRIO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28316"/>
            <a:ext cx="10469880" cy="24688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450" b="0" i="0" dirty="0">
                <a:solidFill>
                  <a:srgbClr val="142B42"/>
                </a:solidFill>
                <a:latin typeface="Aptos"/>
              </a:rPr>
              <a:t>Em 19/08/2026,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foram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publicadas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seis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novas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resoluções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atualizam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reorganizam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regras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interior no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Brasil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.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Essas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normas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entrarão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vigor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15/02/2027.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01568"/>
            <a:ext cx="5212080" cy="15361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401568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58444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 i="0" dirty="0">
                <a:solidFill>
                  <a:srgbClr val="04305B"/>
                </a:solidFill>
                <a:latin typeface="Aptos"/>
              </a:rPr>
              <a:t>RESOLUÇÃO</a:t>
            </a:r>
            <a:r>
              <a:rPr lang="pt-BR" sz="1050" b="1" i="0" dirty="0">
                <a:solidFill>
                  <a:srgbClr val="04305B"/>
                </a:solidFill>
                <a:latin typeface="Aptos"/>
              </a:rPr>
              <a:t> 136</a:t>
            </a:r>
            <a:endParaRPr sz="105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4023360"/>
            <a:ext cx="4754880" cy="17373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25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Nº 136, de 17/08/206,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estabelece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interior;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401568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401568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58444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 i="0" dirty="0">
                <a:solidFill>
                  <a:srgbClr val="04305B"/>
                </a:solidFill>
                <a:latin typeface="Aptos"/>
              </a:rPr>
              <a:t>RESOLUÇÃO</a:t>
            </a:r>
            <a:r>
              <a:rPr lang="pt-BR" sz="1050" b="1" i="0" dirty="0">
                <a:solidFill>
                  <a:srgbClr val="04305B"/>
                </a:solidFill>
                <a:latin typeface="Aptos"/>
              </a:rPr>
              <a:t> 137</a:t>
            </a:r>
            <a:endParaRPr sz="105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4754880" cy="17373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25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Nº 137, de 17/08/206,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estabelece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afretamento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interior;</a:t>
            </a:r>
          </a:p>
        </p:txBody>
      </p:sp>
      <p:sp>
        <p:nvSpPr>
          <p:cNvPr id="25" name="Document 24"/>
          <p:cNvSpPr/>
          <p:nvPr/>
        </p:nvSpPr>
        <p:spPr>
          <a:xfrm>
            <a:off x="10561320" y="1069848"/>
            <a:ext cx="566928" cy="566928"/>
          </a:xfrm>
          <a:prstGeom prst="flowChartDocumen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NORMAS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07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Publicação de seis novas resoluções em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180850"/>
            <a:ext cx="5212080" cy="122071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180850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522" y="2522522"/>
            <a:ext cx="5102352" cy="22069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lang="pt-BR" sz="1250" dirty="0">
                <a:solidFill>
                  <a:srgbClr val="142B42"/>
                </a:solidFill>
                <a:latin typeface="Aptos"/>
              </a:rPr>
              <a:t>Resolução Nº 138, de 17/08/206, que estabelece direitos e deveres no transporte de passageiros e misto em percurso longitudinal e no transporte de passageiros e veículos em percurso de travessia na navegação interior;</a:t>
            </a:r>
          </a:p>
          <a:p>
            <a:pPr algn="l"/>
            <a:endParaRPr sz="1250" b="0" i="0" dirty="0">
              <a:solidFill>
                <a:srgbClr val="142B42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72200" y="2180850"/>
            <a:ext cx="5212080" cy="122071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180850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36373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 i="0" dirty="0">
                <a:solidFill>
                  <a:srgbClr val="04305B"/>
                </a:solidFill>
                <a:latin typeface="Aptos"/>
              </a:rPr>
              <a:t>RESOLUÇÃO</a:t>
            </a:r>
            <a:r>
              <a:rPr lang="pt-BR" sz="1050" b="1" i="0" dirty="0">
                <a:solidFill>
                  <a:srgbClr val="04305B"/>
                </a:solidFill>
                <a:latin typeface="Aptos"/>
              </a:rPr>
              <a:t> 140</a:t>
            </a:r>
            <a:endParaRPr sz="105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2587758"/>
            <a:ext cx="4754880" cy="173735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25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Nº 140, de 17/08/206,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estabelece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inclusão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informações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homologação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interior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sistemas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Receita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Federal;</a:t>
            </a:r>
          </a:p>
        </p:txBody>
      </p:sp>
      <p:sp>
        <p:nvSpPr>
          <p:cNvPr id="25" name="Left-Right Arrow 24"/>
          <p:cNvSpPr/>
          <p:nvPr/>
        </p:nvSpPr>
        <p:spPr>
          <a:xfrm>
            <a:off x="10561320" y="1069848"/>
            <a:ext cx="566928" cy="566928"/>
          </a:xfrm>
          <a:prstGeom prst="leftRightArrow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AFRETAMENTO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D516A856-A682-9EBE-5DB6-ADE24124A33D}"/>
              </a:ext>
            </a:extLst>
          </p:cNvPr>
          <p:cNvSpPr/>
          <p:nvPr/>
        </p:nvSpPr>
        <p:spPr>
          <a:xfrm>
            <a:off x="665226" y="3730752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A9F99FAD-3A38-CC83-6520-FE5E645E14CF}"/>
              </a:ext>
            </a:extLst>
          </p:cNvPr>
          <p:cNvSpPr txBox="1"/>
          <p:nvPr/>
        </p:nvSpPr>
        <p:spPr>
          <a:xfrm>
            <a:off x="893826" y="3826770"/>
            <a:ext cx="4754880" cy="84276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r>
              <a:rPr lang="pt-BR" sz="1050" b="1" dirty="0">
                <a:solidFill>
                  <a:srgbClr val="04305B"/>
                </a:solidFill>
                <a:latin typeface="Aptos"/>
              </a:rPr>
              <a:t>RESOLUÇÃO 139</a:t>
            </a:r>
          </a:p>
          <a:p>
            <a:pPr algn="just"/>
            <a:endParaRPr lang="pt-BR" sz="1050" b="1" dirty="0">
              <a:solidFill>
                <a:srgbClr val="04305B"/>
              </a:solidFill>
              <a:latin typeface="Aptos"/>
            </a:endParaRPr>
          </a:p>
          <a:p>
            <a:pPr algn="just"/>
            <a:r>
              <a:rPr sz="125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Nº 139, de 17/08/206,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estabelece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diretos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privada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cargas,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pessoas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A4848ED4-AF2C-9FC0-4A39-BE4311A83890}"/>
              </a:ext>
            </a:extLst>
          </p:cNvPr>
          <p:cNvSpPr txBox="1"/>
          <p:nvPr/>
        </p:nvSpPr>
        <p:spPr>
          <a:xfrm>
            <a:off x="868680" y="2336298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50" b="1" i="0" dirty="0">
                <a:solidFill>
                  <a:srgbClr val="04305B"/>
                </a:solidFill>
                <a:latin typeface="Aptos"/>
              </a:rPr>
              <a:t>RESOLUÇÃO</a:t>
            </a:r>
            <a:r>
              <a:rPr lang="pt-BR" sz="1050" b="1" i="0" dirty="0">
                <a:solidFill>
                  <a:srgbClr val="04305B"/>
                </a:solidFill>
                <a:latin typeface="Aptos"/>
              </a:rPr>
              <a:t> 138</a:t>
            </a:r>
            <a:endParaRPr sz="105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36" name="Rectangle 17">
            <a:extLst>
              <a:ext uri="{FF2B5EF4-FFF2-40B4-BE49-F238E27FC236}">
                <a16:creationId xmlns:a16="http://schemas.microsoft.com/office/drawing/2014/main" id="{C37E08D3-E9B0-CD34-B249-6A3D861CA9DB}"/>
              </a:ext>
            </a:extLst>
          </p:cNvPr>
          <p:cNvSpPr/>
          <p:nvPr/>
        </p:nvSpPr>
        <p:spPr>
          <a:xfrm>
            <a:off x="615352" y="3730752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E7AF6899-F823-0A48-6846-C43DAA4EFAAA}"/>
              </a:ext>
            </a:extLst>
          </p:cNvPr>
          <p:cNvSpPr/>
          <p:nvPr/>
        </p:nvSpPr>
        <p:spPr>
          <a:xfrm>
            <a:off x="6172200" y="3730752"/>
            <a:ext cx="5212080" cy="1024128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21399F01-E5EB-EFDC-A715-05BC08536152}"/>
              </a:ext>
            </a:extLst>
          </p:cNvPr>
          <p:cNvSpPr txBox="1"/>
          <p:nvPr/>
        </p:nvSpPr>
        <p:spPr>
          <a:xfrm>
            <a:off x="6400800" y="3826770"/>
            <a:ext cx="4754880" cy="842766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r>
              <a:rPr lang="pt-BR" sz="1050" b="1" dirty="0">
                <a:solidFill>
                  <a:srgbClr val="04305B"/>
                </a:solidFill>
                <a:latin typeface="Aptos"/>
              </a:rPr>
              <a:t>RESOLUÇÃO 141</a:t>
            </a:r>
          </a:p>
          <a:p>
            <a:endParaRPr lang="pt-BR" sz="1050" b="1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44" name="Rectangle 17">
            <a:extLst>
              <a:ext uri="{FF2B5EF4-FFF2-40B4-BE49-F238E27FC236}">
                <a16:creationId xmlns:a16="http://schemas.microsoft.com/office/drawing/2014/main" id="{9FDF418B-EB0D-0539-BB22-FC499502316E}"/>
              </a:ext>
            </a:extLst>
          </p:cNvPr>
          <p:cNvSpPr/>
          <p:nvPr/>
        </p:nvSpPr>
        <p:spPr>
          <a:xfrm>
            <a:off x="6122326" y="3730752"/>
            <a:ext cx="50292" cy="1024128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0FEFC84E-9160-021A-25BF-61DD24976AEE}"/>
              </a:ext>
            </a:extLst>
          </p:cNvPr>
          <p:cNvSpPr txBox="1"/>
          <p:nvPr/>
        </p:nvSpPr>
        <p:spPr>
          <a:xfrm>
            <a:off x="6400800" y="4028822"/>
            <a:ext cx="4796028" cy="53313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25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Nº 141, de 17/08/206,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estabelece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celebração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acordos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operacionais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25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250" b="0" i="0" dirty="0">
                <a:solidFill>
                  <a:srgbClr val="142B42"/>
                </a:solidFill>
                <a:latin typeface="Aptos"/>
              </a:rPr>
              <a:t> interior.</a:t>
            </a:r>
          </a:p>
        </p:txBody>
      </p:sp>
      <p:sp>
        <p:nvSpPr>
          <p:cNvPr id="52" name="TextBox 19">
            <a:extLst>
              <a:ext uri="{FF2B5EF4-FFF2-40B4-BE49-F238E27FC236}">
                <a16:creationId xmlns:a16="http://schemas.microsoft.com/office/drawing/2014/main" id="{C6301D0B-8E8E-E5D3-B6CD-B27091DCCA45}"/>
              </a:ext>
            </a:extLst>
          </p:cNvPr>
          <p:cNvSpPr txBox="1"/>
          <p:nvPr/>
        </p:nvSpPr>
        <p:spPr>
          <a:xfrm>
            <a:off x="749808" y="5142271"/>
            <a:ext cx="10698480" cy="645881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lang="pt-BR" sz="1400" dirty="0">
                <a:solidFill>
                  <a:srgbClr val="142B42"/>
                </a:solidFill>
                <a:latin typeface="Aptos"/>
              </a:rPr>
              <a:t>ACORDOS OPERACIONAIS: 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A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partir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definidos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Agência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empresas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realizar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troca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espaço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cessão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barcaças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com carga 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compartilhamento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equipamentos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formação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comboios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. O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objetivo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é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reduzir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custos e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aumentar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eficiência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4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400" b="0" i="0" dirty="0">
                <a:solidFill>
                  <a:srgbClr val="142B42"/>
                </a:solidFill>
                <a:latin typeface="Aptos"/>
              </a:rPr>
              <a:t> de cargas.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MAPA DAS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As seis novas resoluções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Um mapa rápido do novo marco regulatório da navegação interior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cument 12"/>
          <p:cNvSpPr/>
          <p:nvPr/>
        </p:nvSpPr>
        <p:spPr>
          <a:xfrm>
            <a:off x="841247" y="2313432"/>
            <a:ext cx="566928" cy="566928"/>
          </a:xfrm>
          <a:prstGeom prst="flowChartDocumen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36192" y="224942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136/2026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4942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OUTORGA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2578608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Critérios e procedimentos para outorga de serviços de transporte na navegação interior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0312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10312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Left-Right Arrow 18"/>
          <p:cNvSpPr/>
          <p:nvPr/>
        </p:nvSpPr>
        <p:spPr>
          <a:xfrm>
            <a:off x="6373368" y="2313432"/>
            <a:ext cx="566928" cy="566928"/>
          </a:xfrm>
          <a:prstGeom prst="leftRightArrow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68312" y="224942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137/2026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24942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AFRETAMENTO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2578608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Critérios e procedimentos para afretamento de embarcações na navegação interior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2900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342900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Hexagon 24"/>
          <p:cNvSpPr/>
          <p:nvPr/>
        </p:nvSpPr>
        <p:spPr>
          <a:xfrm>
            <a:off x="841247" y="3639312"/>
            <a:ext cx="566928" cy="566928"/>
          </a:xfrm>
          <a:prstGeom prst="hexagon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36192" y="357530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138/2026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357530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DIREITOS E DEVERES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3904487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Transporte de passageiros, misto e passageiros e veículos em percurso de travessia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429000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2200" y="3429000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73368" y="3639312"/>
            <a:ext cx="566928" cy="566928"/>
          </a:xfrm>
          <a:prstGeom prst="rec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68312" y="357530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139/2026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575304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TRANSPORTE PRIVADO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3904487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Transporte privado de cargas, pessoas e veículos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754879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4754879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Data 36"/>
          <p:cNvSpPr/>
          <p:nvPr/>
        </p:nvSpPr>
        <p:spPr>
          <a:xfrm>
            <a:off x="841247" y="4965192"/>
            <a:ext cx="566928" cy="566928"/>
          </a:xfrm>
          <a:prstGeom prst="flowChartInputOutpu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36192" y="4901183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140/2026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4901183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RECEITA FEDERAL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6192" y="5230367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Informações e homologação de embarcações da navegação interior nos sistemas da Receita Federal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754879"/>
            <a:ext cx="5212080" cy="107899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72200" y="4754879"/>
            <a:ext cx="50292" cy="107899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Gear 6 42"/>
          <p:cNvSpPr/>
          <p:nvPr/>
        </p:nvSpPr>
        <p:spPr>
          <a:xfrm>
            <a:off x="6373368" y="4965192"/>
            <a:ext cx="566928" cy="566928"/>
          </a:xfrm>
          <a:prstGeom prst="gear6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68312" y="4901183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141/2026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4901183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ACORDOS OPERACIONAIS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68312" y="5230367"/>
            <a:ext cx="40690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42B42"/>
                </a:solidFill>
                <a:latin typeface="Aptos"/>
              </a:rPr>
              <a:t>Critérios e procedimentos para celebração de acordos operacionais na navegação interior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6144768"/>
            <a:ext cx="10927080" cy="32004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1248" y="6227064"/>
            <a:ext cx="10515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4305B"/>
                </a:solidFill>
                <a:latin typeface="Aptos"/>
              </a:rPr>
              <a:t>Publicadas em 19/08/2026 · entrada em vigor prevista para 15/02/2027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10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Principais alterações na estrutura e organização das normas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0292" cy="77724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03120"/>
            <a:ext cx="104698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550" b="0" i="0">
                <a:solidFill>
                  <a:srgbClr val="142B42"/>
                </a:solidFill>
                <a:latin typeface="Aptos"/>
              </a:rPr>
              <a:t>1ª Alteração: de caráter estrutural, de organização do corpo da norma;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0779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907792"/>
            <a:ext cx="50292" cy="2423160"/>
          </a:xfrm>
          <a:prstGeom prst="rect">
            <a:avLst/>
          </a:prstGeom>
          <a:solidFill>
            <a:srgbClr val="5B6C7E"/>
          </a:solidFill>
          <a:ln>
            <a:solidFill>
              <a:srgbClr val="5B6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9067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04305B"/>
                </a:solidFill>
                <a:latin typeface="Aptos"/>
              </a:rPr>
              <a:t>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29584"/>
            <a:ext cx="4754880" cy="157276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45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direitos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/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obrigações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descrição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infrações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norma;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90779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60" y="2907792"/>
            <a:ext cx="50292" cy="24231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09067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04305B"/>
                </a:solidFill>
                <a:latin typeface="Aptos"/>
              </a:rPr>
              <a:t>AGORA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529584"/>
            <a:ext cx="4754880" cy="157276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45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infrações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eles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relacionadas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numa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norma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específica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direitos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/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obrigações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descrição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infrações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outra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norma;</a:t>
            </a:r>
          </a:p>
        </p:txBody>
      </p:sp>
      <p:sp>
        <p:nvSpPr>
          <p:cNvPr id="24" name="Document 23"/>
          <p:cNvSpPr/>
          <p:nvPr/>
        </p:nvSpPr>
        <p:spPr>
          <a:xfrm>
            <a:off x="10561320" y="1069848"/>
            <a:ext cx="566928" cy="566928"/>
          </a:xfrm>
          <a:prstGeom prst="flowChartDocumen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ESTRUTURA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11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Principais alterações na estrutura e organização das normas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0292" cy="77724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03120"/>
            <a:ext cx="104698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550" b="0" i="0">
                <a:solidFill>
                  <a:srgbClr val="142B42"/>
                </a:solidFill>
                <a:latin typeface="Aptos"/>
              </a:rPr>
              <a:t>2ª Alteração: divisão por tema e não mais por modalidade de navegação;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0779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907792"/>
            <a:ext cx="50292" cy="2423160"/>
          </a:xfrm>
          <a:prstGeom prst="rect">
            <a:avLst/>
          </a:prstGeom>
          <a:solidFill>
            <a:srgbClr val="5B6C7E"/>
          </a:solidFill>
          <a:ln>
            <a:solidFill>
              <a:srgbClr val="5B6C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9067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04305B"/>
                </a:solidFill>
                <a:latin typeface="Aptos"/>
              </a:rPr>
              <a:t>ANTES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529584"/>
            <a:ext cx="4754880" cy="157276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45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direitos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/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obrigações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descrição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infrações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norma, para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cada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modalidade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individualmente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;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privado</a:t>
            </a:r>
            <a:r>
              <a:rPr lang="pt-BR" sz="1450" b="0" i="0" dirty="0">
                <a:solidFill>
                  <a:srgbClr val="142B42"/>
                </a:solidFill>
                <a:latin typeface="Aptos"/>
              </a:rPr>
              <a:t> na travessia regulado em uma norma e transporte privado de cargas em outra.</a:t>
            </a:r>
            <a:endParaRPr sz="1450" b="0" i="0" dirty="0">
              <a:solidFill>
                <a:srgbClr val="142B42"/>
              </a:solidFill>
              <a:latin typeface="Aptos"/>
            </a:endParaRPr>
          </a:p>
        </p:txBody>
      </p:sp>
      <p:sp>
        <p:nvSpPr>
          <p:cNvPr id="20" name="Hexagon 19"/>
          <p:cNvSpPr/>
          <p:nvPr/>
        </p:nvSpPr>
        <p:spPr>
          <a:xfrm>
            <a:off x="10561320" y="1069848"/>
            <a:ext cx="566928" cy="566928"/>
          </a:xfrm>
          <a:prstGeom prst="hexagon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TEMA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12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Principais alterações na estrutura e organização das normas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77724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0292" cy="77724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03120"/>
            <a:ext cx="104698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550" b="0" i="0">
                <a:solidFill>
                  <a:srgbClr val="142B42"/>
                </a:solidFill>
                <a:latin typeface="Aptos"/>
              </a:rPr>
              <a:t>2ª Alteração: divisão por tema e não por modalidade de navegação;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907792"/>
            <a:ext cx="5212080" cy="242316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2907792"/>
            <a:ext cx="50292" cy="24231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3090672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04305B"/>
                </a:solidFill>
                <a:latin typeface="Aptos"/>
              </a:rPr>
              <a:t>AGORA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29584"/>
            <a:ext cx="4754880" cy="1572767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45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lang="pt-BR" sz="1450" b="0" i="0" dirty="0">
                <a:solidFill>
                  <a:srgbClr val="142B42"/>
                </a:solidFill>
                <a:latin typeface="Aptos"/>
              </a:rPr>
              <a:t> contidos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numa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norma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específica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(para as</a:t>
            </a:r>
            <a:r>
              <a:rPr lang="pt-BR" sz="1450" b="0" i="0" dirty="0">
                <a:solidFill>
                  <a:srgbClr val="142B42"/>
                </a:solidFill>
                <a:latin typeface="Aptos"/>
              </a:rPr>
              <a:t> quatro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modalidades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interior)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direitos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/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obrigações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descrição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infrações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outra</a:t>
            </a:r>
            <a:r>
              <a:rPr lang="pt-BR" sz="1450" b="0" i="0" dirty="0">
                <a:solidFill>
                  <a:srgbClr val="142B42"/>
                </a:solidFill>
                <a:latin typeface="Aptos"/>
              </a:rPr>
              <a:t>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norma</a:t>
            </a:r>
            <a:r>
              <a:rPr lang="pt-BR" sz="1450" b="0" i="0" dirty="0">
                <a:solidFill>
                  <a:srgbClr val="142B42"/>
                </a:solidFill>
                <a:latin typeface="Aptos"/>
              </a:rPr>
              <a:t>s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; o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privado</a:t>
            </a:r>
            <a:r>
              <a:rPr lang="pt-BR" sz="1450" b="0" i="0" dirty="0">
                <a:solidFill>
                  <a:srgbClr val="142B42"/>
                </a:solidFill>
                <a:latin typeface="Aptos"/>
              </a:rPr>
              <a:t> (longitudinal e </a:t>
            </a:r>
            <a:r>
              <a:rPr lang="pt-BR" sz="1450" dirty="0">
                <a:solidFill>
                  <a:srgbClr val="142B42"/>
                </a:solidFill>
                <a:latin typeface="Aptos"/>
              </a:rPr>
              <a:t>travessia)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é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regulado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lang="pt-BR" sz="1450" b="0" i="0" dirty="0">
                <a:solidFill>
                  <a:srgbClr val="142B42"/>
                </a:solidFill>
                <a:latin typeface="Aptos"/>
              </a:rPr>
              <a:t>uma única 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norma (</a:t>
            </a:r>
            <a:r>
              <a:rPr sz="145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450" b="0" i="0" dirty="0">
                <a:solidFill>
                  <a:srgbClr val="142B42"/>
                </a:solidFill>
                <a:latin typeface="Aptos"/>
              </a:rPr>
              <a:t> nº 139/2026</a:t>
            </a:r>
            <a:r>
              <a:rPr lang="pt-BR" sz="1450" b="0" i="0" dirty="0">
                <a:solidFill>
                  <a:srgbClr val="142B42"/>
                </a:solidFill>
                <a:latin typeface="Aptos"/>
              </a:rPr>
              <a:t>.</a:t>
            </a:r>
            <a:endParaRPr sz="1450" b="0" i="0" dirty="0">
              <a:solidFill>
                <a:srgbClr val="142B42"/>
              </a:solidFill>
              <a:latin typeface="Aptos"/>
            </a:endParaRPr>
          </a:p>
        </p:txBody>
      </p:sp>
      <p:sp>
        <p:nvSpPr>
          <p:cNvPr id="20" name="Left-Right Arrow 19"/>
          <p:cNvSpPr/>
          <p:nvPr/>
        </p:nvSpPr>
        <p:spPr>
          <a:xfrm>
            <a:off x="10561320" y="1069848"/>
            <a:ext cx="566928" cy="566928"/>
          </a:xfrm>
          <a:prstGeom prst="leftRightArrow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MUDANÇA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NOVAS NORMAS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NOVAS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Mudança de conteúdo e de regramentos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10927080" cy="8046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965960"/>
            <a:ext cx="50292" cy="80467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94560"/>
            <a:ext cx="10469880" cy="347472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0" i="0">
                <a:solidFill>
                  <a:srgbClr val="142B42"/>
                </a:solidFill>
                <a:latin typeface="Aptos"/>
              </a:rPr>
              <a:t>3ª Alteração: de conteúdo, de regramentos;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10927080" cy="117043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063240"/>
            <a:ext cx="50292" cy="117043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24612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NOVA NORMA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85032"/>
            <a:ext cx="10469880" cy="32003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42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Nº 136, de 17/08/206,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estabelece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interior;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80560"/>
            <a:ext cx="10927080" cy="117043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480560"/>
            <a:ext cx="50292" cy="1170432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66344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NOVA NORMA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02352"/>
            <a:ext cx="10469880" cy="32004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42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Nº 138, de 17/08/206,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estabelece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direitos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e misto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longitudinal e no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2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420" b="0" i="0" dirty="0">
                <a:solidFill>
                  <a:srgbClr val="142B42"/>
                </a:solidFill>
                <a:latin typeface="Aptos"/>
              </a:rPr>
              <a:t> interior;</a:t>
            </a:r>
          </a:p>
        </p:txBody>
      </p:sp>
      <p:sp>
        <p:nvSpPr>
          <p:cNvPr id="24" name="Document 23"/>
          <p:cNvSpPr/>
          <p:nvPr/>
        </p:nvSpPr>
        <p:spPr>
          <a:xfrm>
            <a:off x="10561320" y="1069848"/>
            <a:ext cx="566928" cy="566928"/>
          </a:xfrm>
          <a:prstGeom prst="flowChartDocument">
            <a:avLst/>
          </a:prstGeom>
          <a:solidFill>
            <a:srgbClr val="E8F2FC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66420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80" b="1" i="0">
                <a:solidFill>
                  <a:srgbClr val="0A68BE"/>
                </a:solidFill>
                <a:latin typeface="Aptos"/>
              </a:rPr>
              <a:t>CONTEÚDO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507224" y="12755"/>
            <a:ext cx="4663440" cy="6845245"/>
          </a:xfrm>
          <a:prstGeom prst="parallelogram">
            <a:avLst/>
          </a:prstGeom>
          <a:solidFill>
            <a:srgbClr val="08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841248" cy="575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554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D300"/>
                </a:solidFill>
                <a:latin typeface="Aptos"/>
              </a:rPr>
              <a:t>OUTORGA DOS SERVIÇOS DE TRANSPORTE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29968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8686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RESOLUÇÃO Nº 136/2026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2224" y="2953512"/>
            <a:ext cx="1143000" cy="54864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92224" y="3310128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BE0F6"/>
                </a:solidFill>
                <a:latin typeface="Aptos"/>
              </a:rPr>
              <a:t>Critérios, procedimentos e principais mudanças na autorização.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179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CAE5"/>
                </a:solidFill>
                <a:latin typeface="Aptos"/>
              </a:rPr>
              <a:t>ENAFIS 2026 · ANTAQ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15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Dispositivo normativo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5º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2378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5º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emitido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um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 
I -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cargas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longitudinal,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região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hidrográfica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requerente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com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permissão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região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houver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interconexão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hidroviária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malha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</a:t>
            </a:r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II -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privado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pessoas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cargas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para um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contratos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privado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eficácia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</a:t>
            </a:r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III -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mist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longitudinal,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IV -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Dispositivo normativo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7º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2378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7º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pedido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formalizado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requerimento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digital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sistema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específico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disponível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sítio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eletrônico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1º Em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indisponibilidade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sistema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requerimento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documentos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associados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encaminhados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via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peticionamento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eletrônico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protocolados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suas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Unidades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Regionais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Art. 25.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sistemas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eletrônicos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instituídos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utilização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obrigatór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ia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sessenta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implementação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Parágrafo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único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instituídos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sistema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próprio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ainda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implementados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serão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instruídos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no Sistema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Eletrônico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Informações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- SEI.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Dispositivo normativo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8º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4840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8º Na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houver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dois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interessados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privado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pessoas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for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constatada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inviabilidade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compartilhada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processo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seletivo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público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escolha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empresa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com base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estabelecidos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edital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1º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regular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terão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preferência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haja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viabilidade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compartilhada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2º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Identificada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limitação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técnica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relacionada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limitação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infraestrutura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instalação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inviabilize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prejudique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adequada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existente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revogar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privado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mediante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processo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regular a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definido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normativo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específico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18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SEGURO DPEM: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9º...
§ 2º Na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indisponibilidade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Seguro DPEM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substituído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um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seguro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similar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danos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pessoais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cobertura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compreendendo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indenizações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invalidez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permanente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despesas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assistência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médica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suplementares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SEGURO DPEM: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19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UMA EMBARCAÇÃO – DUAS LINHAS DE NAVEGAÇÃO: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9º...
§ 8º A EBN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opera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regular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única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incisos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II do caput 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solicitar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nova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outra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com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prejuízo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existente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esquemas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operacionais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sejam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compatíveis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prejudiquem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lang="pt-BR" sz="1600" dirty="0">
                <a:solidFill>
                  <a:srgbClr val="142B42"/>
                </a:solidFill>
                <a:latin typeface="Aptos"/>
              </a:rPr>
              <a:t>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UMA EMBARCAÇÃO – DUAS LINHAS DE NAVEGAÇÃO: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20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AUTORIZAÇÃO TEMPORÁRIA: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AUTORIZAÇÃO TEMPORÁRIA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2378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13.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emitir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situações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excepcionais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caráter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temporário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caráter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especial e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emergência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Parágrafo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único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aplicam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privado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geram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direitos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continuidade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Art. 14.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caráter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temporário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caracterizada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inviabilidade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compartilhada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outro interesse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público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devidamente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justificado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vigorará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máximo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cinco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1º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precedida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processo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seletivo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público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com base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critérios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estabelecidos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edital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para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seleção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interessados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ofereçam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melhores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condições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técnico-operacional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econômica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21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DO
DISPOSITIVO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886200"/>
            <a:ext cx="1417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PONTOS
APRESENTADOS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2529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§ 2º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Considera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-se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inviabilidade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compartilhada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limitação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técnica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relacionada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limitação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infraestrutura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instalação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inviabilize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prejudique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adequada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existente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3º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esquema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operacional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referente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estabelecido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142B42"/>
                </a:solidFill>
                <a:latin typeface="Aptos"/>
              </a:rPr>
              <a:t>
§ 5º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prorrogado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iguais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períodos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outros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interessados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habilitem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sejam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selecionados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22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17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4173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PRAZO PARA INÍCIO DA OPERAÇÃO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39800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49914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17.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iniciar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cento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vinte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contados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data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publicação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respectivo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DOU, sob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[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PADRONIZAÇÃO DO PRAZO</a:t>
            </a:r>
            <a:r>
              <a:rPr lang="pt-BR" sz="1600" dirty="0">
                <a:solidFill>
                  <a:srgbClr val="142B42"/>
                </a:solidFill>
                <a:latin typeface="Aptos"/>
              </a:rPr>
              <a:t>]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Parágrafo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único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Suspende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caput:
I -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ocorrência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fortuito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força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maior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devidamente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justificados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decorrer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financiamento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construção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recursos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Fundo de Marinha Mercante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HIPÓTESES DE CASSAÇÃO – RES. 912 NÃO PREVIA: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PONTOS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9900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APRESENTADOS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HIPÓTESES DE CASSAÇÃO – RES. 912 NÃO PREVIA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286000"/>
            <a:ext cx="7967472" cy="37302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produtos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proibidos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configurem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tráfico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drogas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entorpecentes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contrabando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descaminho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; 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b)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deixar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manter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aprestada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comercial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própria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empresa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respectiva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art. 9º, § 1º;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c)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subautorizar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d)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descumprir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medida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administrativa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cautelar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norma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específica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e)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houver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condições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indispensáveis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cumprimento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objeto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sz="1600" b="1" i="0" dirty="0">
                <a:solidFill>
                  <a:schemeClr val="tx2"/>
                </a:solidFill>
                <a:latin typeface="Aptos"/>
              </a:rPr>
              <a:t>OBS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embora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as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hipóteses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ainda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sejam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restritas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possibilidade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é real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porque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foram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estabelecidas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infrações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natureza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grave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FF0000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FF0000"/>
                </a:solidFill>
                <a:latin typeface="Aptos"/>
              </a:rPr>
              <a:t> interior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24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HIPÓTESES DE CASSAÇÃO – RES. 912 NÃO PREVIA: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PONTOS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9900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APRESENTADOS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HIPÓTESES DE CASSAÇÃO – RES. 912 NÃO PREVIA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286000"/>
            <a:ext cx="7662672" cy="32378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lang="pt-BR" sz="1600" dirty="0">
                <a:solidFill>
                  <a:srgbClr val="142B42"/>
                </a:solidFill>
                <a:latin typeface="Aptos"/>
              </a:rPr>
              <a:t>a)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produtos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proibidos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configurem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tráfico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drogas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entorpecentes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contrabando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descaminho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;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just"/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OBS: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Art. 21...</a:t>
            </a: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§ 2º Na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hipótese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II,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alínea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'a', do §1º,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comprovação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materialidade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penal</a:t>
            </a:r>
            <a:r>
              <a:rPr sz="160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ensejará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propositura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processo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cassação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3º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absolvição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criminal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afasta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apuração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processo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administrativo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omissão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voluntária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seja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negligência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imprudência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imperícia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salvo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constatada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inexistência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fato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autoria</a:t>
            </a:r>
            <a:endParaRPr sz="1600" b="0" i="0" dirty="0">
              <a:solidFill>
                <a:srgbClr val="142B4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25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135/2026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DO
DISPOSITIVO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886200"/>
            <a:ext cx="1417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PONTOS
APRESENTADOS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99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reincidir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terceira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vez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intervalo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dois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infração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específica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incorrer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dez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reincidências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genéricas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intervalo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três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causando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prejuízos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mercado,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ambiente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patrimônio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público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interesse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público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III -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transferir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irregularmente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execução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atividades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outorgadas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IV -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impedir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dificultar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de forma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relevante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duradoura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exercício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fiscalização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;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
V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descumprir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penalidade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suspensão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dirty="0"/>
              <a:t>Parágrafo único. </a:t>
            </a:r>
            <a:r>
              <a:rPr lang="pt-BR" sz="1600" b="1" dirty="0"/>
              <a:t>Nos casos em que se verificar a necessidade de extinção da outorga mediante cassação, nos termos da Lei nº 10.233, de 5 de junho de 2001, sem que tenha sido cometida infração de natureza grave ou gravíssima, o processo será encaminhado à Superintendência de Outorgas SOG para a devida instrução em processo específico</a:t>
            </a:r>
            <a:r>
              <a:rPr lang="pt-BR" sz="1600" dirty="0"/>
              <a:t>.</a:t>
            </a:r>
            <a:endParaRPr sz="1600" b="0" i="0" dirty="0">
              <a:solidFill>
                <a:srgbClr val="142B4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DO
DISPOSITIVO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886200"/>
            <a:ext cx="141732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1" i="0" dirty="0">
                <a:solidFill>
                  <a:srgbClr val="04305B"/>
                </a:solidFill>
                <a:latin typeface="Aptos"/>
              </a:rPr>
              <a:t>INFRAÇÕES AFETAS À OUTORGA</a:t>
            </a:r>
            <a:endParaRPr sz="13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2990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470" b="0" i="0" dirty="0">
                <a:solidFill>
                  <a:srgbClr val="142B42"/>
                </a:solidFill>
                <a:latin typeface="Aptos"/>
              </a:rPr>
              <a:t>I -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leve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multa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abstrato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R$ 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1.500,00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(hum mil 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quinhentos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reais):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deixar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apresentar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hipótese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baseada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no art. 9º,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II do caput,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cópia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contrato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afretamento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Reconhecimento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Óptico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Caracteres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- OCR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sua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renovação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substituição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bem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como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documentação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afretadas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trinta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do art. 19,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I</a:t>
            </a:r>
            <a:r>
              <a:rPr lang="pt-BR" sz="1470" b="0" i="0" dirty="0">
                <a:solidFill>
                  <a:srgbClr val="142B42"/>
                </a:solidFill>
                <a:latin typeface="Aptos"/>
              </a:rPr>
              <a:t>;</a:t>
            </a:r>
          </a:p>
          <a:p>
            <a:pPr algn="just"/>
            <a:r>
              <a:rPr sz="1470" b="0" i="0" dirty="0">
                <a:solidFill>
                  <a:srgbClr val="142B42"/>
                </a:solidFill>
                <a:latin typeface="Aptos"/>
              </a:rPr>
              <a:t>
II -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leve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multa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abstrato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R$ 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9.000,00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(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nove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mil reais):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deixar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apresentar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hipótese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baseada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no art. 9º,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III do caput,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relatório</a:t>
            </a:r>
            <a:r>
              <a:rPr sz="1470" b="1" i="0" dirty="0">
                <a:solidFill>
                  <a:srgbClr val="142B42"/>
                </a:solidFill>
                <a:latin typeface="Aptos"/>
              </a:rPr>
              <a:t>, trimestral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, para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informar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evolução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70" b="1" i="0" dirty="0" err="1">
                <a:solidFill>
                  <a:srgbClr val="142B42"/>
                </a:solidFill>
                <a:latin typeface="Aptos"/>
              </a:rPr>
              <a:t>construção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 e o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andamento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execução</a:t>
            </a:r>
            <a:r>
              <a:rPr sz="147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i="0" dirty="0" err="1">
                <a:solidFill>
                  <a:srgbClr val="142B42"/>
                </a:solidFill>
                <a:latin typeface="Aptos"/>
              </a:rPr>
              <a:t>financeira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conforme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compromisso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firmado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do art. 19, </a:t>
            </a:r>
            <a:r>
              <a:rPr sz="147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470" b="0" i="0" dirty="0">
                <a:solidFill>
                  <a:srgbClr val="142B42"/>
                </a:solidFill>
                <a:latin typeface="Aptos"/>
              </a:rPr>
              <a:t> II;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INFRAÇÕES AFETAS À OUTORTGA: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PONTOS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9900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APRESENTADOS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INFRAÇÕES AFETAS À OUTORTGA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286000"/>
            <a:ext cx="7662672" cy="20067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III - de natureza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gravíssima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com multa em abstrato de até R$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73.000,00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(setenta e três mil reais): prestar o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serviço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de transporte privado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de cargas, pessoas e veículos em percurso de travessia,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sem autorização da Antaq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ou prestá-lo sem contrato de transporte vigente;</a:t>
            </a:r>
          </a:p>
          <a:p>
            <a:pPr algn="just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IV - de natureza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gravíssima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com multa em abstrato de até R$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240.000,00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(duzentos e quarenta mil reais): prestar o serviço de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transporte de cargas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em percurso longitudinal,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sem autorização da Antaq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28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INFRAÇÕES AFETAS À OUTORTGA: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V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-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gravíssima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multa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abstrato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R$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420.000,00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quatrocentos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mil reais):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V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I -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gravíssima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multa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abstrato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R$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620.000,00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seiscentos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mil reais):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misto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longitudinal,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autorização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INFRAÇÕES AFETAS À OUTORTGA: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29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136/2026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26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dirty="0">
                <a:solidFill>
                  <a:srgbClr val="04305B"/>
                </a:solidFill>
                <a:latin typeface="Aptos"/>
              </a:rPr>
              <a:t>NOTIFICAÇÕES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34840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26. 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comunicações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processuais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incluídas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notificações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intimações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realizadas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eletrônico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consideradas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pessoais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todos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efeitos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legais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norma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específica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1º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requerente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cadastro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obrigatório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junto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forma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externo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junto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2º É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responsabilidade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requerente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manter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atualizados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seus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dados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cadastrais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3º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comunicações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mensagens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eletrônicas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aplicativo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e-mail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27.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requerente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é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responsável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todas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informações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prestadas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507224" y="1"/>
            <a:ext cx="4663440" cy="6858000"/>
          </a:xfrm>
          <a:prstGeom prst="parallelogram">
            <a:avLst/>
          </a:prstGeom>
          <a:solidFill>
            <a:srgbClr val="08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841248" cy="575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554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D300"/>
                </a:solidFill>
                <a:latin typeface="Aptos"/>
              </a:rPr>
              <a:t>DIREITOS E DEVERES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29968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8686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RESOLUÇÃO Nº 138/2026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2224" y="2953512"/>
            <a:ext cx="1143000" cy="54864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92224" y="3310128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BE0F6"/>
                </a:solidFill>
                <a:latin typeface="Aptos"/>
              </a:rPr>
              <a:t>Regras para transporte de passageiros, misto e travessias.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179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CAE5"/>
                </a:solidFill>
                <a:latin typeface="Aptos"/>
              </a:rPr>
              <a:t>ENAFIS 2026 · ANTAQ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31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 dirty="0" err="1">
                <a:solidFill>
                  <a:srgbClr val="04305B"/>
                </a:solidFill>
                <a:latin typeface="Aptos"/>
              </a:rPr>
              <a:t>Resolução</a:t>
            </a:r>
            <a:r>
              <a:rPr sz="2700" b="1" i="0" dirty="0">
                <a:solidFill>
                  <a:srgbClr val="04305B"/>
                </a:solidFill>
                <a:latin typeface="Aptos"/>
              </a:rPr>
              <a:t> Nº 138/2026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NOVIDADES: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-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N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atureza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infração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/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gravidade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conduta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leve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média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grave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gravíssima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)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definida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própria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norma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valores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máximos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multa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abstrato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estabelecidos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nº 3.259/2014 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substituída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nº 135/2026)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; </a:t>
            </a:r>
            <a:r>
              <a:rPr lang="pt-BR" sz="1600" dirty="0">
                <a:solidFill>
                  <a:srgbClr val="142B42"/>
                </a:solidFill>
                <a:latin typeface="Aptos"/>
              </a:rPr>
              <a:t>(</a:t>
            </a:r>
            <a:r>
              <a:rPr lang="pt-BR" sz="1600" dirty="0">
                <a:solidFill>
                  <a:srgbClr val="C00000"/>
                </a:solidFill>
                <a:latin typeface="Aptos"/>
              </a:rPr>
              <a:t>também se aplica à Res. 136</a:t>
            </a:r>
            <a:r>
              <a:rPr lang="pt-BR" sz="1600" dirty="0">
                <a:solidFill>
                  <a:srgbClr val="142B42"/>
                </a:solidFill>
                <a:latin typeface="Aptos"/>
              </a:rPr>
              <a:t>)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dirty="0">
                <a:solidFill>
                  <a:srgbClr val="142B42"/>
                </a:solidFill>
                <a:latin typeface="Aptos"/>
              </a:rPr>
              <a:t>- Possibilidade de aplicação da pena de cassação na navegação interior, visto que há previsão de infrações graves;</a:t>
            </a:r>
          </a:p>
          <a:p>
            <a:pPr marL="285750" indent="-285750" algn="just">
              <a:buFontTx/>
              <a:buChar char="-"/>
            </a:pPr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dirty="0">
                <a:solidFill>
                  <a:srgbClr val="142B42"/>
                </a:solidFill>
                <a:latin typeface="Aptos"/>
              </a:rPr>
              <a:t>- Atualização dos valores máximos em abstrato das multas (</a:t>
            </a:r>
            <a:r>
              <a:rPr lang="pt-BR" sz="1600" dirty="0">
                <a:solidFill>
                  <a:srgbClr val="C00000"/>
                </a:solidFill>
                <a:latin typeface="Aptos"/>
              </a:rPr>
              <a:t>também se aplica à Res. 136</a:t>
            </a:r>
            <a:r>
              <a:rPr lang="pt-BR" sz="1600" dirty="0">
                <a:solidFill>
                  <a:srgbClr val="142B42"/>
                </a:solidFill>
                <a:latin typeface="Aptos"/>
              </a:rPr>
              <a:t>);</a:t>
            </a:r>
          </a:p>
          <a:p>
            <a:pPr algn="just"/>
            <a:endParaRPr lang="pt-BR" sz="1600" dirty="0">
              <a:solidFill>
                <a:srgbClr val="142B42"/>
              </a:solidFill>
              <a:latin typeface="Aptos"/>
            </a:endParaRPr>
          </a:p>
          <a:p>
            <a:pPr algn="l"/>
            <a:endParaRPr sz="1600" b="0" i="0" dirty="0">
              <a:solidFill>
                <a:srgbClr val="142B42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NOVIDADES: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5º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6459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b="1" dirty="0">
                <a:solidFill>
                  <a:srgbClr val="04305B"/>
                </a:solidFill>
                <a:latin typeface="Aptos"/>
              </a:rPr>
              <a:t>DIREITOS DOS USUÁRIOS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89925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550" b="0" i="0" dirty="0">
                <a:solidFill>
                  <a:srgbClr val="142B42"/>
                </a:solidFill>
                <a:latin typeface="Aptos"/>
              </a:rPr>
              <a:t>Art. 5º São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direitos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informação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usuário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:
I - ser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comunicado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previamente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local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visível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nas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pontos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vendas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sobre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:</a:t>
            </a:r>
            <a:endParaRPr lang="pt-BR" sz="155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550" b="0" i="0" dirty="0">
                <a:solidFill>
                  <a:srgbClr val="142B42"/>
                </a:solidFill>
                <a:latin typeface="Aptos"/>
              </a:rPr>
              <a:t>
a) a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quantidade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refeições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servidas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bordo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, para as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viagens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onde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esse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está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incluso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preço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passagem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;</a:t>
            </a:r>
            <a:endParaRPr lang="pt-BR" sz="155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550" b="0" i="0" dirty="0">
                <a:solidFill>
                  <a:srgbClr val="142B42"/>
                </a:solidFill>
                <a:latin typeface="Aptos"/>
              </a:rPr>
              <a:t>
b) o 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valor das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refeições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servidas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bordo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, para as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viagens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onde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esse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está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incluso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preço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0" i="0" dirty="0" err="1">
                <a:solidFill>
                  <a:srgbClr val="142B42"/>
                </a:solidFill>
                <a:latin typeface="Aptos"/>
              </a:rPr>
              <a:t>passagem</a:t>
            </a:r>
            <a:r>
              <a:rPr sz="1550" b="0" i="0" dirty="0">
                <a:solidFill>
                  <a:srgbClr val="142B42"/>
                </a:solidFill>
                <a:latin typeface="Aptos"/>
              </a:rPr>
              <a:t>;
h) 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para o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recomendação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permanecerem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fora dos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transportados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durante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550" b="1" i="0" dirty="0" err="1">
                <a:solidFill>
                  <a:srgbClr val="142B42"/>
                </a:solidFill>
                <a:latin typeface="Aptos"/>
              </a:rPr>
              <a:t>viagem</a:t>
            </a:r>
            <a:r>
              <a:rPr sz="1550" b="1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34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6º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645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b="1" dirty="0">
                <a:solidFill>
                  <a:srgbClr val="04305B"/>
                </a:solidFill>
                <a:latin typeface="Aptos"/>
              </a:rPr>
              <a:t>GRATUIDADES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49914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6º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gratuidade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crianças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cinco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completos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acompanhadas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responsável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legal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ocupem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individual.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Art. 7º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modalidade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interestadual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
I - para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pessoa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idosa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igual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superior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sessenta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renda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igual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inferior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salários-mínimos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
a)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reserva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duas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vagas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gratuitas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
b)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desconto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50% 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cinquenta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cento),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valor das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idosos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excederem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vagas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gratuitas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GRATUIDADES: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6º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GRATUIDADES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20067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II - para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jovens de baixa renda: </a:t>
            </a: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a) reserva de duas vagas gratuitas por embarcação; e </a:t>
            </a: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b) reserva de duas vagas com desconto de 50% (cinquenta por cento), no mínimo; e</a:t>
            </a: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 </a:t>
            </a: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III - para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pessoa com deficiência ou de mobilidade reduzida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comprovadamente carente, a reserva de duas vagas gratuitas por embarcação.</a:t>
            </a: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§ 2º As vagas reservadas de que trata o caput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não incluem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as cabines exclusivas de acomodação, denominadas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camarotes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.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B1290-EFA4-B794-4FF3-FC0EB31FE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8F250D-DB48-03CB-74A6-61760B4E0809}"/>
              </a:ext>
            </a:extLst>
          </p:cNvPr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>
            <a:extLst>
              <a:ext uri="{FF2B5EF4-FFF2-40B4-BE49-F238E27FC236}">
                <a16:creationId xmlns:a16="http://schemas.microsoft.com/office/drawing/2014/main" id="{910BF7D6-0CE5-C215-B235-F96DEE4F5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2A55E0-09A0-7802-2BA1-E69B6252D573}"/>
              </a:ext>
            </a:extLst>
          </p:cNvPr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6F507-120A-5B0C-915A-4506441CC11E}"/>
              </a:ext>
            </a:extLst>
          </p:cNvPr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7351EA-67BA-C263-BAAE-9CC03D24BB01}"/>
              </a:ext>
            </a:extLst>
          </p:cNvPr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7C2604-F3E9-9BE2-D5BE-9174529C8B0A}"/>
              </a:ext>
            </a:extLst>
          </p:cNvPr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5DFB60-4CF4-1DA3-FD3A-E2D23D6EC92B}"/>
              </a:ext>
            </a:extLst>
          </p:cNvPr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CFF09-A5D1-74FC-8DAF-4276C092D33F}"/>
              </a:ext>
            </a:extLst>
          </p:cNvPr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966B3-7A74-64BA-02C7-DE7E53BE8CE1}"/>
              </a:ext>
            </a:extLst>
          </p:cNvPr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36 / 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09F181-7F8B-0BBA-2F85-F18DA439480A}"/>
              </a:ext>
            </a:extLst>
          </p:cNvPr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783095-5D70-EB69-088B-B773B37A4DD5}"/>
              </a:ext>
            </a:extLst>
          </p:cNvPr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GRATUIDADES: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B195CFE-A809-3302-045C-9F884382B81D}"/>
              </a:ext>
            </a:extLst>
          </p:cNvPr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09BEC8-EC6C-B9FD-4712-D881D1FFB474}"/>
              </a:ext>
            </a:extLst>
          </p:cNvPr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8E52FA-A216-AB45-19BA-4300B3DAABE3}"/>
              </a:ext>
            </a:extLst>
          </p:cNvPr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6º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AB2233-9716-7A29-8BD5-85C858FD99FE}"/>
              </a:ext>
            </a:extLst>
          </p:cNvPr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C847C6-9C50-8B3D-1E90-97AE7C60B531}"/>
              </a:ext>
            </a:extLst>
          </p:cNvPr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GRATUIDADES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25B8C13-D9A0-B8B3-EF52-405EE28E7CA3}"/>
              </a:ext>
            </a:extLst>
          </p:cNvPr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D290DE-41BB-CC2C-FD2C-254606AD16A3}"/>
              </a:ext>
            </a:extLst>
          </p:cNvPr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B5CDC6-B348-126C-5CAD-1ED2A3D3BC29}"/>
              </a:ext>
            </a:extLst>
          </p:cNvPr>
          <p:cNvSpPr txBox="1"/>
          <p:nvPr/>
        </p:nvSpPr>
        <p:spPr>
          <a:xfrm>
            <a:off x="3584448" y="2286000"/>
            <a:ext cx="7662672" cy="34840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§ 3º As vagas para 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pessoa com deficiência ou de mobilidade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reduzida, conforme o inciso III do caput, deverão ser de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fácil acesso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preferencialmente na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primeira fila de acomodações.</a:t>
            </a:r>
          </a:p>
          <a:p>
            <a:pPr algn="just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Art. 8º São assegurados às pessoas beneficiárias os mesmos direitos garantidos aos demais passageiros.</a:t>
            </a:r>
          </a:p>
          <a:p>
            <a:pPr algn="just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b="0" i="0" dirty="0">
                <a:solidFill>
                  <a:srgbClr val="C00000"/>
                </a:solidFill>
                <a:latin typeface="Aptos"/>
              </a:rPr>
              <a:t>§ </a:t>
            </a:r>
            <a:r>
              <a:rPr lang="pt-BR" sz="1600" b="1" i="0" dirty="0">
                <a:solidFill>
                  <a:srgbClr val="C00000"/>
                </a:solidFill>
                <a:latin typeface="Aptos"/>
              </a:rPr>
              <a:t>3º Quando o benefício legal não for concedido, as </a:t>
            </a:r>
            <a:r>
              <a:rPr lang="pt-BR" sz="1600" b="1" i="0" dirty="0" err="1">
                <a:solidFill>
                  <a:srgbClr val="C00000"/>
                </a:solidFill>
                <a:latin typeface="Aptos"/>
              </a:rPr>
              <a:t>EBNs</a:t>
            </a:r>
            <a:r>
              <a:rPr lang="pt-BR" sz="1600" b="1" i="0" dirty="0">
                <a:solidFill>
                  <a:srgbClr val="C00000"/>
                </a:solidFill>
                <a:latin typeface="Aptos"/>
              </a:rPr>
              <a:t> deverão emitir ao solicitante documento que indicará a data, a hora, o local e o motivo da recusa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.</a:t>
            </a:r>
          </a:p>
          <a:p>
            <a:pPr algn="just"/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§ 4º Os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equipamentos indispensáveis à locomoção e à vida da pessoa com deficiência serão transportados gratuitamente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em local adequado e de forma a garantir o fácil acesso e uso durante a viagem, respeitada a capacidade dos compartimentos de bagagem e a segurança dos demais passageiros.</a:t>
            </a:r>
          </a:p>
        </p:txBody>
      </p:sp>
    </p:spTree>
    <p:extLst>
      <p:ext uri="{BB962C8B-B14F-4D97-AF65-F5344CB8AC3E}">
        <p14:creationId xmlns:p14="http://schemas.microsoft.com/office/powerpoint/2010/main" val="1911359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BILHETE DE PASSAGEM: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21. Todos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inclusive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beneficiários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desconto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gratuidade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receberão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bilhete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
Art. 24.
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Parágrafo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único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bilhetes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benefício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gratuidade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descontos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obrigatórios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nominais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intransferíveis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BILHETE DE PASSAGEM: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40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PRIORIDADES NO EMBARQUE: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PRIORIDADES NO EMBARQUE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4840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16.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passe livre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Auditores-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Fiscais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Trabalho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Agentes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Higiene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Trabalho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exercício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atribuições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funcionais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todo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território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nacional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mediante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apresentação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carteira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identidade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fiscal,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art. 34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Decreto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nº 4.552, de 27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dezembro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2002.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Art. 17.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passe livre,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prioridade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órgãos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tecidos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partes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corpo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humano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para fins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transplante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tratamento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bem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integrantes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equipe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captação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distribuição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órgãos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acompanham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material,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art. 13-A da Lei nº 9.434, de 4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fevereiro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1997.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Art. 18.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prioridade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embarque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coletivo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regularmente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órgão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competente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.</a:t>
            </a:r>
            <a:endParaRPr sz="1600" b="0" i="0" dirty="0">
              <a:solidFill>
                <a:srgbClr val="142B4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39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31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73736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b="1" dirty="0">
                <a:solidFill>
                  <a:srgbClr val="04305B"/>
                </a:solidFill>
                <a:latin typeface="Aptos"/>
              </a:rPr>
              <a:t>IDENTIFICAÇÃO DOS USUÁRIOS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99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31...
§ 1º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identificação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feita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documento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original, digital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autenticação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eletrônica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cópia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autenticada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cartório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independentemente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
§ 2º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Crianças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documento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foto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usar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certidão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nascimento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
§ 3º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Adolescentes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documento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foto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usar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certidão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nascimento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conforme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legislação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vigente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§ 4º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aceito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boletim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ocorrência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expedido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sessenta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furto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roubo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extravio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documento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identificação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
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35.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garantido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utiliza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nome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social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pessoa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travesti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transexual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bilhete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41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IDENTIFICAÇÃO DOS USUARIOS: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04305B"/>
                </a:solidFill>
                <a:latin typeface="Aptos"/>
              </a:rPr>
              <a:t>Art. 3</a:t>
            </a:r>
            <a:r>
              <a:rPr lang="pt-BR" sz="2200" b="1" i="0" dirty="0">
                <a:solidFill>
                  <a:srgbClr val="04305B"/>
                </a:solidFill>
                <a:latin typeface="Aptos"/>
              </a:rPr>
              <a:t>7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dirty="0">
                <a:solidFill>
                  <a:srgbClr val="0A68BE"/>
                </a:solidFill>
                <a:latin typeface="Aptos"/>
              </a:rPr>
              <a:t>AUTORIZAÇÃO PARA VIAGEM DE CRIANÇA E ADOLESCENTE</a:t>
            </a:r>
            <a:endParaRPr sz="1100" b="1" i="0" dirty="0">
              <a:solidFill>
                <a:srgbClr val="0A68BE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17604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Art. 37.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Crianças ou adolescentes menores de dezesseis anos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não poderão viajar para fora da comarca de residência, desacompanhados dos pais ou dos responsáveis legais sem expressa autorização judicial.</a:t>
            </a:r>
          </a:p>
          <a:p>
            <a:pPr algn="just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Art. 38. Sem prévia e expressa autorização judicial, nenhuma criança ou adolescente nascido em território nacional poderá sair do País em companhia de estrangeiro residente ou domiciliado no exterior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PREÇOS: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39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PREÇOS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185916"/>
            <a:ext cx="7662672" cy="37302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39.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livres,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exercidos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um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ambiente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livre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aberta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competição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reprimindo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-se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práticas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prejudiciais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concorrência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abuso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econômico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infrações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ordem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econômica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1º Em mercados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caracterizados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baixa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concorrência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essencialidade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elevação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dependerá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análise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prévia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homologação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2º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mediante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justificado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suspender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cautelarmente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elevação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justa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causa. </a:t>
            </a:r>
            <a:endParaRPr lang="pt-BR" sz="1600" b="1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3º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definirá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nível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mercado das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conforme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análise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técnica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4º Nas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autorizações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emitidas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caráter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temporário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poderão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estabelecidos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42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i="0" dirty="0">
                <a:solidFill>
                  <a:srgbClr val="04305B"/>
                </a:solidFill>
                <a:latin typeface="Aptos"/>
              </a:rPr>
              <a:t>Art. 40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417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b="1" dirty="0">
                <a:solidFill>
                  <a:srgbClr val="04305B"/>
                </a:solidFill>
                <a:latin typeface="Aptos"/>
              </a:rPr>
              <a:t>Preços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74536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§ 5º Nas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autorizações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emitidas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caráter</a:t>
            </a:r>
            <a:r>
              <a:rPr sz="1600" b="1" i="0" u="sng" dirty="0">
                <a:solidFill>
                  <a:srgbClr val="142B42"/>
                </a:solidFill>
                <a:latin typeface="Aptos"/>
              </a:rPr>
              <a:t> especial e de </a:t>
            </a:r>
            <a:r>
              <a:rPr sz="1600" b="1" i="0" u="sng" dirty="0" err="1">
                <a:solidFill>
                  <a:srgbClr val="142B42"/>
                </a:solidFill>
                <a:latin typeface="Aptos"/>
              </a:rPr>
              <a:t>emergência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aplica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liberdade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sujeitando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-se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regime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estabelecido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Art. 40. São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gerais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EBN:
IV -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submeter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previamente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com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quarenta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cinco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antecedência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qualquer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alteração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operacional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elevação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V -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comunicar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sobre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alterações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operacionais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elevação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ciência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homologação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termos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previstos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nesta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Resolução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VIII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cobrar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valor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discriminado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quadro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XX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exigir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vantagem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manifestamente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excessiva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45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PREÇOS: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PREÇOS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274536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XXI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elevar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justa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causa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
XXII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condicionar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autorizados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fornecimento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outro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produto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Art. 51. 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elevações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ciência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homologação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entrarão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vigor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quinze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comunicação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 
§ 1º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comunicação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afixação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alterações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locais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visíveis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venda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
§ 5º 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As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elevações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de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preços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homologadas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pela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Antaq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serão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registradas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no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sítio</a:t>
            </a:r>
            <a:r>
              <a:rPr sz="1600" b="1" i="0" u="sng" dirty="0">
                <a:solidFill>
                  <a:srgbClr val="C00000"/>
                </a:solidFill>
                <a:latin typeface="Aptos"/>
              </a:rPr>
              <a:t> </a:t>
            </a:r>
            <a:r>
              <a:rPr sz="1600" b="1" i="0" u="sng" dirty="0" err="1">
                <a:solidFill>
                  <a:srgbClr val="C00000"/>
                </a:solidFill>
                <a:latin typeface="Aptos"/>
              </a:rPr>
              <a:t>eletrônico</a:t>
            </a:r>
            <a:r>
              <a:rPr lang="pt-BR" sz="1600" b="1" i="0" u="sng" dirty="0">
                <a:solidFill>
                  <a:srgbClr val="C00000"/>
                </a:solidFill>
                <a:latin typeface="Aptos"/>
              </a:rPr>
              <a:t>.</a:t>
            </a:r>
            <a:endParaRPr sz="1600" b="1" i="0" u="sng" dirty="0">
              <a:solidFill>
                <a:srgbClr val="C0000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SERVIÇO ADEQUADO: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dirty="0">
                <a:solidFill>
                  <a:srgbClr val="0A68BE"/>
                </a:solidFill>
                <a:latin typeface="Aptos"/>
              </a:rPr>
              <a:t>RECLAMAÇÕES</a:t>
            </a:r>
            <a:endParaRPr sz="1100" b="1" i="0" dirty="0">
              <a:solidFill>
                <a:srgbClr val="0A68BE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151426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Art. 40. São deveres gerais da EBN:</a:t>
            </a: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XII - disponibilizar aos usuários: </a:t>
            </a: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a)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SAC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nos termos do Decreto nº 11.034, de 05 de abril de 2022, por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telefone, meio eletrônico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ou pela plataforma digital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Consumidor.gov.br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; e </a:t>
            </a: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b)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formulário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apropriado,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físico ou eletrônico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para reclamação de danos ou extravio de bagagem ou carga;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500A6-2CB4-ED3F-CD0A-C409D6965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2D46D3-6153-E259-60F0-B8FEDEC3F762}"/>
              </a:ext>
            </a:extLst>
          </p:cNvPr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>
            <a:extLst>
              <a:ext uri="{FF2B5EF4-FFF2-40B4-BE49-F238E27FC236}">
                <a16:creationId xmlns:a16="http://schemas.microsoft.com/office/drawing/2014/main" id="{8C59DAF4-2F39-45A8-C3E1-0F34B038C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B7EECA-EFD9-2AFA-A54C-20276930D57B}"/>
              </a:ext>
            </a:extLst>
          </p:cNvPr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E92E4-7A8E-FEFE-CAF4-D189CDDB6752}"/>
              </a:ext>
            </a:extLst>
          </p:cNvPr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88A418-D114-6E4E-2121-C636EFC3F269}"/>
              </a:ext>
            </a:extLst>
          </p:cNvPr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5E905-5617-18F6-F19A-470F0EAE0901}"/>
              </a:ext>
            </a:extLst>
          </p:cNvPr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0C0675-9C08-51CF-5C77-4888AD4B2239}"/>
              </a:ext>
            </a:extLst>
          </p:cNvPr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3FAE18-B966-86E3-4758-F821B2F55CFC}"/>
              </a:ext>
            </a:extLst>
          </p:cNvPr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165F8-F4EB-ED3F-0CC1-16B6B709E812}"/>
              </a:ext>
            </a:extLst>
          </p:cNvPr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47 / 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1E183-5324-1D15-B38C-AA52E552AD88}"/>
              </a:ext>
            </a:extLst>
          </p:cNvPr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A297A-030D-2CAC-45B8-185B151DD3D0}"/>
              </a:ext>
            </a:extLst>
          </p:cNvPr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SERVIÇO ADEQUADO: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F6DA69E-16A0-A0BC-7DCC-D49E24E6D2E2}"/>
              </a:ext>
            </a:extLst>
          </p:cNvPr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771C74-8A57-1C48-DA33-558A4B4EA391}"/>
              </a:ext>
            </a:extLst>
          </p:cNvPr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F6CB4-B7BD-73BD-50DD-14C615ED85A4}"/>
              </a:ext>
            </a:extLst>
          </p:cNvPr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40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604D53-FC90-237A-6DF1-5A9BA69D8A94}"/>
              </a:ext>
            </a:extLst>
          </p:cNvPr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E1B2D6-7BD0-3AEF-1937-908FF4E1A912}"/>
              </a:ext>
            </a:extLst>
          </p:cNvPr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SERVIÇO ADEQUADO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21BCDA5-3E89-ED5E-686D-83ECE811EFE3}"/>
              </a:ext>
            </a:extLst>
          </p:cNvPr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D390AD-23C9-D6D8-AF85-F350DB6EC257}"/>
              </a:ext>
            </a:extLst>
          </p:cNvPr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493C11-C5FD-78A2-1A09-474717A14BCC}"/>
              </a:ext>
            </a:extLst>
          </p:cNvPr>
          <p:cNvSpPr txBox="1"/>
          <p:nvPr/>
        </p:nvSpPr>
        <p:spPr>
          <a:xfrm>
            <a:off x="3584448" y="2286000"/>
            <a:ext cx="7662672" cy="249914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40. São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gerais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EBN: 
II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assegurar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adequado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conforme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atributos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mínimos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estabelecidos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;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
§ 1º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descumprimento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II do caput,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apurado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vistoria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técnica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ensejará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 
I -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descadastramento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frota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empresa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sessenta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regularização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itens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inaptos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II -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anotação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impedimento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prestar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modalidade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comprovação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regularização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itens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inaptos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 
III -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interdição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cautelar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houver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grave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risco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ambiente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saúde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pública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à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sociedade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32226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43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4173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b="1" dirty="0">
                <a:solidFill>
                  <a:srgbClr val="04305B"/>
                </a:solidFill>
                <a:latin typeface="Aptos"/>
              </a:rPr>
              <a:t>SEGURANÇA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2529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43. São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EBN:
V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disponibilizar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rampa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acesso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balaustrada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(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removível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)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dispositivo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antiderrapante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VIII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necessário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combustível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consumo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própria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recipientes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adequados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conservados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isolados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X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organizar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orientar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desembarque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cargas,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fornecer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informações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procedimentos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seguidos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situações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emergência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oral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audiovisual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explicando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49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SEGURANÇA: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4305B"/>
                </a:solidFill>
                <a:latin typeface="Aptos"/>
              </a:rPr>
              <a:t>PONTOS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990088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4305B"/>
                </a:solidFill>
                <a:latin typeface="Aptos"/>
              </a:rPr>
              <a:t>APRESENTADOS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SEGURANÇA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286000"/>
            <a:ext cx="7662672" cy="299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a) para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recomendação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permaneçam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fora dos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transportados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durante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movimentação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
b)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indicação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locais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onde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é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proibida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circulação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onde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é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exigida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acomodação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 
c)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localização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o modo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coletes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salva-vidas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demais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equipamentos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salvatagem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XII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manter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dispositivo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visual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com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recomendação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inciso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X,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alínea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"a"; [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fora dos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]
XIII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permitir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pé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exclusivamente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viagens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duração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hora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observância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às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normas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Marítima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50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SEGURANÇA: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70048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4305B"/>
                </a:solidFill>
                <a:latin typeface="Aptos"/>
              </a:rPr>
              <a:t>Art. 44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SEGURANÇA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84448" y="2286000"/>
            <a:ext cx="7662672" cy="323780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44.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veículos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percurso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possuir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locais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específicos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abrigados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demarcados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quantidade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estabelecida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Autoridade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Marítima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hora 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duração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abrigos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possuir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fixos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o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total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
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duração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entre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trinta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minutos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hora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dotada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fixos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50% (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cinquenta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)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capacidade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 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III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travessias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duração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inferior 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trinta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minutos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deverá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ser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dotada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com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assentos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fixos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pelo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25% (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vinte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cinco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cento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)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capacidade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450E7-B85A-016E-D887-27007A42D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1D6563-D888-C177-D3E0-C59C5876BE03}"/>
              </a:ext>
            </a:extLst>
          </p:cNvPr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>
            <a:extLst>
              <a:ext uri="{FF2B5EF4-FFF2-40B4-BE49-F238E27FC236}">
                <a16:creationId xmlns:a16="http://schemas.microsoft.com/office/drawing/2014/main" id="{CF8E28DA-D2CA-3473-5DAD-0072D35AC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0A51F3-9D55-E9C8-6CA1-6F1C37BFE28A}"/>
              </a:ext>
            </a:extLst>
          </p:cNvPr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F1BBE-3540-3E04-7041-8B17E5F74569}"/>
              </a:ext>
            </a:extLst>
          </p:cNvPr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A5A196-BF42-17E8-12F7-7B2BA8AC4E1A}"/>
              </a:ext>
            </a:extLst>
          </p:cNvPr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CF3A5-9382-3601-59F9-F2CE4D23253C}"/>
              </a:ext>
            </a:extLst>
          </p:cNvPr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12B015-38AF-CF1A-70D1-BA42483E4BB4}"/>
              </a:ext>
            </a:extLst>
          </p:cNvPr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8959A9-D3E8-139A-FA28-0CFC69153C52}"/>
              </a:ext>
            </a:extLst>
          </p:cNvPr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A6057-1D92-DB02-C98A-1EA4D58D08A2}"/>
              </a:ext>
            </a:extLst>
          </p:cNvPr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50 / 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C9D7F4-5DC1-7CE4-64E3-7AB410C7118E}"/>
              </a:ext>
            </a:extLst>
          </p:cNvPr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AC769E-02A5-406C-BDA0-8C2BC301D3C1}"/>
              </a:ext>
            </a:extLst>
          </p:cNvPr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SEGURANÇA: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3EA7606-E1E6-009A-AE52-2ECDFBA6B83F}"/>
              </a:ext>
            </a:extLst>
          </p:cNvPr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A8A05D-2E4A-F25C-12B5-D94273EA7915}"/>
              </a:ext>
            </a:extLst>
          </p:cNvPr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5A9F9D-457A-7153-BC0A-22F640A192A4}"/>
              </a:ext>
            </a:extLst>
          </p:cNvPr>
          <p:cNvSpPr txBox="1"/>
          <p:nvPr/>
        </p:nvSpPr>
        <p:spPr>
          <a:xfrm>
            <a:off x="896112" y="2670048"/>
            <a:ext cx="1600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04305B"/>
                </a:solidFill>
                <a:latin typeface="Aptos"/>
              </a:rPr>
              <a:t>Art. 4</a:t>
            </a:r>
            <a:r>
              <a:rPr lang="pt-BR" sz="2200" b="1" i="0" dirty="0">
                <a:solidFill>
                  <a:srgbClr val="04305B"/>
                </a:solidFill>
                <a:latin typeface="Aptos"/>
              </a:rPr>
              <a:t>5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899749-67A4-4E55-3B93-F87184FED464}"/>
              </a:ext>
            </a:extLst>
          </p:cNvPr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FBBC4A-4ECC-E230-8009-DCC1DD4A4A82}"/>
              </a:ext>
            </a:extLst>
          </p:cNvPr>
          <p:cNvSpPr txBox="1"/>
          <p:nvPr/>
        </p:nvSpPr>
        <p:spPr>
          <a:xfrm>
            <a:off x="896112" y="3931920"/>
            <a:ext cx="166420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A68BE"/>
                </a:solidFill>
                <a:latin typeface="Aptos"/>
              </a:rPr>
              <a:t>SEGURANÇA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6BA7EAE-6379-B3FE-7CEA-2D9440F4D8D8}"/>
              </a:ext>
            </a:extLst>
          </p:cNvPr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5E4352-0166-30C4-286C-C7C42971702B}"/>
              </a:ext>
            </a:extLst>
          </p:cNvPr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04E339-4151-3B05-050B-905369FD379C}"/>
              </a:ext>
            </a:extLst>
          </p:cNvPr>
          <p:cNvSpPr txBox="1"/>
          <p:nvPr/>
        </p:nvSpPr>
        <p:spPr>
          <a:xfrm>
            <a:off x="3584448" y="2286000"/>
            <a:ext cx="7662672" cy="22529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Art. 45. A EBN somente poderá operar embarcação que estiver regularizada junto à Capitania, Delegacia ou Agência integrante do SSTA da MB e com apólice de Seguro Obrigatório de Danos Pessoais causados por Embarcações ou por Suas Cargas (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Seguro DPEM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) em vigor. </a:t>
            </a:r>
          </a:p>
          <a:p>
            <a:pPr algn="just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Parágrafo único. Na indisponibilidade do Seguro DPEM, ele deverá ser substituído por um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seguro similar de danos pessoais com a mesma cobertura mínima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compreendendo, as indenizações por morte, invalidez permanente e despesas de assistência médica e suplementares.</a:t>
            </a:r>
          </a:p>
        </p:txBody>
      </p:sp>
    </p:spTree>
    <p:extLst>
      <p:ext uri="{BB962C8B-B14F-4D97-AF65-F5344CB8AC3E}">
        <p14:creationId xmlns:p14="http://schemas.microsoft.com/office/powerpoint/2010/main" val="27150763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07DD1-5C58-63AD-7E84-D048D6A5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75C3FF-8948-AB2E-60E7-70FAC9D7F833}"/>
              </a:ext>
            </a:extLst>
          </p:cNvPr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>
            <a:extLst>
              <a:ext uri="{FF2B5EF4-FFF2-40B4-BE49-F238E27FC236}">
                <a16:creationId xmlns:a16="http://schemas.microsoft.com/office/drawing/2014/main" id="{9E983945-1F89-FA54-FA88-48BC9493A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974349-CF47-9383-4A3A-5073B81CDB82}"/>
              </a:ext>
            </a:extLst>
          </p:cNvPr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9C452-C8F1-5E7E-7F6F-D83CFDFDA99B}"/>
              </a:ext>
            </a:extLst>
          </p:cNvPr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24F373-6BD2-886E-618D-F35E82C86FC3}"/>
              </a:ext>
            </a:extLst>
          </p:cNvPr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E7F9D4-C913-8304-23E5-8145A094E772}"/>
              </a:ext>
            </a:extLst>
          </p:cNvPr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4A679F-5380-AD25-F5B3-7D82BF7C0994}"/>
              </a:ext>
            </a:extLst>
          </p:cNvPr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85701-897B-6A32-7B75-F34A958401E4}"/>
              </a:ext>
            </a:extLst>
          </p:cNvPr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36280A-7976-00D2-210E-696C71F53861}"/>
              </a:ext>
            </a:extLst>
          </p:cNvPr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50 / 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D2C57-A4F9-E131-3444-5FFFDCB466AE}"/>
              </a:ext>
            </a:extLst>
          </p:cNvPr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E7CEBD-8A93-0CCC-4825-35B8D2BC2136}"/>
              </a:ext>
            </a:extLst>
          </p:cNvPr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SEGURANÇA: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1288F55-5937-283C-F70F-DD7A23C83B53}"/>
              </a:ext>
            </a:extLst>
          </p:cNvPr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4A30D3-7CE0-1EEA-4274-FCAA33E2A162}"/>
              </a:ext>
            </a:extLst>
          </p:cNvPr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533458-949D-34CB-A1DB-E9E9E8DF4051}"/>
              </a:ext>
            </a:extLst>
          </p:cNvPr>
          <p:cNvSpPr txBox="1"/>
          <p:nvPr/>
        </p:nvSpPr>
        <p:spPr>
          <a:xfrm>
            <a:off x="896112" y="2670048"/>
            <a:ext cx="16002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04305B"/>
                </a:solidFill>
                <a:latin typeface="Aptos"/>
              </a:rPr>
              <a:t>Art. 4</a:t>
            </a:r>
            <a:r>
              <a:rPr lang="pt-BR" sz="2200" b="1" i="0" dirty="0">
                <a:solidFill>
                  <a:srgbClr val="04305B"/>
                </a:solidFill>
                <a:latin typeface="Aptos"/>
              </a:rPr>
              <a:t>5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9AD496-781D-477E-8C37-2BDF99C68868}"/>
              </a:ext>
            </a:extLst>
          </p:cNvPr>
          <p:cNvSpPr/>
          <p:nvPr/>
        </p:nvSpPr>
        <p:spPr>
          <a:xfrm>
            <a:off x="896112" y="3584448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7F69F3-B2F2-29CD-24E3-66FCB7134B07}"/>
              </a:ext>
            </a:extLst>
          </p:cNvPr>
          <p:cNvSpPr txBox="1"/>
          <p:nvPr/>
        </p:nvSpPr>
        <p:spPr>
          <a:xfrm>
            <a:off x="896112" y="3931920"/>
            <a:ext cx="1664208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dirty="0">
                <a:solidFill>
                  <a:srgbClr val="0A68BE"/>
                </a:solidFill>
                <a:latin typeface="Aptos"/>
              </a:rPr>
              <a:t>DEVERES DE INFORMAÇÃO DA EBN</a:t>
            </a:r>
            <a:endParaRPr sz="1100" b="1" i="0" dirty="0">
              <a:solidFill>
                <a:srgbClr val="0A68BE"/>
              </a:solidFill>
              <a:latin typeface="Apto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6DF16FF-9E9A-C90B-1B04-C9A0F9619F2D}"/>
              </a:ext>
            </a:extLst>
          </p:cNvPr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43F2CE-1A5D-D805-E0C5-D80AC63E5C60}"/>
              </a:ext>
            </a:extLst>
          </p:cNvPr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DFB496-EEFD-D010-EEE3-E68420B8950A}"/>
              </a:ext>
            </a:extLst>
          </p:cNvPr>
          <p:cNvSpPr txBox="1"/>
          <p:nvPr/>
        </p:nvSpPr>
        <p:spPr>
          <a:xfrm>
            <a:off x="3584448" y="2286000"/>
            <a:ext cx="7662672" cy="299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III - mensalmente, até o último dia do mês subsequente, ou quando solicitado, os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dados de movimentação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operacional dos serviços autorizados; e</a:t>
            </a:r>
          </a:p>
          <a:p>
            <a:pPr algn="just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§ 1º O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envio de dos dados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de que trata o inciso III do caput deverá ser realizado por meio do: </a:t>
            </a: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 - Sistema de Desenvolvimento da Navegação -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SDN-Travessia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, para transporte em percurso de travessia; e </a:t>
            </a:r>
          </a:p>
          <a:p>
            <a:pPr algn="just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II -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correio eletrônico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longitudinal@antaq.gov.br, para transporte em percurso longitudinal. </a:t>
            </a:r>
          </a:p>
          <a:p>
            <a:pPr algn="just"/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lang="pt-BR" sz="1600" b="0" i="0" dirty="0">
                <a:solidFill>
                  <a:srgbClr val="142B42"/>
                </a:solidFill>
                <a:latin typeface="Aptos"/>
              </a:rPr>
              <a:t>§ 2º A utilização do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BP-e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poderá </a:t>
            </a:r>
            <a:r>
              <a:rPr lang="pt-BR" sz="1600" b="1" i="0" dirty="0">
                <a:solidFill>
                  <a:srgbClr val="142B42"/>
                </a:solidFill>
                <a:latin typeface="Aptos"/>
              </a:rPr>
              <a:t>suprir o envio de dados 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de que trata o § 1º.</a:t>
            </a:r>
          </a:p>
        </p:txBody>
      </p:sp>
    </p:spTree>
    <p:extLst>
      <p:ext uri="{BB962C8B-B14F-4D97-AF65-F5344CB8AC3E}">
        <p14:creationId xmlns:p14="http://schemas.microsoft.com/office/powerpoint/2010/main" val="38855256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51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ALTERAÇÕES OPERACIONAIS: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49. As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alterações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esquema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operacional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aprovação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entrarão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vigor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quinze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comunicação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usuários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 [</a:t>
            </a:r>
            <a:r>
              <a:rPr lang="pt-BR" sz="1600" b="0" i="0" dirty="0">
                <a:solidFill>
                  <a:srgbClr val="FF0000"/>
                </a:solidFill>
                <a:latin typeface="Aptos"/>
              </a:rPr>
              <a:t>padronização do prazo</a:t>
            </a:r>
            <a:r>
              <a:rPr lang="pt-BR" sz="1600" b="0" i="0" dirty="0">
                <a:solidFill>
                  <a:srgbClr val="142B42"/>
                </a:solidFill>
                <a:latin typeface="Aptos"/>
              </a:rPr>
              <a:t>]</a:t>
            </a: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1º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comunicação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o caput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realizada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no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mínimo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meio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afixação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alterações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locais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visíveis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embarcações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pontos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venda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passagens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  <a:endParaRPr lang="pt-BR" sz="1600" b="0" i="0" dirty="0">
              <a:solidFill>
                <a:srgbClr val="142B42"/>
              </a:solidFill>
              <a:latin typeface="Aptos"/>
            </a:endParaRPr>
          </a:p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
§ 2º A EBN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poderá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fixar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prazo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superior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determinado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no caput.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ALTERAÇÕES OPERACIONAIS: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12680" y="182880"/>
            <a:ext cx="173736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4976" y="246888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52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RES. 138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8"/>
            <a:ext cx="2423160" cy="3886200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30428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A68BE"/>
                </a:solidFill>
                <a:latin typeface="Aptos"/>
              </a:rPr>
              <a:t>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87752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200" b="1" dirty="0">
                <a:solidFill>
                  <a:srgbClr val="04305B"/>
                </a:solidFill>
                <a:latin typeface="Aptos"/>
              </a:rPr>
              <a:t>ART. 50</a:t>
            </a:r>
            <a:endParaRPr sz="2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6112" y="3639312"/>
            <a:ext cx="960120" cy="50292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13632"/>
            <a:ext cx="17373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800" b="1" i="0" dirty="0">
                <a:solidFill>
                  <a:srgbClr val="04305B"/>
                </a:solidFill>
                <a:latin typeface="Aptos"/>
              </a:rPr>
              <a:t>INTERRUPÇÃO NA PRESTAÇÃO DO SERVIÇO</a:t>
            </a:r>
            <a:endParaRPr sz="18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846320"/>
            <a:ext cx="1554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2029968"/>
            <a:ext cx="827532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029968"/>
            <a:ext cx="54864" cy="388620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2331720"/>
            <a:ext cx="7662672" cy="29915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just"/>
            <a:r>
              <a:rPr sz="1600" b="0" i="0" dirty="0">
                <a:solidFill>
                  <a:srgbClr val="142B42"/>
                </a:solidFill>
                <a:latin typeface="Aptos"/>
              </a:rPr>
              <a:t>Art. 50...
§ 1º São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hipóteses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excepcionais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interrupção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prestação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serviços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após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aprovação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pela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:
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quinze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atender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demanda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proveniente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festividades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locais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eventos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datas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comemorativas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: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
a)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paralisação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temporária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
b)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alteração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temporária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horários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ou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itinerário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
II -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caso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exista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outra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habilitada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apta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substituí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-la:
a)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trinta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paralisação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temporária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manutenção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programada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; e
b)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até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sessenta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dias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paralisação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eventual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operação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linha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para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manutenção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segurança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programada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600" b="0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RES.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53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Resolução Nº 138/2026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TRANSPORTE DE CARGAS FRACIONADAS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F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1874519"/>
            <a:ext cx="59436" cy="4251960"/>
          </a:xfrm>
          <a:prstGeom prst="rect">
            <a:avLst/>
          </a:prstGeom>
          <a:solidFill>
            <a:srgbClr val="0A68BE"/>
          </a:solidFill>
          <a:ln>
            <a:solidFill>
              <a:srgbClr val="0A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2084831"/>
            <a:ext cx="960120" cy="310896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57984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10149840" cy="3218688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600" b="1" i="0" dirty="0">
                <a:solidFill>
                  <a:srgbClr val="142B42"/>
                </a:solidFill>
                <a:latin typeface="Aptos"/>
              </a:rPr>
              <a:t>Art. 52.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carga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fracionada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é o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compartilhado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carga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geral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diversos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clientes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uma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mesma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embarcação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destinada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ao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600" b="1" i="0" dirty="0" err="1">
                <a:solidFill>
                  <a:srgbClr val="142B42"/>
                </a:solidFill>
                <a:latin typeface="Aptos"/>
              </a:rPr>
              <a:t>passageiros</a:t>
            </a:r>
            <a:r>
              <a:rPr sz="1600" b="1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075688"/>
            <a:ext cx="896112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04305B"/>
                </a:solidFill>
                <a:latin typeface="Aptos"/>
              </a:rPr>
              <a:t>TRANSPORTE DE CARGAS FRACIONADAS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399816" y="1"/>
            <a:ext cx="4663440" cy="6858000"/>
          </a:xfrm>
          <a:prstGeom prst="parallelogram">
            <a:avLst/>
          </a:prstGeom>
          <a:solidFill>
            <a:srgbClr val="083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841248" cy="575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554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D300"/>
                </a:solidFill>
                <a:latin typeface="Aptos"/>
              </a:rPr>
              <a:t>PRINCIPAIS PONTOS DA APRESENTAÇÃO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29968"/>
            <a:ext cx="1143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8686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SÍNTESE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2224" y="2953512"/>
            <a:ext cx="1143000" cy="54864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92224" y="3310128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CBE0F6"/>
                </a:solidFill>
                <a:latin typeface="Aptos"/>
              </a:rPr>
              <a:t>Consolidação das mudanças apresentadas e seus efeitos normativos.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17920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ECAE5"/>
                </a:solidFill>
                <a:latin typeface="Aptos"/>
              </a:rPr>
              <a:t>ENAFIS 2026 · ANTAQ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CONCLUSÃO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55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CONCLUSÃO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Síntese dos principais pontos apresentados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48256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PONTOS POSITIVOS: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50292" cy="987552"/>
          </a:xfrm>
          <a:prstGeom prst="rect">
            <a:avLst/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1752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19272"/>
            <a:ext cx="10469880" cy="13715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 dirty="0">
                <a:solidFill>
                  <a:srgbClr val="142B42"/>
                </a:solidFill>
                <a:latin typeface="Aptos"/>
              </a:rPr>
              <a:t>Nova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estrutura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das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normas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divisão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temas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regulação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serviço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transporte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privado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em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norma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específica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regulamentação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dos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acordos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operacionais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50292" cy="987552"/>
          </a:xfrm>
          <a:prstGeom prst="rect">
            <a:avLst/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76573"/>
            <a:ext cx="10469880" cy="1371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 dirty="0" err="1">
                <a:solidFill>
                  <a:srgbClr val="142B42"/>
                </a:solidFill>
                <a:latin typeface="Aptos"/>
              </a:rPr>
              <a:t>Reorganização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enxugamento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do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acervo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normativo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interior (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criação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de 6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novas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normas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e 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revogação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de 2</a:t>
            </a:r>
            <a:r>
              <a:rPr lang="pt-BR" sz="1430" dirty="0">
                <a:solidFill>
                  <a:srgbClr val="142B42"/>
                </a:solidFill>
                <a:latin typeface="Aptos"/>
              </a:rPr>
              <a:t>8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normas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antigas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);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CONCLUSÃO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56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CONCLUSÃO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Síntese dos principais pontos apresentados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48256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PONTOS POSITIVOS: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50292" cy="987552"/>
          </a:xfrm>
          <a:prstGeom prst="rect">
            <a:avLst/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1752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dirty="0">
                <a:solidFill>
                  <a:srgbClr val="04305B"/>
                </a:solidFill>
                <a:latin typeface="Aptos"/>
              </a:rPr>
              <a:t>0</a:t>
            </a:r>
            <a:r>
              <a:rPr lang="pt-BR" sz="1200" b="1" i="0" dirty="0">
                <a:solidFill>
                  <a:srgbClr val="04305B"/>
                </a:solidFill>
                <a:latin typeface="Aptos"/>
              </a:rPr>
              <a:t>3</a:t>
            </a:r>
            <a:endParaRPr sz="1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3456432"/>
            <a:ext cx="10469880" cy="13715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>
                <a:solidFill>
                  <a:srgbClr val="142B42"/>
                </a:solidFill>
                <a:latin typeface="Aptos"/>
              </a:rPr>
              <a:t>Atualização dos valores em abstrato das multas;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50292" cy="987552"/>
          </a:xfrm>
          <a:prstGeom prst="rect">
            <a:avLst/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dirty="0">
                <a:solidFill>
                  <a:srgbClr val="04305B"/>
                </a:solidFill>
                <a:latin typeface="Aptos"/>
              </a:rPr>
              <a:t>0</a:t>
            </a:r>
            <a:r>
              <a:rPr lang="pt-BR" sz="1200" b="1" i="0" dirty="0">
                <a:solidFill>
                  <a:srgbClr val="04305B"/>
                </a:solidFill>
                <a:latin typeface="Aptos"/>
              </a:rPr>
              <a:t>4</a:t>
            </a:r>
            <a:endParaRPr sz="1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8680" y="4690872"/>
            <a:ext cx="10469880" cy="1371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>
                <a:solidFill>
                  <a:srgbClr val="142B42"/>
                </a:solidFill>
                <a:latin typeface="Aptos"/>
              </a:rPr>
              <a:t>Classificação da gravidade das condutas já definida na própria norma;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0352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5303520"/>
            <a:ext cx="50292" cy="987552"/>
          </a:xfrm>
          <a:prstGeom prst="rect">
            <a:avLst/>
          </a:prstGeom>
          <a:solidFill>
            <a:srgbClr val="1E895B"/>
          </a:solidFill>
          <a:ln>
            <a:solidFill>
              <a:srgbClr val="1E8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48640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 dirty="0">
                <a:solidFill>
                  <a:srgbClr val="04305B"/>
                </a:solidFill>
                <a:latin typeface="Aptos"/>
              </a:rPr>
              <a:t>0</a:t>
            </a:r>
            <a:r>
              <a:rPr lang="pt-BR" sz="1200" b="1" i="0" dirty="0">
                <a:solidFill>
                  <a:srgbClr val="04305B"/>
                </a:solidFill>
                <a:latin typeface="Aptos"/>
              </a:rPr>
              <a:t>5</a:t>
            </a:r>
            <a:endParaRPr sz="1200" b="1" i="0" dirty="0">
              <a:solidFill>
                <a:srgbClr val="04305B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" y="5925312"/>
            <a:ext cx="10469880" cy="1371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 dirty="0" err="1">
                <a:solidFill>
                  <a:srgbClr val="142B42"/>
                </a:solidFill>
                <a:latin typeface="Aptos"/>
              </a:rPr>
              <a:t>Possibilidade</a:t>
            </a:r>
            <a:r>
              <a:rPr lang="pt-BR" sz="1430" b="0" i="0" dirty="0">
                <a:solidFill>
                  <a:srgbClr val="142B42"/>
                </a:solidFill>
                <a:latin typeface="Aptos"/>
              </a:rPr>
              <a:t> real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aplicação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pena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cassação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navegação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interior.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CONCLUSÃO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57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CONCLUSÃO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50" b="0" i="0">
                <a:solidFill>
                  <a:srgbClr val="5B6C7E"/>
                </a:solidFill>
                <a:latin typeface="Aptos"/>
              </a:rPr>
              <a:t>Síntese dos principais pontos apresentados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74519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48256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PONTOS NEGATIVOS: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50292" cy="987552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01752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56432"/>
            <a:ext cx="10469880" cy="137159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 dirty="0" err="1">
                <a:solidFill>
                  <a:srgbClr val="142B42"/>
                </a:solidFill>
                <a:latin typeface="Aptos"/>
              </a:rPr>
              <a:t>Infração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por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atender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às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solicitações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permanecem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natureza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leve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e com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baixo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valor de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multa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10927080" cy="987552"/>
          </a:xfrm>
          <a:prstGeom prst="roundRect">
            <a:avLst>
              <a:gd name="adj" fmla="val 8000"/>
            </a:avLst>
          </a:prstGeom>
          <a:solidFill>
            <a:srgbClr val="F5F9FD"/>
          </a:solidFill>
          <a:ln>
            <a:solidFill>
              <a:srgbClr val="F5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50292" cy="987552"/>
          </a:xfrm>
          <a:prstGeom prst="rect">
            <a:avLst/>
          </a:prstGeom>
          <a:solidFill>
            <a:srgbClr val="BE3939"/>
          </a:solidFill>
          <a:ln>
            <a:solidFill>
              <a:srgbClr val="BE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1046988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1" i="0">
                <a:solidFill>
                  <a:srgbClr val="04305B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562856"/>
            <a:ext cx="10469880" cy="137160"/>
          </a:xfrm>
          <a:prstGeom prst="rect">
            <a:avLst/>
          </a:prstGeom>
          <a:noFill/>
        </p:spPr>
        <p:txBody>
          <a:bodyPr wrap="square" lIns="18288" tIns="18288" rIns="18288" bIns="18288" anchor="t"/>
          <a:lstStyle/>
          <a:p>
            <a:pPr algn="l"/>
            <a:r>
              <a:rPr sz="1430" b="0" i="0" dirty="0" err="1">
                <a:solidFill>
                  <a:srgbClr val="142B42"/>
                </a:solidFill>
                <a:latin typeface="Aptos"/>
              </a:rPr>
              <a:t>Extinção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outorga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ainda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muito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morosa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burocrática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,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sobretudo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para as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empresas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que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“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desaparecem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” e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não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respondem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às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notificações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 da </a:t>
            </a:r>
            <a:r>
              <a:rPr sz="1430" b="0" i="0" dirty="0" err="1">
                <a:solidFill>
                  <a:srgbClr val="142B42"/>
                </a:solidFill>
                <a:latin typeface="Aptos"/>
              </a:rPr>
              <a:t>Antaq</a:t>
            </a:r>
            <a:r>
              <a:rPr sz="1430" b="0" i="0" dirty="0">
                <a:solidFill>
                  <a:srgbClr val="142B42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713232" cy="4876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0432" y="201168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04305B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493776"/>
            <a:ext cx="7680960" cy="2103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 i="0">
                <a:solidFill>
                  <a:srgbClr val="5B6C7E"/>
                </a:solidFill>
                <a:latin typeface="Aptos"/>
              </a:rPr>
              <a:t>ENAFIS 2026 · NOVAS NORMAS DA NAVEGAÇÃO INTERIOR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18288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E8F2FC"/>
          </a:solidFill>
          <a:ln>
            <a:solidFill>
              <a:srgbClr val="E8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51592" y="246888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1" i="0">
                <a:solidFill>
                  <a:srgbClr val="0A68BE"/>
                </a:solidFill>
                <a:latin typeface="Aptos"/>
              </a:rPr>
              <a:t>ENCERRAMENTO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32104"/>
            <a:ext cx="11475720" cy="10972"/>
          </a:xfrm>
          <a:prstGeom prst="rect">
            <a:avLst/>
          </a:prstGeom>
          <a:solidFill>
            <a:srgbClr val="DF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 i="0">
                <a:solidFill>
                  <a:srgbClr val="5B6C7E"/>
                </a:solidFill>
                <a:latin typeface="Aptos"/>
              </a:rPr>
              <a:t>ENAFIS 2026 · ANTAQ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 i="0">
                <a:solidFill>
                  <a:srgbClr val="5B6C7E"/>
                </a:solidFill>
                <a:latin typeface="Aptos"/>
              </a:rPr>
              <a:t>58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02412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700" b="1" i="0">
                <a:solidFill>
                  <a:srgbClr val="04305B"/>
                </a:solidFill>
                <a:latin typeface="Aptos"/>
              </a:rPr>
              <a:t>DÚVIDAS...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3172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 i="0">
                <a:solidFill>
                  <a:srgbClr val="04305B"/>
                </a:solidFill>
                <a:latin typeface="Aptos"/>
              </a:rPr>
              <a:t>Espaço para perguntas, comentários e esclarecimentos.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246120"/>
            <a:ext cx="1828800" cy="64008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305B"/>
          </a:solidFill>
          <a:ln>
            <a:solidFill>
              <a:srgbClr val="04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65760"/>
            <a:ext cx="1078992" cy="737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1640" y="411480"/>
            <a:ext cx="7955279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AGÊNCIA NACIONAL DE TRANSPORTES AQUAVIÁRIOS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3800" b="1" i="0">
                <a:solidFill>
                  <a:srgbClr val="FFFFFF"/>
                </a:solidFill>
                <a:latin typeface="Aptos"/>
              </a:rPr>
              <a:t>SAUDAÇÕES FINAIS...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49240" y="3337560"/>
            <a:ext cx="1463040" cy="54864"/>
          </a:xfrm>
          <a:prstGeom prst="rect">
            <a:avLst/>
          </a:prstGeom>
          <a:solidFill>
            <a:srgbClr val="FFD300"/>
          </a:solidFill>
          <a:ln>
            <a:solidFill>
              <a:srgbClr val="FFD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 i="0">
                <a:solidFill>
                  <a:srgbClr val="AECAE5"/>
                </a:solidFill>
                <a:latin typeface="Aptos"/>
              </a:rPr>
              <a:t>ENAFIS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6670</Words>
  <Application>Microsoft Office PowerPoint</Application>
  <PresentationFormat>Widescreen</PresentationFormat>
  <Paragraphs>710</Paragraphs>
  <Slides>57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1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ENAFIS 2026 – Novas Normas da Navegação Interior | Redesign v2</dc:title>
  <dc:subject>Redesign institucional da apresentação original</dc:subject>
  <dc:creator>ANTAQ</dc:creator>
  <cp:keywords/>
  <dc:description>generated using python-pptx</dc:description>
  <cp:lastModifiedBy>Samuel Ribeiro de Sousa</cp:lastModifiedBy>
  <cp:revision>38</cp:revision>
  <dcterms:created xsi:type="dcterms:W3CDTF">2013-01-27T09:14:16Z</dcterms:created>
  <dcterms:modified xsi:type="dcterms:W3CDTF">2026-09-23T01:10:55Z</dcterms:modified>
  <cp:category/>
</cp:coreProperties>
</file>