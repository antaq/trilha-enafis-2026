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77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8" r:id="rId22"/>
    <p:sldId id="274" r:id="rId23"/>
    <p:sldId id="275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Imagem 7" descr="Logotipo, nome da empresa&#10;&#10;Descrição gerada automaticamente">
            <a:extLst>
              <a:ext uri="{FF2B5EF4-FFF2-40B4-BE49-F238E27FC236}">
                <a16:creationId xmlns:a16="http://schemas.microsoft.com/office/drawing/2014/main" id="{5CDBC594-9370-36A7-CEE3-43D003F03A8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25009" y="0"/>
            <a:ext cx="1009791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36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74.png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112" y="1810940"/>
            <a:ext cx="5057775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60433" y="2249090"/>
            <a:ext cx="9071133" cy="61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0F2942"/>
                </a:solidFill>
                <a:latin typeface="Poppins"/>
              </a:rPr>
              <a:t>Operação Gratuidade Garantida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0287" y="3056780"/>
            <a:ext cx="7591425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27"/>
              </a:lnSpc>
            </a:pPr>
            <a:r>
              <a:rPr sz="1950" b="0" i="0" u="none">
                <a:solidFill>
                  <a:srgbClr val="0284C7"/>
                </a:solidFill>
                <a:latin typeface="Lato SemiBold"/>
              </a:rPr>
              <a:t>1ª Operação Coordenada da Navegação Interior na Bacia Amazônica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6637" y="3682454"/>
            <a:ext cx="5038725" cy="248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0" i="0" u="none">
                <a:solidFill>
                  <a:srgbClr val="64748B"/>
                </a:solidFill>
                <a:latin typeface="Lato"/>
              </a:rPr>
              <a:t>Fiscalização dos Direitos Tarifários e Gratuidades Sociais (PAF 2026)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762" y="1953815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603920"/>
            <a:ext cx="5524500" cy="12686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603920"/>
            <a:ext cx="5524500" cy="12686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063031"/>
            <a:ext cx="5524500" cy="12686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063031"/>
            <a:ext cx="5524500" cy="12686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Estrutura da Apresentação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6250" y="1109662"/>
            <a:ext cx="11239500" cy="303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sz="1650" b="1" i="0" u="none">
                <a:solidFill>
                  <a:srgbClr val="0F2942"/>
                </a:solidFill>
                <a:latin typeface="Lato"/>
              </a:rPr>
              <a:t>A exposição está organizada em 4 blocos fundamentais: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1803945"/>
            <a:ext cx="5380672" cy="31432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0284C7"/>
                </a:solidFill>
                <a:latin typeface="Poppins SemiBold"/>
              </a:rPr>
              <a:t>Bloco 1: </a:t>
            </a:r>
            <a:r>
              <a:rPr sz="1650" b="0" i="0" u="none" dirty="0" err="1">
                <a:solidFill>
                  <a:srgbClr val="0284C7"/>
                </a:solidFill>
                <a:latin typeface="Poppins SemiBold"/>
              </a:rPr>
              <a:t>Contexto</a:t>
            </a:r>
            <a:r>
              <a:rPr sz="1650" b="0" i="0" u="none" dirty="0">
                <a:solidFill>
                  <a:srgbClr val="0284C7"/>
                </a:solidFill>
                <a:latin typeface="Poppins SemiBold"/>
              </a:rPr>
              <a:t> e </a:t>
            </a:r>
            <a:r>
              <a:rPr sz="1650" b="0" i="0" u="none" dirty="0" err="1">
                <a:solidFill>
                  <a:srgbClr val="0284C7"/>
                </a:solidFill>
                <a:latin typeface="Poppins SemiBold"/>
              </a:rPr>
              <a:t>Diretrizes</a:t>
            </a:r>
            <a:endParaRPr sz="16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6275" y="2175420"/>
            <a:ext cx="51244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Alinhamento estratégico do PAF 2026, amparo normativo, coordenação unificada e abrangência nos polos da Região Norte.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1803945"/>
            <a:ext cx="5380672" cy="3143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284C7"/>
                </a:solidFill>
                <a:latin typeface="Poppins SemiBold"/>
              </a:rPr>
              <a:t>Bloco 2: Metodologia de Campo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2175420"/>
            <a:ext cx="51244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Auditorias em guichês, controle eletrônico/manual de bilhetes, oitivas de passageiros e amostragem da frota.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3263056"/>
            <a:ext cx="5380672" cy="3143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284C7"/>
                </a:solidFill>
                <a:latin typeface="Poppins SemiBold"/>
              </a:rPr>
              <a:t>Bloco 3: Diagnóstico e Achados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3634531"/>
            <a:ext cx="51244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Principais irregularidades identificadas, omissão de direitos, cobranças indevidas e estatística por regional.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263056"/>
            <a:ext cx="5380672" cy="3143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284C7"/>
                </a:solidFill>
                <a:latin typeface="Poppins SemiBold"/>
              </a:rPr>
              <a:t>Bloco 4: Sanções e Diretrizes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634531"/>
            <a:ext cx="51244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Instauração de processos sancionatórios, providências de correção imediata e propostas de aperfeiçoamento regulatório.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1851570"/>
            <a:ext cx="1047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1851570"/>
            <a:ext cx="1333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3310681"/>
            <a:ext cx="1333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3310681"/>
            <a:ext cx="1619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2AEB-6E5E-D424-14EF-4CAFF333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6AA9C-C9F8-6C15-3930-6D99718238E5}"/>
              </a:ext>
            </a:extLst>
          </p:cNvPr>
          <p:cNvSpPr txBox="1"/>
          <p:nvPr/>
        </p:nvSpPr>
        <p:spPr>
          <a:xfrm>
            <a:off x="4975860" y="2198489"/>
            <a:ext cx="224028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0F2942"/>
                </a:solidFill>
                <a:latin typeface="Poppins"/>
              </a:rPr>
              <a:t>BLOCO </a:t>
            </a:r>
            <a:r>
              <a:rPr lang="pt-BR" sz="3900" b="1" i="0" u="none" dirty="0">
                <a:solidFill>
                  <a:srgbClr val="0F2942"/>
                </a:solidFill>
                <a:latin typeface="Poppins"/>
              </a:rPr>
              <a:t>1</a:t>
            </a:r>
            <a:endParaRPr sz="3900" b="1" i="0" u="none" dirty="0">
              <a:solidFill>
                <a:srgbClr val="0F2942"/>
              </a:solidFill>
              <a:latin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E9170-AF9E-717E-9153-6D7F926498E8}"/>
              </a:ext>
            </a:extLst>
          </p:cNvPr>
          <p:cNvSpPr txBox="1"/>
          <p:nvPr/>
        </p:nvSpPr>
        <p:spPr>
          <a:xfrm>
            <a:off x="2047875" y="3093839"/>
            <a:ext cx="8096250" cy="311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pt-BR" dirty="0">
                <a:solidFill>
                  <a:srgbClr val="0284C7"/>
                </a:solidFill>
                <a:latin typeface="Poppins SemiBold"/>
              </a:rPr>
              <a:t>Contexto e Diretrizes</a:t>
            </a:r>
            <a:endParaRPr sz="1800" b="0" i="0" u="none" dirty="0">
              <a:solidFill>
                <a:srgbClr val="0284C7"/>
              </a:solidFill>
              <a:latin typeface="Lat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7049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Contexto e Diretrizes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Alinhamento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Coordenação Unificada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Integrante do Plano Anual de Fiscalização (PAF 2026) da ANTAQ.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Respaldado pelo Plano Plurianual de Fiscalização 2025-2028.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6527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Executado via Ordens de Serviço nº 11/2026/SFC e nº 4/2026/GCOR/SFC.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Coordenação Geral a cargo da Gerência Regional de Belém (GREBL).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Atuação presencial e simultânea em 5 Unidades Organizacionais.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928937"/>
            <a:ext cx="5172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Foco no serviço adequado e proteção do usuário vulnerável.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7647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686050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590675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276475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96227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109662"/>
            <a:ext cx="5543550" cy="12114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09662"/>
            <a:ext cx="5543550" cy="12114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73523"/>
            <a:ext cx="5543550" cy="12114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473523"/>
            <a:ext cx="5543550" cy="12114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Fundamentação Legal das Gratuidades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225" y="1290637"/>
            <a:ext cx="5440680" cy="2952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Pessoas Idosas (60+ anos)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1643062"/>
            <a:ext cx="51816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Reserva de 2 vagas gratuitas por viagem (renda ≤ 2 SM). Esgotadas as vagas, desconto mínimo de 50% nos demais assentos.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1290637"/>
            <a:ext cx="5440680" cy="2952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Jovens de Baixa Renda (ID Jovem)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175" y="1643062"/>
            <a:ext cx="51816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Reserva de 2 vagas 100% gratuitas por viagem para jovens de 15 a 29 anos inscritos no CadÚnico. Após, desconto de 50%.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2654498"/>
            <a:ext cx="5440680" cy="29527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Pessoas com Deficiência (PcD)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3006923"/>
            <a:ext cx="51816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Garantia de transporte gratuito ilimitado mediante apresentação da carteira do Passe Livre do Governo Federal.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2654498"/>
            <a:ext cx="5440680" cy="295275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Crianças (até 5 anos)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3006923"/>
            <a:ext cx="51816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Gratuidade integral garantida para crianças de até 5 anos (menores de 6 anos) que não ocupem assento individual.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338262"/>
            <a:ext cx="2476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1338262"/>
            <a:ext cx="2286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2702123"/>
            <a:ext cx="20002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5" y="2702123"/>
            <a:ext cx="1238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38287"/>
            <a:ext cx="3644800" cy="11733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450" y="1538287"/>
            <a:ext cx="3644949" cy="11733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00" y="1538287"/>
            <a:ext cx="3644800" cy="11733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864048"/>
            <a:ext cx="3644800" cy="11733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450" y="2864048"/>
            <a:ext cx="3644949" cy="11733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800" y="2864048"/>
            <a:ext cx="3644800" cy="117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Abrangência Territorial e Polos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250" y="1109662"/>
            <a:ext cx="112395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Ação simultânea em campo realizada entre 13 e 17 de julho de 2026 por 5 Unidades Regionais: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1700212"/>
            <a:ext cx="3486998" cy="2952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GREMN (Manaus/AM)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2052637"/>
            <a:ext cx="33209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Porto Público de Manaus e Manaus Moderna.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5375" y="1700212"/>
            <a:ext cx="3487154" cy="2952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GREBL (Belém/PA)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5375" y="2052637"/>
            <a:ext cx="3321099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Portos Líder, AR, Mega, Gurupatuba e Brilhante.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2725" y="1700212"/>
            <a:ext cx="3486998" cy="2952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UREPV (Porto Velho/RO)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2725" y="2052637"/>
            <a:ext cx="3320950" cy="248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Portos Levy e Cai N'Água.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" y="3025973"/>
            <a:ext cx="3486998" cy="2952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URESN (Santana/AP)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" y="3378398"/>
            <a:ext cx="33209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Terminais de embarque de Santana e Macapá.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5375" y="3025973"/>
            <a:ext cx="3487154" cy="2952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DREST (Santarém/PA)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5375" y="3378398"/>
            <a:ext cx="3321099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Porto do DER e Terminal Hidroviário de Santarém.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2725" y="3025973"/>
            <a:ext cx="34869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284C7"/>
                </a:solidFill>
                <a:latin typeface="Poppins SemiBold"/>
              </a:rPr>
              <a:t>Logística Integrada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2725" y="3378398"/>
            <a:ext cx="332095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Fiscalizações simultâneas nos principais troncos do Solimões, Amazonas e Madeira.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1747837"/>
            <a:ext cx="15240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5375" y="1747837"/>
            <a:ext cx="15240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2725" y="1747837"/>
            <a:ext cx="15240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3073598"/>
            <a:ext cx="15240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5375" y="3073598"/>
            <a:ext cx="1524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109662"/>
            <a:ext cx="2652712" cy="1114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412" y="1109662"/>
            <a:ext cx="2652712" cy="1114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95537"/>
            <a:ext cx="5476875" cy="1114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Metas e Cobertura da Frota Ativa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8875" y="1195387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Ajustes Amostrais de Campo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1290637"/>
            <a:ext cx="229076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>
                <a:solidFill>
                  <a:srgbClr val="0284C7"/>
                </a:solidFill>
                <a:latin typeface="Poppins"/>
              </a:rPr>
              <a:t>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1862137"/>
            <a:ext cx="22907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2942"/>
                </a:solidFill>
                <a:latin typeface="Lato"/>
              </a:rPr>
              <a:t>EMBARCAÇÕES VISTORIADAS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1387" y="1290637"/>
            <a:ext cx="229076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>
                <a:solidFill>
                  <a:srgbClr val="0284C7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1387" y="1862137"/>
            <a:ext cx="22907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2942"/>
                </a:solidFill>
                <a:latin typeface="Lato"/>
              </a:rPr>
              <a:t>REGIONAIS MOBILIZADAS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2576512"/>
            <a:ext cx="51149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>
                <a:solidFill>
                  <a:srgbClr val="16A34A"/>
                </a:solidFill>
                <a:latin typeface="Poppins"/>
              </a:rPr>
              <a:t>78,5%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3148012"/>
            <a:ext cx="51149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2942"/>
                </a:solidFill>
                <a:latin typeface="Lato"/>
              </a:rPr>
              <a:t>COBERTURA DA FROTA ATIVA EFETIVA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1643062"/>
            <a:ext cx="5172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Meta inicial: 84 vistorias (com base no cadastro histórico).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20526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Expurgadas embarcações inativas, paralisadas ou abandonadas.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27384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Vistorias: URESN (21), GREMN (17), DREST (14), GREBL (8) e UREPV (6).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676400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85975"/>
            <a:ext cx="1714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771775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ACE9-8FB9-AAA8-01DF-5DD34C6C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FA7F6E-70C2-32CD-078C-3CAFD13397BE}"/>
              </a:ext>
            </a:extLst>
          </p:cNvPr>
          <p:cNvSpPr txBox="1"/>
          <p:nvPr/>
        </p:nvSpPr>
        <p:spPr>
          <a:xfrm>
            <a:off x="4975860" y="2198489"/>
            <a:ext cx="224028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0F2942"/>
                </a:solidFill>
                <a:latin typeface="Poppins"/>
              </a:rPr>
              <a:t>BLOCO </a:t>
            </a:r>
            <a:r>
              <a:rPr lang="pt-BR" sz="3900" b="1" i="0" u="none" dirty="0">
                <a:solidFill>
                  <a:srgbClr val="0F2942"/>
                </a:solidFill>
                <a:latin typeface="Poppins"/>
              </a:rPr>
              <a:t>2</a:t>
            </a:r>
            <a:endParaRPr sz="3900" b="1" i="0" u="none" dirty="0">
              <a:solidFill>
                <a:srgbClr val="0F2942"/>
              </a:solidFill>
              <a:latin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B9D8C-2A67-8157-6193-936F2C3CC614}"/>
              </a:ext>
            </a:extLst>
          </p:cNvPr>
          <p:cNvSpPr txBox="1"/>
          <p:nvPr/>
        </p:nvSpPr>
        <p:spPr>
          <a:xfrm>
            <a:off x="2047875" y="3093839"/>
            <a:ext cx="8096250" cy="311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pt-BR" dirty="0">
                <a:solidFill>
                  <a:srgbClr val="0284C7"/>
                </a:solidFill>
                <a:latin typeface="Poppins SemiBold"/>
              </a:rPr>
              <a:t>Metodologia de Campo</a:t>
            </a:r>
            <a:endParaRPr sz="1800" b="0" i="0" u="none" dirty="0">
              <a:solidFill>
                <a:srgbClr val="0284C7"/>
              </a:solidFill>
              <a:latin typeface="Lat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63056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Metodologia Tática de Fiscalização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Procedimentos Operacionais Padronizados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Ações Diretas em Campo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Auditoria de Guichês: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Verificação de placas e quadros de prazos.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Simulação de Compra: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Teste amostral de reservas para beneficiários.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Exame do Controle: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Checagem de registros de vagas concedidas/recusadas.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Oitivas de Passageiros: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Entrevistas a bordo e nas salas de embarque.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Inspeção de Bilhetes: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Exame da conformidade dos bilhetes emitidos.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Seccionamentos: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Auditoria do gerenciamento de vagas em paradas.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7647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96227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590675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276475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96227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Auditoria de Guichês e Transparência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Inspeção de Pontos de Venda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Exigências Informativas Regulamentares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Fiscalização de guichês físicos e canais virtuais de venda.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19669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Verificação da presença de informação visível e ostensiva aos usuários.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6527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Checagem da publicidade dos prazos de solicitação do benefício.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Cartazes obrigatórios especificando direitos de Idosos, ID Jovem e PcD.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243137"/>
            <a:ext cx="5316365" cy="252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Afixação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clara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das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tabelas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tarifárias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homologadas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pela </a:t>
            </a:r>
            <a:r>
              <a:rPr lang="pt-BR" sz="1500" b="0" i="0" u="none" dirty="0">
                <a:solidFill>
                  <a:srgbClr val="1E293B"/>
                </a:solidFill>
                <a:latin typeface="Lato"/>
              </a:rPr>
              <a:t>A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NTAQ.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6527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Orientação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legível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sobre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documentos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necessários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 para o </a:t>
            </a:r>
            <a:r>
              <a:rPr sz="1500" b="0" i="0" u="none" dirty="0" err="1">
                <a:solidFill>
                  <a:srgbClr val="1E293B"/>
                </a:solidFill>
                <a:latin typeface="Lato"/>
              </a:rPr>
              <a:t>embarque</a:t>
            </a:r>
            <a:r>
              <a:rPr sz="1500" b="0" i="0" u="none" dirty="0">
                <a:solidFill>
                  <a:srgbClr val="1E293B"/>
                </a:solidFill>
                <a:latin typeface="Lato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21907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00250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686050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90675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76475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686050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Auditoria de Controle e Gestão de Vagas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Informalidade nos Registros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Omissão do Histórico de Recusas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Predomínio de registros manuais em cadernos e blocos rascunhados.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Controle efetuado por trocas informais de mensagens via WhatsApp.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Inexistência de sistemas auditáveis e consultas públicas de vagas.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Negativas comunicadas apenas de forma verbal ao cidadão.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19669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Inexistência de protocolo formal para registrar solicitações indeferidas.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6527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Impossibilidade de fiscalizar se a cota foi legitimamente esgotada.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1428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96227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90675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000250"/>
            <a:ext cx="219075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2686050"/>
            <a:ext cx="238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Oitivas com Usuários e Bilhetagem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Entrevistas com Passageiros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Inspeção dos Bilhetes Emitidos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Depoimentos colhidos diretamente nas salas de embarque e no convés.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Relatos de cobranças indevidas de 'taxas de alimentação' compulsórias.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Mapeamento das barreiras burocráticas impostas no atendimento.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Exame minucioso dos bilhetes concedidos sob a rubrica de gratuidade.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243137"/>
            <a:ext cx="5172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Checagem de CPF, RG e observância da cota regulamentar.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6527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Verificação da emissão de bilhetes cortesia para crianças de até 5 anos.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23812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2190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962275"/>
            <a:ext cx="1428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90675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276475"/>
            <a:ext cx="219075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2686050"/>
            <a:ext cx="1238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75860" y="2198489"/>
            <a:ext cx="224028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2942"/>
                </a:solidFill>
                <a:latin typeface="Poppins"/>
              </a:rPr>
              <a:t>BLOCO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093839"/>
            <a:ext cx="8096250" cy="66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sz="1800" b="0" i="0" u="none">
                <a:solidFill>
                  <a:srgbClr val="0284C7"/>
                </a:solidFill>
                <a:latin typeface="Lato SemiBold"/>
              </a:rPr>
              <a:t>Diagnóstico Geral, Achados de Campo e Matriz Estatística das Inconformidades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Déficit Informativo e Desinformação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Omissão Generalizada de Avisos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Indução ao Erro e Prejuízo ao Idoso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Ausência de quadros de avisos visíveis a bordo das embarcações.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Omissão completa dos prazos regulamentares nos pontos de vendas.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Passageiros desconhecem as regras para requerer a gratuidade.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Idosos desconhecem o direito à cota 100% gratuita.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19669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Empresas oferecem diretamente o desconto parcial de 50% (meia-passagem).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6527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Usuários aceitam o desconto parcial achando que é o único benefício legal.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23812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96227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90675"/>
            <a:ext cx="1524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000250"/>
            <a:ext cx="219075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2686050"/>
            <a:ext cx="238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Barreiras Burocráticas e Repasse de Custos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Cobrança Ilegal de Fotocópias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Recusa de Documentos Digitais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Exigência abusiva de cópias físicas (xerox) pagas pelo próprio usuário.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Transferência indevida dos custos operacionais do guichê ao cidadão carente.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Condicionamento da emissão do bilhete à entrega dos documentos impressos.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Recusa injustificada do Passe Livre PcD digital (portal gov.br).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19669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Exigência descabida da carteira física impressa para liberar o embarque.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652712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Usuário com deficiência forçado a pagar tarifa cheia por falta do papel.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962275"/>
            <a:ext cx="2190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00250"/>
            <a:ext cx="1428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686050"/>
            <a:ext cx="2190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Cobrança Compulsória de Alimentação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Alimentação Embutida na Tarifa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Barreira Financeira ao Beneficiário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Venda de passagens comerciais com alimentação inclusa sem discriminar o valor.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Impossibilidade de verificar o custo real da refeição vs. tarifa de transporte.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Cobrança forçada de 'taxas de refeição' para liberar a passagem gratuita.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Taxas cobradas chegam a 50% do valor total da passagem comercial.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Uso indevido do termo 'meia-passagem' para mascarar a cobrança de alimentação.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14287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590675"/>
            <a:ext cx="2190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7647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96227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Ocultação de Vagas e Seccionamentos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Trechos Intermediários Bloqueados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Prejuízo ao Usuário Ribeirinho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Recusa sistemática em conceder gratuidades para escalas intermediárias.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Vaga gratuita bloqueada da origem ao destino final, mesmo se o passageiro desembarcar antes.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Negação do benefício aos cidadãos que aguardam nos portos do percurso.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Priorização comercial das passagens de ponta a ponta, de maior valor tarifário.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590675"/>
            <a:ext cx="238125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7647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Riscos de Segurança e Operação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Segurança no Embarque e Acessibilidade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Irregularidades na Bilhetagem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Pranchas de madeira improvisadas, estreitas e sem guarda-corpo/corrimão.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Ausência de passadiços, forçando o salto físico entre cais e convés.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Fluxo simultâneo de passageiros e transporte manual de cargas pesadas.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Recolhimento da via do bilhete no embarque para troca por pulseira plástica.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Privação do documento legal de transporte e do comprovante de seguro obrigatório.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Descumprimento não autorizado de horários e abandono injustificado de linhas.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962275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90675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276475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2962275"/>
            <a:ext cx="238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Distribuição Estatística dos Achados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7C563C6-E7A7-4E86-3605-1F502533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" y="1087363"/>
            <a:ext cx="10160766" cy="44261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5360937"/>
            <a:ext cx="11239500" cy="11160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Concentração Regional dos Achados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5325" y="5484762"/>
            <a:ext cx="108489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0F2942"/>
                </a:solidFill>
                <a:latin typeface="Poppins"/>
              </a:rPr>
              <a:t>🎙️ ROTEIRO DO ORADOR (1 MIN):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Perfil das Infrações por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URESN (Santana/Macapá):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Liderança em ausência de controle de vagas (11 constatações).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GREMN (Manaus):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Maior taxa de omissão de avisos nos guichês (10 constatações).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DREST (Santarém):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Destaque para recusa e restrições ao ID Jovem (5 constatações).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6147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i="0" u="none">
                <a:solidFill>
                  <a:srgbClr val="1E293B"/>
                </a:solidFill>
                <a:latin typeface="Lato"/>
              </a:rPr>
              <a:t>GREBL e UREPV:</a:t>
            </a:r>
            <a:r>
              <a:rPr sz="1500" b="0" i="0" u="none">
                <a:solidFill>
                  <a:srgbClr val="1E293B"/>
                </a:solidFill>
                <a:latin typeface="Lato"/>
              </a:rPr>
              <a:t> Fragilidades severas no histórico de viagens passadas.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590675"/>
            <a:ext cx="1428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1428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62275"/>
            <a:ext cx="1428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648075"/>
            <a:ext cx="1428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6917B-82F5-A4B4-2821-99A817CB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1A8811-A2A6-A4EF-65A4-B54947BCC1F5}"/>
              </a:ext>
            </a:extLst>
          </p:cNvPr>
          <p:cNvSpPr txBox="1"/>
          <p:nvPr/>
        </p:nvSpPr>
        <p:spPr>
          <a:xfrm>
            <a:off x="4975860" y="2198489"/>
            <a:ext cx="224028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0F2942"/>
                </a:solidFill>
                <a:latin typeface="Poppins"/>
              </a:rPr>
              <a:t>BLOCO </a:t>
            </a:r>
            <a:r>
              <a:rPr lang="pt-BR" sz="3900" b="1" i="0" u="none" dirty="0">
                <a:solidFill>
                  <a:srgbClr val="0F2942"/>
                </a:solidFill>
                <a:latin typeface="Poppins"/>
              </a:rPr>
              <a:t>4</a:t>
            </a:r>
            <a:endParaRPr sz="3900" b="1" i="0" u="none" dirty="0">
              <a:solidFill>
                <a:srgbClr val="0F2942"/>
              </a:solidFill>
              <a:latin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6436E-15CF-07FE-60AF-3E0BBC1A19B3}"/>
              </a:ext>
            </a:extLst>
          </p:cNvPr>
          <p:cNvSpPr txBox="1"/>
          <p:nvPr/>
        </p:nvSpPr>
        <p:spPr>
          <a:xfrm>
            <a:off x="2047875" y="3093839"/>
            <a:ext cx="8096250" cy="311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pt-BR" dirty="0">
                <a:solidFill>
                  <a:srgbClr val="0284C7"/>
                </a:solidFill>
                <a:latin typeface="Poppins SemiBold"/>
              </a:rPr>
              <a:t>Sanções e Diretrizes</a:t>
            </a:r>
            <a:endParaRPr sz="1800" b="0" i="0" u="none" dirty="0">
              <a:solidFill>
                <a:srgbClr val="0284C7"/>
              </a:solidFill>
              <a:latin typeface="Lat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54963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Medidas Sancionatórias e Imediatas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6250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Abertura de Processos Sancionatórios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1109662"/>
            <a:ext cx="57507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2942"/>
                </a:solidFill>
                <a:latin typeface="Poppins SemiBold"/>
              </a:rPr>
              <a:t>Determinações de Correção Imediata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Instauração de autos apartados nos termos da Resolução nº 3.259-ANTAQ.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Autuação por supressão de gratuidades, recusa de documento digital e cobrança de alimentação.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Autuação por riscos à segurança do embarque e omissão de documentos operacionais.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15573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Expedição de ofícios ordenando o fim imediato da cobrança de xerox.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22431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Exigência de instalação imediata de quadros informativos visíveis.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2928937"/>
            <a:ext cx="517207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1E293B"/>
                </a:solidFill>
                <a:latin typeface="Lato"/>
              </a:rPr>
              <a:t>Abertura de apuração sobre abandono de linhas e paralisações não autorizadas.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90675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76475"/>
            <a:ext cx="2190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962275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90675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276475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2962275"/>
            <a:ext cx="2190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109662"/>
            <a:ext cx="5543550" cy="14600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09662"/>
            <a:ext cx="5543550" cy="14600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722066"/>
            <a:ext cx="5543550" cy="12114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722066"/>
            <a:ext cx="5543550" cy="12114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381000"/>
            <a:ext cx="11715750" cy="481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0F2942"/>
                </a:solidFill>
                <a:latin typeface="Poppins"/>
              </a:rPr>
              <a:t>Recomendações e Aperfeiçoamento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928687"/>
            <a:ext cx="112395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225" y="1290637"/>
            <a:ext cx="5440680" cy="2952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Alteração da RN 912/2007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1643062"/>
            <a:ext cx="5181600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Incluir expressamente na norma o dever de publicidade das gratuidades nos guichês e embarcações, tipificando o descumprimento.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1290637"/>
            <a:ext cx="5440680" cy="2952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Sistema Eletrônico Unificado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175" y="1643062"/>
            <a:ext cx="51816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Desenvolver sistema/módulo web simplificado para registro obrigatório e auditável de solicitações, concessões e recusas.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" y="2903041"/>
            <a:ext cx="5440680" cy="2952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Desagregação da Alimentação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3255466"/>
            <a:ext cx="51816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Regulamentar a obrigatoriedade de separar o valor da passagem e das refeições, proibindo a cobrança compulsória a beneficiários.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175" y="2903041"/>
            <a:ext cx="5440680" cy="29527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575" b="0" i="0" u="none">
                <a:solidFill>
                  <a:srgbClr val="0F2942"/>
                </a:solidFill>
                <a:latin typeface="Poppins SemiBold"/>
              </a:rPr>
              <a:t>Campanhas e Parcerias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3255466"/>
            <a:ext cx="5181600" cy="497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0" i="0" u="none">
                <a:solidFill>
                  <a:srgbClr val="1E293B"/>
                </a:solidFill>
                <a:latin typeface="Lato"/>
              </a:rPr>
              <a:t>Promover a distribuição de cartilhas educativas da ANTAQ nos portos e firmar parcerias com PROCONs e Ministério Público.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338262"/>
            <a:ext cx="2286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1338262"/>
            <a:ext cx="2476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2950666"/>
            <a:ext cx="1524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5" y="2950666"/>
            <a:ext cx="2000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81FCE-056C-F879-710D-9307F995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3CF750-07DE-8C48-42E6-2E00C7771582}"/>
              </a:ext>
            </a:extLst>
          </p:cNvPr>
          <p:cNvSpPr txBox="1"/>
          <p:nvPr/>
        </p:nvSpPr>
        <p:spPr>
          <a:xfrm>
            <a:off x="3482037" y="2316184"/>
            <a:ext cx="3534397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3900" b="1" i="0" u="none" dirty="0">
                <a:solidFill>
                  <a:srgbClr val="0F2942"/>
                </a:solidFill>
                <a:latin typeface="Poppins"/>
              </a:rPr>
              <a:t>OBRIGADO</a:t>
            </a:r>
            <a:endParaRPr sz="3900" b="1" i="0" u="none" dirty="0">
              <a:solidFill>
                <a:srgbClr val="0F2942"/>
              </a:solidFill>
              <a:latin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48D1D-BC6C-1E53-D7FE-83F3345E2EC8}"/>
              </a:ext>
            </a:extLst>
          </p:cNvPr>
          <p:cNvSpPr txBox="1"/>
          <p:nvPr/>
        </p:nvSpPr>
        <p:spPr>
          <a:xfrm>
            <a:off x="1341705" y="3630349"/>
            <a:ext cx="8096250" cy="978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pt-BR" dirty="0">
                <a:solidFill>
                  <a:srgbClr val="0284C7"/>
                </a:solidFill>
                <a:latin typeface="Poppins SemiBold"/>
              </a:rPr>
              <a:t>Cleydson dos Santos Silva</a:t>
            </a:r>
          </a:p>
          <a:p>
            <a:pPr algn="ctr">
              <a:lnSpc>
                <a:spcPts val="2610"/>
              </a:lnSpc>
            </a:pPr>
            <a:r>
              <a:rPr lang="pt-BR" sz="1800" b="0" i="0" u="none" dirty="0">
                <a:solidFill>
                  <a:srgbClr val="0284C7"/>
                </a:solidFill>
                <a:latin typeface="Poppins SemiBold"/>
              </a:rPr>
              <a:t>Gerente da GREBL</a:t>
            </a:r>
          </a:p>
          <a:p>
            <a:pPr algn="ctr">
              <a:lnSpc>
                <a:spcPts val="2610"/>
              </a:lnSpc>
            </a:pPr>
            <a:r>
              <a:rPr lang="pt-BR" dirty="0">
                <a:solidFill>
                  <a:srgbClr val="0284C7"/>
                </a:solidFill>
                <a:latin typeface="Poppins SemiBold"/>
              </a:rPr>
              <a:t>Cleydson.Silva@antaq.gov.br</a:t>
            </a:r>
            <a:endParaRPr sz="1800" b="0" i="0" u="none" dirty="0">
              <a:solidFill>
                <a:srgbClr val="0284C7"/>
              </a:solidFill>
              <a:latin typeface="Lat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2394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1500</Words>
  <Application>Microsoft Office PowerPoint</Application>
  <PresentationFormat>Widescreen</PresentationFormat>
  <Paragraphs>172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maria leonida</cp:lastModifiedBy>
  <cp:revision>11</cp:revision>
  <dcterms:created xsi:type="dcterms:W3CDTF">2013-01-27T09:14:16Z</dcterms:created>
  <dcterms:modified xsi:type="dcterms:W3CDTF">2026-08-19T15:22:39Z</dcterms:modified>
  <cp:category/>
</cp:coreProperties>
</file>