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8BD_E87C4A17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8CE_BEA55F79.xml" ContentType="application/vnd.ms-powerpoint.comments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modernComment_8E0_83E54751.xml" ContentType="application/vnd.ms-powerpoint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237" r:id="rId3"/>
    <p:sldId id="2236" r:id="rId4"/>
    <p:sldId id="314" r:id="rId5"/>
    <p:sldId id="2254" r:id="rId6"/>
    <p:sldId id="259" r:id="rId7"/>
    <p:sldId id="258" r:id="rId8"/>
    <p:sldId id="305" r:id="rId9"/>
    <p:sldId id="2272" r:id="rId10"/>
    <p:sldId id="267" r:id="rId11"/>
    <p:sldId id="271" r:id="rId12"/>
    <p:sldId id="268" r:id="rId13"/>
    <p:sldId id="2267" r:id="rId14"/>
    <p:sldId id="2255" r:id="rId15"/>
    <p:sldId id="2281" r:id="rId16"/>
    <p:sldId id="2282" r:id="rId17"/>
    <p:sldId id="2284" r:id="rId18"/>
    <p:sldId id="2274" r:id="rId19"/>
    <p:sldId id="2275" r:id="rId20"/>
    <p:sldId id="276" r:id="rId21"/>
  </p:sldIdLst>
  <p:sldSz cx="36576000" cy="20574000"/>
  <p:notesSz cx="6858000" cy="9144000"/>
  <p:embeddedFontLst>
    <p:embeddedFont>
      <p:font typeface="宋体" panose="02010600030101010101" pitchFamily="2" charset="-122"/>
      <p:regular r:id="rId23"/>
    </p:embeddedFont>
    <p:embeddedFont>
      <p:font typeface="Aptos Narrow" panose="020B0004020202020204" pitchFamily="34" charset="0"/>
      <p:regular r:id="rId24"/>
      <p:bold r:id="rId25"/>
      <p:italic r:id="rId26"/>
      <p:boldItalic r:id="rId27"/>
    </p:embeddedFont>
    <p:embeddedFont>
      <p:font typeface="Arial Black" panose="020B0A04020102020204" pitchFamily="34" charset="0"/>
      <p:bold r:id="rId28"/>
    </p:embeddedFont>
    <p:embeddedFont>
      <p:font typeface="Arial Narrow" panose="020B0606020202030204" pitchFamily="34" charset="0"/>
      <p:regular r:id="rId29"/>
      <p:bold r:id="rId30"/>
      <p:italic r:id="rId31"/>
      <p:boldItalic r:id="rId32"/>
    </p:embeddedFont>
    <p:embeddedFont>
      <p:font typeface="Helvetica" panose="020B0604020202020204" pitchFamily="34" charset="0"/>
      <p:regular r:id="rId33"/>
      <p:bold r:id="rId34"/>
      <p:italic r:id="rId35"/>
      <p:boldItalic r:id="rId36"/>
    </p:embeddedFont>
    <p:embeddedFont>
      <p:font typeface="Maven Pro" panose="020B0604020202020204" charset="0"/>
      <p:regular r:id="rId37"/>
      <p:bold r:id="rId38"/>
    </p:embeddedFont>
    <p:embeddedFont>
      <p:font typeface="Maven Pro Bold" panose="020B0604020202020204" charset="0"/>
      <p:regular r:id="rId39"/>
      <p:bold r:id="rId40"/>
    </p:embeddedFont>
    <p:embeddedFont>
      <p:font typeface="Trebuchet MS" panose="020B0603020202020204" pitchFamily="34" charset="0"/>
      <p:regular r:id="rId41"/>
      <p:bold r:id="rId42"/>
      <p:italic r:id="rId43"/>
      <p:boldItalic r:id="rId44"/>
    </p:embeddedFont>
    <p:embeddedFont>
      <p:font typeface="Yu Gothic UI Semilight" panose="020B0400000000000000" pitchFamily="34" charset="-128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EBA0FFF-E6D7-0757-6EA6-0A3C2BEB5F63}" name="Ana Paola Ghizoni de Macedo" initials="AP" userId="S::amacedo@tcp.com.br::2aec6083-bfda-4758-9e2f-c7408d3410f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03B"/>
    <a:srgbClr val="9AACCA"/>
    <a:srgbClr val="001642"/>
    <a:srgbClr val="376092"/>
    <a:srgbClr val="C6A878"/>
    <a:srgbClr val="17375E"/>
    <a:srgbClr val="1D3669"/>
    <a:srgbClr val="002060"/>
    <a:srgbClr val="E8C58C"/>
    <a:srgbClr val="0324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48" autoAdjust="0"/>
    <p:restoredTop sz="91041" autoAdjust="0"/>
  </p:normalViewPr>
  <p:slideViewPr>
    <p:cSldViewPr snapToGrid="0">
      <p:cViewPr>
        <p:scale>
          <a:sx n="10" d="100"/>
          <a:sy n="10" d="100"/>
        </p:scale>
        <p:origin x="1080" y="65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font" Target="fonts/font20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7.fntdata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font" Target="fonts/font2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font" Target="fonts/font2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font" Target="fonts/font21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8/10/relationships/authors" Target="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ígia da Luz Fontes Bahr" userId="60bd6d35-8018-4b0d-81ac-0585845545d6" providerId="ADAL" clId="{0952219E-FA06-4573-9636-451BC06F3585}"/>
    <pc:docChg chg="delSld">
      <pc:chgData name="Lígia da Luz Fontes Bahr" userId="60bd6d35-8018-4b0d-81ac-0585845545d6" providerId="ADAL" clId="{0952219E-FA06-4573-9636-451BC06F3585}" dt="2026-09-24T09:43:00.705" v="0" actId="47"/>
      <pc:docMkLst>
        <pc:docMk/>
      </pc:docMkLst>
      <pc:sldChg chg="del">
        <pc:chgData name="Lígia da Luz Fontes Bahr" userId="60bd6d35-8018-4b0d-81ac-0585845545d6" providerId="ADAL" clId="{0952219E-FA06-4573-9636-451BC06F3585}" dt="2026-09-24T09:43:00.705" v="0" actId="47"/>
        <pc:sldMkLst>
          <pc:docMk/>
          <pc:sldMk cId="1688799224" sldId="2271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3015060671435085E-2"/>
          <c:y val="8.1635720227727665E-2"/>
          <c:w val="0.97142065755177331"/>
          <c:h val="0.774826880832921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Planilha1!$E$11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4F81BD">
                <a:lumMod val="75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lang="en-US" sz="3200" b="0" i="0" u="none" strike="noStrike" kern="1200" baseline="0">
                    <a:solidFill>
                      <a:srgbClr val="182D70"/>
                    </a:solidFill>
                    <a:latin typeface="Maven Pro"/>
                    <a:ea typeface="Maven Pro"/>
                    <a:cs typeface="Maven Pro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Planilha1!$F$10:$Q$10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Planilha1!$F$11:$Q$11</c:f>
              <c:numCache>
                <c:formatCode>#,##0</c:formatCode>
                <c:ptCount val="12"/>
                <c:pt idx="0">
                  <c:v>134659</c:v>
                </c:pt>
                <c:pt idx="1">
                  <c:v>128033</c:v>
                </c:pt>
                <c:pt idx="2">
                  <c:v>138539</c:v>
                </c:pt>
                <c:pt idx="3">
                  <c:v>133601</c:v>
                </c:pt>
                <c:pt idx="4">
                  <c:v>141788</c:v>
                </c:pt>
                <c:pt idx="5">
                  <c:v>126596</c:v>
                </c:pt>
                <c:pt idx="6">
                  <c:v>140851</c:v>
                </c:pt>
                <c:pt idx="7">
                  <c:v>138407</c:v>
                </c:pt>
                <c:pt idx="8">
                  <c:v>145515</c:v>
                </c:pt>
                <c:pt idx="9">
                  <c:v>148690</c:v>
                </c:pt>
                <c:pt idx="10">
                  <c:v>141885</c:v>
                </c:pt>
                <c:pt idx="11">
                  <c:v>143985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5B-45FC-B93B-4BDCD5A5B51C}"/>
            </c:ext>
          </c:extLst>
        </c:ser>
        <c:ser>
          <c:idx val="1"/>
          <c:order val="1"/>
          <c:tx>
            <c:strRef>
              <c:f>Planilha1!$E$12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8.7331726131145705E-18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05B-45FC-B93B-4BDCD5A5B51C}"/>
                </c:ext>
              </c:extLst>
            </c:dLbl>
            <c:dLbl>
              <c:idx val="5"/>
              <c:layout>
                <c:manualLayout>
                  <c:x val="-6.9865380904916564E-17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05B-45FC-B93B-4BDCD5A5B5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3600" b="1" i="0" u="none" strike="noStrike" kern="1200" baseline="0">
                    <a:solidFill>
                      <a:srgbClr val="182D70"/>
                    </a:solidFill>
                    <a:latin typeface="Maven Pro Bold"/>
                    <a:ea typeface="Maven Pro Bold"/>
                    <a:cs typeface="Maven Pro Bold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Planilha1!$F$10:$Q$10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Planilha1!$F$12:$Q$12</c:f>
              <c:numCache>
                <c:formatCode>#,##0</c:formatCode>
                <c:ptCount val="12"/>
                <c:pt idx="0">
                  <c:v>145592</c:v>
                </c:pt>
                <c:pt idx="1">
                  <c:v>122495</c:v>
                </c:pt>
                <c:pt idx="2">
                  <c:v>143177</c:v>
                </c:pt>
                <c:pt idx="3">
                  <c:v>134856</c:v>
                </c:pt>
                <c:pt idx="4">
                  <c:v>143812</c:v>
                </c:pt>
                <c:pt idx="5">
                  <c:v>145035</c:v>
                </c:pt>
                <c:pt idx="6">
                  <c:v>147902</c:v>
                </c:pt>
                <c:pt idx="7">
                  <c:v>143299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05B-45FC-B93B-4BDCD5A5B51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1636351167"/>
        <c:axId val="1636353087"/>
      </c:barChart>
      <c:catAx>
        <c:axId val="16363511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3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636353087"/>
        <c:crosses val="autoZero"/>
        <c:auto val="1"/>
        <c:lblAlgn val="ctr"/>
        <c:lblOffset val="100"/>
        <c:noMultiLvlLbl val="0"/>
      </c:catAx>
      <c:valAx>
        <c:axId val="1636353087"/>
        <c:scaling>
          <c:orientation val="minMax"/>
          <c:min val="800"/>
        </c:scaling>
        <c:delete val="0"/>
        <c:axPos val="l"/>
        <c:numFmt formatCode="#,##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6363511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Maven Pro" panose="020B0604020202020204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1345846591874146E-5"/>
                  <c:y val="1.3408813817627636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2400" b="1" i="0" u="none" strike="noStrike" kern="1200" baseline="0">
                        <a:solidFill>
                          <a:schemeClr val="accent1">
                            <a:lumMod val="75000"/>
                          </a:schemeClr>
                        </a:solidFill>
                        <a:latin typeface="Maven Pro" panose="020B0604020202020204" charset="0"/>
                        <a:ea typeface="Microsoft YaHei" panose="020B0503020204020204" pitchFamily="34" charset="-122"/>
                        <a:cs typeface="+mn-cs"/>
                      </a:defRPr>
                    </a:pPr>
                    <a:fld id="{634C20E0-9F0F-4DA1-885B-8FAFF3C562D0}" type="VALUE">
                      <a:rPr lang="en-US" sz="2000"/>
                      <a:pPr>
                        <a:defRPr sz="24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aven Pro" panose="020B0604020202020204" charset="0"/>
                        </a:defRPr>
                      </a:pPr>
                      <a:t>[VALOR]</a:t>
                    </a:fld>
                    <a:endParaRPr lang="pt-BR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400" b="1" i="0" u="none" strike="noStrike" kern="1200" baseline="0">
                      <a:solidFill>
                        <a:schemeClr val="accent1">
                          <a:lumMod val="75000"/>
                        </a:schemeClr>
                      </a:solidFill>
                      <a:latin typeface="Maven Pro" panose="020B0604020202020204" charset="0"/>
                      <a:ea typeface="Microsoft YaHei" panose="020B0503020204020204" pitchFamily="34" charset="-122"/>
                      <a:cs typeface="+mn-cs"/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021823966930905"/>
                      <c:h val="9.0476445185956961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36E7-46E7-AC6E-D86ABF60079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ven Pro" panose="020B0604020202020204" charset="0"/>
                    <a:ea typeface="Microsoft YaHei" panose="020B0503020204020204" pitchFamily="34" charset="-122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Planilha1!$A$2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Planilha1!$B$2</c:f>
              <c:numCache>
                <c:formatCode>#,##0</c:formatCode>
                <c:ptCount val="1"/>
                <c:pt idx="0">
                  <c:v>1082474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E7-46E7-AC6E-D86ABF60079D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77790148-09C1-4D48-86F3-A4C08E36D98F}" type="VALUE">
                      <a:rPr lang="en-US" sz="2000"/>
                      <a:pPr/>
                      <a:t>[VALOR]</a:t>
                    </a:fld>
                    <a:endParaRPr lang="pt-BR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043865493656766"/>
                      <c:h val="0.1244457671758973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36E7-46E7-AC6E-D86ABF60079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rgbClr val="1D2961"/>
                    </a:solidFill>
                    <a:latin typeface="Maven Pro" panose="020B0604020202020204" charset="0"/>
                    <a:ea typeface="Microsoft YaHei" panose="020B0503020204020204" pitchFamily="34" charset="-122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Planilha1!$C$2</c:f>
              <c:numCache>
                <c:formatCode>#,##0</c:formatCode>
                <c:ptCount val="1"/>
                <c:pt idx="0">
                  <c:v>1126168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6E7-46E7-AC6E-D86ABF6007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1"/>
        <c:axId val="255377328"/>
        <c:axId val="319723776"/>
      </c:barChart>
      <c:lineChart>
        <c:grouping val="standard"/>
        <c:varyColors val="0"/>
        <c:ser>
          <c:idx val="2"/>
          <c:order val="2"/>
          <c:tx>
            <c:strRef>
              <c:f>Planilha1!$D$1</c:f>
              <c:strCache>
                <c:ptCount val="1"/>
                <c:pt idx="0">
                  <c:v>Budget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strRef>
              <c:f>Planilha1!$A$2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Planilha1!$D$2</c:f>
              <c:numCache>
                <c:formatCode>#,##0</c:formatCode>
                <c:ptCount val="1"/>
                <c:pt idx="0">
                  <c:v>541339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6E7-46E7-AC6E-D86ABF6007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5377328"/>
        <c:axId val="319723776"/>
      </c:lineChart>
      <c:catAx>
        <c:axId val="2553773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19723776"/>
        <c:crosses val="autoZero"/>
        <c:auto val="1"/>
        <c:lblAlgn val="ctr"/>
        <c:lblOffset val="100"/>
        <c:noMultiLvlLbl val="0"/>
      </c:catAx>
      <c:valAx>
        <c:axId val="319723776"/>
        <c:scaling>
          <c:orientation val="minMax"/>
          <c:min val="200000"/>
        </c:scaling>
        <c:delete val="0"/>
        <c:axPos val="l"/>
        <c:numFmt formatCode="#,##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endParaRPr lang="pt-BR"/>
          </a:p>
        </c:txPr>
        <c:crossAx val="255377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accent1">
                    <a:lumMod val="75000"/>
                  </a:schemeClr>
                </a:solidFill>
                <a:latin typeface="Maven Pro" panose="020B0604020202020204" charset="0"/>
                <a:ea typeface="Microsoft YaHei" panose="020B0503020204020204" pitchFamily="34" charset="-122"/>
                <a:cs typeface="+mn-cs"/>
              </a:defRPr>
            </a:pPr>
            <a:endParaRPr lang="pt-BR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rgbClr val="1D2961"/>
                </a:solidFill>
                <a:latin typeface="Maven Pro" panose="020B0604020202020204" charset="0"/>
                <a:ea typeface="Microsoft YaHei" panose="020B0503020204020204" pitchFamily="34" charset="-122"/>
                <a:cs typeface="+mn-cs"/>
              </a:defRPr>
            </a:pPr>
            <a:endParaRPr lang="pt-BR"/>
          </a:p>
        </c:txPr>
      </c:legendEntry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aven Pro" panose="020B0604020202020204" charset="0"/>
              <a:ea typeface="Microsoft YaHei" panose="020B0503020204020204" pitchFamily="34" charset="-122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 b="1">
          <a:latin typeface="Microsoft YaHei" panose="020B0503020204020204" pitchFamily="34" charset="-122"/>
          <a:ea typeface="Microsoft YaHei" panose="020B0503020204020204" pitchFamily="34" charset="-122"/>
        </a:defRPr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8BD_E87C4A1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856E7DC-D6AE-4534-980D-418A3CC827A9}" authorId="{7EBA0FFF-E6D7-0757-6EA6-0A3C2BEB5F63}" created="2026-09-23T19:51:20.606">
    <pc:sldMkLst xmlns:pc="http://schemas.microsoft.com/office/powerpoint/2013/main/command">
      <pc:docMk/>
      <pc:sldMk cId="3900459543" sldId="2237"/>
    </pc:sldMkLst>
    <p188:txBody>
      <a:bodyPr/>
      <a:lstStyle/>
      <a:p>
        <a:r>
          <a:rPr lang="pt-BR"/>
          <a:t>Alterada a questão do cais, pois ele é público e utilizamos com prioridade (exclusividade) 2 berços, e 1 em regime de preferência (dividido).</a:t>
        </a:r>
      </a:p>
    </p188:txBody>
  </p188:cm>
</p188:cmLst>
</file>

<file path=ppt/comments/modernComment_8CE_BEA55F7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D3C4F29-F4E9-41A9-ADD8-8A9F128460C3}" authorId="{7EBA0FFF-E6D7-0757-6EA6-0A3C2BEB5F63}" created="2026-09-23T19:40:25.82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198508921" sldId="2254"/>
      <ac:spMk id="71" creationId="{2EC1D6ED-1938-1582-0FF0-29C0A327286F}"/>
    </ac:deMkLst>
    <p188:txBody>
      <a:bodyPr/>
      <a:lstStyle/>
      <a:p>
        <a:r>
          <a:rPr lang="pt-BR"/>
          <a:t>Para a apresentação, considerar sempre que não houve alteração de titularidade do contrato, mas apenas alteração dos investidores.</a:t>
        </a:r>
      </a:p>
    </p188:txBody>
  </p188:cm>
</p188:cmLst>
</file>

<file path=ppt/comments/modernComment_8E0_83E5475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5E41F3A-D622-41BD-98B3-25EC661C7AAA}" authorId="{7EBA0FFF-E6D7-0757-6EA6-0A3C2BEB5F63}" created="2026-09-23T19:42:15.219">
    <pc:sldMkLst xmlns:pc="http://schemas.microsoft.com/office/powerpoint/2013/main/command">
      <pc:docMk/>
      <pc:sldMk cId="2212841297" sldId="2272"/>
    </pc:sldMkLst>
    <p188:txBody>
      <a:bodyPr/>
      <a:lstStyle/>
      <a:p>
        <a:r>
          <a:rPr lang="pt-BR"/>
          <a:t>Slide importante para a apresentação. Terminal bandeira branca, etc. Prioriza a carga, os armadores vem por conta da carga.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80144A-344A-45CF-ACD7-908AE3773D3D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3D9487-860D-422E-886D-61DC04A327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2379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3D9487-860D-422E-886D-61DC04A327FE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2342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>
          <a:extLst>
            <a:ext uri="{FF2B5EF4-FFF2-40B4-BE49-F238E27FC236}">
              <a16:creationId xmlns:a16="http://schemas.microsoft.com/office/drawing/2014/main" id="{B823AE06-D061-D5D8-00DA-9788F33CC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>
            <a:extLst>
              <a:ext uri="{FF2B5EF4-FFF2-40B4-BE49-F238E27FC236}">
                <a16:creationId xmlns:a16="http://schemas.microsoft.com/office/drawing/2014/main" id="{9D22C4FE-95D7-43DE-EBA3-6042A7DCD4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p5:notes">
            <a:extLst>
              <a:ext uri="{FF2B5EF4-FFF2-40B4-BE49-F238E27FC236}">
                <a16:creationId xmlns:a16="http://schemas.microsoft.com/office/drawing/2014/main" id="{B4255AA9-44FA-6676-784B-09C7251FA3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766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88B14-EA9C-E1E9-0E29-B8B010147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8F23919-F2E2-7057-DEEA-771FE7B8F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706E2F1-5C1B-A561-7DFF-465231E07B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9C90986-AAFC-D7E4-A8E3-06AB73EBCC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3AA4A-7AD6-40B7-8516-4AB90F5D38A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720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22FFB-7819-FB99-CED2-CE20255F4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E602A-28E2-9F64-4A63-00880D1B2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DD682A-ACF3-3F6C-517F-E4C6F396F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F6B74-C481-B15E-1E0A-BDDC81FC7E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C4F2A-CD1C-48F0-89D9-974F03FCC634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7789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3D9487-860D-422E-886D-61DC04A327FE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77842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3D9487-860D-422E-886D-61DC04A327FE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3408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C4F2A-CD1C-48F0-89D9-974F03FCC634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74359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C4F2A-CD1C-48F0-89D9-974F03FCC634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34512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F4387-EAE2-C662-88E3-966637EC3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849F297-EEBB-2A52-B41A-DD7140E8E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C5A3FEE-0B8E-2E4D-6556-A2AC2EC80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218972D-766D-58C7-4259-44252F58E1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3D9487-860D-422E-886D-61DC04A327FE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96511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D943D-1725-F13E-C5A4-DD5F95759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3CCDCC-2314-71A4-C084-FD3116762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BDD89E-2934-C42E-6D4D-446FB232F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0E098-7114-738B-FF35-70FA093D4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C4F2A-CD1C-48F0-89D9-974F03FCC634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9490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6B06C-CB73-5110-1861-46A88A5B7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68A944-6424-A2B5-8037-A67F3B1439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A9CEEB-2EC5-7160-AF22-7A8E10E51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5BE35-47D7-4ADC-3B89-171AF2DDA2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C4F2A-CD1C-48F0-89D9-974F03FCC634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28255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>
          <a:extLst>
            <a:ext uri="{FF2B5EF4-FFF2-40B4-BE49-F238E27FC236}">
              <a16:creationId xmlns:a16="http://schemas.microsoft.com/office/drawing/2014/main" id="{F3DD2585-2AB1-7DD9-99F2-375F4C31E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>
            <a:extLst>
              <a:ext uri="{FF2B5EF4-FFF2-40B4-BE49-F238E27FC236}">
                <a16:creationId xmlns:a16="http://schemas.microsoft.com/office/drawing/2014/main" id="{EE347A92-8207-71CA-3753-4226658E86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lang="pt-BR" dirty="0"/>
              <a:t>1.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ausência dessa comprovação, o entendimento predominante tem sido de cobrança irregular, com consequente lavratura de Auto de Infração.</a:t>
            </a: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4" name="Google Shape;154;p5:notes">
            <a:extLst>
              <a:ext uri="{FF2B5EF4-FFF2-40B4-BE49-F238E27FC236}">
                <a16:creationId xmlns:a16="http://schemas.microsoft.com/office/drawing/2014/main" id="{25AFA888-A75A-6460-6E96-D194979B03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86514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8B5D1-F50C-B27D-DFBB-BF9955529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5DED03-F592-D390-C8F7-D153FEDE4C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DA3DE6-B74D-F51C-A66F-EDDBBABEF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6D9C0-B349-D37D-5ED8-9CB96364D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C4F2A-CD1C-48F0-89D9-974F03FCC634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26334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C8E16-FA9D-BFA8-1D40-0F9BA503F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1BD66C-716B-37A0-871F-92138BA72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186F22-F2F9-E7D5-310A-4762B117D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5C8D3-D7D3-7D62-4EEA-2C352E718C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C4F2A-CD1C-48F0-89D9-974F03FCC634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78464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3D9487-860D-422E-886D-61DC04A327FE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1892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u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5;p15">
            <a:extLst>
              <a:ext uri="{FF2B5EF4-FFF2-40B4-BE49-F238E27FC236}">
                <a16:creationId xmlns:a16="http://schemas.microsoft.com/office/drawing/2014/main" id="{89FEF062-0EB3-40C7-A7CC-4ECCBFD50E50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" y="5"/>
            <a:ext cx="36575988" cy="20752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36726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430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8" r:id="rId12"/>
    <p:sldLayoutId id="2147483669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8BD_E87C4A1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13" Type="http://schemas.openxmlformats.org/officeDocument/2006/relationships/image" Target="../media/image17.emf"/><Relationship Id="rId18" Type="http://schemas.openxmlformats.org/officeDocument/2006/relationships/image" Target="../media/image22.png"/><Relationship Id="rId3" Type="http://schemas.openxmlformats.org/officeDocument/2006/relationships/image" Target="../media/image7.emf"/><Relationship Id="rId21" Type="http://schemas.openxmlformats.org/officeDocument/2006/relationships/image" Target="../media/image25.emf"/><Relationship Id="rId7" Type="http://schemas.openxmlformats.org/officeDocument/2006/relationships/image" Target="../media/image11.svg"/><Relationship Id="rId12" Type="http://schemas.openxmlformats.org/officeDocument/2006/relationships/image" Target="../media/image16.emf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0.jpeg"/><Relationship Id="rId20" Type="http://schemas.openxmlformats.org/officeDocument/2006/relationships/image" Target="../media/image24.e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emf"/><Relationship Id="rId11" Type="http://schemas.openxmlformats.org/officeDocument/2006/relationships/image" Target="../media/image15.svg"/><Relationship Id="rId24" Type="http://schemas.openxmlformats.org/officeDocument/2006/relationships/image" Target="../media/image28.png"/><Relationship Id="rId5" Type="http://schemas.openxmlformats.org/officeDocument/2006/relationships/image" Target="../media/image9.svg"/><Relationship Id="rId15" Type="http://schemas.openxmlformats.org/officeDocument/2006/relationships/image" Target="../media/image19.png"/><Relationship Id="rId23" Type="http://schemas.openxmlformats.org/officeDocument/2006/relationships/image" Target="../media/image27.svg"/><Relationship Id="rId10" Type="http://schemas.openxmlformats.org/officeDocument/2006/relationships/image" Target="../media/image14.emf"/><Relationship Id="rId19" Type="http://schemas.openxmlformats.org/officeDocument/2006/relationships/image" Target="../media/image23.emf"/><Relationship Id="rId4" Type="http://schemas.openxmlformats.org/officeDocument/2006/relationships/image" Target="../media/image8.emf"/><Relationship Id="rId9" Type="http://schemas.openxmlformats.org/officeDocument/2006/relationships/image" Target="../media/image13.emf"/><Relationship Id="rId14" Type="http://schemas.openxmlformats.org/officeDocument/2006/relationships/image" Target="../media/image18.svg"/><Relationship Id="rId22" Type="http://schemas.openxmlformats.org/officeDocument/2006/relationships/image" Target="../media/image26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29.svg"/><Relationship Id="rId7" Type="http://schemas.openxmlformats.org/officeDocument/2006/relationships/image" Target="../media/image3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jpeg"/><Relationship Id="rId3" Type="http://schemas.microsoft.com/office/2018/10/relationships/comments" Target="../comments/modernComment_8CE_BEA55F79.xml"/><Relationship Id="rId7" Type="http://schemas.openxmlformats.org/officeDocument/2006/relationships/image" Target="../media/image37.png"/><Relationship Id="rId12" Type="http://schemas.openxmlformats.org/officeDocument/2006/relationships/image" Target="../media/image4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jpeg"/><Relationship Id="rId11" Type="http://schemas.openxmlformats.org/officeDocument/2006/relationships/image" Target="../media/image41.svg"/><Relationship Id="rId5" Type="http://schemas.openxmlformats.org/officeDocument/2006/relationships/image" Target="../media/image3.png"/><Relationship Id="rId10" Type="http://schemas.openxmlformats.org/officeDocument/2006/relationships/image" Target="../media/image40.png"/><Relationship Id="rId4" Type="http://schemas.openxmlformats.org/officeDocument/2006/relationships/image" Target="../media/image35.jpe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svg"/><Relationship Id="rId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7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.xml"/><Relationship Id="rId5" Type="http://schemas.openxmlformats.org/officeDocument/2006/relationships/image" Target="../media/image3.pn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png"/><Relationship Id="rId7" Type="http://schemas.microsoft.com/office/2007/relationships/hdphoto" Target="../media/hdphoto1.wdp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2.png"/><Relationship Id="rId5" Type="http://schemas.openxmlformats.org/officeDocument/2006/relationships/image" Target="../media/image48.png"/><Relationship Id="rId10" Type="http://schemas.openxmlformats.org/officeDocument/2006/relationships/image" Target="../media/image30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13" Type="http://schemas.openxmlformats.org/officeDocument/2006/relationships/image" Target="../media/image60.svg"/><Relationship Id="rId18" Type="http://schemas.openxmlformats.org/officeDocument/2006/relationships/image" Target="../media/image65.svg"/><Relationship Id="rId3" Type="http://schemas.microsoft.com/office/2018/10/relationships/comments" Target="../comments/modernComment_8E0_83E54751.xml"/><Relationship Id="rId21" Type="http://schemas.openxmlformats.org/officeDocument/2006/relationships/image" Target="../media/image68.svg"/><Relationship Id="rId7" Type="http://schemas.openxmlformats.org/officeDocument/2006/relationships/image" Target="../media/image30.png"/><Relationship Id="rId12" Type="http://schemas.openxmlformats.org/officeDocument/2006/relationships/image" Target="../media/image59.svg"/><Relationship Id="rId17" Type="http://schemas.openxmlformats.org/officeDocument/2006/relationships/image" Target="../media/image64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63.svg"/><Relationship Id="rId20" Type="http://schemas.openxmlformats.org/officeDocument/2006/relationships/image" Target="../media/image6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11" Type="http://schemas.openxmlformats.org/officeDocument/2006/relationships/image" Target="../media/image58.svg"/><Relationship Id="rId24" Type="http://schemas.openxmlformats.org/officeDocument/2006/relationships/image" Target="../media/image71.svg"/><Relationship Id="rId5" Type="http://schemas.openxmlformats.org/officeDocument/2006/relationships/image" Target="../media/image54.svg"/><Relationship Id="rId15" Type="http://schemas.openxmlformats.org/officeDocument/2006/relationships/image" Target="../media/image62.svg"/><Relationship Id="rId23" Type="http://schemas.openxmlformats.org/officeDocument/2006/relationships/image" Target="../media/image70.svg"/><Relationship Id="rId10" Type="http://schemas.openxmlformats.org/officeDocument/2006/relationships/image" Target="../media/image57.svg"/><Relationship Id="rId19" Type="http://schemas.openxmlformats.org/officeDocument/2006/relationships/image" Target="../media/image66.svg"/><Relationship Id="rId4" Type="http://schemas.openxmlformats.org/officeDocument/2006/relationships/image" Target="../media/image53.svg"/><Relationship Id="rId9" Type="http://schemas.openxmlformats.org/officeDocument/2006/relationships/image" Target="../media/image56.svg"/><Relationship Id="rId14" Type="http://schemas.openxmlformats.org/officeDocument/2006/relationships/image" Target="../media/image61.svg"/><Relationship Id="rId22" Type="http://schemas.openxmlformats.org/officeDocument/2006/relationships/image" Target="../media/image6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sv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5.png"/><Relationship Id="rId3" Type="http://schemas.openxmlformats.org/officeDocument/2006/relationships/image" Target="../media/image76.jpeg"/><Relationship Id="rId7" Type="http://schemas.openxmlformats.org/officeDocument/2006/relationships/image" Target="../media/image80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svg"/><Relationship Id="rId18" Type="http://schemas.openxmlformats.org/officeDocument/2006/relationships/image" Target="../media/image101.sv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12" Type="http://schemas.openxmlformats.org/officeDocument/2006/relationships/image" Target="../media/image95.svg"/><Relationship Id="rId17" Type="http://schemas.openxmlformats.org/officeDocument/2006/relationships/image" Target="../media/image100.svg"/><Relationship Id="rId2" Type="http://schemas.openxmlformats.org/officeDocument/2006/relationships/image" Target="../media/image35.jpeg"/><Relationship Id="rId16" Type="http://schemas.openxmlformats.org/officeDocument/2006/relationships/image" Target="../media/image99.sv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11" Type="http://schemas.openxmlformats.org/officeDocument/2006/relationships/image" Target="../media/image94.svg"/><Relationship Id="rId5" Type="http://schemas.openxmlformats.org/officeDocument/2006/relationships/image" Target="../media/image88.png"/><Relationship Id="rId15" Type="http://schemas.openxmlformats.org/officeDocument/2006/relationships/image" Target="../media/image98.svg"/><Relationship Id="rId10" Type="http://schemas.openxmlformats.org/officeDocument/2006/relationships/image" Target="../media/image93.png"/><Relationship Id="rId19" Type="http://schemas.openxmlformats.org/officeDocument/2006/relationships/image" Target="../media/image102.sv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11.svg"/><Relationship Id="rId3" Type="http://schemas.openxmlformats.org/officeDocument/2006/relationships/image" Target="../media/image29.svg"/><Relationship Id="rId7" Type="http://schemas.openxmlformats.org/officeDocument/2006/relationships/image" Target="../media/image105.png"/><Relationship Id="rId12" Type="http://schemas.openxmlformats.org/officeDocument/2006/relationships/image" Target="../media/image1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11" Type="http://schemas.openxmlformats.org/officeDocument/2006/relationships/image" Target="../media/image109.png"/><Relationship Id="rId5" Type="http://schemas.openxmlformats.org/officeDocument/2006/relationships/image" Target="../media/image103.png"/><Relationship Id="rId10" Type="http://schemas.openxmlformats.org/officeDocument/2006/relationships/image" Target="../media/image108.png"/><Relationship Id="rId4" Type="http://schemas.openxmlformats.org/officeDocument/2006/relationships/image" Target="../media/image37.png"/><Relationship Id="rId9" Type="http://schemas.openxmlformats.org/officeDocument/2006/relationships/image" Target="../media/image10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image" Target="../media/image29.svg"/><Relationship Id="rId7" Type="http://schemas.openxmlformats.org/officeDocument/2006/relationships/image" Target="../media/image104.png"/><Relationship Id="rId12" Type="http://schemas.openxmlformats.org/officeDocument/2006/relationships/image" Target="../media/image11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109.png"/><Relationship Id="rId5" Type="http://schemas.openxmlformats.org/officeDocument/2006/relationships/image" Target="../media/image106.png"/><Relationship Id="rId10" Type="http://schemas.openxmlformats.org/officeDocument/2006/relationships/image" Target="../media/image114.svg"/><Relationship Id="rId4" Type="http://schemas.openxmlformats.org/officeDocument/2006/relationships/image" Target="../media/image37.png"/><Relationship Id="rId9" Type="http://schemas.openxmlformats.org/officeDocument/2006/relationships/image" Target="../media/image1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4664" y="-3017378"/>
            <a:ext cx="37729440" cy="25152960"/>
          </a:xfrm>
          <a:custGeom>
            <a:avLst/>
            <a:gdLst/>
            <a:ahLst/>
            <a:cxnLst/>
            <a:rect l="l" t="t" r="r" b="b"/>
            <a:pathLst>
              <a:path w="37729440" h="25152960">
                <a:moveTo>
                  <a:pt x="0" y="0"/>
                </a:moveTo>
                <a:lnTo>
                  <a:pt x="37729440" y="0"/>
                </a:lnTo>
                <a:lnTo>
                  <a:pt x="37729440" y="25152960"/>
                </a:lnTo>
                <a:lnTo>
                  <a:pt x="0" y="25152960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1322650" y="998471"/>
            <a:ext cx="33930701" cy="18577059"/>
          </a:xfrm>
          <a:custGeom>
            <a:avLst/>
            <a:gdLst/>
            <a:ahLst/>
            <a:cxnLst/>
            <a:rect l="l" t="t" r="r" b="b"/>
            <a:pathLst>
              <a:path w="33930701" h="18577059">
                <a:moveTo>
                  <a:pt x="0" y="0"/>
                </a:moveTo>
                <a:lnTo>
                  <a:pt x="33930700" y="0"/>
                </a:lnTo>
                <a:lnTo>
                  <a:pt x="33930700" y="18577058"/>
                </a:lnTo>
                <a:lnTo>
                  <a:pt x="0" y="185770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/>
          <p:cNvSpPr/>
          <p:nvPr/>
        </p:nvSpPr>
        <p:spPr>
          <a:xfrm>
            <a:off x="6131586" y="998471"/>
            <a:ext cx="1990964" cy="1774676"/>
          </a:xfrm>
          <a:custGeom>
            <a:avLst/>
            <a:gdLst/>
            <a:ahLst/>
            <a:cxnLst/>
            <a:rect l="l" t="t" r="r" b="b"/>
            <a:pathLst>
              <a:path w="1990964" h="1774676">
                <a:moveTo>
                  <a:pt x="0" y="0"/>
                </a:moveTo>
                <a:lnTo>
                  <a:pt x="1990964" y="0"/>
                </a:lnTo>
                <a:lnTo>
                  <a:pt x="1990964" y="1774676"/>
                </a:lnTo>
                <a:lnTo>
                  <a:pt x="0" y="17746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31256" r="-1272978" b="-94678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20340212" y="16076714"/>
            <a:ext cx="3001532" cy="2032534"/>
          </a:xfrm>
          <a:custGeom>
            <a:avLst/>
            <a:gdLst/>
            <a:ahLst/>
            <a:cxnLst/>
            <a:rect l="l" t="t" r="r" b="b"/>
            <a:pathLst>
              <a:path w="3001532" h="2032534">
                <a:moveTo>
                  <a:pt x="0" y="0"/>
                </a:moveTo>
                <a:lnTo>
                  <a:pt x="3001532" y="0"/>
                </a:lnTo>
                <a:lnTo>
                  <a:pt x="3001532" y="2032533"/>
                </a:lnTo>
                <a:lnTo>
                  <a:pt x="0" y="20325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1322650" y="893696"/>
            <a:ext cx="3894522" cy="1816052"/>
          </a:xfrm>
          <a:custGeom>
            <a:avLst/>
            <a:gdLst/>
            <a:ahLst/>
            <a:cxnLst/>
            <a:rect l="l" t="t" r="r" b="b"/>
            <a:pathLst>
              <a:path w="3894522" h="1816052">
                <a:moveTo>
                  <a:pt x="0" y="0"/>
                </a:moveTo>
                <a:lnTo>
                  <a:pt x="3894522" y="0"/>
                </a:lnTo>
                <a:lnTo>
                  <a:pt x="3894522" y="1816051"/>
                </a:lnTo>
                <a:lnTo>
                  <a:pt x="0" y="18160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6258" t="-121676" r="-56349" b="-10105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23812243" y="16067189"/>
            <a:ext cx="10020557" cy="1769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36"/>
              </a:lnSpc>
              <a:spcBef>
                <a:spcPct val="0"/>
              </a:spcBef>
            </a:pPr>
            <a:r>
              <a:rPr lang="en-US" sz="5097" b="1" dirty="0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Um dos </a:t>
            </a:r>
            <a:r>
              <a:rPr lang="en-US" sz="5097" b="1" dirty="0" err="1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maiores</a:t>
            </a:r>
            <a:r>
              <a:rPr lang="en-US" sz="5097" b="1" dirty="0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 </a:t>
            </a:r>
            <a:r>
              <a:rPr lang="en-US" sz="5097" b="1" dirty="0" err="1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terminais</a:t>
            </a:r>
            <a:r>
              <a:rPr lang="en-US" sz="5097" b="1" dirty="0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 de </a:t>
            </a:r>
          </a:p>
          <a:p>
            <a:pPr algn="l">
              <a:lnSpc>
                <a:spcPts val="7136"/>
              </a:lnSpc>
              <a:spcBef>
                <a:spcPct val="0"/>
              </a:spcBef>
            </a:pPr>
            <a:r>
              <a:rPr lang="en-US" sz="5097" b="1" dirty="0" err="1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contêineres</a:t>
            </a:r>
            <a:r>
              <a:rPr lang="en-US" sz="5097" b="1" dirty="0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 da América do Sul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1FC6F2E0-E72A-4E20-EF90-6CCC04783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Vista aérea de cidade com prédios e água ao fundo&#10;&#10;Descrição gerada automaticamente">
            <a:extLst>
              <a:ext uri="{FF2B5EF4-FFF2-40B4-BE49-F238E27FC236}">
                <a16:creationId xmlns:a16="http://schemas.microsoft.com/office/drawing/2014/main" id="{E308D2DB-4BE1-75F8-1C29-6CE48F187DA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664" b="-4709"/>
          <a:stretch/>
        </p:blipFill>
        <p:spPr>
          <a:xfrm>
            <a:off x="2388" y="-49830"/>
            <a:ext cx="36571224" cy="21688420"/>
          </a:xfrm>
          <a:prstGeom prst="rect">
            <a:avLst/>
          </a:prstGeom>
        </p:spPr>
      </p:pic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FB5419E-740F-AA32-2FF2-AFB1E4DF6DDA}"/>
              </a:ext>
            </a:extLst>
          </p:cNvPr>
          <p:cNvCxnSpPr>
            <a:cxnSpLocks/>
          </p:cNvCxnSpPr>
          <p:nvPr/>
        </p:nvCxnSpPr>
        <p:spPr>
          <a:xfrm>
            <a:off x="7959096" y="8309643"/>
            <a:ext cx="0" cy="389885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8460950A-BCE2-1F53-BB3B-1ED9D7918B03}"/>
              </a:ext>
            </a:extLst>
          </p:cNvPr>
          <p:cNvCxnSpPr>
            <a:cxnSpLocks/>
          </p:cNvCxnSpPr>
          <p:nvPr/>
        </p:nvCxnSpPr>
        <p:spPr>
          <a:xfrm>
            <a:off x="28979232" y="7959182"/>
            <a:ext cx="0" cy="567039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06165208-A084-3ECA-A8F3-365B72D3B307}"/>
              </a:ext>
            </a:extLst>
          </p:cNvPr>
          <p:cNvCxnSpPr>
            <a:cxnSpLocks/>
          </p:cNvCxnSpPr>
          <p:nvPr/>
        </p:nvCxnSpPr>
        <p:spPr>
          <a:xfrm>
            <a:off x="32412993" y="12413017"/>
            <a:ext cx="0" cy="3293102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150BBD74-0E59-427E-8B13-A02023B9B02E}"/>
              </a:ext>
            </a:extLst>
          </p:cNvPr>
          <p:cNvCxnSpPr>
            <a:cxnSpLocks/>
          </p:cNvCxnSpPr>
          <p:nvPr/>
        </p:nvCxnSpPr>
        <p:spPr>
          <a:xfrm>
            <a:off x="25603173" y="10158675"/>
            <a:ext cx="0" cy="2532186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14C55AD1-E6C8-2E18-E2EB-B00FFBC8099A}"/>
              </a:ext>
            </a:extLst>
          </p:cNvPr>
          <p:cNvCxnSpPr>
            <a:cxnSpLocks/>
          </p:cNvCxnSpPr>
          <p:nvPr/>
        </p:nvCxnSpPr>
        <p:spPr>
          <a:xfrm>
            <a:off x="18338391" y="12318032"/>
            <a:ext cx="0" cy="1542321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E9304C3B-AA89-70EA-781D-C9C39BE17DDB}"/>
              </a:ext>
            </a:extLst>
          </p:cNvPr>
          <p:cNvCxnSpPr>
            <a:cxnSpLocks/>
          </p:cNvCxnSpPr>
          <p:nvPr/>
        </p:nvCxnSpPr>
        <p:spPr>
          <a:xfrm>
            <a:off x="9765660" y="9918680"/>
            <a:ext cx="0" cy="1542321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4B6C46FB-2911-F98A-AB04-287E4CDAA6B8}"/>
              </a:ext>
            </a:extLst>
          </p:cNvPr>
          <p:cNvCxnSpPr>
            <a:cxnSpLocks/>
          </p:cNvCxnSpPr>
          <p:nvPr/>
        </p:nvCxnSpPr>
        <p:spPr>
          <a:xfrm>
            <a:off x="15763563" y="9272265"/>
            <a:ext cx="0" cy="2532186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reeform 3">
            <a:extLst>
              <a:ext uri="{FF2B5EF4-FFF2-40B4-BE49-F238E27FC236}">
                <a16:creationId xmlns:a16="http://schemas.microsoft.com/office/drawing/2014/main" id="{30EA5CFE-AAB6-5C97-E791-F0C9F44C1FA6}"/>
              </a:ext>
            </a:extLst>
          </p:cNvPr>
          <p:cNvSpPr/>
          <p:nvPr/>
        </p:nvSpPr>
        <p:spPr>
          <a:xfrm>
            <a:off x="-7686132" y="2151994"/>
            <a:ext cx="17938540" cy="2239932"/>
          </a:xfrm>
          <a:prstGeom prst="roundRect">
            <a:avLst/>
          </a:prstGeom>
          <a:solidFill>
            <a:srgbClr val="07103B"/>
          </a:solidFill>
        </p:spPr>
        <p:txBody>
          <a:bodyPr/>
          <a:lstStyle/>
          <a:p>
            <a:endParaRPr lang="pt-BR"/>
          </a:p>
        </p:txBody>
      </p:sp>
      <p:sp>
        <p:nvSpPr>
          <p:cNvPr id="9" name="TextBox 51">
            <a:extLst>
              <a:ext uri="{FF2B5EF4-FFF2-40B4-BE49-F238E27FC236}">
                <a16:creationId xmlns:a16="http://schemas.microsoft.com/office/drawing/2014/main" id="{A24096B7-EE3D-30B0-9DEE-405B46227D41}"/>
              </a:ext>
            </a:extLst>
          </p:cNvPr>
          <p:cNvSpPr txBox="1"/>
          <p:nvPr/>
        </p:nvSpPr>
        <p:spPr>
          <a:xfrm>
            <a:off x="3336058" y="2805524"/>
            <a:ext cx="13409315" cy="884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6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INFRA - TCP </a:t>
            </a:r>
          </a:p>
        </p:txBody>
      </p:sp>
      <p:grpSp>
        <p:nvGrpSpPr>
          <p:cNvPr id="31" name="Group 18">
            <a:extLst>
              <a:ext uri="{FF2B5EF4-FFF2-40B4-BE49-F238E27FC236}">
                <a16:creationId xmlns:a16="http://schemas.microsoft.com/office/drawing/2014/main" id="{9137F497-E19C-B1F5-94B0-FFFBED4CC1B4}"/>
              </a:ext>
            </a:extLst>
          </p:cNvPr>
          <p:cNvGrpSpPr/>
          <p:nvPr/>
        </p:nvGrpSpPr>
        <p:grpSpPr>
          <a:xfrm>
            <a:off x="4163004" y="7267471"/>
            <a:ext cx="5711610" cy="691711"/>
            <a:chOff x="0" y="0"/>
            <a:chExt cx="869941" cy="182179"/>
          </a:xfrm>
        </p:grpSpPr>
        <p:sp>
          <p:nvSpPr>
            <p:cNvPr id="33" name="Freeform 19">
              <a:extLst>
                <a:ext uri="{FF2B5EF4-FFF2-40B4-BE49-F238E27FC236}">
                  <a16:creationId xmlns:a16="http://schemas.microsoft.com/office/drawing/2014/main" id="{5438849C-5600-1B2B-F1E4-421BF997C7BD}"/>
                </a:ext>
              </a:extLst>
            </p:cNvPr>
            <p:cNvSpPr/>
            <p:nvPr/>
          </p:nvSpPr>
          <p:spPr>
            <a:xfrm>
              <a:off x="0" y="0"/>
              <a:ext cx="869941" cy="182179"/>
            </a:xfrm>
            <a:custGeom>
              <a:avLst/>
              <a:gdLst/>
              <a:ahLst/>
              <a:cxnLst/>
              <a:rect l="l" t="t" r="r" b="b"/>
              <a:pathLst>
                <a:path w="869941" h="182179">
                  <a:moveTo>
                    <a:pt x="46877" y="0"/>
                  </a:moveTo>
                  <a:lnTo>
                    <a:pt x="823064" y="0"/>
                  </a:lnTo>
                  <a:cubicBezTo>
                    <a:pt x="848954" y="0"/>
                    <a:pt x="869941" y="20988"/>
                    <a:pt x="869941" y="46877"/>
                  </a:cubicBezTo>
                  <a:lnTo>
                    <a:pt x="869941" y="135302"/>
                  </a:lnTo>
                  <a:cubicBezTo>
                    <a:pt x="869941" y="147734"/>
                    <a:pt x="865003" y="159658"/>
                    <a:pt x="856211" y="168449"/>
                  </a:cubicBezTo>
                  <a:cubicBezTo>
                    <a:pt x="847420" y="177240"/>
                    <a:pt x="835497" y="182179"/>
                    <a:pt x="823064" y="182179"/>
                  </a:cubicBezTo>
                  <a:lnTo>
                    <a:pt x="46877" y="182179"/>
                  </a:lnTo>
                  <a:cubicBezTo>
                    <a:pt x="34445" y="182179"/>
                    <a:pt x="22521" y="177240"/>
                    <a:pt x="13730" y="168449"/>
                  </a:cubicBezTo>
                  <a:cubicBezTo>
                    <a:pt x="4939" y="159658"/>
                    <a:pt x="0" y="147734"/>
                    <a:pt x="0" y="135302"/>
                  </a:cubicBezTo>
                  <a:lnTo>
                    <a:pt x="0" y="46877"/>
                  </a:lnTo>
                  <a:cubicBezTo>
                    <a:pt x="0" y="34445"/>
                    <a:pt x="4939" y="22521"/>
                    <a:pt x="13730" y="13730"/>
                  </a:cubicBezTo>
                  <a:cubicBezTo>
                    <a:pt x="22521" y="4939"/>
                    <a:pt x="34445" y="0"/>
                    <a:pt x="46877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dirty="0"/>
            </a:p>
          </p:txBody>
        </p:sp>
        <p:sp>
          <p:nvSpPr>
            <p:cNvPr id="42" name="TextBox 20">
              <a:extLst>
                <a:ext uri="{FF2B5EF4-FFF2-40B4-BE49-F238E27FC236}">
                  <a16:creationId xmlns:a16="http://schemas.microsoft.com/office/drawing/2014/main" id="{966D4E2F-119A-D070-ED72-039C07815A63}"/>
                </a:ext>
              </a:extLst>
            </p:cNvPr>
            <p:cNvSpPr txBox="1"/>
            <p:nvPr/>
          </p:nvSpPr>
          <p:spPr>
            <a:xfrm>
              <a:off x="0" y="-38100"/>
              <a:ext cx="869941" cy="2202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3" name="Group 18">
            <a:extLst>
              <a:ext uri="{FF2B5EF4-FFF2-40B4-BE49-F238E27FC236}">
                <a16:creationId xmlns:a16="http://schemas.microsoft.com/office/drawing/2014/main" id="{4BD80B9A-6261-E6F7-3773-D00A26CFB85E}"/>
              </a:ext>
            </a:extLst>
          </p:cNvPr>
          <p:cNvGrpSpPr/>
          <p:nvPr/>
        </p:nvGrpSpPr>
        <p:grpSpPr>
          <a:xfrm>
            <a:off x="9449005" y="9355091"/>
            <a:ext cx="4219275" cy="691711"/>
            <a:chOff x="0" y="0"/>
            <a:chExt cx="869941" cy="182179"/>
          </a:xfrm>
        </p:grpSpPr>
        <p:sp>
          <p:nvSpPr>
            <p:cNvPr id="44" name="Freeform 19">
              <a:extLst>
                <a:ext uri="{FF2B5EF4-FFF2-40B4-BE49-F238E27FC236}">
                  <a16:creationId xmlns:a16="http://schemas.microsoft.com/office/drawing/2014/main" id="{00FBF637-CA0C-D166-638C-8E43C725F58B}"/>
                </a:ext>
              </a:extLst>
            </p:cNvPr>
            <p:cNvSpPr/>
            <p:nvPr/>
          </p:nvSpPr>
          <p:spPr>
            <a:xfrm>
              <a:off x="0" y="0"/>
              <a:ext cx="869941" cy="182179"/>
            </a:xfrm>
            <a:custGeom>
              <a:avLst/>
              <a:gdLst/>
              <a:ahLst/>
              <a:cxnLst/>
              <a:rect l="l" t="t" r="r" b="b"/>
              <a:pathLst>
                <a:path w="869941" h="182179">
                  <a:moveTo>
                    <a:pt x="46877" y="0"/>
                  </a:moveTo>
                  <a:lnTo>
                    <a:pt x="823064" y="0"/>
                  </a:lnTo>
                  <a:cubicBezTo>
                    <a:pt x="848954" y="0"/>
                    <a:pt x="869941" y="20988"/>
                    <a:pt x="869941" y="46877"/>
                  </a:cubicBezTo>
                  <a:lnTo>
                    <a:pt x="869941" y="135302"/>
                  </a:lnTo>
                  <a:cubicBezTo>
                    <a:pt x="869941" y="147734"/>
                    <a:pt x="865003" y="159658"/>
                    <a:pt x="856211" y="168449"/>
                  </a:cubicBezTo>
                  <a:cubicBezTo>
                    <a:pt x="847420" y="177240"/>
                    <a:pt x="835497" y="182179"/>
                    <a:pt x="823064" y="182179"/>
                  </a:cubicBezTo>
                  <a:lnTo>
                    <a:pt x="46877" y="182179"/>
                  </a:lnTo>
                  <a:cubicBezTo>
                    <a:pt x="34445" y="182179"/>
                    <a:pt x="22521" y="177240"/>
                    <a:pt x="13730" y="168449"/>
                  </a:cubicBezTo>
                  <a:cubicBezTo>
                    <a:pt x="4939" y="159658"/>
                    <a:pt x="0" y="147734"/>
                    <a:pt x="0" y="135302"/>
                  </a:cubicBezTo>
                  <a:lnTo>
                    <a:pt x="0" y="46877"/>
                  </a:lnTo>
                  <a:cubicBezTo>
                    <a:pt x="0" y="34445"/>
                    <a:pt x="4939" y="22521"/>
                    <a:pt x="13730" y="13730"/>
                  </a:cubicBezTo>
                  <a:cubicBezTo>
                    <a:pt x="22521" y="4939"/>
                    <a:pt x="34445" y="0"/>
                    <a:pt x="46877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dirty="0"/>
            </a:p>
          </p:txBody>
        </p:sp>
        <p:sp>
          <p:nvSpPr>
            <p:cNvPr id="45" name="TextBox 20">
              <a:extLst>
                <a:ext uri="{FF2B5EF4-FFF2-40B4-BE49-F238E27FC236}">
                  <a16:creationId xmlns:a16="http://schemas.microsoft.com/office/drawing/2014/main" id="{09B87B08-F3A5-85C0-4C16-F7003F8AAE16}"/>
                </a:ext>
              </a:extLst>
            </p:cNvPr>
            <p:cNvSpPr txBox="1"/>
            <p:nvPr/>
          </p:nvSpPr>
          <p:spPr>
            <a:xfrm>
              <a:off x="0" y="-38100"/>
              <a:ext cx="869941" cy="2202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62A2540-141E-F645-EBF6-75651A319DCD}"/>
              </a:ext>
            </a:extLst>
          </p:cNvPr>
          <p:cNvSpPr/>
          <p:nvPr/>
        </p:nvSpPr>
        <p:spPr>
          <a:xfrm>
            <a:off x="4163451" y="7391128"/>
            <a:ext cx="5711158" cy="1740759"/>
          </a:xfrm>
          <a:prstGeom prst="roundRect">
            <a:avLst/>
          </a:prstGeom>
          <a:solidFill>
            <a:srgbClr val="07103B"/>
          </a:solidFill>
          <a:ln>
            <a:solidFill>
              <a:schemeClr val="tx2">
                <a:alpha val="8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742630"/>
            <a:endParaRPr lang="pt-BR" sz="3300" b="1">
              <a:solidFill>
                <a:srgbClr val="E7E6E6"/>
              </a:solidFill>
              <a:latin typeface="Maven Pro" panose="02000000000000000000" pitchFamily="2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21ED854-223B-2576-E0D4-2079AE1E78AE}"/>
              </a:ext>
            </a:extLst>
          </p:cNvPr>
          <p:cNvSpPr txBox="1"/>
          <p:nvPr/>
        </p:nvSpPr>
        <p:spPr>
          <a:xfrm>
            <a:off x="4088370" y="7514812"/>
            <a:ext cx="57862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742630"/>
            <a:r>
              <a:rPr lang="pt-BR" sz="2800" b="1" spc="111" dirty="0">
                <a:solidFill>
                  <a:schemeClr val="bg1"/>
                </a:solidFill>
                <a:latin typeface="Maven Pro Bold"/>
              </a:rPr>
              <a:t>2 berços de atracação com utilização prioritária 1 berço de utilização preferencial.</a:t>
            </a:r>
            <a:endParaRPr lang="en-US" sz="2800" b="1" spc="111" dirty="0">
              <a:solidFill>
                <a:schemeClr val="bg1"/>
              </a:solidFill>
              <a:latin typeface="Maven Pro Bold"/>
            </a:endParaRP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248A84BE-209A-2883-E9AF-546E2FC8EDE8}"/>
              </a:ext>
            </a:extLst>
          </p:cNvPr>
          <p:cNvSpPr/>
          <p:nvPr/>
        </p:nvSpPr>
        <p:spPr>
          <a:xfrm>
            <a:off x="9449009" y="9474399"/>
            <a:ext cx="4219269" cy="1215668"/>
          </a:xfrm>
          <a:prstGeom prst="roundRect">
            <a:avLst/>
          </a:prstGeom>
          <a:solidFill>
            <a:srgbClr val="07103B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742630"/>
            <a:endParaRPr lang="pt-BR" sz="3300" b="1">
              <a:solidFill>
                <a:srgbClr val="E7E6E6"/>
              </a:solidFill>
              <a:latin typeface="Maven Pro" panose="02000000000000000000" pitchFamily="2" charset="0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A62DB73-FAEC-C546-2230-B27BFE407B9A}"/>
              </a:ext>
            </a:extLst>
          </p:cNvPr>
          <p:cNvSpPr txBox="1"/>
          <p:nvPr/>
        </p:nvSpPr>
        <p:spPr>
          <a:xfrm>
            <a:off x="9407393" y="9603311"/>
            <a:ext cx="433642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742630">
              <a:lnSpc>
                <a:spcPts val="3000"/>
              </a:lnSpc>
            </a:pPr>
            <a:r>
              <a:rPr lang="pt-BR" sz="2800" b="1" spc="111" dirty="0" err="1">
                <a:solidFill>
                  <a:schemeClr val="bg1"/>
                </a:solidFill>
                <a:latin typeface="Maven Pro Bold"/>
              </a:rPr>
              <a:t>Dolfins</a:t>
            </a:r>
            <a:r>
              <a:rPr lang="pt-BR" sz="2800" b="1" spc="111" dirty="0">
                <a:solidFill>
                  <a:schemeClr val="bg1"/>
                </a:solidFill>
                <a:latin typeface="Maven Pro Bold"/>
              </a:rPr>
              <a:t> exclusivos para navios </a:t>
            </a:r>
            <a:r>
              <a:rPr lang="pt-BR" sz="2800" b="1" spc="111" dirty="0" err="1">
                <a:solidFill>
                  <a:schemeClr val="bg1"/>
                </a:solidFill>
                <a:latin typeface="Maven Pro Bold"/>
              </a:rPr>
              <a:t>Ro-Ro</a:t>
            </a:r>
            <a:r>
              <a:rPr lang="pt-BR" sz="2800" b="1" spc="111" dirty="0">
                <a:solidFill>
                  <a:schemeClr val="bg1"/>
                </a:solidFill>
                <a:latin typeface="Maven Pro Bold"/>
              </a:rPr>
              <a:t>.</a:t>
            </a:r>
          </a:p>
        </p:txBody>
      </p:sp>
      <p:grpSp>
        <p:nvGrpSpPr>
          <p:cNvPr id="48" name="Group 18">
            <a:extLst>
              <a:ext uri="{FF2B5EF4-FFF2-40B4-BE49-F238E27FC236}">
                <a16:creationId xmlns:a16="http://schemas.microsoft.com/office/drawing/2014/main" id="{47D3BCCF-D7B6-EA8D-EA1A-1F04AB887937}"/>
              </a:ext>
            </a:extLst>
          </p:cNvPr>
          <p:cNvGrpSpPr/>
          <p:nvPr/>
        </p:nvGrpSpPr>
        <p:grpSpPr>
          <a:xfrm>
            <a:off x="14986587" y="9012716"/>
            <a:ext cx="5726378" cy="691711"/>
            <a:chOff x="0" y="0"/>
            <a:chExt cx="869941" cy="182179"/>
          </a:xfrm>
        </p:grpSpPr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4D41264A-B1A8-4366-E6BB-030672409D5A}"/>
                </a:ext>
              </a:extLst>
            </p:cNvPr>
            <p:cNvSpPr/>
            <p:nvPr/>
          </p:nvSpPr>
          <p:spPr>
            <a:xfrm>
              <a:off x="0" y="0"/>
              <a:ext cx="869941" cy="182179"/>
            </a:xfrm>
            <a:custGeom>
              <a:avLst/>
              <a:gdLst/>
              <a:ahLst/>
              <a:cxnLst/>
              <a:rect l="l" t="t" r="r" b="b"/>
              <a:pathLst>
                <a:path w="869941" h="182179">
                  <a:moveTo>
                    <a:pt x="46877" y="0"/>
                  </a:moveTo>
                  <a:lnTo>
                    <a:pt x="823064" y="0"/>
                  </a:lnTo>
                  <a:cubicBezTo>
                    <a:pt x="848954" y="0"/>
                    <a:pt x="869941" y="20988"/>
                    <a:pt x="869941" y="46877"/>
                  </a:cubicBezTo>
                  <a:lnTo>
                    <a:pt x="869941" y="135302"/>
                  </a:lnTo>
                  <a:cubicBezTo>
                    <a:pt x="869941" y="147734"/>
                    <a:pt x="865003" y="159658"/>
                    <a:pt x="856211" y="168449"/>
                  </a:cubicBezTo>
                  <a:cubicBezTo>
                    <a:pt x="847420" y="177240"/>
                    <a:pt x="835497" y="182179"/>
                    <a:pt x="823064" y="182179"/>
                  </a:cubicBezTo>
                  <a:lnTo>
                    <a:pt x="46877" y="182179"/>
                  </a:lnTo>
                  <a:cubicBezTo>
                    <a:pt x="34445" y="182179"/>
                    <a:pt x="22521" y="177240"/>
                    <a:pt x="13730" y="168449"/>
                  </a:cubicBezTo>
                  <a:cubicBezTo>
                    <a:pt x="4939" y="159658"/>
                    <a:pt x="0" y="147734"/>
                    <a:pt x="0" y="135302"/>
                  </a:cubicBezTo>
                  <a:lnTo>
                    <a:pt x="0" y="46877"/>
                  </a:lnTo>
                  <a:cubicBezTo>
                    <a:pt x="0" y="34445"/>
                    <a:pt x="4939" y="22521"/>
                    <a:pt x="13730" y="13730"/>
                  </a:cubicBezTo>
                  <a:cubicBezTo>
                    <a:pt x="22521" y="4939"/>
                    <a:pt x="34445" y="0"/>
                    <a:pt x="46877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dirty="0"/>
            </a:p>
          </p:txBody>
        </p:sp>
        <p:sp>
          <p:nvSpPr>
            <p:cNvPr id="50" name="TextBox 20">
              <a:extLst>
                <a:ext uri="{FF2B5EF4-FFF2-40B4-BE49-F238E27FC236}">
                  <a16:creationId xmlns:a16="http://schemas.microsoft.com/office/drawing/2014/main" id="{2351DE24-8552-E229-9E02-F8F66A27961A}"/>
                </a:ext>
              </a:extLst>
            </p:cNvPr>
            <p:cNvSpPr txBox="1"/>
            <p:nvPr/>
          </p:nvSpPr>
          <p:spPr>
            <a:xfrm>
              <a:off x="0" y="-38100"/>
              <a:ext cx="869941" cy="2202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F0FD6C68-2786-638F-D430-3B8138243704}"/>
              </a:ext>
            </a:extLst>
          </p:cNvPr>
          <p:cNvSpPr/>
          <p:nvPr/>
        </p:nvSpPr>
        <p:spPr>
          <a:xfrm>
            <a:off x="15003782" y="9154363"/>
            <a:ext cx="5711613" cy="957147"/>
          </a:xfrm>
          <a:prstGeom prst="roundRect">
            <a:avLst/>
          </a:prstGeom>
          <a:solidFill>
            <a:srgbClr val="07103B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742630"/>
            <a:endParaRPr lang="pt-BR" sz="3300" b="1">
              <a:solidFill>
                <a:srgbClr val="E7E6E6"/>
              </a:solidFill>
              <a:latin typeface="Maven Pro" panose="02000000000000000000" pitchFamily="2" charset="0"/>
            </a:endParaRP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1A8F5C45-61F2-4E19-C40A-3361E0FE7324}"/>
              </a:ext>
            </a:extLst>
          </p:cNvPr>
          <p:cNvSpPr txBox="1"/>
          <p:nvPr/>
        </p:nvSpPr>
        <p:spPr>
          <a:xfrm>
            <a:off x="15003782" y="9310067"/>
            <a:ext cx="581931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742630">
              <a:lnSpc>
                <a:spcPts val="3000"/>
              </a:lnSpc>
            </a:pPr>
            <a:r>
              <a:rPr lang="pt-BR" sz="2800" b="1" spc="111" dirty="0">
                <a:solidFill>
                  <a:schemeClr val="bg1"/>
                </a:solidFill>
                <a:latin typeface="Maven Pro Bold"/>
              </a:rPr>
              <a:t>Área para cargas perigosas.</a:t>
            </a:r>
          </a:p>
        </p:txBody>
      </p:sp>
      <p:grpSp>
        <p:nvGrpSpPr>
          <p:cNvPr id="51" name="Group 18">
            <a:extLst>
              <a:ext uri="{FF2B5EF4-FFF2-40B4-BE49-F238E27FC236}">
                <a16:creationId xmlns:a16="http://schemas.microsoft.com/office/drawing/2014/main" id="{3D4B8C7D-3EB8-B654-7C2E-2CC53251994C}"/>
              </a:ext>
            </a:extLst>
          </p:cNvPr>
          <p:cNvGrpSpPr/>
          <p:nvPr/>
        </p:nvGrpSpPr>
        <p:grpSpPr>
          <a:xfrm>
            <a:off x="16745373" y="11077533"/>
            <a:ext cx="4450927" cy="691711"/>
            <a:chOff x="0" y="0"/>
            <a:chExt cx="869941" cy="182179"/>
          </a:xfrm>
        </p:grpSpPr>
        <p:sp>
          <p:nvSpPr>
            <p:cNvPr id="52" name="Freeform 19">
              <a:extLst>
                <a:ext uri="{FF2B5EF4-FFF2-40B4-BE49-F238E27FC236}">
                  <a16:creationId xmlns:a16="http://schemas.microsoft.com/office/drawing/2014/main" id="{4D325149-C792-534D-94EE-CBE8D1C09C39}"/>
                </a:ext>
              </a:extLst>
            </p:cNvPr>
            <p:cNvSpPr/>
            <p:nvPr/>
          </p:nvSpPr>
          <p:spPr>
            <a:xfrm>
              <a:off x="0" y="0"/>
              <a:ext cx="869941" cy="182179"/>
            </a:xfrm>
            <a:custGeom>
              <a:avLst/>
              <a:gdLst/>
              <a:ahLst/>
              <a:cxnLst/>
              <a:rect l="l" t="t" r="r" b="b"/>
              <a:pathLst>
                <a:path w="869941" h="182179">
                  <a:moveTo>
                    <a:pt x="46877" y="0"/>
                  </a:moveTo>
                  <a:lnTo>
                    <a:pt x="823064" y="0"/>
                  </a:lnTo>
                  <a:cubicBezTo>
                    <a:pt x="848954" y="0"/>
                    <a:pt x="869941" y="20988"/>
                    <a:pt x="869941" y="46877"/>
                  </a:cubicBezTo>
                  <a:lnTo>
                    <a:pt x="869941" y="135302"/>
                  </a:lnTo>
                  <a:cubicBezTo>
                    <a:pt x="869941" y="147734"/>
                    <a:pt x="865003" y="159658"/>
                    <a:pt x="856211" y="168449"/>
                  </a:cubicBezTo>
                  <a:cubicBezTo>
                    <a:pt x="847420" y="177240"/>
                    <a:pt x="835497" y="182179"/>
                    <a:pt x="823064" y="182179"/>
                  </a:cubicBezTo>
                  <a:lnTo>
                    <a:pt x="46877" y="182179"/>
                  </a:lnTo>
                  <a:cubicBezTo>
                    <a:pt x="34445" y="182179"/>
                    <a:pt x="22521" y="177240"/>
                    <a:pt x="13730" y="168449"/>
                  </a:cubicBezTo>
                  <a:cubicBezTo>
                    <a:pt x="4939" y="159658"/>
                    <a:pt x="0" y="147734"/>
                    <a:pt x="0" y="135302"/>
                  </a:cubicBezTo>
                  <a:lnTo>
                    <a:pt x="0" y="46877"/>
                  </a:lnTo>
                  <a:cubicBezTo>
                    <a:pt x="0" y="34445"/>
                    <a:pt x="4939" y="22521"/>
                    <a:pt x="13730" y="13730"/>
                  </a:cubicBezTo>
                  <a:cubicBezTo>
                    <a:pt x="22521" y="4939"/>
                    <a:pt x="34445" y="0"/>
                    <a:pt x="46877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dirty="0"/>
            </a:p>
          </p:txBody>
        </p:sp>
        <p:sp>
          <p:nvSpPr>
            <p:cNvPr id="53" name="TextBox 20">
              <a:extLst>
                <a:ext uri="{FF2B5EF4-FFF2-40B4-BE49-F238E27FC236}">
                  <a16:creationId xmlns:a16="http://schemas.microsoft.com/office/drawing/2014/main" id="{12A56911-717B-2E30-C430-D1E7E2FCDE89}"/>
                </a:ext>
              </a:extLst>
            </p:cNvPr>
            <p:cNvSpPr txBox="1"/>
            <p:nvPr/>
          </p:nvSpPr>
          <p:spPr>
            <a:xfrm>
              <a:off x="0" y="-38100"/>
              <a:ext cx="869941" cy="2202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1EE010EF-8DC0-3ACD-015B-3AF93A6B2B3C}"/>
              </a:ext>
            </a:extLst>
          </p:cNvPr>
          <p:cNvSpPr/>
          <p:nvPr/>
        </p:nvSpPr>
        <p:spPr>
          <a:xfrm>
            <a:off x="16745373" y="11209086"/>
            <a:ext cx="4450927" cy="1203931"/>
          </a:xfrm>
          <a:prstGeom prst="roundRect">
            <a:avLst/>
          </a:prstGeom>
          <a:solidFill>
            <a:srgbClr val="07103B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742630"/>
            <a:endParaRPr lang="pt-BR" sz="3300" b="1">
              <a:solidFill>
                <a:srgbClr val="E7E6E6"/>
              </a:solidFill>
              <a:latin typeface="Maven Pro" panose="02000000000000000000" pitchFamily="2" charset="0"/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B85F692-640E-02D5-82B2-B8EBDDC726FC}"/>
              </a:ext>
            </a:extLst>
          </p:cNvPr>
          <p:cNvSpPr txBox="1"/>
          <p:nvPr/>
        </p:nvSpPr>
        <p:spPr>
          <a:xfrm>
            <a:off x="16087203" y="11346723"/>
            <a:ext cx="588357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742630">
              <a:lnSpc>
                <a:spcPts val="3000"/>
              </a:lnSpc>
            </a:pPr>
            <a:r>
              <a:rPr lang="pt-BR" sz="2800" b="1" spc="111" dirty="0">
                <a:solidFill>
                  <a:schemeClr val="bg1"/>
                </a:solidFill>
                <a:latin typeface="Maven Pro Bold"/>
              </a:rPr>
              <a:t>8 STS, 40 RTG, 69 TT, </a:t>
            </a:r>
          </a:p>
          <a:p>
            <a:pPr algn="ctr" defTabSz="2742630">
              <a:lnSpc>
                <a:spcPts val="3000"/>
              </a:lnSpc>
            </a:pPr>
            <a:r>
              <a:rPr lang="pt-BR" sz="2800" b="1" spc="111" dirty="0">
                <a:solidFill>
                  <a:schemeClr val="bg1"/>
                </a:solidFill>
                <a:latin typeface="Maven Pro Bold"/>
              </a:rPr>
              <a:t>14 RS/EV, 2 MHC.</a:t>
            </a:r>
          </a:p>
        </p:txBody>
      </p:sp>
      <p:grpSp>
        <p:nvGrpSpPr>
          <p:cNvPr id="54" name="Group 18">
            <a:extLst>
              <a:ext uri="{FF2B5EF4-FFF2-40B4-BE49-F238E27FC236}">
                <a16:creationId xmlns:a16="http://schemas.microsoft.com/office/drawing/2014/main" id="{009D7635-45D9-3E47-BD36-D4C3BFB404F6}"/>
              </a:ext>
            </a:extLst>
          </p:cNvPr>
          <p:cNvGrpSpPr/>
          <p:nvPr/>
        </p:nvGrpSpPr>
        <p:grpSpPr>
          <a:xfrm>
            <a:off x="23149359" y="8899807"/>
            <a:ext cx="4966821" cy="691711"/>
            <a:chOff x="0" y="0"/>
            <a:chExt cx="869941" cy="182179"/>
          </a:xfrm>
        </p:grpSpPr>
        <p:sp>
          <p:nvSpPr>
            <p:cNvPr id="55" name="Freeform 19">
              <a:extLst>
                <a:ext uri="{FF2B5EF4-FFF2-40B4-BE49-F238E27FC236}">
                  <a16:creationId xmlns:a16="http://schemas.microsoft.com/office/drawing/2014/main" id="{65B81A34-9824-C39D-B59C-4315EC5D89C4}"/>
                </a:ext>
              </a:extLst>
            </p:cNvPr>
            <p:cNvSpPr/>
            <p:nvPr/>
          </p:nvSpPr>
          <p:spPr>
            <a:xfrm>
              <a:off x="0" y="0"/>
              <a:ext cx="869941" cy="182179"/>
            </a:xfrm>
            <a:custGeom>
              <a:avLst/>
              <a:gdLst/>
              <a:ahLst/>
              <a:cxnLst/>
              <a:rect l="l" t="t" r="r" b="b"/>
              <a:pathLst>
                <a:path w="869941" h="182179">
                  <a:moveTo>
                    <a:pt x="46877" y="0"/>
                  </a:moveTo>
                  <a:lnTo>
                    <a:pt x="823064" y="0"/>
                  </a:lnTo>
                  <a:cubicBezTo>
                    <a:pt x="848954" y="0"/>
                    <a:pt x="869941" y="20988"/>
                    <a:pt x="869941" y="46877"/>
                  </a:cubicBezTo>
                  <a:lnTo>
                    <a:pt x="869941" y="135302"/>
                  </a:lnTo>
                  <a:cubicBezTo>
                    <a:pt x="869941" y="147734"/>
                    <a:pt x="865003" y="159658"/>
                    <a:pt x="856211" y="168449"/>
                  </a:cubicBezTo>
                  <a:cubicBezTo>
                    <a:pt x="847420" y="177240"/>
                    <a:pt x="835497" y="182179"/>
                    <a:pt x="823064" y="182179"/>
                  </a:cubicBezTo>
                  <a:lnTo>
                    <a:pt x="46877" y="182179"/>
                  </a:lnTo>
                  <a:cubicBezTo>
                    <a:pt x="34445" y="182179"/>
                    <a:pt x="22521" y="177240"/>
                    <a:pt x="13730" y="168449"/>
                  </a:cubicBezTo>
                  <a:cubicBezTo>
                    <a:pt x="4939" y="159658"/>
                    <a:pt x="0" y="147734"/>
                    <a:pt x="0" y="135302"/>
                  </a:cubicBezTo>
                  <a:lnTo>
                    <a:pt x="0" y="46877"/>
                  </a:lnTo>
                  <a:cubicBezTo>
                    <a:pt x="0" y="34445"/>
                    <a:pt x="4939" y="22521"/>
                    <a:pt x="13730" y="13730"/>
                  </a:cubicBezTo>
                  <a:cubicBezTo>
                    <a:pt x="22521" y="4939"/>
                    <a:pt x="34445" y="0"/>
                    <a:pt x="46877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dirty="0"/>
            </a:p>
          </p:txBody>
        </p:sp>
        <p:sp>
          <p:nvSpPr>
            <p:cNvPr id="56" name="TextBox 20">
              <a:extLst>
                <a:ext uri="{FF2B5EF4-FFF2-40B4-BE49-F238E27FC236}">
                  <a16:creationId xmlns:a16="http://schemas.microsoft.com/office/drawing/2014/main" id="{038F5464-4BDF-2F9D-D8D2-3C29BB9573DD}"/>
                </a:ext>
              </a:extLst>
            </p:cNvPr>
            <p:cNvSpPr txBox="1"/>
            <p:nvPr/>
          </p:nvSpPr>
          <p:spPr>
            <a:xfrm>
              <a:off x="0" y="-38100"/>
              <a:ext cx="869941" cy="2202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7" name="Freeform 19">
            <a:extLst>
              <a:ext uri="{FF2B5EF4-FFF2-40B4-BE49-F238E27FC236}">
                <a16:creationId xmlns:a16="http://schemas.microsoft.com/office/drawing/2014/main" id="{CA48EA94-5D01-CBF3-7E1B-94D40B3A8912}"/>
              </a:ext>
            </a:extLst>
          </p:cNvPr>
          <p:cNvSpPr/>
          <p:nvPr/>
        </p:nvSpPr>
        <p:spPr>
          <a:xfrm>
            <a:off x="29327599" y="10165534"/>
            <a:ext cx="6971542" cy="757772"/>
          </a:xfrm>
          <a:custGeom>
            <a:avLst/>
            <a:gdLst/>
            <a:ahLst/>
            <a:cxnLst/>
            <a:rect l="l" t="t" r="r" b="b"/>
            <a:pathLst>
              <a:path w="869941" h="182179">
                <a:moveTo>
                  <a:pt x="46877" y="0"/>
                </a:moveTo>
                <a:lnTo>
                  <a:pt x="823064" y="0"/>
                </a:lnTo>
                <a:cubicBezTo>
                  <a:pt x="848954" y="0"/>
                  <a:pt x="869941" y="20988"/>
                  <a:pt x="869941" y="46877"/>
                </a:cubicBezTo>
                <a:lnTo>
                  <a:pt x="869941" y="135302"/>
                </a:lnTo>
                <a:cubicBezTo>
                  <a:pt x="869941" y="147734"/>
                  <a:pt x="865003" y="159658"/>
                  <a:pt x="856211" y="168449"/>
                </a:cubicBezTo>
                <a:cubicBezTo>
                  <a:pt x="847420" y="177240"/>
                  <a:pt x="835497" y="182179"/>
                  <a:pt x="823064" y="182179"/>
                </a:cubicBezTo>
                <a:lnTo>
                  <a:pt x="46877" y="182179"/>
                </a:lnTo>
                <a:cubicBezTo>
                  <a:pt x="34445" y="182179"/>
                  <a:pt x="22521" y="177240"/>
                  <a:pt x="13730" y="168449"/>
                </a:cubicBezTo>
                <a:cubicBezTo>
                  <a:pt x="4939" y="159658"/>
                  <a:pt x="0" y="147734"/>
                  <a:pt x="0" y="135302"/>
                </a:cubicBezTo>
                <a:lnTo>
                  <a:pt x="0" y="46877"/>
                </a:lnTo>
                <a:cubicBezTo>
                  <a:pt x="0" y="34445"/>
                  <a:pt x="4939" y="22521"/>
                  <a:pt x="13730" y="13730"/>
                </a:cubicBezTo>
                <a:cubicBezTo>
                  <a:pt x="22521" y="4939"/>
                  <a:pt x="34445" y="0"/>
                  <a:pt x="46877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grpSp>
        <p:nvGrpSpPr>
          <p:cNvPr id="58" name="Group 18">
            <a:extLst>
              <a:ext uri="{FF2B5EF4-FFF2-40B4-BE49-F238E27FC236}">
                <a16:creationId xmlns:a16="http://schemas.microsoft.com/office/drawing/2014/main" id="{446DAE79-B2DF-0F4B-4373-976CDF16DB0A}"/>
              </a:ext>
            </a:extLst>
          </p:cNvPr>
          <p:cNvGrpSpPr/>
          <p:nvPr/>
        </p:nvGrpSpPr>
        <p:grpSpPr>
          <a:xfrm>
            <a:off x="26739956" y="7136352"/>
            <a:ext cx="5355484" cy="691711"/>
            <a:chOff x="0" y="0"/>
            <a:chExt cx="869941" cy="182179"/>
          </a:xfrm>
        </p:grpSpPr>
        <p:sp>
          <p:nvSpPr>
            <p:cNvPr id="59" name="Freeform 19">
              <a:extLst>
                <a:ext uri="{FF2B5EF4-FFF2-40B4-BE49-F238E27FC236}">
                  <a16:creationId xmlns:a16="http://schemas.microsoft.com/office/drawing/2014/main" id="{7E5BE56F-5D5B-3031-7625-AB6764159F93}"/>
                </a:ext>
              </a:extLst>
            </p:cNvPr>
            <p:cNvSpPr/>
            <p:nvPr/>
          </p:nvSpPr>
          <p:spPr>
            <a:xfrm>
              <a:off x="0" y="0"/>
              <a:ext cx="869941" cy="182179"/>
            </a:xfrm>
            <a:custGeom>
              <a:avLst/>
              <a:gdLst/>
              <a:ahLst/>
              <a:cxnLst/>
              <a:rect l="l" t="t" r="r" b="b"/>
              <a:pathLst>
                <a:path w="869941" h="182179">
                  <a:moveTo>
                    <a:pt x="46877" y="0"/>
                  </a:moveTo>
                  <a:lnTo>
                    <a:pt x="823064" y="0"/>
                  </a:lnTo>
                  <a:cubicBezTo>
                    <a:pt x="848954" y="0"/>
                    <a:pt x="869941" y="20988"/>
                    <a:pt x="869941" y="46877"/>
                  </a:cubicBezTo>
                  <a:lnTo>
                    <a:pt x="869941" y="135302"/>
                  </a:lnTo>
                  <a:cubicBezTo>
                    <a:pt x="869941" y="147734"/>
                    <a:pt x="865003" y="159658"/>
                    <a:pt x="856211" y="168449"/>
                  </a:cubicBezTo>
                  <a:cubicBezTo>
                    <a:pt x="847420" y="177240"/>
                    <a:pt x="835497" y="182179"/>
                    <a:pt x="823064" y="182179"/>
                  </a:cubicBezTo>
                  <a:lnTo>
                    <a:pt x="46877" y="182179"/>
                  </a:lnTo>
                  <a:cubicBezTo>
                    <a:pt x="34445" y="182179"/>
                    <a:pt x="22521" y="177240"/>
                    <a:pt x="13730" y="168449"/>
                  </a:cubicBezTo>
                  <a:cubicBezTo>
                    <a:pt x="4939" y="159658"/>
                    <a:pt x="0" y="147734"/>
                    <a:pt x="0" y="135302"/>
                  </a:cubicBezTo>
                  <a:lnTo>
                    <a:pt x="0" y="46877"/>
                  </a:lnTo>
                  <a:cubicBezTo>
                    <a:pt x="0" y="34445"/>
                    <a:pt x="4939" y="22521"/>
                    <a:pt x="13730" y="13730"/>
                  </a:cubicBezTo>
                  <a:cubicBezTo>
                    <a:pt x="22521" y="4939"/>
                    <a:pt x="34445" y="0"/>
                    <a:pt x="46877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dirty="0"/>
            </a:p>
          </p:txBody>
        </p:sp>
        <p:sp>
          <p:nvSpPr>
            <p:cNvPr id="60" name="TextBox 20">
              <a:extLst>
                <a:ext uri="{FF2B5EF4-FFF2-40B4-BE49-F238E27FC236}">
                  <a16:creationId xmlns:a16="http://schemas.microsoft.com/office/drawing/2014/main" id="{8C03CCDE-4148-77C0-8C65-259FC62CCE9A}"/>
                </a:ext>
              </a:extLst>
            </p:cNvPr>
            <p:cNvSpPr txBox="1"/>
            <p:nvPr/>
          </p:nvSpPr>
          <p:spPr>
            <a:xfrm>
              <a:off x="0" y="-38100"/>
              <a:ext cx="869941" cy="2202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DC0DF9F-4E8F-6613-97E3-F9C123648552}"/>
              </a:ext>
            </a:extLst>
          </p:cNvPr>
          <p:cNvSpPr/>
          <p:nvPr/>
        </p:nvSpPr>
        <p:spPr>
          <a:xfrm>
            <a:off x="23167948" y="9008459"/>
            <a:ext cx="4948232" cy="1384197"/>
          </a:xfrm>
          <a:prstGeom prst="roundRect">
            <a:avLst/>
          </a:prstGeom>
          <a:solidFill>
            <a:srgbClr val="07103B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742630">
              <a:lnSpc>
                <a:spcPts val="3000"/>
              </a:lnSpc>
            </a:pPr>
            <a:r>
              <a:rPr lang="pt-BR" sz="2800" b="1" spc="111" dirty="0">
                <a:solidFill>
                  <a:schemeClr val="bg1"/>
                </a:solidFill>
                <a:latin typeface="Maven Pro Bold"/>
              </a:rPr>
              <a:t>Acesso ferroviário direto a área alfandegada.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919259C6-50EC-D1C9-741A-99630E643DA9}"/>
              </a:ext>
            </a:extLst>
          </p:cNvPr>
          <p:cNvSpPr/>
          <p:nvPr/>
        </p:nvSpPr>
        <p:spPr>
          <a:xfrm>
            <a:off x="26739950" y="7231523"/>
            <a:ext cx="5355483" cy="831199"/>
          </a:xfrm>
          <a:prstGeom prst="roundRect">
            <a:avLst/>
          </a:prstGeom>
          <a:solidFill>
            <a:srgbClr val="07103B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742630"/>
            <a:endParaRPr lang="pt-BR" sz="3300" b="1">
              <a:solidFill>
                <a:srgbClr val="E7E6E6"/>
              </a:solidFill>
              <a:latin typeface="Maven Pro" panose="02000000000000000000" pitchFamily="2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40C8ADD-6C0A-D793-B1C9-EDD98B639B76}"/>
              </a:ext>
            </a:extLst>
          </p:cNvPr>
          <p:cNvSpPr txBox="1"/>
          <p:nvPr/>
        </p:nvSpPr>
        <p:spPr>
          <a:xfrm>
            <a:off x="27033344" y="7348460"/>
            <a:ext cx="48179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742630"/>
            <a:r>
              <a:rPr lang="pt-BR" sz="2800" b="1" spc="111" dirty="0">
                <a:solidFill>
                  <a:schemeClr val="bg1"/>
                </a:solidFill>
                <a:latin typeface="Maven Pro Bold"/>
              </a:rPr>
              <a:t>Armazém de importação.</a:t>
            </a:r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E88D7D6C-F00B-446E-17EA-B02A06127CA5}"/>
              </a:ext>
            </a:extLst>
          </p:cNvPr>
          <p:cNvGrpSpPr/>
          <p:nvPr/>
        </p:nvGrpSpPr>
        <p:grpSpPr>
          <a:xfrm>
            <a:off x="32913661" y="15761044"/>
            <a:ext cx="3448251" cy="393581"/>
            <a:chOff x="0" y="0"/>
            <a:chExt cx="869941" cy="182179"/>
          </a:xfrm>
        </p:grpSpPr>
        <p:sp>
          <p:nvSpPr>
            <p:cNvPr id="4" name="Freeform 19">
              <a:extLst>
                <a:ext uri="{FF2B5EF4-FFF2-40B4-BE49-F238E27FC236}">
                  <a16:creationId xmlns:a16="http://schemas.microsoft.com/office/drawing/2014/main" id="{89DC2CBD-CAA6-CE07-6965-F0EE4A5F7660}"/>
                </a:ext>
              </a:extLst>
            </p:cNvPr>
            <p:cNvSpPr/>
            <p:nvPr/>
          </p:nvSpPr>
          <p:spPr>
            <a:xfrm>
              <a:off x="0" y="0"/>
              <a:ext cx="869941" cy="182179"/>
            </a:xfrm>
            <a:custGeom>
              <a:avLst/>
              <a:gdLst/>
              <a:ahLst/>
              <a:cxnLst/>
              <a:rect l="l" t="t" r="r" b="b"/>
              <a:pathLst>
                <a:path w="869941" h="182179">
                  <a:moveTo>
                    <a:pt x="46877" y="0"/>
                  </a:moveTo>
                  <a:lnTo>
                    <a:pt x="823064" y="0"/>
                  </a:lnTo>
                  <a:cubicBezTo>
                    <a:pt x="848954" y="0"/>
                    <a:pt x="869941" y="20988"/>
                    <a:pt x="869941" y="46877"/>
                  </a:cubicBezTo>
                  <a:lnTo>
                    <a:pt x="869941" y="135302"/>
                  </a:lnTo>
                  <a:cubicBezTo>
                    <a:pt x="869941" y="147734"/>
                    <a:pt x="865003" y="159658"/>
                    <a:pt x="856211" y="168449"/>
                  </a:cubicBezTo>
                  <a:cubicBezTo>
                    <a:pt x="847420" y="177240"/>
                    <a:pt x="835497" y="182179"/>
                    <a:pt x="823064" y="182179"/>
                  </a:cubicBezTo>
                  <a:lnTo>
                    <a:pt x="46877" y="182179"/>
                  </a:lnTo>
                  <a:cubicBezTo>
                    <a:pt x="34445" y="182179"/>
                    <a:pt x="22521" y="177240"/>
                    <a:pt x="13730" y="168449"/>
                  </a:cubicBezTo>
                  <a:cubicBezTo>
                    <a:pt x="4939" y="159658"/>
                    <a:pt x="0" y="147734"/>
                    <a:pt x="0" y="135302"/>
                  </a:cubicBezTo>
                  <a:lnTo>
                    <a:pt x="0" y="46877"/>
                  </a:lnTo>
                  <a:cubicBezTo>
                    <a:pt x="0" y="34445"/>
                    <a:pt x="4939" y="22521"/>
                    <a:pt x="13730" y="13730"/>
                  </a:cubicBezTo>
                  <a:cubicBezTo>
                    <a:pt x="22521" y="4939"/>
                    <a:pt x="34445" y="0"/>
                    <a:pt x="46877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dirty="0"/>
            </a:p>
          </p:txBody>
        </p:sp>
        <p:sp>
          <p:nvSpPr>
            <p:cNvPr id="10" name="TextBox 20">
              <a:extLst>
                <a:ext uri="{FF2B5EF4-FFF2-40B4-BE49-F238E27FC236}">
                  <a16:creationId xmlns:a16="http://schemas.microsoft.com/office/drawing/2014/main" id="{76D3185B-8DAD-2E8D-9D1E-4E3EBD62ADDD}"/>
                </a:ext>
              </a:extLst>
            </p:cNvPr>
            <p:cNvSpPr txBox="1"/>
            <p:nvPr/>
          </p:nvSpPr>
          <p:spPr>
            <a:xfrm>
              <a:off x="0" y="-38100"/>
              <a:ext cx="869941" cy="2202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9F8A53E9-217B-D3E5-649C-1576EB741594}"/>
              </a:ext>
            </a:extLst>
          </p:cNvPr>
          <p:cNvSpPr/>
          <p:nvPr/>
        </p:nvSpPr>
        <p:spPr>
          <a:xfrm>
            <a:off x="32913665" y="15880352"/>
            <a:ext cx="3448246" cy="691711"/>
          </a:xfrm>
          <a:prstGeom prst="roundRect">
            <a:avLst/>
          </a:prstGeom>
          <a:solidFill>
            <a:srgbClr val="07103B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742630"/>
            <a:endParaRPr lang="pt-BR" sz="3300" b="1">
              <a:solidFill>
                <a:srgbClr val="E7E6E6"/>
              </a:solidFill>
              <a:latin typeface="Maven Pro" panose="02000000000000000000" pitchFamily="2" charset="0"/>
            </a:endParaRP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741168F8-37A8-8DFD-5C66-12F193C66421}"/>
              </a:ext>
            </a:extLst>
          </p:cNvPr>
          <p:cNvCxnSpPr>
            <a:cxnSpLocks/>
          </p:cNvCxnSpPr>
          <p:nvPr/>
        </p:nvCxnSpPr>
        <p:spPr>
          <a:xfrm>
            <a:off x="35356773" y="15149775"/>
            <a:ext cx="0" cy="6112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99FCAA7-B2F5-85AF-6DD9-FC3410E429B3}"/>
              </a:ext>
            </a:extLst>
          </p:cNvPr>
          <p:cNvSpPr txBox="1"/>
          <p:nvPr/>
        </p:nvSpPr>
        <p:spPr>
          <a:xfrm>
            <a:off x="31695996" y="15974723"/>
            <a:ext cx="588357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742630">
              <a:lnSpc>
                <a:spcPts val="3000"/>
              </a:lnSpc>
            </a:pPr>
            <a:r>
              <a:rPr lang="pt-BR" sz="2800" b="1" spc="111" dirty="0">
                <a:solidFill>
                  <a:schemeClr val="bg1"/>
                </a:solidFill>
                <a:latin typeface="Maven Pro Bold"/>
              </a:rPr>
              <a:t>Prédio ADM</a:t>
            </a:r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34CA7DE6-5F2A-3F0E-0F72-1375B6CF9DE7}"/>
              </a:ext>
            </a:extLst>
          </p:cNvPr>
          <p:cNvSpPr/>
          <p:nvPr/>
        </p:nvSpPr>
        <p:spPr>
          <a:xfrm>
            <a:off x="1541904" y="17783837"/>
            <a:ext cx="4007407" cy="2022326"/>
          </a:xfrm>
          <a:custGeom>
            <a:avLst/>
            <a:gdLst/>
            <a:ahLst/>
            <a:cxnLst/>
            <a:rect l="l" t="t" r="r" b="b"/>
            <a:pathLst>
              <a:path w="4007407" h="2022326">
                <a:moveTo>
                  <a:pt x="0" y="0"/>
                </a:moveTo>
                <a:lnTo>
                  <a:pt x="4007407" y="0"/>
                </a:lnTo>
                <a:lnTo>
                  <a:pt x="4007407" y="2022326"/>
                </a:lnTo>
                <a:lnTo>
                  <a:pt x="0" y="20223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6536" t="-113839" r="-57754" b="-86734"/>
            </a:stretch>
          </a:blipFill>
        </p:spPr>
        <p:txBody>
          <a:bodyPr/>
          <a:lstStyle/>
          <a:p>
            <a:endParaRPr lang="pt-BR"/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10637CB2-4384-89B2-0E8C-05C02A454540}"/>
              </a:ext>
            </a:extLst>
          </p:cNvPr>
          <p:cNvCxnSpPr>
            <a:cxnSpLocks/>
          </p:cNvCxnSpPr>
          <p:nvPr/>
        </p:nvCxnSpPr>
        <p:spPr>
          <a:xfrm>
            <a:off x="33454393" y="8755146"/>
            <a:ext cx="0" cy="5008432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8">
            <a:extLst>
              <a:ext uri="{FF2B5EF4-FFF2-40B4-BE49-F238E27FC236}">
                <a16:creationId xmlns:a16="http://schemas.microsoft.com/office/drawing/2014/main" id="{EFAB4EEB-9813-3ECE-E162-58C2CBBB11CF}"/>
              </a:ext>
            </a:extLst>
          </p:cNvPr>
          <p:cNvGrpSpPr/>
          <p:nvPr/>
        </p:nvGrpSpPr>
        <p:grpSpPr>
          <a:xfrm>
            <a:off x="32412554" y="7973437"/>
            <a:ext cx="2098299" cy="691711"/>
            <a:chOff x="0" y="0"/>
            <a:chExt cx="869941" cy="182179"/>
          </a:xfrm>
        </p:grpSpPr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E6FFB90C-99BF-A2F6-A689-3B3551AB1A3A}"/>
                </a:ext>
              </a:extLst>
            </p:cNvPr>
            <p:cNvSpPr/>
            <p:nvPr/>
          </p:nvSpPr>
          <p:spPr>
            <a:xfrm>
              <a:off x="0" y="0"/>
              <a:ext cx="869941" cy="182179"/>
            </a:xfrm>
            <a:custGeom>
              <a:avLst/>
              <a:gdLst/>
              <a:ahLst/>
              <a:cxnLst/>
              <a:rect l="l" t="t" r="r" b="b"/>
              <a:pathLst>
                <a:path w="869941" h="182179">
                  <a:moveTo>
                    <a:pt x="46877" y="0"/>
                  </a:moveTo>
                  <a:lnTo>
                    <a:pt x="823064" y="0"/>
                  </a:lnTo>
                  <a:cubicBezTo>
                    <a:pt x="848954" y="0"/>
                    <a:pt x="869941" y="20988"/>
                    <a:pt x="869941" y="46877"/>
                  </a:cubicBezTo>
                  <a:lnTo>
                    <a:pt x="869941" y="135302"/>
                  </a:lnTo>
                  <a:cubicBezTo>
                    <a:pt x="869941" y="147734"/>
                    <a:pt x="865003" y="159658"/>
                    <a:pt x="856211" y="168449"/>
                  </a:cubicBezTo>
                  <a:cubicBezTo>
                    <a:pt x="847420" y="177240"/>
                    <a:pt x="835497" y="182179"/>
                    <a:pt x="823064" y="182179"/>
                  </a:cubicBezTo>
                  <a:lnTo>
                    <a:pt x="46877" y="182179"/>
                  </a:lnTo>
                  <a:cubicBezTo>
                    <a:pt x="34445" y="182179"/>
                    <a:pt x="22521" y="177240"/>
                    <a:pt x="13730" y="168449"/>
                  </a:cubicBezTo>
                  <a:cubicBezTo>
                    <a:pt x="4939" y="159658"/>
                    <a:pt x="0" y="147734"/>
                    <a:pt x="0" y="135302"/>
                  </a:cubicBezTo>
                  <a:lnTo>
                    <a:pt x="0" y="46877"/>
                  </a:lnTo>
                  <a:cubicBezTo>
                    <a:pt x="0" y="34445"/>
                    <a:pt x="4939" y="22521"/>
                    <a:pt x="13730" y="13730"/>
                  </a:cubicBezTo>
                  <a:cubicBezTo>
                    <a:pt x="22521" y="4939"/>
                    <a:pt x="34445" y="0"/>
                    <a:pt x="46877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dirty="0"/>
            </a:p>
          </p:txBody>
        </p:sp>
        <p:sp>
          <p:nvSpPr>
            <p:cNvPr id="22" name="TextBox 20">
              <a:extLst>
                <a:ext uri="{FF2B5EF4-FFF2-40B4-BE49-F238E27FC236}">
                  <a16:creationId xmlns:a16="http://schemas.microsoft.com/office/drawing/2014/main" id="{31C1616A-C902-A462-91DF-CA3773812BFA}"/>
                </a:ext>
              </a:extLst>
            </p:cNvPr>
            <p:cNvSpPr txBox="1"/>
            <p:nvPr/>
          </p:nvSpPr>
          <p:spPr>
            <a:xfrm>
              <a:off x="0" y="-38100"/>
              <a:ext cx="869941" cy="2202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BF04F733-3AE9-4825-C8FC-1FAFB38DCB6A}"/>
              </a:ext>
            </a:extLst>
          </p:cNvPr>
          <p:cNvSpPr/>
          <p:nvPr/>
        </p:nvSpPr>
        <p:spPr>
          <a:xfrm>
            <a:off x="32412549" y="8068608"/>
            <a:ext cx="2098298" cy="831199"/>
          </a:xfrm>
          <a:prstGeom prst="roundRect">
            <a:avLst/>
          </a:prstGeom>
          <a:solidFill>
            <a:srgbClr val="07103B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742630"/>
            <a:endParaRPr lang="pt-BR" sz="3300" b="1">
              <a:solidFill>
                <a:srgbClr val="E7E6E6"/>
              </a:solidFill>
              <a:latin typeface="Maven Pro" panose="02000000000000000000" pitchFamily="2" charset="0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7EF163A-DD73-FA4B-7F90-FFD07C32A6F8}"/>
              </a:ext>
            </a:extLst>
          </p:cNvPr>
          <p:cNvSpPr txBox="1"/>
          <p:nvPr/>
        </p:nvSpPr>
        <p:spPr>
          <a:xfrm>
            <a:off x="32994459" y="8202071"/>
            <a:ext cx="919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742630"/>
            <a:r>
              <a:rPr lang="pt-BR" sz="2800" b="1" spc="111" dirty="0">
                <a:solidFill>
                  <a:schemeClr val="bg1"/>
                </a:solidFill>
                <a:latin typeface="Maven Pro Bold"/>
              </a:rPr>
              <a:t>B30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FF2A49E8-3C13-4A60-ADAB-B510B274E425}"/>
              </a:ext>
            </a:extLst>
          </p:cNvPr>
          <p:cNvSpPr/>
          <p:nvPr/>
        </p:nvSpPr>
        <p:spPr>
          <a:xfrm>
            <a:off x="29327600" y="10287000"/>
            <a:ext cx="6971541" cy="2126018"/>
          </a:xfrm>
          <a:prstGeom prst="roundRect">
            <a:avLst/>
          </a:prstGeom>
          <a:solidFill>
            <a:srgbClr val="07103B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742630"/>
            <a:endParaRPr lang="pt-BR" sz="3300" b="1">
              <a:solidFill>
                <a:srgbClr val="E7E6E6"/>
              </a:solidFill>
              <a:latin typeface="Maven Pro" panose="02000000000000000000" pitchFamily="2" charset="0"/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6DA3162B-7CF2-0C0A-05E5-647A1D18173A}"/>
              </a:ext>
            </a:extLst>
          </p:cNvPr>
          <p:cNvSpPr txBox="1"/>
          <p:nvPr/>
        </p:nvSpPr>
        <p:spPr>
          <a:xfrm>
            <a:off x="29261557" y="10373151"/>
            <a:ext cx="71036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742630"/>
            <a:r>
              <a:rPr lang="pt-BR" sz="2800" b="1" spc="111" dirty="0">
                <a:solidFill>
                  <a:schemeClr val="bg1"/>
                </a:solidFill>
                <a:latin typeface="Maven Pro Bold"/>
              </a:rPr>
              <a:t>Maior corredor de exportação de cargas congeladas do mundo,
com a maior quantidade de tomadas da América do Sul: 5.268.</a:t>
            </a:r>
          </a:p>
        </p:txBody>
      </p:sp>
    </p:spTree>
    <p:extLst>
      <p:ext uri="{BB962C8B-B14F-4D97-AF65-F5344CB8AC3E}">
        <p14:creationId xmlns:p14="http://schemas.microsoft.com/office/powerpoint/2010/main" val="390045954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AF654-4197-17DA-8952-7F3CF8B07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Retângulo 617">
            <a:extLst>
              <a:ext uri="{FF2B5EF4-FFF2-40B4-BE49-F238E27FC236}">
                <a16:creationId xmlns:a16="http://schemas.microsoft.com/office/drawing/2014/main" id="{B46901F0-B9EE-4F64-0556-B728F1297572}"/>
              </a:ext>
            </a:extLst>
          </p:cNvPr>
          <p:cNvSpPr/>
          <p:nvPr/>
        </p:nvSpPr>
        <p:spPr>
          <a:xfrm>
            <a:off x="29595309" y="11428419"/>
            <a:ext cx="6689280" cy="49599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186" name="Rectangle 223">
            <a:extLst>
              <a:ext uri="{FF2B5EF4-FFF2-40B4-BE49-F238E27FC236}">
                <a16:creationId xmlns:a16="http://schemas.microsoft.com/office/drawing/2014/main" id="{1D9D6FB2-72D4-4527-9982-E7776E96382F}"/>
              </a:ext>
            </a:extLst>
          </p:cNvPr>
          <p:cNvSpPr/>
          <p:nvPr/>
        </p:nvSpPr>
        <p:spPr>
          <a:xfrm>
            <a:off x="2886465" y="4985772"/>
            <a:ext cx="31697256" cy="124664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8FB7B0D6-C614-F730-A525-D7D320AC5AB4}"/>
              </a:ext>
            </a:extLst>
          </p:cNvPr>
          <p:cNvSpPr/>
          <p:nvPr/>
        </p:nvSpPr>
        <p:spPr>
          <a:xfrm>
            <a:off x="-3" y="1191491"/>
            <a:ext cx="36576000" cy="19306755"/>
          </a:xfrm>
          <a:prstGeom prst="rect">
            <a:avLst/>
          </a:prstGeom>
          <a:solidFill>
            <a:srgbClr val="98D0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BB036BBF-C279-DEF3-F312-44BBB9C6F512}"/>
              </a:ext>
            </a:extLst>
          </p:cNvPr>
          <p:cNvSpPr/>
          <p:nvPr/>
        </p:nvSpPr>
        <p:spPr>
          <a:xfrm>
            <a:off x="3" y="4527309"/>
            <a:ext cx="24865152" cy="16094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226" name="Freeform: Shape 225">
            <a:extLst>
              <a:ext uri="{FF2B5EF4-FFF2-40B4-BE49-F238E27FC236}">
                <a16:creationId xmlns:a16="http://schemas.microsoft.com/office/drawing/2014/main" id="{CACFEDA0-CFB0-DCC8-4C6B-ED783BD12740}"/>
              </a:ext>
            </a:extLst>
          </p:cNvPr>
          <p:cNvSpPr/>
          <p:nvPr/>
        </p:nvSpPr>
        <p:spPr>
          <a:xfrm>
            <a:off x="919136" y="5871048"/>
            <a:ext cx="1138407" cy="12312996"/>
          </a:xfrm>
          <a:custGeom>
            <a:avLst/>
            <a:gdLst>
              <a:gd name="connsiteX0" fmla="*/ 0 w 1195631"/>
              <a:gd name="connsiteY0" fmla="*/ 4270050 h 4270050"/>
              <a:gd name="connsiteX1" fmla="*/ 203200 w 1195631"/>
              <a:gd name="connsiteY1" fmla="*/ 3623504 h 4270050"/>
              <a:gd name="connsiteX2" fmla="*/ 480291 w 1195631"/>
              <a:gd name="connsiteY2" fmla="*/ 3161686 h 4270050"/>
              <a:gd name="connsiteX3" fmla="*/ 655782 w 1195631"/>
              <a:gd name="connsiteY3" fmla="*/ 3023141 h 4270050"/>
              <a:gd name="connsiteX4" fmla="*/ 923636 w 1195631"/>
              <a:gd name="connsiteY4" fmla="*/ 2764523 h 4270050"/>
              <a:gd name="connsiteX5" fmla="*/ 1117600 w 1195631"/>
              <a:gd name="connsiteY5" fmla="*/ 2524377 h 4270050"/>
              <a:gd name="connsiteX6" fmla="*/ 1154545 w 1195631"/>
              <a:gd name="connsiteY6" fmla="*/ 2274995 h 4270050"/>
              <a:gd name="connsiteX7" fmla="*/ 1154545 w 1195631"/>
              <a:gd name="connsiteY7" fmla="*/ 363068 h 4270050"/>
              <a:gd name="connsiteX8" fmla="*/ 618836 w 1195631"/>
              <a:gd name="connsiteY8" fmla="*/ 2850 h 4270050"/>
              <a:gd name="connsiteX0" fmla="*/ 0 w 1156432"/>
              <a:gd name="connsiteY0" fmla="*/ 4270050 h 4270050"/>
              <a:gd name="connsiteX1" fmla="*/ 203200 w 1156432"/>
              <a:gd name="connsiteY1" fmla="*/ 3623504 h 4270050"/>
              <a:gd name="connsiteX2" fmla="*/ 480291 w 1156432"/>
              <a:gd name="connsiteY2" fmla="*/ 3161686 h 4270050"/>
              <a:gd name="connsiteX3" fmla="*/ 655782 w 1156432"/>
              <a:gd name="connsiteY3" fmla="*/ 3023141 h 4270050"/>
              <a:gd name="connsiteX4" fmla="*/ 923636 w 1156432"/>
              <a:gd name="connsiteY4" fmla="*/ 2764523 h 4270050"/>
              <a:gd name="connsiteX5" fmla="*/ 1117600 w 1156432"/>
              <a:gd name="connsiteY5" fmla="*/ 2524377 h 4270050"/>
              <a:gd name="connsiteX6" fmla="*/ 1154545 w 1156432"/>
              <a:gd name="connsiteY6" fmla="*/ 2274995 h 4270050"/>
              <a:gd name="connsiteX7" fmla="*/ 1154545 w 1156432"/>
              <a:gd name="connsiteY7" fmla="*/ 363068 h 4270050"/>
              <a:gd name="connsiteX8" fmla="*/ 618836 w 1156432"/>
              <a:gd name="connsiteY8" fmla="*/ 2850 h 4270050"/>
              <a:gd name="connsiteX0" fmla="*/ 0 w 1156432"/>
              <a:gd name="connsiteY0" fmla="*/ 4270050 h 4270050"/>
              <a:gd name="connsiteX1" fmla="*/ 203200 w 1156432"/>
              <a:gd name="connsiteY1" fmla="*/ 3623504 h 4270050"/>
              <a:gd name="connsiteX2" fmla="*/ 480291 w 1156432"/>
              <a:gd name="connsiteY2" fmla="*/ 3161686 h 4270050"/>
              <a:gd name="connsiteX3" fmla="*/ 655782 w 1156432"/>
              <a:gd name="connsiteY3" fmla="*/ 3023141 h 4270050"/>
              <a:gd name="connsiteX4" fmla="*/ 923636 w 1156432"/>
              <a:gd name="connsiteY4" fmla="*/ 2764523 h 4270050"/>
              <a:gd name="connsiteX5" fmla="*/ 1154545 w 1156432"/>
              <a:gd name="connsiteY5" fmla="*/ 2274995 h 4270050"/>
              <a:gd name="connsiteX6" fmla="*/ 1154545 w 1156432"/>
              <a:gd name="connsiteY6" fmla="*/ 363068 h 4270050"/>
              <a:gd name="connsiteX7" fmla="*/ 618836 w 1156432"/>
              <a:gd name="connsiteY7" fmla="*/ 2850 h 4270050"/>
              <a:gd name="connsiteX0" fmla="*/ 0 w 1156432"/>
              <a:gd name="connsiteY0" fmla="*/ 4270050 h 4270050"/>
              <a:gd name="connsiteX1" fmla="*/ 203200 w 1156432"/>
              <a:gd name="connsiteY1" fmla="*/ 3623504 h 4270050"/>
              <a:gd name="connsiteX2" fmla="*/ 480291 w 1156432"/>
              <a:gd name="connsiteY2" fmla="*/ 3161686 h 4270050"/>
              <a:gd name="connsiteX3" fmla="*/ 655782 w 1156432"/>
              <a:gd name="connsiteY3" fmla="*/ 3023141 h 4270050"/>
              <a:gd name="connsiteX4" fmla="*/ 923636 w 1156432"/>
              <a:gd name="connsiteY4" fmla="*/ 2764523 h 4270050"/>
              <a:gd name="connsiteX5" fmla="*/ 1154545 w 1156432"/>
              <a:gd name="connsiteY5" fmla="*/ 2274995 h 4270050"/>
              <a:gd name="connsiteX6" fmla="*/ 1154545 w 1156432"/>
              <a:gd name="connsiteY6" fmla="*/ 363068 h 4270050"/>
              <a:gd name="connsiteX7" fmla="*/ 618836 w 1156432"/>
              <a:gd name="connsiteY7" fmla="*/ 2850 h 4270050"/>
              <a:gd name="connsiteX0" fmla="*/ 0 w 1156432"/>
              <a:gd name="connsiteY0" fmla="*/ 4270050 h 4270050"/>
              <a:gd name="connsiteX1" fmla="*/ 203200 w 1156432"/>
              <a:gd name="connsiteY1" fmla="*/ 3623504 h 4270050"/>
              <a:gd name="connsiteX2" fmla="*/ 480291 w 1156432"/>
              <a:gd name="connsiteY2" fmla="*/ 3161686 h 4270050"/>
              <a:gd name="connsiteX3" fmla="*/ 655782 w 1156432"/>
              <a:gd name="connsiteY3" fmla="*/ 3023141 h 4270050"/>
              <a:gd name="connsiteX4" fmla="*/ 923636 w 1156432"/>
              <a:gd name="connsiteY4" fmla="*/ 2764523 h 4270050"/>
              <a:gd name="connsiteX5" fmla="*/ 1154545 w 1156432"/>
              <a:gd name="connsiteY5" fmla="*/ 2274995 h 4270050"/>
              <a:gd name="connsiteX6" fmla="*/ 1154545 w 1156432"/>
              <a:gd name="connsiteY6" fmla="*/ 363068 h 4270050"/>
              <a:gd name="connsiteX7" fmla="*/ 618836 w 1156432"/>
              <a:gd name="connsiteY7" fmla="*/ 2850 h 4270050"/>
              <a:gd name="connsiteX0" fmla="*/ 0 w 1168720"/>
              <a:gd name="connsiteY0" fmla="*/ 4270050 h 4270050"/>
              <a:gd name="connsiteX1" fmla="*/ 203200 w 1168720"/>
              <a:gd name="connsiteY1" fmla="*/ 3623504 h 4270050"/>
              <a:gd name="connsiteX2" fmla="*/ 480291 w 1168720"/>
              <a:gd name="connsiteY2" fmla="*/ 3161686 h 4270050"/>
              <a:gd name="connsiteX3" fmla="*/ 655782 w 1168720"/>
              <a:gd name="connsiteY3" fmla="*/ 3023141 h 4270050"/>
              <a:gd name="connsiteX4" fmla="*/ 948494 w 1168720"/>
              <a:gd name="connsiteY4" fmla="*/ 2793098 h 4270050"/>
              <a:gd name="connsiteX5" fmla="*/ 1154545 w 1168720"/>
              <a:gd name="connsiteY5" fmla="*/ 2274995 h 4270050"/>
              <a:gd name="connsiteX6" fmla="*/ 1154545 w 1168720"/>
              <a:gd name="connsiteY6" fmla="*/ 363068 h 4270050"/>
              <a:gd name="connsiteX7" fmla="*/ 618836 w 1168720"/>
              <a:gd name="connsiteY7" fmla="*/ 2850 h 4270050"/>
              <a:gd name="connsiteX0" fmla="*/ 0 w 1168720"/>
              <a:gd name="connsiteY0" fmla="*/ 4270050 h 4270050"/>
              <a:gd name="connsiteX1" fmla="*/ 203200 w 1168720"/>
              <a:gd name="connsiteY1" fmla="*/ 3623504 h 4270050"/>
              <a:gd name="connsiteX2" fmla="*/ 480291 w 1168720"/>
              <a:gd name="connsiteY2" fmla="*/ 3161686 h 4270050"/>
              <a:gd name="connsiteX3" fmla="*/ 655782 w 1168720"/>
              <a:gd name="connsiteY3" fmla="*/ 3023141 h 4270050"/>
              <a:gd name="connsiteX4" fmla="*/ 948494 w 1168720"/>
              <a:gd name="connsiteY4" fmla="*/ 2793098 h 4270050"/>
              <a:gd name="connsiteX5" fmla="*/ 1154545 w 1168720"/>
              <a:gd name="connsiteY5" fmla="*/ 2274995 h 4270050"/>
              <a:gd name="connsiteX6" fmla="*/ 1154545 w 1168720"/>
              <a:gd name="connsiteY6" fmla="*/ 363068 h 4270050"/>
              <a:gd name="connsiteX7" fmla="*/ 618836 w 1168720"/>
              <a:gd name="connsiteY7" fmla="*/ 2850 h 4270050"/>
              <a:gd name="connsiteX0" fmla="*/ 0 w 1185178"/>
              <a:gd name="connsiteY0" fmla="*/ 4270050 h 4270050"/>
              <a:gd name="connsiteX1" fmla="*/ 203200 w 1185178"/>
              <a:gd name="connsiteY1" fmla="*/ 3623504 h 4270050"/>
              <a:gd name="connsiteX2" fmla="*/ 480291 w 1185178"/>
              <a:gd name="connsiteY2" fmla="*/ 3161686 h 4270050"/>
              <a:gd name="connsiteX3" fmla="*/ 655782 w 1185178"/>
              <a:gd name="connsiteY3" fmla="*/ 3023141 h 4270050"/>
              <a:gd name="connsiteX4" fmla="*/ 948494 w 1185178"/>
              <a:gd name="connsiteY4" fmla="*/ 2793098 h 4270050"/>
              <a:gd name="connsiteX5" fmla="*/ 1174432 w 1185178"/>
              <a:gd name="connsiteY5" fmla="*/ 2394058 h 4270050"/>
              <a:gd name="connsiteX6" fmla="*/ 1154545 w 1185178"/>
              <a:gd name="connsiteY6" fmla="*/ 363068 h 4270050"/>
              <a:gd name="connsiteX7" fmla="*/ 618836 w 1185178"/>
              <a:gd name="connsiteY7" fmla="*/ 2850 h 4270050"/>
              <a:gd name="connsiteX0" fmla="*/ 0 w 1172644"/>
              <a:gd name="connsiteY0" fmla="*/ 4270050 h 4270050"/>
              <a:gd name="connsiteX1" fmla="*/ 203200 w 1172644"/>
              <a:gd name="connsiteY1" fmla="*/ 3623504 h 4270050"/>
              <a:gd name="connsiteX2" fmla="*/ 480291 w 1172644"/>
              <a:gd name="connsiteY2" fmla="*/ 3161686 h 4270050"/>
              <a:gd name="connsiteX3" fmla="*/ 655782 w 1172644"/>
              <a:gd name="connsiteY3" fmla="*/ 3023141 h 4270050"/>
              <a:gd name="connsiteX4" fmla="*/ 948494 w 1172644"/>
              <a:gd name="connsiteY4" fmla="*/ 2793098 h 4270050"/>
              <a:gd name="connsiteX5" fmla="*/ 1159517 w 1172644"/>
              <a:gd name="connsiteY5" fmla="*/ 2394058 h 4270050"/>
              <a:gd name="connsiteX6" fmla="*/ 1154545 w 1172644"/>
              <a:gd name="connsiteY6" fmla="*/ 363068 h 4270050"/>
              <a:gd name="connsiteX7" fmla="*/ 618836 w 1172644"/>
              <a:gd name="connsiteY7" fmla="*/ 2850 h 4270050"/>
              <a:gd name="connsiteX0" fmla="*/ 0 w 1161422"/>
              <a:gd name="connsiteY0" fmla="*/ 4270050 h 4270050"/>
              <a:gd name="connsiteX1" fmla="*/ 203200 w 1161422"/>
              <a:gd name="connsiteY1" fmla="*/ 3623504 h 4270050"/>
              <a:gd name="connsiteX2" fmla="*/ 480291 w 1161422"/>
              <a:gd name="connsiteY2" fmla="*/ 3161686 h 4270050"/>
              <a:gd name="connsiteX3" fmla="*/ 655782 w 1161422"/>
              <a:gd name="connsiteY3" fmla="*/ 3023141 h 4270050"/>
              <a:gd name="connsiteX4" fmla="*/ 948494 w 1161422"/>
              <a:gd name="connsiteY4" fmla="*/ 2793098 h 4270050"/>
              <a:gd name="connsiteX5" fmla="*/ 1159517 w 1161422"/>
              <a:gd name="connsiteY5" fmla="*/ 2394058 h 4270050"/>
              <a:gd name="connsiteX6" fmla="*/ 1154545 w 1161422"/>
              <a:gd name="connsiteY6" fmla="*/ 363068 h 4270050"/>
              <a:gd name="connsiteX7" fmla="*/ 618836 w 1161422"/>
              <a:gd name="connsiteY7" fmla="*/ 2850 h 4270050"/>
              <a:gd name="connsiteX0" fmla="*/ 0 w 1160075"/>
              <a:gd name="connsiteY0" fmla="*/ 4270050 h 4270050"/>
              <a:gd name="connsiteX1" fmla="*/ 203200 w 1160075"/>
              <a:gd name="connsiteY1" fmla="*/ 3623504 h 4270050"/>
              <a:gd name="connsiteX2" fmla="*/ 480291 w 1160075"/>
              <a:gd name="connsiteY2" fmla="*/ 3161686 h 4270050"/>
              <a:gd name="connsiteX3" fmla="*/ 655782 w 1160075"/>
              <a:gd name="connsiteY3" fmla="*/ 3023141 h 4270050"/>
              <a:gd name="connsiteX4" fmla="*/ 948494 w 1160075"/>
              <a:gd name="connsiteY4" fmla="*/ 2793098 h 4270050"/>
              <a:gd name="connsiteX5" fmla="*/ 1159517 w 1160075"/>
              <a:gd name="connsiteY5" fmla="*/ 2394058 h 4270050"/>
              <a:gd name="connsiteX6" fmla="*/ 1154545 w 1160075"/>
              <a:gd name="connsiteY6" fmla="*/ 363068 h 4270050"/>
              <a:gd name="connsiteX7" fmla="*/ 618836 w 1160075"/>
              <a:gd name="connsiteY7" fmla="*/ 2850 h 4270050"/>
              <a:gd name="connsiteX0" fmla="*/ 0 w 1160391"/>
              <a:gd name="connsiteY0" fmla="*/ 4270050 h 4270050"/>
              <a:gd name="connsiteX1" fmla="*/ 203200 w 1160391"/>
              <a:gd name="connsiteY1" fmla="*/ 3623504 h 4270050"/>
              <a:gd name="connsiteX2" fmla="*/ 480291 w 1160391"/>
              <a:gd name="connsiteY2" fmla="*/ 3161686 h 4270050"/>
              <a:gd name="connsiteX3" fmla="*/ 655782 w 1160391"/>
              <a:gd name="connsiteY3" fmla="*/ 3023141 h 4270050"/>
              <a:gd name="connsiteX4" fmla="*/ 948494 w 1160391"/>
              <a:gd name="connsiteY4" fmla="*/ 2793098 h 4270050"/>
              <a:gd name="connsiteX5" fmla="*/ 1159517 w 1160391"/>
              <a:gd name="connsiteY5" fmla="*/ 2394058 h 4270050"/>
              <a:gd name="connsiteX6" fmla="*/ 1154545 w 1160391"/>
              <a:gd name="connsiteY6" fmla="*/ 363068 h 4270050"/>
              <a:gd name="connsiteX7" fmla="*/ 618836 w 1160391"/>
              <a:gd name="connsiteY7" fmla="*/ 2850 h 4270050"/>
              <a:gd name="connsiteX0" fmla="*/ 0 w 1160391"/>
              <a:gd name="connsiteY0" fmla="*/ 4270050 h 4270050"/>
              <a:gd name="connsiteX1" fmla="*/ 203200 w 1160391"/>
              <a:gd name="connsiteY1" fmla="*/ 3623504 h 4270050"/>
              <a:gd name="connsiteX2" fmla="*/ 480291 w 1160391"/>
              <a:gd name="connsiteY2" fmla="*/ 3161686 h 4270050"/>
              <a:gd name="connsiteX3" fmla="*/ 655782 w 1160391"/>
              <a:gd name="connsiteY3" fmla="*/ 3023141 h 4270050"/>
              <a:gd name="connsiteX4" fmla="*/ 948494 w 1160391"/>
              <a:gd name="connsiteY4" fmla="*/ 2793098 h 4270050"/>
              <a:gd name="connsiteX5" fmla="*/ 1159517 w 1160391"/>
              <a:gd name="connsiteY5" fmla="*/ 2394058 h 4270050"/>
              <a:gd name="connsiteX6" fmla="*/ 1154545 w 1160391"/>
              <a:gd name="connsiteY6" fmla="*/ 363068 h 4270050"/>
              <a:gd name="connsiteX7" fmla="*/ 618836 w 1160391"/>
              <a:gd name="connsiteY7" fmla="*/ 2850 h 4270050"/>
              <a:gd name="connsiteX0" fmla="*/ 0 w 1160391"/>
              <a:gd name="connsiteY0" fmla="*/ 4270050 h 4270050"/>
              <a:gd name="connsiteX1" fmla="*/ 203200 w 1160391"/>
              <a:gd name="connsiteY1" fmla="*/ 3623504 h 4270050"/>
              <a:gd name="connsiteX2" fmla="*/ 480291 w 1160391"/>
              <a:gd name="connsiteY2" fmla="*/ 3161686 h 4270050"/>
              <a:gd name="connsiteX3" fmla="*/ 655782 w 1160391"/>
              <a:gd name="connsiteY3" fmla="*/ 3023141 h 4270050"/>
              <a:gd name="connsiteX4" fmla="*/ 948494 w 1160391"/>
              <a:gd name="connsiteY4" fmla="*/ 2793098 h 4270050"/>
              <a:gd name="connsiteX5" fmla="*/ 1159517 w 1160391"/>
              <a:gd name="connsiteY5" fmla="*/ 2394058 h 4270050"/>
              <a:gd name="connsiteX6" fmla="*/ 1154545 w 1160391"/>
              <a:gd name="connsiteY6" fmla="*/ 363068 h 4270050"/>
              <a:gd name="connsiteX7" fmla="*/ 618836 w 1160391"/>
              <a:gd name="connsiteY7" fmla="*/ 2850 h 4270050"/>
              <a:gd name="connsiteX0" fmla="*/ 0 w 1160391"/>
              <a:gd name="connsiteY0" fmla="*/ 4270050 h 4270050"/>
              <a:gd name="connsiteX1" fmla="*/ 203200 w 1160391"/>
              <a:gd name="connsiteY1" fmla="*/ 3623504 h 4270050"/>
              <a:gd name="connsiteX2" fmla="*/ 435546 w 1160391"/>
              <a:gd name="connsiteY2" fmla="*/ 3261698 h 4270050"/>
              <a:gd name="connsiteX3" fmla="*/ 655782 w 1160391"/>
              <a:gd name="connsiteY3" fmla="*/ 3023141 h 4270050"/>
              <a:gd name="connsiteX4" fmla="*/ 948494 w 1160391"/>
              <a:gd name="connsiteY4" fmla="*/ 2793098 h 4270050"/>
              <a:gd name="connsiteX5" fmla="*/ 1159517 w 1160391"/>
              <a:gd name="connsiteY5" fmla="*/ 2394058 h 4270050"/>
              <a:gd name="connsiteX6" fmla="*/ 1154545 w 1160391"/>
              <a:gd name="connsiteY6" fmla="*/ 363068 h 4270050"/>
              <a:gd name="connsiteX7" fmla="*/ 618836 w 1160391"/>
              <a:gd name="connsiteY7" fmla="*/ 2850 h 4270050"/>
              <a:gd name="connsiteX0" fmla="*/ 0 w 1160391"/>
              <a:gd name="connsiteY0" fmla="*/ 4270050 h 4270050"/>
              <a:gd name="connsiteX1" fmla="*/ 203200 w 1160391"/>
              <a:gd name="connsiteY1" fmla="*/ 3623504 h 4270050"/>
              <a:gd name="connsiteX2" fmla="*/ 362627 w 1160391"/>
              <a:gd name="connsiteY2" fmla="*/ 3287665 h 4270050"/>
              <a:gd name="connsiteX3" fmla="*/ 655782 w 1160391"/>
              <a:gd name="connsiteY3" fmla="*/ 3023141 h 4270050"/>
              <a:gd name="connsiteX4" fmla="*/ 948494 w 1160391"/>
              <a:gd name="connsiteY4" fmla="*/ 2793098 h 4270050"/>
              <a:gd name="connsiteX5" fmla="*/ 1159517 w 1160391"/>
              <a:gd name="connsiteY5" fmla="*/ 2394058 h 4270050"/>
              <a:gd name="connsiteX6" fmla="*/ 1154545 w 1160391"/>
              <a:gd name="connsiteY6" fmla="*/ 363068 h 4270050"/>
              <a:gd name="connsiteX7" fmla="*/ 618836 w 1160391"/>
              <a:gd name="connsiteY7" fmla="*/ 2850 h 4270050"/>
              <a:gd name="connsiteX0" fmla="*/ 0 w 1160391"/>
              <a:gd name="connsiteY0" fmla="*/ 4270050 h 4270050"/>
              <a:gd name="connsiteX1" fmla="*/ 203200 w 1160391"/>
              <a:gd name="connsiteY1" fmla="*/ 3623504 h 4270050"/>
              <a:gd name="connsiteX2" fmla="*/ 355998 w 1160391"/>
              <a:gd name="connsiteY2" fmla="*/ 3326615 h 4270050"/>
              <a:gd name="connsiteX3" fmla="*/ 655782 w 1160391"/>
              <a:gd name="connsiteY3" fmla="*/ 3023141 h 4270050"/>
              <a:gd name="connsiteX4" fmla="*/ 948494 w 1160391"/>
              <a:gd name="connsiteY4" fmla="*/ 2793098 h 4270050"/>
              <a:gd name="connsiteX5" fmla="*/ 1159517 w 1160391"/>
              <a:gd name="connsiteY5" fmla="*/ 2394058 h 4270050"/>
              <a:gd name="connsiteX6" fmla="*/ 1154545 w 1160391"/>
              <a:gd name="connsiteY6" fmla="*/ 363068 h 4270050"/>
              <a:gd name="connsiteX7" fmla="*/ 618836 w 1160391"/>
              <a:gd name="connsiteY7" fmla="*/ 2850 h 4270050"/>
              <a:gd name="connsiteX0" fmla="*/ 0 w 1160391"/>
              <a:gd name="connsiteY0" fmla="*/ 4270050 h 4270050"/>
              <a:gd name="connsiteX1" fmla="*/ 203200 w 1160391"/>
              <a:gd name="connsiteY1" fmla="*/ 3623504 h 4270050"/>
              <a:gd name="connsiteX2" fmla="*/ 362627 w 1160391"/>
              <a:gd name="connsiteY2" fmla="*/ 3316877 h 4270050"/>
              <a:gd name="connsiteX3" fmla="*/ 655782 w 1160391"/>
              <a:gd name="connsiteY3" fmla="*/ 3023141 h 4270050"/>
              <a:gd name="connsiteX4" fmla="*/ 948494 w 1160391"/>
              <a:gd name="connsiteY4" fmla="*/ 2793098 h 4270050"/>
              <a:gd name="connsiteX5" fmla="*/ 1159517 w 1160391"/>
              <a:gd name="connsiteY5" fmla="*/ 2394058 h 4270050"/>
              <a:gd name="connsiteX6" fmla="*/ 1154545 w 1160391"/>
              <a:gd name="connsiteY6" fmla="*/ 363068 h 4270050"/>
              <a:gd name="connsiteX7" fmla="*/ 618836 w 1160391"/>
              <a:gd name="connsiteY7" fmla="*/ 2850 h 4270050"/>
              <a:gd name="connsiteX0" fmla="*/ 0 w 1160391"/>
              <a:gd name="connsiteY0" fmla="*/ 4337929 h 4337929"/>
              <a:gd name="connsiteX1" fmla="*/ 203200 w 1160391"/>
              <a:gd name="connsiteY1" fmla="*/ 3691383 h 4337929"/>
              <a:gd name="connsiteX2" fmla="*/ 362627 w 1160391"/>
              <a:gd name="connsiteY2" fmla="*/ 3384756 h 4337929"/>
              <a:gd name="connsiteX3" fmla="*/ 655782 w 1160391"/>
              <a:gd name="connsiteY3" fmla="*/ 3091020 h 4337929"/>
              <a:gd name="connsiteX4" fmla="*/ 948494 w 1160391"/>
              <a:gd name="connsiteY4" fmla="*/ 2860977 h 4337929"/>
              <a:gd name="connsiteX5" fmla="*/ 1159517 w 1160391"/>
              <a:gd name="connsiteY5" fmla="*/ 2461937 h 4337929"/>
              <a:gd name="connsiteX6" fmla="*/ 1154545 w 1160391"/>
              <a:gd name="connsiteY6" fmla="*/ 430947 h 4337929"/>
              <a:gd name="connsiteX7" fmla="*/ 111969 w 1160391"/>
              <a:gd name="connsiteY7" fmla="*/ 854 h 4337929"/>
              <a:gd name="connsiteX0" fmla="*/ 0 w 1160391"/>
              <a:gd name="connsiteY0" fmla="*/ 4350913 h 4350913"/>
              <a:gd name="connsiteX1" fmla="*/ 203200 w 1160391"/>
              <a:gd name="connsiteY1" fmla="*/ 3704367 h 4350913"/>
              <a:gd name="connsiteX2" fmla="*/ 362627 w 1160391"/>
              <a:gd name="connsiteY2" fmla="*/ 3397740 h 4350913"/>
              <a:gd name="connsiteX3" fmla="*/ 655782 w 1160391"/>
              <a:gd name="connsiteY3" fmla="*/ 3104004 h 4350913"/>
              <a:gd name="connsiteX4" fmla="*/ 948494 w 1160391"/>
              <a:gd name="connsiteY4" fmla="*/ 2873961 h 4350913"/>
              <a:gd name="connsiteX5" fmla="*/ 1159517 w 1160391"/>
              <a:gd name="connsiteY5" fmla="*/ 2474921 h 4350913"/>
              <a:gd name="connsiteX6" fmla="*/ 1154545 w 1160391"/>
              <a:gd name="connsiteY6" fmla="*/ 443931 h 4350913"/>
              <a:gd name="connsiteX7" fmla="*/ 50323 w 1160391"/>
              <a:gd name="connsiteY7" fmla="*/ 736 h 4350913"/>
              <a:gd name="connsiteX0" fmla="*/ 300374 w 1110068"/>
              <a:gd name="connsiteY0" fmla="*/ 4342866 h 4342866"/>
              <a:gd name="connsiteX1" fmla="*/ 152877 w 1110068"/>
              <a:gd name="connsiteY1" fmla="*/ 3704367 h 4342866"/>
              <a:gd name="connsiteX2" fmla="*/ 312304 w 1110068"/>
              <a:gd name="connsiteY2" fmla="*/ 3397740 h 4342866"/>
              <a:gd name="connsiteX3" fmla="*/ 605459 w 1110068"/>
              <a:gd name="connsiteY3" fmla="*/ 3104004 h 4342866"/>
              <a:gd name="connsiteX4" fmla="*/ 898171 w 1110068"/>
              <a:gd name="connsiteY4" fmla="*/ 2873961 h 4342866"/>
              <a:gd name="connsiteX5" fmla="*/ 1109194 w 1110068"/>
              <a:gd name="connsiteY5" fmla="*/ 2474921 h 4342866"/>
              <a:gd name="connsiteX6" fmla="*/ 1104222 w 1110068"/>
              <a:gd name="connsiteY6" fmla="*/ 443931 h 4342866"/>
              <a:gd name="connsiteX7" fmla="*/ 0 w 1110068"/>
              <a:gd name="connsiteY7" fmla="*/ 736 h 4342866"/>
              <a:gd name="connsiteX0" fmla="*/ 300374 w 1110068"/>
              <a:gd name="connsiteY0" fmla="*/ 4342866 h 4342866"/>
              <a:gd name="connsiteX1" fmla="*/ 152877 w 1110068"/>
              <a:gd name="connsiteY1" fmla="*/ 3704367 h 4342866"/>
              <a:gd name="connsiteX2" fmla="*/ 637953 w 1110068"/>
              <a:gd name="connsiteY2" fmla="*/ 3421881 h 4342866"/>
              <a:gd name="connsiteX3" fmla="*/ 605459 w 1110068"/>
              <a:gd name="connsiteY3" fmla="*/ 3104004 h 4342866"/>
              <a:gd name="connsiteX4" fmla="*/ 898171 w 1110068"/>
              <a:gd name="connsiteY4" fmla="*/ 2873961 h 4342866"/>
              <a:gd name="connsiteX5" fmla="*/ 1109194 w 1110068"/>
              <a:gd name="connsiteY5" fmla="*/ 2474921 h 4342866"/>
              <a:gd name="connsiteX6" fmla="*/ 1104222 w 1110068"/>
              <a:gd name="connsiteY6" fmla="*/ 443931 h 4342866"/>
              <a:gd name="connsiteX7" fmla="*/ 0 w 1110068"/>
              <a:gd name="connsiteY7" fmla="*/ 736 h 4342866"/>
              <a:gd name="connsiteX0" fmla="*/ 300374 w 1110068"/>
              <a:gd name="connsiteY0" fmla="*/ 4342866 h 4342866"/>
              <a:gd name="connsiteX1" fmla="*/ 372063 w 1110068"/>
              <a:gd name="connsiteY1" fmla="*/ 3716102 h 4342866"/>
              <a:gd name="connsiteX2" fmla="*/ 637953 w 1110068"/>
              <a:gd name="connsiteY2" fmla="*/ 3421881 h 4342866"/>
              <a:gd name="connsiteX3" fmla="*/ 605459 w 1110068"/>
              <a:gd name="connsiteY3" fmla="*/ 3104004 h 4342866"/>
              <a:gd name="connsiteX4" fmla="*/ 898171 w 1110068"/>
              <a:gd name="connsiteY4" fmla="*/ 2873961 h 4342866"/>
              <a:gd name="connsiteX5" fmla="*/ 1109194 w 1110068"/>
              <a:gd name="connsiteY5" fmla="*/ 2474921 h 4342866"/>
              <a:gd name="connsiteX6" fmla="*/ 1104222 w 1110068"/>
              <a:gd name="connsiteY6" fmla="*/ 443931 h 4342866"/>
              <a:gd name="connsiteX7" fmla="*/ 0 w 1110068"/>
              <a:gd name="connsiteY7" fmla="*/ 736 h 4342866"/>
              <a:gd name="connsiteX0" fmla="*/ 300374 w 1110068"/>
              <a:gd name="connsiteY0" fmla="*/ 4342866 h 4342866"/>
              <a:gd name="connsiteX1" fmla="*/ 372063 w 1110068"/>
              <a:gd name="connsiteY1" fmla="*/ 3716102 h 4342866"/>
              <a:gd name="connsiteX2" fmla="*/ 637953 w 1110068"/>
              <a:gd name="connsiteY2" fmla="*/ 3421881 h 4342866"/>
              <a:gd name="connsiteX3" fmla="*/ 934236 w 1110068"/>
              <a:gd name="connsiteY3" fmla="*/ 3180283 h 4342866"/>
              <a:gd name="connsiteX4" fmla="*/ 898171 w 1110068"/>
              <a:gd name="connsiteY4" fmla="*/ 2873961 h 4342866"/>
              <a:gd name="connsiteX5" fmla="*/ 1109194 w 1110068"/>
              <a:gd name="connsiteY5" fmla="*/ 2474921 h 4342866"/>
              <a:gd name="connsiteX6" fmla="*/ 1104222 w 1110068"/>
              <a:gd name="connsiteY6" fmla="*/ 443931 h 4342866"/>
              <a:gd name="connsiteX7" fmla="*/ 0 w 1110068"/>
              <a:gd name="connsiteY7" fmla="*/ 736 h 4342866"/>
              <a:gd name="connsiteX0" fmla="*/ 300374 w 1161312"/>
              <a:gd name="connsiteY0" fmla="*/ 4342866 h 4342866"/>
              <a:gd name="connsiteX1" fmla="*/ 372063 w 1161312"/>
              <a:gd name="connsiteY1" fmla="*/ 3716102 h 4342866"/>
              <a:gd name="connsiteX2" fmla="*/ 637953 w 1161312"/>
              <a:gd name="connsiteY2" fmla="*/ 3421881 h 4342866"/>
              <a:gd name="connsiteX3" fmla="*/ 934236 w 1161312"/>
              <a:gd name="connsiteY3" fmla="*/ 3180283 h 4342866"/>
              <a:gd name="connsiteX4" fmla="*/ 1153888 w 1161312"/>
              <a:gd name="connsiteY4" fmla="*/ 2885697 h 4342866"/>
              <a:gd name="connsiteX5" fmla="*/ 1109194 w 1161312"/>
              <a:gd name="connsiteY5" fmla="*/ 2474921 h 4342866"/>
              <a:gd name="connsiteX6" fmla="*/ 1104222 w 1161312"/>
              <a:gd name="connsiteY6" fmla="*/ 443931 h 4342866"/>
              <a:gd name="connsiteX7" fmla="*/ 0 w 1161312"/>
              <a:gd name="connsiteY7" fmla="*/ 736 h 4342866"/>
              <a:gd name="connsiteX0" fmla="*/ 300374 w 1109887"/>
              <a:gd name="connsiteY0" fmla="*/ 4342866 h 4342866"/>
              <a:gd name="connsiteX1" fmla="*/ 372063 w 1109887"/>
              <a:gd name="connsiteY1" fmla="*/ 3716102 h 4342866"/>
              <a:gd name="connsiteX2" fmla="*/ 637953 w 1109887"/>
              <a:gd name="connsiteY2" fmla="*/ 3421881 h 4342866"/>
              <a:gd name="connsiteX3" fmla="*/ 934236 w 1109887"/>
              <a:gd name="connsiteY3" fmla="*/ 3180283 h 4342866"/>
              <a:gd name="connsiteX4" fmla="*/ 1080826 w 1109887"/>
              <a:gd name="connsiteY4" fmla="*/ 2885697 h 4342866"/>
              <a:gd name="connsiteX5" fmla="*/ 1109194 w 1109887"/>
              <a:gd name="connsiteY5" fmla="*/ 2474921 h 4342866"/>
              <a:gd name="connsiteX6" fmla="*/ 1104222 w 1109887"/>
              <a:gd name="connsiteY6" fmla="*/ 443931 h 4342866"/>
              <a:gd name="connsiteX7" fmla="*/ 0 w 1109887"/>
              <a:gd name="connsiteY7" fmla="*/ 736 h 4342866"/>
              <a:gd name="connsiteX0" fmla="*/ 519559 w 1109887"/>
              <a:gd name="connsiteY0" fmla="*/ 3961474 h 3961474"/>
              <a:gd name="connsiteX1" fmla="*/ 372063 w 1109887"/>
              <a:gd name="connsiteY1" fmla="*/ 3716102 h 3961474"/>
              <a:gd name="connsiteX2" fmla="*/ 637953 w 1109887"/>
              <a:gd name="connsiteY2" fmla="*/ 3421881 h 3961474"/>
              <a:gd name="connsiteX3" fmla="*/ 934236 w 1109887"/>
              <a:gd name="connsiteY3" fmla="*/ 3180283 h 3961474"/>
              <a:gd name="connsiteX4" fmla="*/ 1080826 w 1109887"/>
              <a:gd name="connsiteY4" fmla="*/ 2885697 h 3961474"/>
              <a:gd name="connsiteX5" fmla="*/ 1109194 w 1109887"/>
              <a:gd name="connsiteY5" fmla="*/ 2474921 h 3961474"/>
              <a:gd name="connsiteX6" fmla="*/ 1104222 w 1109887"/>
              <a:gd name="connsiteY6" fmla="*/ 443931 h 3961474"/>
              <a:gd name="connsiteX7" fmla="*/ 0 w 1109887"/>
              <a:gd name="connsiteY7" fmla="*/ 736 h 3961474"/>
              <a:gd name="connsiteX0" fmla="*/ 336904 w 1109887"/>
              <a:gd name="connsiteY0" fmla="*/ 3902798 h 3902798"/>
              <a:gd name="connsiteX1" fmla="*/ 372063 w 1109887"/>
              <a:gd name="connsiteY1" fmla="*/ 3716102 h 3902798"/>
              <a:gd name="connsiteX2" fmla="*/ 637953 w 1109887"/>
              <a:gd name="connsiteY2" fmla="*/ 3421881 h 3902798"/>
              <a:gd name="connsiteX3" fmla="*/ 934236 w 1109887"/>
              <a:gd name="connsiteY3" fmla="*/ 3180283 h 3902798"/>
              <a:gd name="connsiteX4" fmla="*/ 1080826 w 1109887"/>
              <a:gd name="connsiteY4" fmla="*/ 2885697 h 3902798"/>
              <a:gd name="connsiteX5" fmla="*/ 1109194 w 1109887"/>
              <a:gd name="connsiteY5" fmla="*/ 2474921 h 3902798"/>
              <a:gd name="connsiteX6" fmla="*/ 1104222 w 1109887"/>
              <a:gd name="connsiteY6" fmla="*/ 443931 h 3902798"/>
              <a:gd name="connsiteX7" fmla="*/ 0 w 1109887"/>
              <a:gd name="connsiteY7" fmla="*/ 736 h 3902798"/>
              <a:gd name="connsiteX0" fmla="*/ 336904 w 1109887"/>
              <a:gd name="connsiteY0" fmla="*/ 3902798 h 3902798"/>
              <a:gd name="connsiteX1" fmla="*/ 828700 w 1109887"/>
              <a:gd name="connsiteY1" fmla="*/ 3721970 h 3902798"/>
              <a:gd name="connsiteX2" fmla="*/ 637953 w 1109887"/>
              <a:gd name="connsiteY2" fmla="*/ 3421881 h 3902798"/>
              <a:gd name="connsiteX3" fmla="*/ 934236 w 1109887"/>
              <a:gd name="connsiteY3" fmla="*/ 3180283 h 3902798"/>
              <a:gd name="connsiteX4" fmla="*/ 1080826 w 1109887"/>
              <a:gd name="connsiteY4" fmla="*/ 2885697 h 3902798"/>
              <a:gd name="connsiteX5" fmla="*/ 1109194 w 1109887"/>
              <a:gd name="connsiteY5" fmla="*/ 2474921 h 3902798"/>
              <a:gd name="connsiteX6" fmla="*/ 1104222 w 1109887"/>
              <a:gd name="connsiteY6" fmla="*/ 443931 h 3902798"/>
              <a:gd name="connsiteX7" fmla="*/ 0 w 1109887"/>
              <a:gd name="connsiteY7" fmla="*/ 736 h 3902798"/>
              <a:gd name="connsiteX0" fmla="*/ 336904 w 1109887"/>
              <a:gd name="connsiteY0" fmla="*/ 3902798 h 3902798"/>
              <a:gd name="connsiteX1" fmla="*/ 828700 w 1109887"/>
              <a:gd name="connsiteY1" fmla="*/ 3721970 h 3902798"/>
              <a:gd name="connsiteX2" fmla="*/ 1058059 w 1109887"/>
              <a:gd name="connsiteY2" fmla="*/ 3416014 h 3902798"/>
              <a:gd name="connsiteX3" fmla="*/ 934236 w 1109887"/>
              <a:gd name="connsiteY3" fmla="*/ 3180283 h 3902798"/>
              <a:gd name="connsiteX4" fmla="*/ 1080826 w 1109887"/>
              <a:gd name="connsiteY4" fmla="*/ 2885697 h 3902798"/>
              <a:gd name="connsiteX5" fmla="*/ 1109194 w 1109887"/>
              <a:gd name="connsiteY5" fmla="*/ 2474921 h 3902798"/>
              <a:gd name="connsiteX6" fmla="*/ 1104222 w 1109887"/>
              <a:gd name="connsiteY6" fmla="*/ 443931 h 3902798"/>
              <a:gd name="connsiteX7" fmla="*/ 0 w 1109887"/>
              <a:gd name="connsiteY7" fmla="*/ 736 h 3902798"/>
              <a:gd name="connsiteX0" fmla="*/ 336904 w 1135349"/>
              <a:gd name="connsiteY0" fmla="*/ 3902798 h 3902798"/>
              <a:gd name="connsiteX1" fmla="*/ 828700 w 1135349"/>
              <a:gd name="connsiteY1" fmla="*/ 3721970 h 3902798"/>
              <a:gd name="connsiteX2" fmla="*/ 1058059 w 1135349"/>
              <a:gd name="connsiteY2" fmla="*/ 3416014 h 3902798"/>
              <a:gd name="connsiteX3" fmla="*/ 1135157 w 1135349"/>
              <a:gd name="connsiteY3" fmla="*/ 3203753 h 3902798"/>
              <a:gd name="connsiteX4" fmla="*/ 1080826 w 1135349"/>
              <a:gd name="connsiteY4" fmla="*/ 2885697 h 3902798"/>
              <a:gd name="connsiteX5" fmla="*/ 1109194 w 1135349"/>
              <a:gd name="connsiteY5" fmla="*/ 2474921 h 3902798"/>
              <a:gd name="connsiteX6" fmla="*/ 1104222 w 1135349"/>
              <a:gd name="connsiteY6" fmla="*/ 443931 h 3902798"/>
              <a:gd name="connsiteX7" fmla="*/ 0 w 1135349"/>
              <a:gd name="connsiteY7" fmla="*/ 736 h 3902798"/>
              <a:gd name="connsiteX0" fmla="*/ 336904 w 1145304"/>
              <a:gd name="connsiteY0" fmla="*/ 3902798 h 3902798"/>
              <a:gd name="connsiteX1" fmla="*/ 1058059 w 1145304"/>
              <a:gd name="connsiteY1" fmla="*/ 3416014 h 3902798"/>
              <a:gd name="connsiteX2" fmla="*/ 1135157 w 1145304"/>
              <a:gd name="connsiteY2" fmla="*/ 3203753 h 3902798"/>
              <a:gd name="connsiteX3" fmla="*/ 1080826 w 1145304"/>
              <a:gd name="connsiteY3" fmla="*/ 2885697 h 3902798"/>
              <a:gd name="connsiteX4" fmla="*/ 1109194 w 1145304"/>
              <a:gd name="connsiteY4" fmla="*/ 2474921 h 3902798"/>
              <a:gd name="connsiteX5" fmla="*/ 1104222 w 1145304"/>
              <a:gd name="connsiteY5" fmla="*/ 443931 h 3902798"/>
              <a:gd name="connsiteX6" fmla="*/ 0 w 1145304"/>
              <a:gd name="connsiteY6" fmla="*/ 736 h 3902798"/>
              <a:gd name="connsiteX0" fmla="*/ 336904 w 1145304"/>
              <a:gd name="connsiteY0" fmla="*/ 3902798 h 3902798"/>
              <a:gd name="connsiteX1" fmla="*/ 1058058 w 1145304"/>
              <a:gd name="connsiteY1" fmla="*/ 3550968 h 3902798"/>
              <a:gd name="connsiteX2" fmla="*/ 1135157 w 1145304"/>
              <a:gd name="connsiteY2" fmla="*/ 3203753 h 3902798"/>
              <a:gd name="connsiteX3" fmla="*/ 1080826 w 1145304"/>
              <a:gd name="connsiteY3" fmla="*/ 2885697 h 3902798"/>
              <a:gd name="connsiteX4" fmla="*/ 1109194 w 1145304"/>
              <a:gd name="connsiteY4" fmla="*/ 2474921 h 3902798"/>
              <a:gd name="connsiteX5" fmla="*/ 1104222 w 1145304"/>
              <a:gd name="connsiteY5" fmla="*/ 443931 h 3902798"/>
              <a:gd name="connsiteX6" fmla="*/ 0 w 1145304"/>
              <a:gd name="connsiteY6" fmla="*/ 736 h 3902798"/>
              <a:gd name="connsiteX0" fmla="*/ 811806 w 1135349"/>
              <a:gd name="connsiteY0" fmla="*/ 3867593 h 3867593"/>
              <a:gd name="connsiteX1" fmla="*/ 1058058 w 1135349"/>
              <a:gd name="connsiteY1" fmla="*/ 3550968 h 3867593"/>
              <a:gd name="connsiteX2" fmla="*/ 1135157 w 1135349"/>
              <a:gd name="connsiteY2" fmla="*/ 3203753 h 3867593"/>
              <a:gd name="connsiteX3" fmla="*/ 1080826 w 1135349"/>
              <a:gd name="connsiteY3" fmla="*/ 2885697 h 3867593"/>
              <a:gd name="connsiteX4" fmla="*/ 1109194 w 1135349"/>
              <a:gd name="connsiteY4" fmla="*/ 2474921 h 3867593"/>
              <a:gd name="connsiteX5" fmla="*/ 1104222 w 1135349"/>
              <a:gd name="connsiteY5" fmla="*/ 443931 h 3867593"/>
              <a:gd name="connsiteX6" fmla="*/ 0 w 1135349"/>
              <a:gd name="connsiteY6" fmla="*/ 736 h 3867593"/>
              <a:gd name="connsiteX0" fmla="*/ 665682 w 1135349"/>
              <a:gd name="connsiteY0" fmla="*/ 3849990 h 3849990"/>
              <a:gd name="connsiteX1" fmla="*/ 1058058 w 1135349"/>
              <a:gd name="connsiteY1" fmla="*/ 3550968 h 3849990"/>
              <a:gd name="connsiteX2" fmla="*/ 1135157 w 1135349"/>
              <a:gd name="connsiteY2" fmla="*/ 3203753 h 3849990"/>
              <a:gd name="connsiteX3" fmla="*/ 1080826 w 1135349"/>
              <a:gd name="connsiteY3" fmla="*/ 2885697 h 3849990"/>
              <a:gd name="connsiteX4" fmla="*/ 1109194 w 1135349"/>
              <a:gd name="connsiteY4" fmla="*/ 2474921 h 3849990"/>
              <a:gd name="connsiteX5" fmla="*/ 1104222 w 1135349"/>
              <a:gd name="connsiteY5" fmla="*/ 443931 h 3849990"/>
              <a:gd name="connsiteX6" fmla="*/ 0 w 1135349"/>
              <a:gd name="connsiteY6" fmla="*/ 736 h 3849990"/>
              <a:gd name="connsiteX0" fmla="*/ 802673 w 1135349"/>
              <a:gd name="connsiteY0" fmla="*/ 3863192 h 3863192"/>
              <a:gd name="connsiteX1" fmla="*/ 1058058 w 1135349"/>
              <a:gd name="connsiteY1" fmla="*/ 3550968 h 3863192"/>
              <a:gd name="connsiteX2" fmla="*/ 1135157 w 1135349"/>
              <a:gd name="connsiteY2" fmla="*/ 3203753 h 3863192"/>
              <a:gd name="connsiteX3" fmla="*/ 1080826 w 1135349"/>
              <a:gd name="connsiteY3" fmla="*/ 2885697 h 3863192"/>
              <a:gd name="connsiteX4" fmla="*/ 1109194 w 1135349"/>
              <a:gd name="connsiteY4" fmla="*/ 2474921 h 3863192"/>
              <a:gd name="connsiteX5" fmla="*/ 1104222 w 1135349"/>
              <a:gd name="connsiteY5" fmla="*/ 443931 h 3863192"/>
              <a:gd name="connsiteX6" fmla="*/ 0 w 1135349"/>
              <a:gd name="connsiteY6" fmla="*/ 736 h 3863192"/>
              <a:gd name="connsiteX0" fmla="*/ 802673 w 1137227"/>
              <a:gd name="connsiteY0" fmla="*/ 3863192 h 3863192"/>
              <a:gd name="connsiteX1" fmla="*/ 1092306 w 1137227"/>
              <a:gd name="connsiteY1" fmla="*/ 3553168 h 3863192"/>
              <a:gd name="connsiteX2" fmla="*/ 1135157 w 1137227"/>
              <a:gd name="connsiteY2" fmla="*/ 3203753 h 3863192"/>
              <a:gd name="connsiteX3" fmla="*/ 1080826 w 1137227"/>
              <a:gd name="connsiteY3" fmla="*/ 2885697 h 3863192"/>
              <a:gd name="connsiteX4" fmla="*/ 1109194 w 1137227"/>
              <a:gd name="connsiteY4" fmla="*/ 2474921 h 3863192"/>
              <a:gd name="connsiteX5" fmla="*/ 1104222 w 1137227"/>
              <a:gd name="connsiteY5" fmla="*/ 443931 h 3863192"/>
              <a:gd name="connsiteX6" fmla="*/ 0 w 1137227"/>
              <a:gd name="connsiteY6" fmla="*/ 736 h 3863192"/>
              <a:gd name="connsiteX0" fmla="*/ 973911 w 1135297"/>
              <a:gd name="connsiteY0" fmla="*/ 3944604 h 3944604"/>
              <a:gd name="connsiteX1" fmla="*/ 1092306 w 1135297"/>
              <a:gd name="connsiteY1" fmla="*/ 3553168 h 3944604"/>
              <a:gd name="connsiteX2" fmla="*/ 1135157 w 1135297"/>
              <a:gd name="connsiteY2" fmla="*/ 3203753 h 3944604"/>
              <a:gd name="connsiteX3" fmla="*/ 1080826 w 1135297"/>
              <a:gd name="connsiteY3" fmla="*/ 2885697 h 3944604"/>
              <a:gd name="connsiteX4" fmla="*/ 1109194 w 1135297"/>
              <a:gd name="connsiteY4" fmla="*/ 2474921 h 3944604"/>
              <a:gd name="connsiteX5" fmla="*/ 1104222 w 1135297"/>
              <a:gd name="connsiteY5" fmla="*/ 443931 h 3944604"/>
              <a:gd name="connsiteX6" fmla="*/ 0 w 1135297"/>
              <a:gd name="connsiteY6" fmla="*/ 736 h 3944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5297" h="3944604">
                <a:moveTo>
                  <a:pt x="973911" y="3944604"/>
                </a:moveTo>
                <a:cubicBezTo>
                  <a:pt x="1124152" y="3843191"/>
                  <a:pt x="1065432" y="3676643"/>
                  <a:pt x="1092306" y="3553168"/>
                </a:cubicBezTo>
                <a:cubicBezTo>
                  <a:pt x="1119180" y="3429693"/>
                  <a:pt x="1137070" y="3314998"/>
                  <a:pt x="1135157" y="3203753"/>
                </a:cubicBezTo>
                <a:cubicBezTo>
                  <a:pt x="1133244" y="3092508"/>
                  <a:pt x="1085153" y="3007169"/>
                  <a:pt x="1080826" y="2885697"/>
                </a:cubicBezTo>
                <a:cubicBezTo>
                  <a:pt x="1076499" y="2764225"/>
                  <a:pt x="1105295" y="2881882"/>
                  <a:pt x="1109194" y="2474921"/>
                </a:cubicBezTo>
                <a:cubicBezTo>
                  <a:pt x="1113093" y="2067960"/>
                  <a:pt x="1099044" y="2356147"/>
                  <a:pt x="1104222" y="443931"/>
                </a:cubicBezTo>
                <a:cubicBezTo>
                  <a:pt x="1014937" y="65240"/>
                  <a:pt x="223212" y="-8501"/>
                  <a:pt x="0" y="736"/>
                </a:cubicBezTo>
              </a:path>
            </a:pathLst>
          </a:cu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pic>
        <p:nvPicPr>
          <p:cNvPr id="281" name="Picture 280">
            <a:extLst>
              <a:ext uri="{FF2B5EF4-FFF2-40B4-BE49-F238E27FC236}">
                <a16:creationId xmlns:a16="http://schemas.microsoft.com/office/drawing/2014/main" id="{D259FCE0-B409-1B0E-0D4A-01BFF5DED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352" y="3014823"/>
            <a:ext cx="620064" cy="897462"/>
          </a:xfrm>
          <a:prstGeom prst="rect">
            <a:avLst/>
          </a:prstGeom>
        </p:spPr>
      </p:pic>
      <p:sp>
        <p:nvSpPr>
          <p:cNvPr id="224" name="Rectangle 223">
            <a:extLst>
              <a:ext uri="{FF2B5EF4-FFF2-40B4-BE49-F238E27FC236}">
                <a16:creationId xmlns:a16="http://schemas.microsoft.com/office/drawing/2014/main" id="{FE7AB765-A01C-2D46-2D81-51250D404655}"/>
              </a:ext>
            </a:extLst>
          </p:cNvPr>
          <p:cNvSpPr/>
          <p:nvPr/>
        </p:nvSpPr>
        <p:spPr>
          <a:xfrm>
            <a:off x="2429265" y="4528572"/>
            <a:ext cx="31697256" cy="124664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BA4680F6-1B13-8780-EC4F-46CCA3DF0DC3}"/>
              </a:ext>
            </a:extLst>
          </p:cNvPr>
          <p:cNvSpPr/>
          <p:nvPr/>
        </p:nvSpPr>
        <p:spPr>
          <a:xfrm>
            <a:off x="29381004" y="6291272"/>
            <a:ext cx="4862490" cy="11624469"/>
          </a:xfrm>
          <a:prstGeom prst="rect">
            <a:avLst/>
          </a:prstGeom>
          <a:solidFill>
            <a:srgbClr val="98D0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B894B1-A7A9-DECC-87D4-6B4B1B422659}"/>
              </a:ext>
            </a:extLst>
          </p:cNvPr>
          <p:cNvSpPr/>
          <p:nvPr/>
        </p:nvSpPr>
        <p:spPr>
          <a:xfrm>
            <a:off x="5234688" y="7035173"/>
            <a:ext cx="4349976" cy="391443"/>
          </a:xfrm>
          <a:prstGeom prst="rect">
            <a:avLst/>
          </a:prstGeom>
          <a:solidFill>
            <a:srgbClr val="92CD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EAFAF2-3976-2CB9-9E25-D284C4409595}"/>
              </a:ext>
            </a:extLst>
          </p:cNvPr>
          <p:cNvSpPr/>
          <p:nvPr/>
        </p:nvSpPr>
        <p:spPr>
          <a:xfrm>
            <a:off x="5234688" y="7661486"/>
            <a:ext cx="4349976" cy="391443"/>
          </a:xfrm>
          <a:prstGeom prst="rect">
            <a:avLst/>
          </a:prstGeom>
          <a:solidFill>
            <a:srgbClr val="92CD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EC46F5-7A8C-6437-6831-C136C80446A0}"/>
              </a:ext>
            </a:extLst>
          </p:cNvPr>
          <p:cNvSpPr/>
          <p:nvPr/>
        </p:nvSpPr>
        <p:spPr>
          <a:xfrm>
            <a:off x="5234688" y="8295626"/>
            <a:ext cx="4349976" cy="391443"/>
          </a:xfrm>
          <a:prstGeom prst="rect">
            <a:avLst/>
          </a:prstGeom>
          <a:solidFill>
            <a:srgbClr val="92CD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35BC1B-914F-C2DC-1CC4-2C9A4AAB3874}"/>
              </a:ext>
            </a:extLst>
          </p:cNvPr>
          <p:cNvSpPr/>
          <p:nvPr/>
        </p:nvSpPr>
        <p:spPr>
          <a:xfrm>
            <a:off x="5234688" y="10198049"/>
            <a:ext cx="4349976" cy="391443"/>
          </a:xfrm>
          <a:prstGeom prst="rect">
            <a:avLst/>
          </a:prstGeom>
          <a:solidFill>
            <a:srgbClr val="92CD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32CABA-44AC-BA44-15A5-A22DC2927E65}"/>
              </a:ext>
            </a:extLst>
          </p:cNvPr>
          <p:cNvSpPr/>
          <p:nvPr/>
        </p:nvSpPr>
        <p:spPr>
          <a:xfrm>
            <a:off x="5234688" y="10832198"/>
            <a:ext cx="4349976" cy="391443"/>
          </a:xfrm>
          <a:prstGeom prst="rect">
            <a:avLst/>
          </a:prstGeom>
          <a:solidFill>
            <a:srgbClr val="92CD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5045A4-B88B-96A5-F233-C2FC3E6026A7}"/>
              </a:ext>
            </a:extLst>
          </p:cNvPr>
          <p:cNvSpPr/>
          <p:nvPr/>
        </p:nvSpPr>
        <p:spPr>
          <a:xfrm>
            <a:off x="5234688" y="11552450"/>
            <a:ext cx="4349976" cy="391443"/>
          </a:xfrm>
          <a:prstGeom prst="rect">
            <a:avLst/>
          </a:prstGeom>
          <a:solidFill>
            <a:srgbClr val="92CD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FF0F10-8E15-478B-67CB-B7D77EC693AD}"/>
              </a:ext>
            </a:extLst>
          </p:cNvPr>
          <p:cNvSpPr/>
          <p:nvPr/>
        </p:nvSpPr>
        <p:spPr>
          <a:xfrm>
            <a:off x="5234682" y="8929766"/>
            <a:ext cx="4692366" cy="391443"/>
          </a:xfrm>
          <a:prstGeom prst="rect">
            <a:avLst/>
          </a:prstGeom>
          <a:solidFill>
            <a:srgbClr val="92CD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28808F-C2BA-5627-25AA-938CA7CAB400}"/>
              </a:ext>
            </a:extLst>
          </p:cNvPr>
          <p:cNvSpPr/>
          <p:nvPr/>
        </p:nvSpPr>
        <p:spPr>
          <a:xfrm>
            <a:off x="5234682" y="9556076"/>
            <a:ext cx="4692366" cy="391443"/>
          </a:xfrm>
          <a:prstGeom prst="rect">
            <a:avLst/>
          </a:prstGeom>
          <a:solidFill>
            <a:srgbClr val="92CD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DAECBD-9818-3FA5-4D84-0C129DD40A29}"/>
              </a:ext>
            </a:extLst>
          </p:cNvPr>
          <p:cNvSpPr/>
          <p:nvPr/>
        </p:nvSpPr>
        <p:spPr>
          <a:xfrm>
            <a:off x="9584655" y="7035173"/>
            <a:ext cx="3128238" cy="391443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FEB6FE-60E3-E787-A79E-07C1043EBB3F}"/>
              </a:ext>
            </a:extLst>
          </p:cNvPr>
          <p:cNvSpPr/>
          <p:nvPr/>
        </p:nvSpPr>
        <p:spPr>
          <a:xfrm>
            <a:off x="9584655" y="7661486"/>
            <a:ext cx="3128238" cy="391443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A62C0E-D34A-5CF0-79F3-DBC5199FB816}"/>
              </a:ext>
            </a:extLst>
          </p:cNvPr>
          <p:cNvSpPr/>
          <p:nvPr/>
        </p:nvSpPr>
        <p:spPr>
          <a:xfrm>
            <a:off x="9584655" y="8295626"/>
            <a:ext cx="3128238" cy="391443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BAF1EE-0C63-A96E-4370-88D29E2B72DF}"/>
              </a:ext>
            </a:extLst>
          </p:cNvPr>
          <p:cNvSpPr/>
          <p:nvPr/>
        </p:nvSpPr>
        <p:spPr>
          <a:xfrm>
            <a:off x="9927050" y="8921927"/>
            <a:ext cx="2785845" cy="391443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26ACD6C-217A-9F1E-3981-E2A9486A130B}"/>
              </a:ext>
            </a:extLst>
          </p:cNvPr>
          <p:cNvSpPr/>
          <p:nvPr/>
        </p:nvSpPr>
        <p:spPr>
          <a:xfrm>
            <a:off x="9927050" y="9556076"/>
            <a:ext cx="2785845" cy="391443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A40601-3BE7-BE8F-405F-CCD9F25B7492}"/>
              </a:ext>
            </a:extLst>
          </p:cNvPr>
          <p:cNvSpPr/>
          <p:nvPr/>
        </p:nvSpPr>
        <p:spPr>
          <a:xfrm>
            <a:off x="9584655" y="10198049"/>
            <a:ext cx="3128238" cy="391443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740DDA-04CC-B5A4-96AD-F36DB34D8080}"/>
              </a:ext>
            </a:extLst>
          </p:cNvPr>
          <p:cNvSpPr/>
          <p:nvPr/>
        </p:nvSpPr>
        <p:spPr>
          <a:xfrm>
            <a:off x="9584655" y="10824371"/>
            <a:ext cx="3128238" cy="391443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FF06CFD-60CB-F919-32C9-D8F77E49041A}"/>
              </a:ext>
            </a:extLst>
          </p:cNvPr>
          <p:cNvSpPr/>
          <p:nvPr/>
        </p:nvSpPr>
        <p:spPr>
          <a:xfrm>
            <a:off x="9584655" y="11552450"/>
            <a:ext cx="3128238" cy="391443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6D81D7-0BF5-F53E-9BAD-2DD8E16E1D1D}"/>
              </a:ext>
            </a:extLst>
          </p:cNvPr>
          <p:cNvSpPr/>
          <p:nvPr/>
        </p:nvSpPr>
        <p:spPr>
          <a:xfrm>
            <a:off x="13568555" y="7035173"/>
            <a:ext cx="6843045" cy="391443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86B46EC-7113-AAAC-61F0-E6B9EC1DC640}"/>
              </a:ext>
            </a:extLst>
          </p:cNvPr>
          <p:cNvSpPr/>
          <p:nvPr/>
        </p:nvSpPr>
        <p:spPr>
          <a:xfrm>
            <a:off x="15692979" y="8295626"/>
            <a:ext cx="4718622" cy="391443"/>
          </a:xfrm>
          <a:prstGeom prst="rect">
            <a:avLst/>
          </a:prstGeom>
          <a:solidFill>
            <a:srgbClr val="92CD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0B714B1-7FEB-7056-6AAC-1EAF766E3BA3}"/>
              </a:ext>
            </a:extLst>
          </p:cNvPr>
          <p:cNvSpPr/>
          <p:nvPr/>
        </p:nvSpPr>
        <p:spPr>
          <a:xfrm>
            <a:off x="13568553" y="8295626"/>
            <a:ext cx="2124426" cy="391443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6ADC135-1BD1-27C3-CCC8-7D917BB98948}"/>
              </a:ext>
            </a:extLst>
          </p:cNvPr>
          <p:cNvSpPr/>
          <p:nvPr/>
        </p:nvSpPr>
        <p:spPr>
          <a:xfrm>
            <a:off x="15692979" y="8921927"/>
            <a:ext cx="4718622" cy="391443"/>
          </a:xfrm>
          <a:prstGeom prst="rect">
            <a:avLst/>
          </a:prstGeom>
          <a:solidFill>
            <a:srgbClr val="92CD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0587D47-8888-0869-C6CC-0CD0364BB8E5}"/>
              </a:ext>
            </a:extLst>
          </p:cNvPr>
          <p:cNvSpPr/>
          <p:nvPr/>
        </p:nvSpPr>
        <p:spPr>
          <a:xfrm>
            <a:off x="13568553" y="8921927"/>
            <a:ext cx="2124426" cy="391443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10DBF9A-EC3F-CF6E-E285-80B3A734DB8C}"/>
              </a:ext>
            </a:extLst>
          </p:cNvPr>
          <p:cNvSpPr/>
          <p:nvPr/>
        </p:nvSpPr>
        <p:spPr>
          <a:xfrm>
            <a:off x="15275679" y="9548231"/>
            <a:ext cx="5135922" cy="391443"/>
          </a:xfrm>
          <a:prstGeom prst="rect">
            <a:avLst/>
          </a:prstGeom>
          <a:solidFill>
            <a:srgbClr val="92CD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59B11CF-594D-ED4B-374F-C8AC0A6C5597}"/>
              </a:ext>
            </a:extLst>
          </p:cNvPr>
          <p:cNvSpPr/>
          <p:nvPr/>
        </p:nvSpPr>
        <p:spPr>
          <a:xfrm>
            <a:off x="13568556" y="9548231"/>
            <a:ext cx="1707120" cy="391443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228D909-0797-DA5A-E5CE-1367BF40F23F}"/>
              </a:ext>
            </a:extLst>
          </p:cNvPr>
          <p:cNvSpPr/>
          <p:nvPr/>
        </p:nvSpPr>
        <p:spPr>
          <a:xfrm>
            <a:off x="15692979" y="10174532"/>
            <a:ext cx="4718622" cy="391443"/>
          </a:xfrm>
          <a:prstGeom prst="rect">
            <a:avLst/>
          </a:prstGeom>
          <a:solidFill>
            <a:srgbClr val="92CD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284949C-0E64-3921-C8CF-C6ADBC58CA51}"/>
              </a:ext>
            </a:extLst>
          </p:cNvPr>
          <p:cNvSpPr/>
          <p:nvPr/>
        </p:nvSpPr>
        <p:spPr>
          <a:xfrm>
            <a:off x="13568556" y="10174532"/>
            <a:ext cx="2124420" cy="391443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561AA65-939E-EDCB-58B5-F674BDCB4C22}"/>
              </a:ext>
            </a:extLst>
          </p:cNvPr>
          <p:cNvSpPr/>
          <p:nvPr/>
        </p:nvSpPr>
        <p:spPr>
          <a:xfrm>
            <a:off x="15692979" y="10800833"/>
            <a:ext cx="4718622" cy="391443"/>
          </a:xfrm>
          <a:prstGeom prst="rect">
            <a:avLst/>
          </a:prstGeom>
          <a:solidFill>
            <a:srgbClr val="92CD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0CCC1C8-E9A6-2695-0855-929915F49A25}"/>
              </a:ext>
            </a:extLst>
          </p:cNvPr>
          <p:cNvSpPr/>
          <p:nvPr/>
        </p:nvSpPr>
        <p:spPr>
          <a:xfrm>
            <a:off x="13787780" y="10848186"/>
            <a:ext cx="1905195" cy="344088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A492CF9-5DF5-90C0-2E49-C2DD0903D55A}"/>
              </a:ext>
            </a:extLst>
          </p:cNvPr>
          <p:cNvSpPr/>
          <p:nvPr/>
        </p:nvSpPr>
        <p:spPr>
          <a:xfrm>
            <a:off x="13890816" y="11594457"/>
            <a:ext cx="6520776" cy="349434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FDA20F8-A8E1-D1BA-D4CA-63A073C91616}"/>
              </a:ext>
            </a:extLst>
          </p:cNvPr>
          <p:cNvSpPr/>
          <p:nvPr/>
        </p:nvSpPr>
        <p:spPr>
          <a:xfrm>
            <a:off x="21443631" y="11552450"/>
            <a:ext cx="6843042" cy="391443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 b="1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FD041D2-44E5-460C-E92C-4AD67CE687B1}"/>
              </a:ext>
            </a:extLst>
          </p:cNvPr>
          <p:cNvSpPr/>
          <p:nvPr/>
        </p:nvSpPr>
        <p:spPr>
          <a:xfrm>
            <a:off x="21443631" y="10824371"/>
            <a:ext cx="6843042" cy="391443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ADA0F01-573D-F2C9-44A0-ADF8B7D22446}"/>
              </a:ext>
            </a:extLst>
          </p:cNvPr>
          <p:cNvSpPr/>
          <p:nvPr/>
        </p:nvSpPr>
        <p:spPr>
          <a:xfrm>
            <a:off x="21443631" y="10208498"/>
            <a:ext cx="6843042" cy="391443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481FEC6-9078-C1D0-CA18-1065F8B99FBA}"/>
              </a:ext>
            </a:extLst>
          </p:cNvPr>
          <p:cNvSpPr/>
          <p:nvPr/>
        </p:nvSpPr>
        <p:spPr>
          <a:xfrm>
            <a:off x="21443631" y="9558668"/>
            <a:ext cx="6843042" cy="391443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392C934-19AE-2F5D-08E6-C9DA7BDB78C0}"/>
              </a:ext>
            </a:extLst>
          </p:cNvPr>
          <p:cNvSpPr/>
          <p:nvPr/>
        </p:nvSpPr>
        <p:spPr>
          <a:xfrm>
            <a:off x="21443631" y="8929766"/>
            <a:ext cx="6843042" cy="391443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161DA7D-EA57-2C9A-EC94-51E2E62959C1}"/>
              </a:ext>
            </a:extLst>
          </p:cNvPr>
          <p:cNvSpPr/>
          <p:nvPr/>
        </p:nvSpPr>
        <p:spPr>
          <a:xfrm>
            <a:off x="21443631" y="8295626"/>
            <a:ext cx="6843042" cy="391443"/>
          </a:xfrm>
          <a:prstGeom prst="rect">
            <a:avLst/>
          </a:prstGeom>
          <a:solidFill>
            <a:srgbClr val="92CD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19CCB66-6897-D4AF-59E1-29520FADECBD}"/>
              </a:ext>
            </a:extLst>
          </p:cNvPr>
          <p:cNvSpPr/>
          <p:nvPr/>
        </p:nvSpPr>
        <p:spPr>
          <a:xfrm>
            <a:off x="21443631" y="7645796"/>
            <a:ext cx="6843042" cy="391443"/>
          </a:xfrm>
          <a:prstGeom prst="rect">
            <a:avLst/>
          </a:prstGeom>
          <a:solidFill>
            <a:srgbClr val="92CD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8370DDA-18CC-D05B-4E48-FC4606CDB09D}"/>
              </a:ext>
            </a:extLst>
          </p:cNvPr>
          <p:cNvSpPr/>
          <p:nvPr/>
        </p:nvSpPr>
        <p:spPr>
          <a:xfrm>
            <a:off x="21443631" y="7016894"/>
            <a:ext cx="6843042" cy="391443"/>
          </a:xfrm>
          <a:prstGeom prst="rect">
            <a:avLst/>
          </a:prstGeom>
          <a:solidFill>
            <a:srgbClr val="92CD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74F8EF5-E6B9-F40F-8D62-05F6CE62AA38}"/>
              </a:ext>
            </a:extLst>
          </p:cNvPr>
          <p:cNvSpPr/>
          <p:nvPr/>
        </p:nvSpPr>
        <p:spPr>
          <a:xfrm>
            <a:off x="21443631" y="6357950"/>
            <a:ext cx="6843042" cy="391443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AD75866-6D1C-687D-BA4D-39080A0E7250}"/>
              </a:ext>
            </a:extLst>
          </p:cNvPr>
          <p:cNvSpPr/>
          <p:nvPr/>
        </p:nvSpPr>
        <p:spPr>
          <a:xfrm>
            <a:off x="21443631" y="12808172"/>
            <a:ext cx="6843042" cy="39144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443A17F-EA07-58A8-29FB-1BA7EECDD21B}"/>
              </a:ext>
            </a:extLst>
          </p:cNvPr>
          <p:cNvSpPr/>
          <p:nvPr/>
        </p:nvSpPr>
        <p:spPr>
          <a:xfrm>
            <a:off x="21443631" y="13464281"/>
            <a:ext cx="6843042" cy="39144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487E80D-BA94-73A7-3259-D5EC0C85B9D8}"/>
              </a:ext>
            </a:extLst>
          </p:cNvPr>
          <p:cNvSpPr/>
          <p:nvPr/>
        </p:nvSpPr>
        <p:spPr>
          <a:xfrm>
            <a:off x="21443631" y="14079554"/>
            <a:ext cx="6843042" cy="391443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36E496F-5BCD-4F61-D687-4D88EF4867AF}"/>
              </a:ext>
            </a:extLst>
          </p:cNvPr>
          <p:cNvSpPr/>
          <p:nvPr/>
        </p:nvSpPr>
        <p:spPr>
          <a:xfrm>
            <a:off x="21443631" y="14723198"/>
            <a:ext cx="6843042" cy="391443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A8CAF6A-9B1D-C17B-B818-B5243E4853DD}"/>
              </a:ext>
            </a:extLst>
          </p:cNvPr>
          <p:cNvSpPr/>
          <p:nvPr/>
        </p:nvSpPr>
        <p:spPr>
          <a:xfrm>
            <a:off x="13568550" y="12808172"/>
            <a:ext cx="6843042" cy="391443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1249CEA-4219-DE06-6AEB-9C20E3332CD5}"/>
              </a:ext>
            </a:extLst>
          </p:cNvPr>
          <p:cNvSpPr/>
          <p:nvPr/>
        </p:nvSpPr>
        <p:spPr>
          <a:xfrm>
            <a:off x="13568550" y="13464281"/>
            <a:ext cx="6843042" cy="391443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79B5AEA-E161-54F4-CE45-BD63BE26659C}"/>
              </a:ext>
            </a:extLst>
          </p:cNvPr>
          <p:cNvSpPr/>
          <p:nvPr/>
        </p:nvSpPr>
        <p:spPr>
          <a:xfrm>
            <a:off x="10209359" y="12808172"/>
            <a:ext cx="3302535" cy="391443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5D4F1DB-1931-CBFD-057F-232C11681B86}"/>
              </a:ext>
            </a:extLst>
          </p:cNvPr>
          <p:cNvSpPr/>
          <p:nvPr/>
        </p:nvSpPr>
        <p:spPr>
          <a:xfrm>
            <a:off x="10209359" y="13464281"/>
            <a:ext cx="3302535" cy="391443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A389EF7-44EC-F49D-EB5B-A9F80FE49820}"/>
              </a:ext>
            </a:extLst>
          </p:cNvPr>
          <p:cNvSpPr/>
          <p:nvPr/>
        </p:nvSpPr>
        <p:spPr>
          <a:xfrm>
            <a:off x="10209359" y="14070767"/>
            <a:ext cx="3302535" cy="391443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3790F93-D126-6CBC-24A8-DA04D694B30B}"/>
              </a:ext>
            </a:extLst>
          </p:cNvPr>
          <p:cNvSpPr/>
          <p:nvPr/>
        </p:nvSpPr>
        <p:spPr>
          <a:xfrm>
            <a:off x="5159456" y="15174621"/>
            <a:ext cx="4067235" cy="31315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1731" b="1" dirty="0">
                <a:solidFill>
                  <a:schemeClr val="tx1"/>
                </a:solidFill>
              </a:rPr>
              <a:t>B 30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14EA864-C555-695E-61FB-BD6D3E3ED156}"/>
              </a:ext>
            </a:extLst>
          </p:cNvPr>
          <p:cNvSpPr/>
          <p:nvPr/>
        </p:nvSpPr>
        <p:spPr>
          <a:xfrm>
            <a:off x="5159456" y="12826710"/>
            <a:ext cx="4067235" cy="3131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375BFF4-2BA0-C3BB-5BAB-A5F9F88A9480}"/>
              </a:ext>
            </a:extLst>
          </p:cNvPr>
          <p:cNvSpPr/>
          <p:nvPr/>
        </p:nvSpPr>
        <p:spPr>
          <a:xfrm>
            <a:off x="5159456" y="13442838"/>
            <a:ext cx="4067235" cy="1637880"/>
          </a:xfrm>
          <a:prstGeom prst="rect">
            <a:avLst/>
          </a:prstGeom>
          <a:solidFill>
            <a:srgbClr val="F9C4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39" b="1" dirty="0">
                <a:solidFill>
                  <a:schemeClr val="tx1"/>
                </a:solidFill>
                <a:latin typeface="Arial Black" panose="020B0A04020102020204" pitchFamily="34" charset="0"/>
              </a:rPr>
              <a:t>Armazém de Importação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4CF9A4F-5C87-B47A-EB2C-A8C080B14A95}"/>
              </a:ext>
            </a:extLst>
          </p:cNvPr>
          <p:cNvSpPr/>
          <p:nvPr/>
        </p:nvSpPr>
        <p:spPr>
          <a:xfrm>
            <a:off x="4906547" y="13442838"/>
            <a:ext cx="252909" cy="1637880"/>
          </a:xfrm>
          <a:prstGeom prst="rect">
            <a:avLst/>
          </a:prstGeom>
          <a:pattFill prst="pct20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pic>
        <p:nvPicPr>
          <p:cNvPr id="127" name="Picture 126">
            <a:extLst>
              <a:ext uri="{FF2B5EF4-FFF2-40B4-BE49-F238E27FC236}">
                <a16:creationId xmlns:a16="http://schemas.microsoft.com/office/drawing/2014/main" id="{9612AD28-7499-6727-3727-E4223888B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6931" y="3317303"/>
            <a:ext cx="7698696" cy="1210017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AA059D0D-2BEA-0FF3-4245-8E98F3AFF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57166" y="3014591"/>
            <a:ext cx="9091749" cy="1512735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F7CEB548-562B-143A-8B27-DA62D890C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65154" y="3014591"/>
            <a:ext cx="9091749" cy="1512735"/>
          </a:xfrm>
          <a:prstGeom prst="rect">
            <a:avLst/>
          </a:prstGeom>
        </p:spPr>
      </p:pic>
      <p:sp>
        <p:nvSpPr>
          <p:cNvPr id="130" name="Rectangle 129">
            <a:extLst>
              <a:ext uri="{FF2B5EF4-FFF2-40B4-BE49-F238E27FC236}">
                <a16:creationId xmlns:a16="http://schemas.microsoft.com/office/drawing/2014/main" id="{8F96C79F-92E1-BB41-76F8-CE4A2E56B7EC}"/>
              </a:ext>
            </a:extLst>
          </p:cNvPr>
          <p:cNvSpPr/>
          <p:nvPr/>
        </p:nvSpPr>
        <p:spPr>
          <a:xfrm>
            <a:off x="2464236" y="6268983"/>
            <a:ext cx="1958556" cy="24670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endParaRPr lang="en-US" sz="2019" b="1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E99D779F-10B5-F705-5D74-A3093322D598}"/>
              </a:ext>
            </a:extLst>
          </p:cNvPr>
          <p:cNvSpPr/>
          <p:nvPr/>
        </p:nvSpPr>
        <p:spPr>
          <a:xfrm>
            <a:off x="2464236" y="6215496"/>
            <a:ext cx="2231886" cy="1000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  <a:latin typeface="Arial Narrow" panose="020B0606020202030204" pitchFamily="34" charset="0"/>
              </a:rPr>
              <a:t>Area de Manutenção</a:t>
            </a:r>
          </a:p>
        </p:txBody>
      </p:sp>
      <p:sp>
        <p:nvSpPr>
          <p:cNvPr id="140" name="Star: 6 Points 139">
            <a:extLst>
              <a:ext uri="{FF2B5EF4-FFF2-40B4-BE49-F238E27FC236}">
                <a16:creationId xmlns:a16="http://schemas.microsoft.com/office/drawing/2014/main" id="{1BC37345-FCEB-25C1-9067-94E9AA793EE5}"/>
              </a:ext>
            </a:extLst>
          </p:cNvPr>
          <p:cNvSpPr/>
          <p:nvPr/>
        </p:nvSpPr>
        <p:spPr>
          <a:xfrm>
            <a:off x="10448423" y="11270630"/>
            <a:ext cx="210105" cy="234855"/>
          </a:xfrm>
          <a:prstGeom prst="star6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141" name="Star: 6 Points 140">
            <a:extLst>
              <a:ext uri="{FF2B5EF4-FFF2-40B4-BE49-F238E27FC236}">
                <a16:creationId xmlns:a16="http://schemas.microsoft.com/office/drawing/2014/main" id="{E9155EB5-8893-5ED8-FE97-C9D634EF5082}"/>
              </a:ext>
            </a:extLst>
          </p:cNvPr>
          <p:cNvSpPr/>
          <p:nvPr/>
        </p:nvSpPr>
        <p:spPr>
          <a:xfrm>
            <a:off x="12437792" y="11270630"/>
            <a:ext cx="210105" cy="234855"/>
          </a:xfrm>
          <a:prstGeom prst="star6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142" name="Star: 6 Points 141">
            <a:extLst>
              <a:ext uri="{FF2B5EF4-FFF2-40B4-BE49-F238E27FC236}">
                <a16:creationId xmlns:a16="http://schemas.microsoft.com/office/drawing/2014/main" id="{6E3280A2-A6FF-5789-DA90-50EE4F13567B}"/>
              </a:ext>
            </a:extLst>
          </p:cNvPr>
          <p:cNvSpPr/>
          <p:nvPr/>
        </p:nvSpPr>
        <p:spPr>
          <a:xfrm>
            <a:off x="5728166" y="11270630"/>
            <a:ext cx="210105" cy="234855"/>
          </a:xfrm>
          <a:prstGeom prst="star6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143" name="Star: 6 Points 142">
            <a:extLst>
              <a:ext uri="{FF2B5EF4-FFF2-40B4-BE49-F238E27FC236}">
                <a16:creationId xmlns:a16="http://schemas.microsoft.com/office/drawing/2014/main" id="{034FF1B9-4858-C7E3-FDA8-F7C5580118B3}"/>
              </a:ext>
            </a:extLst>
          </p:cNvPr>
          <p:cNvSpPr/>
          <p:nvPr/>
        </p:nvSpPr>
        <p:spPr>
          <a:xfrm>
            <a:off x="10448423" y="6750731"/>
            <a:ext cx="210105" cy="234855"/>
          </a:xfrm>
          <a:prstGeom prst="star6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144" name="Star: 6 Points 143">
            <a:extLst>
              <a:ext uri="{FF2B5EF4-FFF2-40B4-BE49-F238E27FC236}">
                <a16:creationId xmlns:a16="http://schemas.microsoft.com/office/drawing/2014/main" id="{FCDC6989-92CD-7766-F5A7-CB5746453EB4}"/>
              </a:ext>
            </a:extLst>
          </p:cNvPr>
          <p:cNvSpPr/>
          <p:nvPr/>
        </p:nvSpPr>
        <p:spPr>
          <a:xfrm>
            <a:off x="12437792" y="6750731"/>
            <a:ext cx="210105" cy="234855"/>
          </a:xfrm>
          <a:prstGeom prst="star6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145" name="Star: 6 Points 144">
            <a:extLst>
              <a:ext uri="{FF2B5EF4-FFF2-40B4-BE49-F238E27FC236}">
                <a16:creationId xmlns:a16="http://schemas.microsoft.com/office/drawing/2014/main" id="{0E51D2A1-123F-F793-7037-702DE93AF3F0}"/>
              </a:ext>
            </a:extLst>
          </p:cNvPr>
          <p:cNvSpPr/>
          <p:nvPr/>
        </p:nvSpPr>
        <p:spPr>
          <a:xfrm>
            <a:off x="5728166" y="6750731"/>
            <a:ext cx="210105" cy="234855"/>
          </a:xfrm>
          <a:prstGeom prst="star6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146" name="Star: 6 Points 145">
            <a:extLst>
              <a:ext uri="{FF2B5EF4-FFF2-40B4-BE49-F238E27FC236}">
                <a16:creationId xmlns:a16="http://schemas.microsoft.com/office/drawing/2014/main" id="{F2DC5C1B-05BE-CDD3-0CD4-53260D1E4086}"/>
              </a:ext>
            </a:extLst>
          </p:cNvPr>
          <p:cNvSpPr/>
          <p:nvPr/>
        </p:nvSpPr>
        <p:spPr>
          <a:xfrm>
            <a:off x="15523388" y="11270630"/>
            <a:ext cx="210105" cy="234855"/>
          </a:xfrm>
          <a:prstGeom prst="star6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147" name="Star: 6 Points 146">
            <a:extLst>
              <a:ext uri="{FF2B5EF4-FFF2-40B4-BE49-F238E27FC236}">
                <a16:creationId xmlns:a16="http://schemas.microsoft.com/office/drawing/2014/main" id="{4A542174-C0E9-46CB-DB07-09E4A9F11655}"/>
              </a:ext>
            </a:extLst>
          </p:cNvPr>
          <p:cNvSpPr/>
          <p:nvPr/>
        </p:nvSpPr>
        <p:spPr>
          <a:xfrm>
            <a:off x="18503933" y="11270630"/>
            <a:ext cx="210105" cy="234855"/>
          </a:xfrm>
          <a:prstGeom prst="star6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148" name="Star: 6 Points 147">
            <a:extLst>
              <a:ext uri="{FF2B5EF4-FFF2-40B4-BE49-F238E27FC236}">
                <a16:creationId xmlns:a16="http://schemas.microsoft.com/office/drawing/2014/main" id="{2FA088B4-07DC-727A-83B1-0CC049972668}"/>
              </a:ext>
            </a:extLst>
          </p:cNvPr>
          <p:cNvSpPr/>
          <p:nvPr/>
        </p:nvSpPr>
        <p:spPr>
          <a:xfrm>
            <a:off x="15523388" y="6766088"/>
            <a:ext cx="210105" cy="234855"/>
          </a:xfrm>
          <a:prstGeom prst="star6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149" name="Star: 6 Points 148">
            <a:extLst>
              <a:ext uri="{FF2B5EF4-FFF2-40B4-BE49-F238E27FC236}">
                <a16:creationId xmlns:a16="http://schemas.microsoft.com/office/drawing/2014/main" id="{7EAF1F3F-7225-5B89-16D6-72AF8BC3D05C}"/>
              </a:ext>
            </a:extLst>
          </p:cNvPr>
          <p:cNvSpPr/>
          <p:nvPr/>
        </p:nvSpPr>
        <p:spPr>
          <a:xfrm>
            <a:off x="18503933" y="6766088"/>
            <a:ext cx="210105" cy="234855"/>
          </a:xfrm>
          <a:prstGeom prst="star6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150" name="Star: 6 Points 149">
            <a:extLst>
              <a:ext uri="{FF2B5EF4-FFF2-40B4-BE49-F238E27FC236}">
                <a16:creationId xmlns:a16="http://schemas.microsoft.com/office/drawing/2014/main" id="{2E92031F-AEC2-79F8-A25D-E9FC8C5A7C5D}"/>
              </a:ext>
            </a:extLst>
          </p:cNvPr>
          <p:cNvSpPr/>
          <p:nvPr/>
        </p:nvSpPr>
        <p:spPr>
          <a:xfrm>
            <a:off x="22421843" y="6766088"/>
            <a:ext cx="210105" cy="234855"/>
          </a:xfrm>
          <a:prstGeom prst="star6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151" name="Star: 6 Points 150">
            <a:extLst>
              <a:ext uri="{FF2B5EF4-FFF2-40B4-BE49-F238E27FC236}">
                <a16:creationId xmlns:a16="http://schemas.microsoft.com/office/drawing/2014/main" id="{B6EF7C40-AD1A-00A5-4A52-4B6FB97681F6}"/>
              </a:ext>
            </a:extLst>
          </p:cNvPr>
          <p:cNvSpPr/>
          <p:nvPr/>
        </p:nvSpPr>
        <p:spPr>
          <a:xfrm>
            <a:off x="26869241" y="6766088"/>
            <a:ext cx="210105" cy="234855"/>
          </a:xfrm>
          <a:prstGeom prst="star6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152" name="Star: 6 Points 151">
            <a:extLst>
              <a:ext uri="{FF2B5EF4-FFF2-40B4-BE49-F238E27FC236}">
                <a16:creationId xmlns:a16="http://schemas.microsoft.com/office/drawing/2014/main" id="{2C1EA822-DDCC-86E9-9BF2-77C94A0114BE}"/>
              </a:ext>
            </a:extLst>
          </p:cNvPr>
          <p:cNvSpPr/>
          <p:nvPr/>
        </p:nvSpPr>
        <p:spPr>
          <a:xfrm>
            <a:off x="22421843" y="11244554"/>
            <a:ext cx="210105" cy="234855"/>
          </a:xfrm>
          <a:prstGeom prst="star6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153" name="Star: 6 Points 152">
            <a:extLst>
              <a:ext uri="{FF2B5EF4-FFF2-40B4-BE49-F238E27FC236}">
                <a16:creationId xmlns:a16="http://schemas.microsoft.com/office/drawing/2014/main" id="{59402F7D-F327-3141-34B3-581AEFE93609}"/>
              </a:ext>
            </a:extLst>
          </p:cNvPr>
          <p:cNvSpPr/>
          <p:nvPr/>
        </p:nvSpPr>
        <p:spPr>
          <a:xfrm>
            <a:off x="28783538" y="8060777"/>
            <a:ext cx="210105" cy="234855"/>
          </a:xfrm>
          <a:prstGeom prst="star6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154" name="Star: 6 Points 153">
            <a:extLst>
              <a:ext uri="{FF2B5EF4-FFF2-40B4-BE49-F238E27FC236}">
                <a16:creationId xmlns:a16="http://schemas.microsoft.com/office/drawing/2014/main" id="{55454331-029C-A3F5-D986-35332EED5679}"/>
              </a:ext>
            </a:extLst>
          </p:cNvPr>
          <p:cNvSpPr/>
          <p:nvPr/>
        </p:nvSpPr>
        <p:spPr>
          <a:xfrm>
            <a:off x="28783538" y="9353849"/>
            <a:ext cx="210105" cy="234855"/>
          </a:xfrm>
          <a:prstGeom prst="star6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155" name="Star: 6 Points 154">
            <a:extLst>
              <a:ext uri="{FF2B5EF4-FFF2-40B4-BE49-F238E27FC236}">
                <a16:creationId xmlns:a16="http://schemas.microsoft.com/office/drawing/2014/main" id="{3223CF4C-A3AC-6BB3-2911-B92DC75E1A14}"/>
              </a:ext>
            </a:extLst>
          </p:cNvPr>
          <p:cNvSpPr/>
          <p:nvPr/>
        </p:nvSpPr>
        <p:spPr>
          <a:xfrm>
            <a:off x="28783538" y="12573293"/>
            <a:ext cx="210105" cy="234855"/>
          </a:xfrm>
          <a:prstGeom prst="star6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156" name="Star: 6 Points 155">
            <a:extLst>
              <a:ext uri="{FF2B5EF4-FFF2-40B4-BE49-F238E27FC236}">
                <a16:creationId xmlns:a16="http://schemas.microsoft.com/office/drawing/2014/main" id="{9A39738C-D31D-E5A5-AB30-66907B5D2728}"/>
              </a:ext>
            </a:extLst>
          </p:cNvPr>
          <p:cNvSpPr/>
          <p:nvPr/>
        </p:nvSpPr>
        <p:spPr>
          <a:xfrm>
            <a:off x="28783538" y="13855733"/>
            <a:ext cx="210105" cy="234855"/>
          </a:xfrm>
          <a:prstGeom prst="star6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157" name="Star: 6 Points 156">
            <a:extLst>
              <a:ext uri="{FF2B5EF4-FFF2-40B4-BE49-F238E27FC236}">
                <a16:creationId xmlns:a16="http://schemas.microsoft.com/office/drawing/2014/main" id="{BABEE4A3-EE70-DC1B-E15A-1B9BA5944031}"/>
              </a:ext>
            </a:extLst>
          </p:cNvPr>
          <p:cNvSpPr/>
          <p:nvPr/>
        </p:nvSpPr>
        <p:spPr>
          <a:xfrm>
            <a:off x="26869241" y="11244554"/>
            <a:ext cx="210105" cy="234855"/>
          </a:xfrm>
          <a:prstGeom prst="star6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pic>
        <p:nvPicPr>
          <p:cNvPr id="167" name="Graphic 166" descr="Building with solid fill">
            <a:extLst>
              <a:ext uri="{FF2B5EF4-FFF2-40B4-BE49-F238E27FC236}">
                <a16:creationId xmlns:a16="http://schemas.microsoft.com/office/drawing/2014/main" id="{082B1DAB-FC9C-8512-E1B3-AB1E27CE49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180596" y="6291272"/>
            <a:ext cx="913404" cy="539313"/>
          </a:xfrm>
          <a:prstGeom prst="rect">
            <a:avLst/>
          </a:prstGeom>
        </p:spPr>
      </p:pic>
      <p:sp>
        <p:nvSpPr>
          <p:cNvPr id="171" name="Rectangle 170">
            <a:extLst>
              <a:ext uri="{FF2B5EF4-FFF2-40B4-BE49-F238E27FC236}">
                <a16:creationId xmlns:a16="http://schemas.microsoft.com/office/drawing/2014/main" id="{5C2E2B04-68D8-5712-BEBB-15FE8BB41EA4}"/>
              </a:ext>
            </a:extLst>
          </p:cNvPr>
          <p:cNvSpPr/>
          <p:nvPr/>
        </p:nvSpPr>
        <p:spPr>
          <a:xfrm>
            <a:off x="2117213" y="14130222"/>
            <a:ext cx="2270343" cy="6473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307" b="1" dirty="0">
                <a:solidFill>
                  <a:srgbClr val="0000FF"/>
                </a:solidFill>
                <a:latin typeface="Arial Black" panose="020B0A04020102020204" pitchFamily="34" charset="0"/>
              </a:rPr>
              <a:t>ADM</a:t>
            </a:r>
            <a:endParaRPr lang="en-US" sz="1731" b="1" dirty="0">
              <a:solidFill>
                <a:srgbClr val="0000FF"/>
              </a:solidFill>
              <a:latin typeface="Arial Black" panose="020B0A04020102020204" pitchFamily="34" charset="0"/>
            </a:endParaRPr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B5914E7B-CB0B-CB89-100E-B0B5ED3BCA90}"/>
              </a:ext>
            </a:extLst>
          </p:cNvPr>
          <p:cNvSpPr/>
          <p:nvPr/>
        </p:nvSpPr>
        <p:spPr>
          <a:xfrm>
            <a:off x="3020111" y="14831924"/>
            <a:ext cx="527937" cy="46403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38" dirty="0">
                <a:latin typeface="Arial Black" panose="020B0A04020102020204" pitchFamily="34" charset="0"/>
              </a:rPr>
              <a:t>P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32FB4201-AE77-A436-0DC3-9D41AD47CC91}"/>
              </a:ext>
            </a:extLst>
          </p:cNvPr>
          <p:cNvSpPr/>
          <p:nvPr/>
        </p:nvSpPr>
        <p:spPr>
          <a:xfrm>
            <a:off x="2544935" y="15364841"/>
            <a:ext cx="1436313" cy="4797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175" name="Star: 6 Points 174">
            <a:extLst>
              <a:ext uri="{FF2B5EF4-FFF2-40B4-BE49-F238E27FC236}">
                <a16:creationId xmlns:a16="http://schemas.microsoft.com/office/drawing/2014/main" id="{20B0B1E9-8661-2652-1FC1-AF849841717C}"/>
              </a:ext>
            </a:extLst>
          </p:cNvPr>
          <p:cNvSpPr/>
          <p:nvPr/>
        </p:nvSpPr>
        <p:spPr>
          <a:xfrm>
            <a:off x="4097153" y="15907604"/>
            <a:ext cx="210105" cy="234855"/>
          </a:xfrm>
          <a:prstGeom prst="star6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15877A62-2B38-B746-9226-E346F3260E48}"/>
              </a:ext>
            </a:extLst>
          </p:cNvPr>
          <p:cNvSpPr/>
          <p:nvPr/>
        </p:nvSpPr>
        <p:spPr>
          <a:xfrm>
            <a:off x="2256590" y="15265425"/>
            <a:ext cx="2034039" cy="6473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1731" dirty="0">
                <a:solidFill>
                  <a:schemeClr val="tx1"/>
                </a:solidFill>
                <a:latin typeface="Arial Black" panose="020B0A04020102020204" pitchFamily="34" charset="0"/>
              </a:rPr>
              <a:t>RFB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31C60BE1-6DEA-209B-15B3-49E3ECC21B50}"/>
              </a:ext>
            </a:extLst>
          </p:cNvPr>
          <p:cNvGrpSpPr/>
          <p:nvPr/>
        </p:nvGrpSpPr>
        <p:grpSpPr>
          <a:xfrm>
            <a:off x="6044868" y="2663702"/>
            <a:ext cx="22606290" cy="53943"/>
            <a:chOff x="2845589" y="1053429"/>
            <a:chExt cx="7703496" cy="54"/>
          </a:xfrm>
        </p:grpSpPr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B8EE84E4-59C1-C459-616B-E5313170686E}"/>
                </a:ext>
              </a:extLst>
            </p:cNvPr>
            <p:cNvCxnSpPr>
              <a:cxnSpLocks/>
            </p:cNvCxnSpPr>
            <p:nvPr/>
          </p:nvCxnSpPr>
          <p:spPr>
            <a:xfrm>
              <a:off x="2845589" y="1053432"/>
              <a:ext cx="3072773" cy="0"/>
            </a:xfrm>
            <a:prstGeom prst="line">
              <a:avLst/>
            </a:prstGeom>
            <a:ln w="19050">
              <a:solidFill>
                <a:schemeClr val="bg1"/>
              </a:solidFill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D93E4CF9-FF1C-E13D-4D61-180F5954D4A4}"/>
                </a:ext>
              </a:extLst>
            </p:cNvPr>
            <p:cNvCxnSpPr>
              <a:cxnSpLocks/>
            </p:cNvCxnSpPr>
            <p:nvPr/>
          </p:nvCxnSpPr>
          <p:spPr>
            <a:xfrm>
              <a:off x="5923084" y="1053429"/>
              <a:ext cx="1887548" cy="17"/>
            </a:xfrm>
            <a:prstGeom prst="line">
              <a:avLst/>
            </a:prstGeom>
            <a:ln w="19050">
              <a:solidFill>
                <a:schemeClr val="bg1"/>
              </a:solidFill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83B575A4-12AB-CD56-DA6A-229E416E349D}"/>
                </a:ext>
              </a:extLst>
            </p:cNvPr>
            <p:cNvCxnSpPr>
              <a:cxnSpLocks/>
            </p:cNvCxnSpPr>
            <p:nvPr/>
          </p:nvCxnSpPr>
          <p:spPr>
            <a:xfrm>
              <a:off x="7813745" y="1053445"/>
              <a:ext cx="2735340" cy="38"/>
            </a:xfrm>
            <a:prstGeom prst="line">
              <a:avLst/>
            </a:prstGeom>
            <a:ln w="19050">
              <a:solidFill>
                <a:schemeClr val="bg1"/>
              </a:solidFill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9" name="Rectangle 198">
            <a:extLst>
              <a:ext uri="{FF2B5EF4-FFF2-40B4-BE49-F238E27FC236}">
                <a16:creationId xmlns:a16="http://schemas.microsoft.com/office/drawing/2014/main" id="{7301B076-3FCD-325F-2AE8-AA0BF54C6501}"/>
              </a:ext>
            </a:extLst>
          </p:cNvPr>
          <p:cNvSpPr/>
          <p:nvPr/>
        </p:nvSpPr>
        <p:spPr>
          <a:xfrm>
            <a:off x="33848007" y="8075756"/>
            <a:ext cx="317238" cy="2981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A42541C-5D21-890B-C9D9-F96D7F3F1F2C}"/>
              </a:ext>
            </a:extLst>
          </p:cNvPr>
          <p:cNvSpPr/>
          <p:nvPr/>
        </p:nvSpPr>
        <p:spPr>
          <a:xfrm>
            <a:off x="33848007" y="7016900"/>
            <a:ext cx="317238" cy="2981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C669B741-EC8A-9A6A-349E-4F01151A8605}"/>
              </a:ext>
            </a:extLst>
          </p:cNvPr>
          <p:cNvSpPr/>
          <p:nvPr/>
        </p:nvSpPr>
        <p:spPr>
          <a:xfrm>
            <a:off x="33848007" y="9162464"/>
            <a:ext cx="317238" cy="2981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145E08C-84C7-BF3B-E349-4787A1530C9C}"/>
              </a:ext>
            </a:extLst>
          </p:cNvPr>
          <p:cNvSpPr/>
          <p:nvPr/>
        </p:nvSpPr>
        <p:spPr>
          <a:xfrm>
            <a:off x="33433950" y="10556309"/>
            <a:ext cx="317238" cy="2981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B1132EE3-3EA7-7BD7-7D53-0E3E3FB30594}"/>
              </a:ext>
            </a:extLst>
          </p:cNvPr>
          <p:cNvSpPr/>
          <p:nvPr/>
        </p:nvSpPr>
        <p:spPr>
          <a:xfrm>
            <a:off x="13568544" y="6414593"/>
            <a:ext cx="5637906" cy="319215"/>
          </a:xfrm>
          <a:prstGeom prst="rect">
            <a:avLst/>
          </a:prstGeom>
          <a:pattFill prst="ltHorz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pic>
        <p:nvPicPr>
          <p:cNvPr id="211" name="Picture 210">
            <a:extLst>
              <a:ext uri="{FF2B5EF4-FFF2-40B4-BE49-F238E27FC236}">
                <a16:creationId xmlns:a16="http://schemas.microsoft.com/office/drawing/2014/main" id="{F20488BA-AD01-6A94-3D35-E8B0DC40EA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48688" y="6268983"/>
            <a:ext cx="1354020" cy="510954"/>
          </a:xfrm>
          <a:prstGeom prst="rect">
            <a:avLst/>
          </a:prstGeom>
        </p:spPr>
      </p:pic>
      <p:pic>
        <p:nvPicPr>
          <p:cNvPr id="219" name="Graphic 218" descr="Fuel with solid fill">
            <a:extLst>
              <a:ext uri="{FF2B5EF4-FFF2-40B4-BE49-F238E27FC236}">
                <a16:creationId xmlns:a16="http://schemas.microsoft.com/office/drawing/2014/main" id="{3A1749CF-F0B0-1E39-2AF0-C9FB065FA8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128447" y="16633401"/>
            <a:ext cx="916824" cy="688944"/>
          </a:xfrm>
          <a:prstGeom prst="rect">
            <a:avLst/>
          </a:prstGeom>
        </p:spPr>
      </p:pic>
      <p:pic>
        <p:nvPicPr>
          <p:cNvPr id="223" name="Picture 222">
            <a:extLst>
              <a:ext uri="{FF2B5EF4-FFF2-40B4-BE49-F238E27FC236}">
                <a16:creationId xmlns:a16="http://schemas.microsoft.com/office/drawing/2014/main" id="{ABCCA3B2-C60C-5255-7238-608AEB4973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29426" y="8758898"/>
            <a:ext cx="941631" cy="686979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CE2B46C-CDB7-D284-48C8-333A50331950}"/>
              </a:ext>
            </a:extLst>
          </p:cNvPr>
          <p:cNvGrpSpPr/>
          <p:nvPr/>
        </p:nvGrpSpPr>
        <p:grpSpPr>
          <a:xfrm>
            <a:off x="2042240" y="11943897"/>
            <a:ext cx="402375" cy="3099138"/>
            <a:chOff x="290842" y="4264439"/>
            <a:chExt cx="312234" cy="1074475"/>
          </a:xfrm>
        </p:grpSpPr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7A3336E1-3F04-7BBF-09ED-465327EE1517}"/>
                </a:ext>
              </a:extLst>
            </p:cNvPr>
            <p:cNvCxnSpPr/>
            <p:nvPr/>
          </p:nvCxnSpPr>
          <p:spPr>
            <a:xfrm>
              <a:off x="290842" y="4264439"/>
              <a:ext cx="312234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F3071672-EC55-70BB-E10A-1709F99D0CFA}"/>
                </a:ext>
              </a:extLst>
            </p:cNvPr>
            <p:cNvCxnSpPr/>
            <p:nvPr/>
          </p:nvCxnSpPr>
          <p:spPr>
            <a:xfrm>
              <a:off x="290842" y="4495990"/>
              <a:ext cx="312234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DF51D311-5C95-E0BD-8085-89D8D7547079}"/>
                </a:ext>
              </a:extLst>
            </p:cNvPr>
            <p:cNvCxnSpPr/>
            <p:nvPr/>
          </p:nvCxnSpPr>
          <p:spPr>
            <a:xfrm>
              <a:off x="290842" y="5338914"/>
              <a:ext cx="312234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7" name="Freeform: Shape 246">
            <a:extLst>
              <a:ext uri="{FF2B5EF4-FFF2-40B4-BE49-F238E27FC236}">
                <a16:creationId xmlns:a16="http://schemas.microsoft.com/office/drawing/2014/main" id="{824CF76B-3B43-7825-927C-69F0A01CADD3}"/>
              </a:ext>
            </a:extLst>
          </p:cNvPr>
          <p:cNvSpPr/>
          <p:nvPr/>
        </p:nvSpPr>
        <p:spPr>
          <a:xfrm>
            <a:off x="21500586" y="5982750"/>
            <a:ext cx="12667578" cy="14599986"/>
          </a:xfrm>
          <a:custGeom>
            <a:avLst/>
            <a:gdLst>
              <a:gd name="connsiteX0" fmla="*/ 0 w 2873828"/>
              <a:gd name="connsiteY0" fmla="*/ 4963885 h 4963885"/>
              <a:gd name="connsiteX1" fmla="*/ 0 w 2873828"/>
              <a:gd name="connsiteY1" fmla="*/ 3439885 h 4963885"/>
              <a:gd name="connsiteX2" fmla="*/ 1297577 w 2873828"/>
              <a:gd name="connsiteY2" fmla="*/ 3439885 h 4963885"/>
              <a:gd name="connsiteX3" fmla="*/ 1297577 w 2873828"/>
              <a:gd name="connsiteY3" fmla="*/ 0 h 4963885"/>
              <a:gd name="connsiteX4" fmla="*/ 2873828 w 2873828"/>
              <a:gd name="connsiteY4" fmla="*/ 0 h 4963885"/>
              <a:gd name="connsiteX5" fmla="*/ 2873828 w 2873828"/>
              <a:gd name="connsiteY5" fmla="*/ 95794 h 4963885"/>
              <a:gd name="connsiteX6" fmla="*/ 1410788 w 2873828"/>
              <a:gd name="connsiteY6" fmla="*/ 95794 h 4963885"/>
              <a:gd name="connsiteX7" fmla="*/ 1410788 w 2873828"/>
              <a:gd name="connsiteY7" fmla="*/ 3544388 h 4963885"/>
              <a:gd name="connsiteX8" fmla="*/ 1489166 w 2873828"/>
              <a:gd name="connsiteY8" fmla="*/ 3553097 h 4963885"/>
              <a:gd name="connsiteX9" fmla="*/ 156754 w 2873828"/>
              <a:gd name="connsiteY9" fmla="*/ 3553097 h 4963885"/>
              <a:gd name="connsiteX10" fmla="*/ 156754 w 2873828"/>
              <a:gd name="connsiteY10" fmla="*/ 4963885 h 4963885"/>
              <a:gd name="connsiteX11" fmla="*/ 0 w 2873828"/>
              <a:gd name="connsiteY11" fmla="*/ 4963885 h 4963885"/>
              <a:gd name="connsiteX0" fmla="*/ 0 w 2873828"/>
              <a:gd name="connsiteY0" fmla="*/ 4963885 h 4963885"/>
              <a:gd name="connsiteX1" fmla="*/ 0 w 2873828"/>
              <a:gd name="connsiteY1" fmla="*/ 3439885 h 4963885"/>
              <a:gd name="connsiteX2" fmla="*/ 1297577 w 2873828"/>
              <a:gd name="connsiteY2" fmla="*/ 3439885 h 4963885"/>
              <a:gd name="connsiteX3" fmla="*/ 1297577 w 2873828"/>
              <a:gd name="connsiteY3" fmla="*/ 0 h 4963885"/>
              <a:gd name="connsiteX4" fmla="*/ 2873828 w 2873828"/>
              <a:gd name="connsiteY4" fmla="*/ 0 h 4963885"/>
              <a:gd name="connsiteX5" fmla="*/ 2873828 w 2873828"/>
              <a:gd name="connsiteY5" fmla="*/ 95794 h 4963885"/>
              <a:gd name="connsiteX6" fmla="*/ 1410788 w 2873828"/>
              <a:gd name="connsiteY6" fmla="*/ 95794 h 4963885"/>
              <a:gd name="connsiteX7" fmla="*/ 1410788 w 2873828"/>
              <a:gd name="connsiteY7" fmla="*/ 3544388 h 4963885"/>
              <a:gd name="connsiteX8" fmla="*/ 156754 w 2873828"/>
              <a:gd name="connsiteY8" fmla="*/ 3553097 h 4963885"/>
              <a:gd name="connsiteX9" fmla="*/ 156754 w 2873828"/>
              <a:gd name="connsiteY9" fmla="*/ 4963885 h 4963885"/>
              <a:gd name="connsiteX10" fmla="*/ 0 w 2873828"/>
              <a:gd name="connsiteY10" fmla="*/ 4963885 h 4963885"/>
              <a:gd name="connsiteX0" fmla="*/ 0 w 2873828"/>
              <a:gd name="connsiteY0" fmla="*/ 4963885 h 4963885"/>
              <a:gd name="connsiteX1" fmla="*/ 0 w 2873828"/>
              <a:gd name="connsiteY1" fmla="*/ 3439885 h 4963885"/>
              <a:gd name="connsiteX2" fmla="*/ 1297577 w 2873828"/>
              <a:gd name="connsiteY2" fmla="*/ 3439885 h 4963885"/>
              <a:gd name="connsiteX3" fmla="*/ 1297577 w 2873828"/>
              <a:gd name="connsiteY3" fmla="*/ 0 h 4963885"/>
              <a:gd name="connsiteX4" fmla="*/ 2873828 w 2873828"/>
              <a:gd name="connsiteY4" fmla="*/ 0 h 4963885"/>
              <a:gd name="connsiteX5" fmla="*/ 2873828 w 2873828"/>
              <a:gd name="connsiteY5" fmla="*/ 95794 h 4963885"/>
              <a:gd name="connsiteX6" fmla="*/ 1410788 w 2873828"/>
              <a:gd name="connsiteY6" fmla="*/ 95794 h 4963885"/>
              <a:gd name="connsiteX7" fmla="*/ 1410788 w 2873828"/>
              <a:gd name="connsiteY7" fmla="*/ 3544388 h 4963885"/>
              <a:gd name="connsiteX8" fmla="*/ 156754 w 2873828"/>
              <a:gd name="connsiteY8" fmla="*/ 3550716 h 4963885"/>
              <a:gd name="connsiteX9" fmla="*/ 156754 w 2873828"/>
              <a:gd name="connsiteY9" fmla="*/ 4963885 h 4963885"/>
              <a:gd name="connsiteX10" fmla="*/ 0 w 2873828"/>
              <a:gd name="connsiteY10" fmla="*/ 4963885 h 4963885"/>
              <a:gd name="connsiteX0" fmla="*/ 0 w 2873828"/>
              <a:gd name="connsiteY0" fmla="*/ 4160260 h 4963885"/>
              <a:gd name="connsiteX1" fmla="*/ 0 w 2873828"/>
              <a:gd name="connsiteY1" fmla="*/ 3439885 h 4963885"/>
              <a:gd name="connsiteX2" fmla="*/ 1297577 w 2873828"/>
              <a:gd name="connsiteY2" fmla="*/ 3439885 h 4963885"/>
              <a:gd name="connsiteX3" fmla="*/ 1297577 w 2873828"/>
              <a:gd name="connsiteY3" fmla="*/ 0 h 4963885"/>
              <a:gd name="connsiteX4" fmla="*/ 2873828 w 2873828"/>
              <a:gd name="connsiteY4" fmla="*/ 0 h 4963885"/>
              <a:gd name="connsiteX5" fmla="*/ 2873828 w 2873828"/>
              <a:gd name="connsiteY5" fmla="*/ 95794 h 4963885"/>
              <a:gd name="connsiteX6" fmla="*/ 1410788 w 2873828"/>
              <a:gd name="connsiteY6" fmla="*/ 95794 h 4963885"/>
              <a:gd name="connsiteX7" fmla="*/ 1410788 w 2873828"/>
              <a:gd name="connsiteY7" fmla="*/ 3544388 h 4963885"/>
              <a:gd name="connsiteX8" fmla="*/ 156754 w 2873828"/>
              <a:gd name="connsiteY8" fmla="*/ 3550716 h 4963885"/>
              <a:gd name="connsiteX9" fmla="*/ 156754 w 2873828"/>
              <a:gd name="connsiteY9" fmla="*/ 4963885 h 4963885"/>
              <a:gd name="connsiteX10" fmla="*/ 0 w 2873828"/>
              <a:gd name="connsiteY10" fmla="*/ 4160260 h 4963885"/>
              <a:gd name="connsiteX0" fmla="*/ 0 w 2873828"/>
              <a:gd name="connsiteY0" fmla="*/ 4160260 h 4179394"/>
              <a:gd name="connsiteX1" fmla="*/ 0 w 2873828"/>
              <a:gd name="connsiteY1" fmla="*/ 3439885 h 4179394"/>
              <a:gd name="connsiteX2" fmla="*/ 1297577 w 2873828"/>
              <a:gd name="connsiteY2" fmla="*/ 3439885 h 4179394"/>
              <a:gd name="connsiteX3" fmla="*/ 1297577 w 2873828"/>
              <a:gd name="connsiteY3" fmla="*/ 0 h 4179394"/>
              <a:gd name="connsiteX4" fmla="*/ 2873828 w 2873828"/>
              <a:gd name="connsiteY4" fmla="*/ 0 h 4179394"/>
              <a:gd name="connsiteX5" fmla="*/ 2873828 w 2873828"/>
              <a:gd name="connsiteY5" fmla="*/ 95794 h 4179394"/>
              <a:gd name="connsiteX6" fmla="*/ 1410788 w 2873828"/>
              <a:gd name="connsiteY6" fmla="*/ 95794 h 4179394"/>
              <a:gd name="connsiteX7" fmla="*/ 1410788 w 2873828"/>
              <a:gd name="connsiteY7" fmla="*/ 3544388 h 4179394"/>
              <a:gd name="connsiteX8" fmla="*/ 156754 w 2873828"/>
              <a:gd name="connsiteY8" fmla="*/ 3550716 h 4179394"/>
              <a:gd name="connsiteX9" fmla="*/ 156754 w 2873828"/>
              <a:gd name="connsiteY9" fmla="*/ 4179394 h 4179394"/>
              <a:gd name="connsiteX10" fmla="*/ 0 w 2873828"/>
              <a:gd name="connsiteY10" fmla="*/ 4160260 h 4179394"/>
              <a:gd name="connsiteX0" fmla="*/ 0 w 2873828"/>
              <a:gd name="connsiteY0" fmla="*/ 4160260 h 4212966"/>
              <a:gd name="connsiteX1" fmla="*/ 0 w 2873828"/>
              <a:gd name="connsiteY1" fmla="*/ 3439885 h 4212966"/>
              <a:gd name="connsiteX2" fmla="*/ 1297577 w 2873828"/>
              <a:gd name="connsiteY2" fmla="*/ 3439885 h 4212966"/>
              <a:gd name="connsiteX3" fmla="*/ 1297577 w 2873828"/>
              <a:gd name="connsiteY3" fmla="*/ 0 h 4212966"/>
              <a:gd name="connsiteX4" fmla="*/ 2873828 w 2873828"/>
              <a:gd name="connsiteY4" fmla="*/ 0 h 4212966"/>
              <a:gd name="connsiteX5" fmla="*/ 2873828 w 2873828"/>
              <a:gd name="connsiteY5" fmla="*/ 95794 h 4212966"/>
              <a:gd name="connsiteX6" fmla="*/ 1410788 w 2873828"/>
              <a:gd name="connsiteY6" fmla="*/ 95794 h 4212966"/>
              <a:gd name="connsiteX7" fmla="*/ 1410788 w 2873828"/>
              <a:gd name="connsiteY7" fmla="*/ 3544388 h 4212966"/>
              <a:gd name="connsiteX8" fmla="*/ 156754 w 2873828"/>
              <a:gd name="connsiteY8" fmla="*/ 3550716 h 4212966"/>
              <a:gd name="connsiteX9" fmla="*/ 158855 w 2873828"/>
              <a:gd name="connsiteY9" fmla="*/ 4212966 h 4212966"/>
              <a:gd name="connsiteX10" fmla="*/ 0 w 2873828"/>
              <a:gd name="connsiteY10" fmla="*/ 4160260 h 4212966"/>
              <a:gd name="connsiteX0" fmla="*/ 8407 w 2873828"/>
              <a:gd name="connsiteY0" fmla="*/ 4214815 h 4214815"/>
              <a:gd name="connsiteX1" fmla="*/ 0 w 2873828"/>
              <a:gd name="connsiteY1" fmla="*/ 3439885 h 4214815"/>
              <a:gd name="connsiteX2" fmla="*/ 1297577 w 2873828"/>
              <a:gd name="connsiteY2" fmla="*/ 3439885 h 4214815"/>
              <a:gd name="connsiteX3" fmla="*/ 1297577 w 2873828"/>
              <a:gd name="connsiteY3" fmla="*/ 0 h 4214815"/>
              <a:gd name="connsiteX4" fmla="*/ 2873828 w 2873828"/>
              <a:gd name="connsiteY4" fmla="*/ 0 h 4214815"/>
              <a:gd name="connsiteX5" fmla="*/ 2873828 w 2873828"/>
              <a:gd name="connsiteY5" fmla="*/ 95794 h 4214815"/>
              <a:gd name="connsiteX6" fmla="*/ 1410788 w 2873828"/>
              <a:gd name="connsiteY6" fmla="*/ 95794 h 4214815"/>
              <a:gd name="connsiteX7" fmla="*/ 1410788 w 2873828"/>
              <a:gd name="connsiteY7" fmla="*/ 3544388 h 4214815"/>
              <a:gd name="connsiteX8" fmla="*/ 156754 w 2873828"/>
              <a:gd name="connsiteY8" fmla="*/ 3550716 h 4214815"/>
              <a:gd name="connsiteX9" fmla="*/ 158855 w 2873828"/>
              <a:gd name="connsiteY9" fmla="*/ 4212966 h 4214815"/>
              <a:gd name="connsiteX10" fmla="*/ 8407 w 2873828"/>
              <a:gd name="connsiteY10" fmla="*/ 4214815 h 4214815"/>
              <a:gd name="connsiteX0" fmla="*/ 8407 w 2873828"/>
              <a:gd name="connsiteY0" fmla="*/ 4210618 h 4212966"/>
              <a:gd name="connsiteX1" fmla="*/ 0 w 2873828"/>
              <a:gd name="connsiteY1" fmla="*/ 3439885 h 4212966"/>
              <a:gd name="connsiteX2" fmla="*/ 1297577 w 2873828"/>
              <a:gd name="connsiteY2" fmla="*/ 3439885 h 4212966"/>
              <a:gd name="connsiteX3" fmla="*/ 1297577 w 2873828"/>
              <a:gd name="connsiteY3" fmla="*/ 0 h 4212966"/>
              <a:gd name="connsiteX4" fmla="*/ 2873828 w 2873828"/>
              <a:gd name="connsiteY4" fmla="*/ 0 h 4212966"/>
              <a:gd name="connsiteX5" fmla="*/ 2873828 w 2873828"/>
              <a:gd name="connsiteY5" fmla="*/ 95794 h 4212966"/>
              <a:gd name="connsiteX6" fmla="*/ 1410788 w 2873828"/>
              <a:gd name="connsiteY6" fmla="*/ 95794 h 4212966"/>
              <a:gd name="connsiteX7" fmla="*/ 1410788 w 2873828"/>
              <a:gd name="connsiteY7" fmla="*/ 3544388 h 4212966"/>
              <a:gd name="connsiteX8" fmla="*/ 156754 w 2873828"/>
              <a:gd name="connsiteY8" fmla="*/ 3550716 h 4212966"/>
              <a:gd name="connsiteX9" fmla="*/ 158855 w 2873828"/>
              <a:gd name="connsiteY9" fmla="*/ 4212966 h 4212966"/>
              <a:gd name="connsiteX10" fmla="*/ 8407 w 2873828"/>
              <a:gd name="connsiteY10" fmla="*/ 4210618 h 4212966"/>
              <a:gd name="connsiteX0" fmla="*/ 1008837 w 3874258"/>
              <a:gd name="connsiteY0" fmla="*/ 4210618 h 4212966"/>
              <a:gd name="connsiteX1" fmla="*/ 0 w 3874258"/>
              <a:gd name="connsiteY1" fmla="*/ 3456671 h 4212966"/>
              <a:gd name="connsiteX2" fmla="*/ 2298007 w 3874258"/>
              <a:gd name="connsiteY2" fmla="*/ 3439885 h 4212966"/>
              <a:gd name="connsiteX3" fmla="*/ 2298007 w 3874258"/>
              <a:gd name="connsiteY3" fmla="*/ 0 h 4212966"/>
              <a:gd name="connsiteX4" fmla="*/ 3874258 w 3874258"/>
              <a:gd name="connsiteY4" fmla="*/ 0 h 4212966"/>
              <a:gd name="connsiteX5" fmla="*/ 3874258 w 3874258"/>
              <a:gd name="connsiteY5" fmla="*/ 95794 h 4212966"/>
              <a:gd name="connsiteX6" fmla="*/ 2411218 w 3874258"/>
              <a:gd name="connsiteY6" fmla="*/ 95794 h 4212966"/>
              <a:gd name="connsiteX7" fmla="*/ 2411218 w 3874258"/>
              <a:gd name="connsiteY7" fmla="*/ 3544388 h 4212966"/>
              <a:gd name="connsiteX8" fmla="*/ 1157184 w 3874258"/>
              <a:gd name="connsiteY8" fmla="*/ 3550716 h 4212966"/>
              <a:gd name="connsiteX9" fmla="*/ 1159285 w 3874258"/>
              <a:gd name="connsiteY9" fmla="*/ 4212966 h 4212966"/>
              <a:gd name="connsiteX10" fmla="*/ 1008837 w 3874258"/>
              <a:gd name="connsiteY10" fmla="*/ 4210618 h 4212966"/>
              <a:gd name="connsiteX0" fmla="*/ 808 w 3875066"/>
              <a:gd name="connsiteY0" fmla="*/ 4202225 h 4212966"/>
              <a:gd name="connsiteX1" fmla="*/ 808 w 3875066"/>
              <a:gd name="connsiteY1" fmla="*/ 3456671 h 4212966"/>
              <a:gd name="connsiteX2" fmla="*/ 2298815 w 3875066"/>
              <a:gd name="connsiteY2" fmla="*/ 3439885 h 4212966"/>
              <a:gd name="connsiteX3" fmla="*/ 2298815 w 3875066"/>
              <a:gd name="connsiteY3" fmla="*/ 0 h 4212966"/>
              <a:gd name="connsiteX4" fmla="*/ 3875066 w 3875066"/>
              <a:gd name="connsiteY4" fmla="*/ 0 h 4212966"/>
              <a:gd name="connsiteX5" fmla="*/ 3875066 w 3875066"/>
              <a:gd name="connsiteY5" fmla="*/ 95794 h 4212966"/>
              <a:gd name="connsiteX6" fmla="*/ 2412026 w 3875066"/>
              <a:gd name="connsiteY6" fmla="*/ 95794 h 4212966"/>
              <a:gd name="connsiteX7" fmla="*/ 2412026 w 3875066"/>
              <a:gd name="connsiteY7" fmla="*/ 3544388 h 4212966"/>
              <a:gd name="connsiteX8" fmla="*/ 1157992 w 3875066"/>
              <a:gd name="connsiteY8" fmla="*/ 3550716 h 4212966"/>
              <a:gd name="connsiteX9" fmla="*/ 1160093 w 3875066"/>
              <a:gd name="connsiteY9" fmla="*/ 4212966 h 4212966"/>
              <a:gd name="connsiteX10" fmla="*/ 808 w 3875066"/>
              <a:gd name="connsiteY10" fmla="*/ 4202225 h 4212966"/>
              <a:gd name="connsiteX0" fmla="*/ 808 w 3875066"/>
              <a:gd name="connsiteY0" fmla="*/ 4202225 h 4212966"/>
              <a:gd name="connsiteX1" fmla="*/ 808 w 3875066"/>
              <a:gd name="connsiteY1" fmla="*/ 3456671 h 4212966"/>
              <a:gd name="connsiteX2" fmla="*/ 2298815 w 3875066"/>
              <a:gd name="connsiteY2" fmla="*/ 3439885 h 4212966"/>
              <a:gd name="connsiteX3" fmla="*/ 2298815 w 3875066"/>
              <a:gd name="connsiteY3" fmla="*/ 0 h 4212966"/>
              <a:gd name="connsiteX4" fmla="*/ 3875066 w 3875066"/>
              <a:gd name="connsiteY4" fmla="*/ 0 h 4212966"/>
              <a:gd name="connsiteX5" fmla="*/ 3875066 w 3875066"/>
              <a:gd name="connsiteY5" fmla="*/ 95794 h 4212966"/>
              <a:gd name="connsiteX6" fmla="*/ 2412026 w 3875066"/>
              <a:gd name="connsiteY6" fmla="*/ 95794 h 4212966"/>
              <a:gd name="connsiteX7" fmla="*/ 2412026 w 3875066"/>
              <a:gd name="connsiteY7" fmla="*/ 3544388 h 4212966"/>
              <a:gd name="connsiteX8" fmla="*/ 165969 w 3875066"/>
              <a:gd name="connsiteY8" fmla="*/ 3542323 h 4212966"/>
              <a:gd name="connsiteX9" fmla="*/ 1160093 w 3875066"/>
              <a:gd name="connsiteY9" fmla="*/ 4212966 h 4212966"/>
              <a:gd name="connsiteX10" fmla="*/ 808 w 3875066"/>
              <a:gd name="connsiteY10" fmla="*/ 4202225 h 4212966"/>
              <a:gd name="connsiteX0" fmla="*/ 808 w 3875066"/>
              <a:gd name="connsiteY0" fmla="*/ 4202225 h 4202225"/>
              <a:gd name="connsiteX1" fmla="*/ 808 w 3875066"/>
              <a:gd name="connsiteY1" fmla="*/ 3456671 h 4202225"/>
              <a:gd name="connsiteX2" fmla="*/ 2298815 w 3875066"/>
              <a:gd name="connsiteY2" fmla="*/ 3439885 h 4202225"/>
              <a:gd name="connsiteX3" fmla="*/ 2298815 w 3875066"/>
              <a:gd name="connsiteY3" fmla="*/ 0 h 4202225"/>
              <a:gd name="connsiteX4" fmla="*/ 3875066 w 3875066"/>
              <a:gd name="connsiteY4" fmla="*/ 0 h 4202225"/>
              <a:gd name="connsiteX5" fmla="*/ 3875066 w 3875066"/>
              <a:gd name="connsiteY5" fmla="*/ 95794 h 4202225"/>
              <a:gd name="connsiteX6" fmla="*/ 2412026 w 3875066"/>
              <a:gd name="connsiteY6" fmla="*/ 95794 h 4202225"/>
              <a:gd name="connsiteX7" fmla="*/ 2412026 w 3875066"/>
              <a:gd name="connsiteY7" fmla="*/ 3544388 h 4202225"/>
              <a:gd name="connsiteX8" fmla="*/ 165969 w 3875066"/>
              <a:gd name="connsiteY8" fmla="*/ 3542323 h 4202225"/>
              <a:gd name="connsiteX9" fmla="*/ 193291 w 3875066"/>
              <a:gd name="connsiteY9" fmla="*/ 4196180 h 4202225"/>
              <a:gd name="connsiteX10" fmla="*/ 808 w 3875066"/>
              <a:gd name="connsiteY10" fmla="*/ 4202225 h 4202225"/>
              <a:gd name="connsiteX0" fmla="*/ 808 w 3875066"/>
              <a:gd name="connsiteY0" fmla="*/ 4202225 h 4202225"/>
              <a:gd name="connsiteX1" fmla="*/ 808 w 3875066"/>
              <a:gd name="connsiteY1" fmla="*/ 3446180 h 4202225"/>
              <a:gd name="connsiteX2" fmla="*/ 2298815 w 3875066"/>
              <a:gd name="connsiteY2" fmla="*/ 3439885 h 4202225"/>
              <a:gd name="connsiteX3" fmla="*/ 2298815 w 3875066"/>
              <a:gd name="connsiteY3" fmla="*/ 0 h 4202225"/>
              <a:gd name="connsiteX4" fmla="*/ 3875066 w 3875066"/>
              <a:gd name="connsiteY4" fmla="*/ 0 h 4202225"/>
              <a:gd name="connsiteX5" fmla="*/ 3875066 w 3875066"/>
              <a:gd name="connsiteY5" fmla="*/ 95794 h 4202225"/>
              <a:gd name="connsiteX6" fmla="*/ 2412026 w 3875066"/>
              <a:gd name="connsiteY6" fmla="*/ 95794 h 4202225"/>
              <a:gd name="connsiteX7" fmla="*/ 2412026 w 3875066"/>
              <a:gd name="connsiteY7" fmla="*/ 3544388 h 4202225"/>
              <a:gd name="connsiteX8" fmla="*/ 165969 w 3875066"/>
              <a:gd name="connsiteY8" fmla="*/ 3542323 h 4202225"/>
              <a:gd name="connsiteX9" fmla="*/ 193291 w 3875066"/>
              <a:gd name="connsiteY9" fmla="*/ 4196180 h 4202225"/>
              <a:gd name="connsiteX10" fmla="*/ 808 w 3875066"/>
              <a:gd name="connsiteY10" fmla="*/ 4202225 h 4202225"/>
              <a:gd name="connsiteX0" fmla="*/ 808 w 3875066"/>
              <a:gd name="connsiteY0" fmla="*/ 4202225 h 4202225"/>
              <a:gd name="connsiteX1" fmla="*/ 808 w 3875066"/>
              <a:gd name="connsiteY1" fmla="*/ 3446180 h 4202225"/>
              <a:gd name="connsiteX2" fmla="*/ 2298815 w 3875066"/>
              <a:gd name="connsiteY2" fmla="*/ 3439885 h 4202225"/>
              <a:gd name="connsiteX3" fmla="*/ 2298815 w 3875066"/>
              <a:gd name="connsiteY3" fmla="*/ 0 h 4202225"/>
              <a:gd name="connsiteX4" fmla="*/ 3875066 w 3875066"/>
              <a:gd name="connsiteY4" fmla="*/ 0 h 4202225"/>
              <a:gd name="connsiteX5" fmla="*/ 3875066 w 3875066"/>
              <a:gd name="connsiteY5" fmla="*/ 95794 h 4202225"/>
              <a:gd name="connsiteX6" fmla="*/ 2412026 w 3875066"/>
              <a:gd name="connsiteY6" fmla="*/ 95794 h 4202225"/>
              <a:gd name="connsiteX7" fmla="*/ 2412026 w 3875066"/>
              <a:gd name="connsiteY7" fmla="*/ 3544388 h 4202225"/>
              <a:gd name="connsiteX8" fmla="*/ 197496 w 3875066"/>
              <a:gd name="connsiteY8" fmla="*/ 3542323 h 4202225"/>
              <a:gd name="connsiteX9" fmla="*/ 193291 w 3875066"/>
              <a:gd name="connsiteY9" fmla="*/ 4196180 h 4202225"/>
              <a:gd name="connsiteX10" fmla="*/ 808 w 3875066"/>
              <a:gd name="connsiteY10" fmla="*/ 4202225 h 4202225"/>
              <a:gd name="connsiteX0" fmla="*/ 808 w 3875066"/>
              <a:gd name="connsiteY0" fmla="*/ 4202225 h 4202225"/>
              <a:gd name="connsiteX1" fmla="*/ 808 w 3875066"/>
              <a:gd name="connsiteY1" fmla="*/ 3446180 h 4202225"/>
              <a:gd name="connsiteX2" fmla="*/ 2298815 w 3875066"/>
              <a:gd name="connsiteY2" fmla="*/ 3439885 h 4202225"/>
              <a:gd name="connsiteX3" fmla="*/ 2298815 w 3875066"/>
              <a:gd name="connsiteY3" fmla="*/ 0 h 4202225"/>
              <a:gd name="connsiteX4" fmla="*/ 3875066 w 3875066"/>
              <a:gd name="connsiteY4" fmla="*/ 0 h 4202225"/>
              <a:gd name="connsiteX5" fmla="*/ 3875066 w 3875066"/>
              <a:gd name="connsiteY5" fmla="*/ 95794 h 4202225"/>
              <a:gd name="connsiteX6" fmla="*/ 2412026 w 3875066"/>
              <a:gd name="connsiteY6" fmla="*/ 95794 h 4202225"/>
              <a:gd name="connsiteX7" fmla="*/ 2412026 w 3875066"/>
              <a:gd name="connsiteY7" fmla="*/ 3544388 h 4202225"/>
              <a:gd name="connsiteX8" fmla="*/ 186988 w 3875066"/>
              <a:gd name="connsiteY8" fmla="*/ 3542323 h 4202225"/>
              <a:gd name="connsiteX9" fmla="*/ 193291 w 3875066"/>
              <a:gd name="connsiteY9" fmla="*/ 4196180 h 4202225"/>
              <a:gd name="connsiteX10" fmla="*/ 808 w 3875066"/>
              <a:gd name="connsiteY10" fmla="*/ 4202225 h 4202225"/>
              <a:gd name="connsiteX0" fmla="*/ 808 w 3875066"/>
              <a:gd name="connsiteY0" fmla="*/ 4202225 h 4202225"/>
              <a:gd name="connsiteX1" fmla="*/ 808 w 3875066"/>
              <a:gd name="connsiteY1" fmla="*/ 3446180 h 4202225"/>
              <a:gd name="connsiteX2" fmla="*/ 2298815 w 3875066"/>
              <a:gd name="connsiteY2" fmla="*/ 3439885 h 4202225"/>
              <a:gd name="connsiteX3" fmla="*/ 2298815 w 3875066"/>
              <a:gd name="connsiteY3" fmla="*/ 0 h 4202225"/>
              <a:gd name="connsiteX4" fmla="*/ 3875066 w 3875066"/>
              <a:gd name="connsiteY4" fmla="*/ 0 h 4202225"/>
              <a:gd name="connsiteX5" fmla="*/ 3875066 w 3875066"/>
              <a:gd name="connsiteY5" fmla="*/ 95794 h 4202225"/>
              <a:gd name="connsiteX6" fmla="*/ 2412026 w 3875066"/>
              <a:gd name="connsiteY6" fmla="*/ 95794 h 4202225"/>
              <a:gd name="connsiteX7" fmla="*/ 2412026 w 3875066"/>
              <a:gd name="connsiteY7" fmla="*/ 3544388 h 4202225"/>
              <a:gd name="connsiteX8" fmla="*/ 191191 w 3875066"/>
              <a:gd name="connsiteY8" fmla="*/ 3548618 h 4202225"/>
              <a:gd name="connsiteX9" fmla="*/ 193291 w 3875066"/>
              <a:gd name="connsiteY9" fmla="*/ 4196180 h 4202225"/>
              <a:gd name="connsiteX10" fmla="*/ 808 w 3875066"/>
              <a:gd name="connsiteY10" fmla="*/ 4202225 h 4202225"/>
              <a:gd name="connsiteX0" fmla="*/ 808 w 3875066"/>
              <a:gd name="connsiteY0" fmla="*/ 4202225 h 4208769"/>
              <a:gd name="connsiteX1" fmla="*/ 808 w 3875066"/>
              <a:gd name="connsiteY1" fmla="*/ 3446180 h 4208769"/>
              <a:gd name="connsiteX2" fmla="*/ 2298815 w 3875066"/>
              <a:gd name="connsiteY2" fmla="*/ 3439885 h 4208769"/>
              <a:gd name="connsiteX3" fmla="*/ 2298815 w 3875066"/>
              <a:gd name="connsiteY3" fmla="*/ 0 h 4208769"/>
              <a:gd name="connsiteX4" fmla="*/ 3875066 w 3875066"/>
              <a:gd name="connsiteY4" fmla="*/ 0 h 4208769"/>
              <a:gd name="connsiteX5" fmla="*/ 3875066 w 3875066"/>
              <a:gd name="connsiteY5" fmla="*/ 95794 h 4208769"/>
              <a:gd name="connsiteX6" fmla="*/ 2412026 w 3875066"/>
              <a:gd name="connsiteY6" fmla="*/ 95794 h 4208769"/>
              <a:gd name="connsiteX7" fmla="*/ 2412026 w 3875066"/>
              <a:gd name="connsiteY7" fmla="*/ 3544388 h 4208769"/>
              <a:gd name="connsiteX8" fmla="*/ 191191 w 3875066"/>
              <a:gd name="connsiteY8" fmla="*/ 3548618 h 4208769"/>
              <a:gd name="connsiteX9" fmla="*/ 189087 w 3875066"/>
              <a:gd name="connsiteY9" fmla="*/ 4208769 h 4208769"/>
              <a:gd name="connsiteX10" fmla="*/ 808 w 3875066"/>
              <a:gd name="connsiteY10" fmla="*/ 4202225 h 4208769"/>
              <a:gd name="connsiteX0" fmla="*/ 808 w 3875066"/>
              <a:gd name="connsiteY0" fmla="*/ 4206422 h 4208769"/>
              <a:gd name="connsiteX1" fmla="*/ 808 w 3875066"/>
              <a:gd name="connsiteY1" fmla="*/ 3446180 h 4208769"/>
              <a:gd name="connsiteX2" fmla="*/ 2298815 w 3875066"/>
              <a:gd name="connsiteY2" fmla="*/ 3439885 h 4208769"/>
              <a:gd name="connsiteX3" fmla="*/ 2298815 w 3875066"/>
              <a:gd name="connsiteY3" fmla="*/ 0 h 4208769"/>
              <a:gd name="connsiteX4" fmla="*/ 3875066 w 3875066"/>
              <a:gd name="connsiteY4" fmla="*/ 0 h 4208769"/>
              <a:gd name="connsiteX5" fmla="*/ 3875066 w 3875066"/>
              <a:gd name="connsiteY5" fmla="*/ 95794 h 4208769"/>
              <a:gd name="connsiteX6" fmla="*/ 2412026 w 3875066"/>
              <a:gd name="connsiteY6" fmla="*/ 95794 h 4208769"/>
              <a:gd name="connsiteX7" fmla="*/ 2412026 w 3875066"/>
              <a:gd name="connsiteY7" fmla="*/ 3544388 h 4208769"/>
              <a:gd name="connsiteX8" fmla="*/ 191191 w 3875066"/>
              <a:gd name="connsiteY8" fmla="*/ 3548618 h 4208769"/>
              <a:gd name="connsiteX9" fmla="*/ 189087 w 3875066"/>
              <a:gd name="connsiteY9" fmla="*/ 4208769 h 4208769"/>
              <a:gd name="connsiteX10" fmla="*/ 808 w 3875066"/>
              <a:gd name="connsiteY10" fmla="*/ 4206422 h 4208769"/>
              <a:gd name="connsiteX0" fmla="*/ 808 w 3875066"/>
              <a:gd name="connsiteY0" fmla="*/ 4208521 h 4208769"/>
              <a:gd name="connsiteX1" fmla="*/ 808 w 3875066"/>
              <a:gd name="connsiteY1" fmla="*/ 3446180 h 4208769"/>
              <a:gd name="connsiteX2" fmla="*/ 2298815 w 3875066"/>
              <a:gd name="connsiteY2" fmla="*/ 3439885 h 4208769"/>
              <a:gd name="connsiteX3" fmla="*/ 2298815 w 3875066"/>
              <a:gd name="connsiteY3" fmla="*/ 0 h 4208769"/>
              <a:gd name="connsiteX4" fmla="*/ 3875066 w 3875066"/>
              <a:gd name="connsiteY4" fmla="*/ 0 h 4208769"/>
              <a:gd name="connsiteX5" fmla="*/ 3875066 w 3875066"/>
              <a:gd name="connsiteY5" fmla="*/ 95794 h 4208769"/>
              <a:gd name="connsiteX6" fmla="*/ 2412026 w 3875066"/>
              <a:gd name="connsiteY6" fmla="*/ 95794 h 4208769"/>
              <a:gd name="connsiteX7" fmla="*/ 2412026 w 3875066"/>
              <a:gd name="connsiteY7" fmla="*/ 3544388 h 4208769"/>
              <a:gd name="connsiteX8" fmla="*/ 191191 w 3875066"/>
              <a:gd name="connsiteY8" fmla="*/ 3548618 h 4208769"/>
              <a:gd name="connsiteX9" fmla="*/ 189087 w 3875066"/>
              <a:gd name="connsiteY9" fmla="*/ 4208769 h 4208769"/>
              <a:gd name="connsiteX10" fmla="*/ 808 w 3875066"/>
              <a:gd name="connsiteY10" fmla="*/ 4208521 h 4208769"/>
              <a:gd name="connsiteX0" fmla="*/ 510 w 3874768"/>
              <a:gd name="connsiteY0" fmla="*/ 4208521 h 4208769"/>
              <a:gd name="connsiteX1" fmla="*/ 4713 w 3874768"/>
              <a:gd name="connsiteY1" fmla="*/ 3439885 h 4208769"/>
              <a:gd name="connsiteX2" fmla="*/ 2298517 w 3874768"/>
              <a:gd name="connsiteY2" fmla="*/ 3439885 h 4208769"/>
              <a:gd name="connsiteX3" fmla="*/ 2298517 w 3874768"/>
              <a:gd name="connsiteY3" fmla="*/ 0 h 4208769"/>
              <a:gd name="connsiteX4" fmla="*/ 3874768 w 3874768"/>
              <a:gd name="connsiteY4" fmla="*/ 0 h 4208769"/>
              <a:gd name="connsiteX5" fmla="*/ 3874768 w 3874768"/>
              <a:gd name="connsiteY5" fmla="*/ 95794 h 4208769"/>
              <a:gd name="connsiteX6" fmla="*/ 2411728 w 3874768"/>
              <a:gd name="connsiteY6" fmla="*/ 95794 h 4208769"/>
              <a:gd name="connsiteX7" fmla="*/ 2411728 w 3874768"/>
              <a:gd name="connsiteY7" fmla="*/ 3544388 h 4208769"/>
              <a:gd name="connsiteX8" fmla="*/ 190893 w 3874768"/>
              <a:gd name="connsiteY8" fmla="*/ 3548618 h 4208769"/>
              <a:gd name="connsiteX9" fmla="*/ 188789 w 3874768"/>
              <a:gd name="connsiteY9" fmla="*/ 4208769 h 4208769"/>
              <a:gd name="connsiteX10" fmla="*/ 510 w 3874768"/>
              <a:gd name="connsiteY10" fmla="*/ 4208521 h 4208769"/>
              <a:gd name="connsiteX0" fmla="*/ 2102 w 3876360"/>
              <a:gd name="connsiteY0" fmla="*/ 4208521 h 4208769"/>
              <a:gd name="connsiteX1" fmla="*/ 0 w 3876360"/>
              <a:gd name="connsiteY1" fmla="*/ 3435688 h 4208769"/>
              <a:gd name="connsiteX2" fmla="*/ 2300109 w 3876360"/>
              <a:gd name="connsiteY2" fmla="*/ 3439885 h 4208769"/>
              <a:gd name="connsiteX3" fmla="*/ 2300109 w 3876360"/>
              <a:gd name="connsiteY3" fmla="*/ 0 h 4208769"/>
              <a:gd name="connsiteX4" fmla="*/ 3876360 w 3876360"/>
              <a:gd name="connsiteY4" fmla="*/ 0 h 4208769"/>
              <a:gd name="connsiteX5" fmla="*/ 3876360 w 3876360"/>
              <a:gd name="connsiteY5" fmla="*/ 95794 h 4208769"/>
              <a:gd name="connsiteX6" fmla="*/ 2413320 w 3876360"/>
              <a:gd name="connsiteY6" fmla="*/ 95794 h 4208769"/>
              <a:gd name="connsiteX7" fmla="*/ 2413320 w 3876360"/>
              <a:gd name="connsiteY7" fmla="*/ 3544388 h 4208769"/>
              <a:gd name="connsiteX8" fmla="*/ 192485 w 3876360"/>
              <a:gd name="connsiteY8" fmla="*/ 3548618 h 4208769"/>
              <a:gd name="connsiteX9" fmla="*/ 190381 w 3876360"/>
              <a:gd name="connsiteY9" fmla="*/ 4208769 h 4208769"/>
              <a:gd name="connsiteX10" fmla="*/ 2102 w 3876360"/>
              <a:gd name="connsiteY10" fmla="*/ 4208521 h 4208769"/>
              <a:gd name="connsiteX0" fmla="*/ 809 w 3875067"/>
              <a:gd name="connsiteY0" fmla="*/ 4208521 h 4208769"/>
              <a:gd name="connsiteX1" fmla="*/ 809 w 3875067"/>
              <a:gd name="connsiteY1" fmla="*/ 3435688 h 4208769"/>
              <a:gd name="connsiteX2" fmla="*/ 2298816 w 3875067"/>
              <a:gd name="connsiteY2" fmla="*/ 3439885 h 4208769"/>
              <a:gd name="connsiteX3" fmla="*/ 2298816 w 3875067"/>
              <a:gd name="connsiteY3" fmla="*/ 0 h 4208769"/>
              <a:gd name="connsiteX4" fmla="*/ 3875067 w 3875067"/>
              <a:gd name="connsiteY4" fmla="*/ 0 h 4208769"/>
              <a:gd name="connsiteX5" fmla="*/ 3875067 w 3875067"/>
              <a:gd name="connsiteY5" fmla="*/ 95794 h 4208769"/>
              <a:gd name="connsiteX6" fmla="*/ 2412027 w 3875067"/>
              <a:gd name="connsiteY6" fmla="*/ 95794 h 4208769"/>
              <a:gd name="connsiteX7" fmla="*/ 2412027 w 3875067"/>
              <a:gd name="connsiteY7" fmla="*/ 3544388 h 4208769"/>
              <a:gd name="connsiteX8" fmla="*/ 191192 w 3875067"/>
              <a:gd name="connsiteY8" fmla="*/ 3548618 h 4208769"/>
              <a:gd name="connsiteX9" fmla="*/ 189088 w 3875067"/>
              <a:gd name="connsiteY9" fmla="*/ 4208769 h 4208769"/>
              <a:gd name="connsiteX10" fmla="*/ 809 w 3875067"/>
              <a:gd name="connsiteY10" fmla="*/ 4208521 h 4208769"/>
              <a:gd name="connsiteX0" fmla="*/ 2101 w 3876359"/>
              <a:gd name="connsiteY0" fmla="*/ 4208521 h 4208769"/>
              <a:gd name="connsiteX1" fmla="*/ 0 w 3876359"/>
              <a:gd name="connsiteY1" fmla="*/ 3435688 h 4208769"/>
              <a:gd name="connsiteX2" fmla="*/ 2300108 w 3876359"/>
              <a:gd name="connsiteY2" fmla="*/ 3439885 h 4208769"/>
              <a:gd name="connsiteX3" fmla="*/ 2300108 w 3876359"/>
              <a:gd name="connsiteY3" fmla="*/ 0 h 4208769"/>
              <a:gd name="connsiteX4" fmla="*/ 3876359 w 3876359"/>
              <a:gd name="connsiteY4" fmla="*/ 0 h 4208769"/>
              <a:gd name="connsiteX5" fmla="*/ 3876359 w 3876359"/>
              <a:gd name="connsiteY5" fmla="*/ 95794 h 4208769"/>
              <a:gd name="connsiteX6" fmla="*/ 2413319 w 3876359"/>
              <a:gd name="connsiteY6" fmla="*/ 95794 h 4208769"/>
              <a:gd name="connsiteX7" fmla="*/ 2413319 w 3876359"/>
              <a:gd name="connsiteY7" fmla="*/ 3544388 h 4208769"/>
              <a:gd name="connsiteX8" fmla="*/ 192484 w 3876359"/>
              <a:gd name="connsiteY8" fmla="*/ 3548618 h 4208769"/>
              <a:gd name="connsiteX9" fmla="*/ 190380 w 3876359"/>
              <a:gd name="connsiteY9" fmla="*/ 4208769 h 4208769"/>
              <a:gd name="connsiteX10" fmla="*/ 2101 w 3876359"/>
              <a:gd name="connsiteY10" fmla="*/ 4208521 h 4208769"/>
              <a:gd name="connsiteX0" fmla="*/ 2101 w 3876359"/>
              <a:gd name="connsiteY0" fmla="*/ 4208521 h 4460562"/>
              <a:gd name="connsiteX1" fmla="*/ 0 w 3876359"/>
              <a:gd name="connsiteY1" fmla="*/ 3435688 h 4460562"/>
              <a:gd name="connsiteX2" fmla="*/ 2300108 w 3876359"/>
              <a:gd name="connsiteY2" fmla="*/ 3439885 h 4460562"/>
              <a:gd name="connsiteX3" fmla="*/ 2300108 w 3876359"/>
              <a:gd name="connsiteY3" fmla="*/ 0 h 4460562"/>
              <a:gd name="connsiteX4" fmla="*/ 3876359 w 3876359"/>
              <a:gd name="connsiteY4" fmla="*/ 0 h 4460562"/>
              <a:gd name="connsiteX5" fmla="*/ 3876359 w 3876359"/>
              <a:gd name="connsiteY5" fmla="*/ 95794 h 4460562"/>
              <a:gd name="connsiteX6" fmla="*/ 2413319 w 3876359"/>
              <a:gd name="connsiteY6" fmla="*/ 95794 h 4460562"/>
              <a:gd name="connsiteX7" fmla="*/ 2413319 w 3876359"/>
              <a:gd name="connsiteY7" fmla="*/ 3544388 h 4460562"/>
              <a:gd name="connsiteX8" fmla="*/ 192484 w 3876359"/>
              <a:gd name="connsiteY8" fmla="*/ 3548618 h 4460562"/>
              <a:gd name="connsiteX9" fmla="*/ 190380 w 3876359"/>
              <a:gd name="connsiteY9" fmla="*/ 4460562 h 4460562"/>
              <a:gd name="connsiteX10" fmla="*/ 2101 w 3876359"/>
              <a:gd name="connsiteY10" fmla="*/ 4208521 h 4460562"/>
              <a:gd name="connsiteX0" fmla="*/ 4202 w 3876359"/>
              <a:gd name="connsiteY0" fmla="*/ 4460314 h 4460562"/>
              <a:gd name="connsiteX1" fmla="*/ 0 w 3876359"/>
              <a:gd name="connsiteY1" fmla="*/ 3435688 h 4460562"/>
              <a:gd name="connsiteX2" fmla="*/ 2300108 w 3876359"/>
              <a:gd name="connsiteY2" fmla="*/ 3439885 h 4460562"/>
              <a:gd name="connsiteX3" fmla="*/ 2300108 w 3876359"/>
              <a:gd name="connsiteY3" fmla="*/ 0 h 4460562"/>
              <a:gd name="connsiteX4" fmla="*/ 3876359 w 3876359"/>
              <a:gd name="connsiteY4" fmla="*/ 0 h 4460562"/>
              <a:gd name="connsiteX5" fmla="*/ 3876359 w 3876359"/>
              <a:gd name="connsiteY5" fmla="*/ 95794 h 4460562"/>
              <a:gd name="connsiteX6" fmla="*/ 2413319 w 3876359"/>
              <a:gd name="connsiteY6" fmla="*/ 95794 h 4460562"/>
              <a:gd name="connsiteX7" fmla="*/ 2413319 w 3876359"/>
              <a:gd name="connsiteY7" fmla="*/ 3544388 h 4460562"/>
              <a:gd name="connsiteX8" fmla="*/ 192484 w 3876359"/>
              <a:gd name="connsiteY8" fmla="*/ 3548618 h 4460562"/>
              <a:gd name="connsiteX9" fmla="*/ 190380 w 3876359"/>
              <a:gd name="connsiteY9" fmla="*/ 4460562 h 4460562"/>
              <a:gd name="connsiteX10" fmla="*/ 4202 w 3876359"/>
              <a:gd name="connsiteY10" fmla="*/ 4460314 h 4460562"/>
              <a:gd name="connsiteX0" fmla="*/ 4202 w 3876359"/>
              <a:gd name="connsiteY0" fmla="*/ 4460314 h 4460314"/>
              <a:gd name="connsiteX1" fmla="*/ 0 w 3876359"/>
              <a:gd name="connsiteY1" fmla="*/ 3435688 h 4460314"/>
              <a:gd name="connsiteX2" fmla="*/ 2300108 w 3876359"/>
              <a:gd name="connsiteY2" fmla="*/ 3439885 h 4460314"/>
              <a:gd name="connsiteX3" fmla="*/ 2300108 w 3876359"/>
              <a:gd name="connsiteY3" fmla="*/ 0 h 4460314"/>
              <a:gd name="connsiteX4" fmla="*/ 3876359 w 3876359"/>
              <a:gd name="connsiteY4" fmla="*/ 0 h 4460314"/>
              <a:gd name="connsiteX5" fmla="*/ 3876359 w 3876359"/>
              <a:gd name="connsiteY5" fmla="*/ 95794 h 4460314"/>
              <a:gd name="connsiteX6" fmla="*/ 2413319 w 3876359"/>
              <a:gd name="connsiteY6" fmla="*/ 95794 h 4460314"/>
              <a:gd name="connsiteX7" fmla="*/ 2413319 w 3876359"/>
              <a:gd name="connsiteY7" fmla="*/ 3544388 h 4460314"/>
              <a:gd name="connsiteX8" fmla="*/ 192484 w 3876359"/>
              <a:gd name="connsiteY8" fmla="*/ 3548618 h 4460314"/>
              <a:gd name="connsiteX9" fmla="*/ 196685 w 3876359"/>
              <a:gd name="connsiteY9" fmla="*/ 4458464 h 4460314"/>
              <a:gd name="connsiteX10" fmla="*/ 4202 w 3876359"/>
              <a:gd name="connsiteY10" fmla="*/ 4460314 h 4460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876359" h="4460314">
                <a:moveTo>
                  <a:pt x="4202" y="4460314"/>
                </a:moveTo>
                <a:cubicBezTo>
                  <a:pt x="1400" y="4202004"/>
                  <a:pt x="2802" y="3693998"/>
                  <a:pt x="0" y="3435688"/>
                </a:cubicBezTo>
                <a:lnTo>
                  <a:pt x="2300108" y="3439885"/>
                </a:lnTo>
                <a:lnTo>
                  <a:pt x="2300108" y="0"/>
                </a:lnTo>
                <a:lnTo>
                  <a:pt x="3876359" y="0"/>
                </a:lnTo>
                <a:lnTo>
                  <a:pt x="3876359" y="95794"/>
                </a:lnTo>
                <a:lnTo>
                  <a:pt x="2413319" y="95794"/>
                </a:lnTo>
                <a:lnTo>
                  <a:pt x="2413319" y="3544388"/>
                </a:lnTo>
                <a:lnTo>
                  <a:pt x="192484" y="3548618"/>
                </a:lnTo>
                <a:cubicBezTo>
                  <a:pt x="193184" y="3769368"/>
                  <a:pt x="195985" y="4237714"/>
                  <a:pt x="196685" y="4458464"/>
                </a:cubicBezTo>
                <a:lnTo>
                  <a:pt x="4202" y="446031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3BF546B1-AFF1-9C22-8E0C-DBC442A2A20D}"/>
              </a:ext>
            </a:extLst>
          </p:cNvPr>
          <p:cNvSpPr/>
          <p:nvPr/>
        </p:nvSpPr>
        <p:spPr>
          <a:xfrm>
            <a:off x="1918715" y="4527311"/>
            <a:ext cx="4003563" cy="12004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pic>
        <p:nvPicPr>
          <p:cNvPr id="250" name="Picture 249">
            <a:extLst>
              <a:ext uri="{FF2B5EF4-FFF2-40B4-BE49-F238E27FC236}">
                <a16:creationId xmlns:a16="http://schemas.microsoft.com/office/drawing/2014/main" id="{A24340D3-5008-28D4-D409-59B27119FD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89128" y="4479600"/>
            <a:ext cx="311268" cy="1240668"/>
          </a:xfrm>
          <a:prstGeom prst="rect">
            <a:avLst/>
          </a:prstGeom>
        </p:spPr>
      </p:pic>
      <p:pic>
        <p:nvPicPr>
          <p:cNvPr id="252" name="Picture 251">
            <a:extLst>
              <a:ext uri="{FF2B5EF4-FFF2-40B4-BE49-F238E27FC236}">
                <a16:creationId xmlns:a16="http://schemas.microsoft.com/office/drawing/2014/main" id="{A49ED459-C02F-7090-7400-5A4550BE0E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92530" y="5668277"/>
            <a:ext cx="311268" cy="595191"/>
          </a:xfrm>
          <a:prstGeom prst="rect">
            <a:avLst/>
          </a:prstGeom>
        </p:spPr>
      </p:pic>
      <p:sp>
        <p:nvSpPr>
          <p:cNvPr id="253" name="Freeform: Shape 252">
            <a:extLst>
              <a:ext uri="{FF2B5EF4-FFF2-40B4-BE49-F238E27FC236}">
                <a16:creationId xmlns:a16="http://schemas.microsoft.com/office/drawing/2014/main" id="{E5DEE25D-99E1-584C-8E7E-E38B2DC47C1E}"/>
              </a:ext>
            </a:extLst>
          </p:cNvPr>
          <p:cNvSpPr/>
          <p:nvPr/>
        </p:nvSpPr>
        <p:spPr>
          <a:xfrm>
            <a:off x="2439354" y="4551174"/>
            <a:ext cx="31700352" cy="12769608"/>
          </a:xfrm>
          <a:custGeom>
            <a:avLst/>
            <a:gdLst>
              <a:gd name="connsiteX0" fmla="*/ 10728960 w 10728960"/>
              <a:gd name="connsiteY0" fmla="*/ 522514 h 5138057"/>
              <a:gd name="connsiteX1" fmla="*/ 9170126 w 10728960"/>
              <a:gd name="connsiteY1" fmla="*/ 522514 h 5138057"/>
              <a:gd name="connsiteX2" fmla="*/ 9170126 w 10728960"/>
              <a:gd name="connsiteY2" fmla="*/ 3884023 h 5138057"/>
              <a:gd name="connsiteX3" fmla="*/ 7715794 w 10728960"/>
              <a:gd name="connsiteY3" fmla="*/ 3884023 h 5138057"/>
              <a:gd name="connsiteX4" fmla="*/ 7715794 w 10728960"/>
              <a:gd name="connsiteY4" fmla="*/ 5138057 h 5138057"/>
              <a:gd name="connsiteX5" fmla="*/ 0 w 10728960"/>
              <a:gd name="connsiteY5" fmla="*/ 5138057 h 5138057"/>
              <a:gd name="connsiteX6" fmla="*/ 0 w 10728960"/>
              <a:gd name="connsiteY6" fmla="*/ 4554583 h 5138057"/>
              <a:gd name="connsiteX7" fmla="*/ 757646 w 10728960"/>
              <a:gd name="connsiteY7" fmla="*/ 3857897 h 5138057"/>
              <a:gd name="connsiteX8" fmla="*/ 1036320 w 10728960"/>
              <a:gd name="connsiteY8" fmla="*/ 3857897 h 5138057"/>
              <a:gd name="connsiteX9" fmla="*/ 1036320 w 10728960"/>
              <a:gd name="connsiteY9" fmla="*/ 348343 h 5138057"/>
              <a:gd name="connsiteX10" fmla="*/ 2072640 w 10728960"/>
              <a:gd name="connsiteY10" fmla="*/ 348343 h 5138057"/>
              <a:gd name="connsiteX11" fmla="*/ 2072640 w 10728960"/>
              <a:gd name="connsiteY11" fmla="*/ 0 h 5138057"/>
              <a:gd name="connsiteX0" fmla="*/ 10728960 w 10728960"/>
              <a:gd name="connsiteY0" fmla="*/ 522514 h 5138057"/>
              <a:gd name="connsiteX1" fmla="*/ 9170126 w 10728960"/>
              <a:gd name="connsiteY1" fmla="*/ 522514 h 5138057"/>
              <a:gd name="connsiteX2" fmla="*/ 9170126 w 10728960"/>
              <a:gd name="connsiteY2" fmla="*/ 3884023 h 5138057"/>
              <a:gd name="connsiteX3" fmla="*/ 7715794 w 10728960"/>
              <a:gd name="connsiteY3" fmla="*/ 3884023 h 5138057"/>
              <a:gd name="connsiteX4" fmla="*/ 7871243 w 10728960"/>
              <a:gd name="connsiteY4" fmla="*/ 5134882 h 5138057"/>
              <a:gd name="connsiteX5" fmla="*/ 0 w 10728960"/>
              <a:gd name="connsiteY5" fmla="*/ 5138057 h 5138057"/>
              <a:gd name="connsiteX6" fmla="*/ 0 w 10728960"/>
              <a:gd name="connsiteY6" fmla="*/ 4554583 h 5138057"/>
              <a:gd name="connsiteX7" fmla="*/ 757646 w 10728960"/>
              <a:gd name="connsiteY7" fmla="*/ 3857897 h 5138057"/>
              <a:gd name="connsiteX8" fmla="*/ 1036320 w 10728960"/>
              <a:gd name="connsiteY8" fmla="*/ 3857897 h 5138057"/>
              <a:gd name="connsiteX9" fmla="*/ 1036320 w 10728960"/>
              <a:gd name="connsiteY9" fmla="*/ 348343 h 5138057"/>
              <a:gd name="connsiteX10" fmla="*/ 2072640 w 10728960"/>
              <a:gd name="connsiteY10" fmla="*/ 348343 h 5138057"/>
              <a:gd name="connsiteX11" fmla="*/ 2072640 w 10728960"/>
              <a:gd name="connsiteY11" fmla="*/ 0 h 5138057"/>
              <a:gd name="connsiteX0" fmla="*/ 10728960 w 10728960"/>
              <a:gd name="connsiteY0" fmla="*/ 522514 h 5138057"/>
              <a:gd name="connsiteX1" fmla="*/ 9170126 w 10728960"/>
              <a:gd name="connsiteY1" fmla="*/ 522514 h 5138057"/>
              <a:gd name="connsiteX2" fmla="*/ 9170126 w 10728960"/>
              <a:gd name="connsiteY2" fmla="*/ 3884023 h 5138057"/>
              <a:gd name="connsiteX3" fmla="*/ 7871243 w 10728960"/>
              <a:gd name="connsiteY3" fmla="*/ 3877673 h 5138057"/>
              <a:gd name="connsiteX4" fmla="*/ 7871243 w 10728960"/>
              <a:gd name="connsiteY4" fmla="*/ 5134882 h 5138057"/>
              <a:gd name="connsiteX5" fmla="*/ 0 w 10728960"/>
              <a:gd name="connsiteY5" fmla="*/ 5138057 h 5138057"/>
              <a:gd name="connsiteX6" fmla="*/ 0 w 10728960"/>
              <a:gd name="connsiteY6" fmla="*/ 4554583 h 5138057"/>
              <a:gd name="connsiteX7" fmla="*/ 757646 w 10728960"/>
              <a:gd name="connsiteY7" fmla="*/ 3857897 h 5138057"/>
              <a:gd name="connsiteX8" fmla="*/ 1036320 w 10728960"/>
              <a:gd name="connsiteY8" fmla="*/ 3857897 h 5138057"/>
              <a:gd name="connsiteX9" fmla="*/ 1036320 w 10728960"/>
              <a:gd name="connsiteY9" fmla="*/ 348343 h 5138057"/>
              <a:gd name="connsiteX10" fmla="*/ 2072640 w 10728960"/>
              <a:gd name="connsiteY10" fmla="*/ 348343 h 5138057"/>
              <a:gd name="connsiteX11" fmla="*/ 2072640 w 10728960"/>
              <a:gd name="connsiteY11" fmla="*/ 0 h 5138057"/>
              <a:gd name="connsiteX0" fmla="*/ 10728960 w 10728960"/>
              <a:gd name="connsiteY0" fmla="*/ 522514 h 5134882"/>
              <a:gd name="connsiteX1" fmla="*/ 9170126 w 10728960"/>
              <a:gd name="connsiteY1" fmla="*/ 522514 h 5134882"/>
              <a:gd name="connsiteX2" fmla="*/ 9170126 w 10728960"/>
              <a:gd name="connsiteY2" fmla="*/ 3884023 h 5134882"/>
              <a:gd name="connsiteX3" fmla="*/ 7871243 w 10728960"/>
              <a:gd name="connsiteY3" fmla="*/ 3877673 h 5134882"/>
              <a:gd name="connsiteX4" fmla="*/ 7871243 w 10728960"/>
              <a:gd name="connsiteY4" fmla="*/ 5134882 h 5134882"/>
              <a:gd name="connsiteX5" fmla="*/ 0 w 10728960"/>
              <a:gd name="connsiteY5" fmla="*/ 4554583 h 5134882"/>
              <a:gd name="connsiteX6" fmla="*/ 757646 w 10728960"/>
              <a:gd name="connsiteY6" fmla="*/ 3857897 h 5134882"/>
              <a:gd name="connsiteX7" fmla="*/ 1036320 w 10728960"/>
              <a:gd name="connsiteY7" fmla="*/ 3857897 h 5134882"/>
              <a:gd name="connsiteX8" fmla="*/ 1036320 w 10728960"/>
              <a:gd name="connsiteY8" fmla="*/ 348343 h 5134882"/>
              <a:gd name="connsiteX9" fmla="*/ 2072640 w 10728960"/>
              <a:gd name="connsiteY9" fmla="*/ 348343 h 5134882"/>
              <a:gd name="connsiteX10" fmla="*/ 2072640 w 10728960"/>
              <a:gd name="connsiteY10" fmla="*/ 0 h 5134882"/>
              <a:gd name="connsiteX0" fmla="*/ 9971314 w 9971314"/>
              <a:gd name="connsiteY0" fmla="*/ 522514 h 5134882"/>
              <a:gd name="connsiteX1" fmla="*/ 8412480 w 9971314"/>
              <a:gd name="connsiteY1" fmla="*/ 522514 h 5134882"/>
              <a:gd name="connsiteX2" fmla="*/ 8412480 w 9971314"/>
              <a:gd name="connsiteY2" fmla="*/ 3884023 h 5134882"/>
              <a:gd name="connsiteX3" fmla="*/ 7113597 w 9971314"/>
              <a:gd name="connsiteY3" fmla="*/ 3877673 h 5134882"/>
              <a:gd name="connsiteX4" fmla="*/ 7113597 w 9971314"/>
              <a:gd name="connsiteY4" fmla="*/ 5134882 h 5134882"/>
              <a:gd name="connsiteX5" fmla="*/ 0 w 9971314"/>
              <a:gd name="connsiteY5" fmla="*/ 3857897 h 5134882"/>
              <a:gd name="connsiteX6" fmla="*/ 278674 w 9971314"/>
              <a:gd name="connsiteY6" fmla="*/ 3857897 h 5134882"/>
              <a:gd name="connsiteX7" fmla="*/ 278674 w 9971314"/>
              <a:gd name="connsiteY7" fmla="*/ 348343 h 5134882"/>
              <a:gd name="connsiteX8" fmla="*/ 1314994 w 9971314"/>
              <a:gd name="connsiteY8" fmla="*/ 348343 h 5134882"/>
              <a:gd name="connsiteX9" fmla="*/ 1314994 w 9971314"/>
              <a:gd name="connsiteY9" fmla="*/ 0 h 5134882"/>
              <a:gd name="connsiteX0" fmla="*/ 9692640 w 9692640"/>
              <a:gd name="connsiteY0" fmla="*/ 522514 h 5134882"/>
              <a:gd name="connsiteX1" fmla="*/ 8133806 w 9692640"/>
              <a:gd name="connsiteY1" fmla="*/ 522514 h 5134882"/>
              <a:gd name="connsiteX2" fmla="*/ 8133806 w 9692640"/>
              <a:gd name="connsiteY2" fmla="*/ 3884023 h 5134882"/>
              <a:gd name="connsiteX3" fmla="*/ 6834923 w 9692640"/>
              <a:gd name="connsiteY3" fmla="*/ 3877673 h 5134882"/>
              <a:gd name="connsiteX4" fmla="*/ 6834923 w 9692640"/>
              <a:gd name="connsiteY4" fmla="*/ 5134882 h 5134882"/>
              <a:gd name="connsiteX5" fmla="*/ 0 w 9692640"/>
              <a:gd name="connsiteY5" fmla="*/ 3857897 h 5134882"/>
              <a:gd name="connsiteX6" fmla="*/ 0 w 9692640"/>
              <a:gd name="connsiteY6" fmla="*/ 348343 h 5134882"/>
              <a:gd name="connsiteX7" fmla="*/ 1036320 w 9692640"/>
              <a:gd name="connsiteY7" fmla="*/ 348343 h 5134882"/>
              <a:gd name="connsiteX8" fmla="*/ 1036320 w 9692640"/>
              <a:gd name="connsiteY8" fmla="*/ 0 h 5134882"/>
              <a:gd name="connsiteX0" fmla="*/ 9692640 w 9692640"/>
              <a:gd name="connsiteY0" fmla="*/ 522514 h 3884023"/>
              <a:gd name="connsiteX1" fmla="*/ 8133806 w 9692640"/>
              <a:gd name="connsiteY1" fmla="*/ 522514 h 3884023"/>
              <a:gd name="connsiteX2" fmla="*/ 8133806 w 9692640"/>
              <a:gd name="connsiteY2" fmla="*/ 3884023 h 3884023"/>
              <a:gd name="connsiteX3" fmla="*/ 6834923 w 9692640"/>
              <a:gd name="connsiteY3" fmla="*/ 3877673 h 3884023"/>
              <a:gd name="connsiteX4" fmla="*/ 0 w 9692640"/>
              <a:gd name="connsiteY4" fmla="*/ 3857897 h 3884023"/>
              <a:gd name="connsiteX5" fmla="*/ 0 w 9692640"/>
              <a:gd name="connsiteY5" fmla="*/ 348343 h 3884023"/>
              <a:gd name="connsiteX6" fmla="*/ 1036320 w 9692640"/>
              <a:gd name="connsiteY6" fmla="*/ 348343 h 3884023"/>
              <a:gd name="connsiteX7" fmla="*/ 1036320 w 9692640"/>
              <a:gd name="connsiteY7" fmla="*/ 0 h 3884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92640" h="3884023">
                <a:moveTo>
                  <a:pt x="9692640" y="522514"/>
                </a:moveTo>
                <a:lnTo>
                  <a:pt x="8133806" y="522514"/>
                </a:lnTo>
                <a:lnTo>
                  <a:pt x="8133806" y="3884023"/>
                </a:lnTo>
                <a:lnTo>
                  <a:pt x="6834923" y="3877673"/>
                </a:lnTo>
                <a:lnTo>
                  <a:pt x="0" y="3857897"/>
                </a:lnTo>
                <a:lnTo>
                  <a:pt x="0" y="348343"/>
                </a:lnTo>
                <a:lnTo>
                  <a:pt x="1036320" y="348343"/>
                </a:lnTo>
                <a:lnTo>
                  <a:pt x="1036320" y="0"/>
                </a:lnTo>
              </a:path>
            </a:pathLst>
          </a:cu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CB4EABA8-214B-18FB-9B9A-DA434153B7F2}"/>
              </a:ext>
            </a:extLst>
          </p:cNvPr>
          <p:cNvSpPr/>
          <p:nvPr/>
        </p:nvSpPr>
        <p:spPr>
          <a:xfrm>
            <a:off x="10179831" y="12074900"/>
            <a:ext cx="2330316" cy="5087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307" b="1" dirty="0">
                <a:solidFill>
                  <a:schemeClr val="tx1"/>
                </a:solidFill>
                <a:latin typeface="Arial Black" panose="020B0A04020102020204" pitchFamily="34" charset="0"/>
              </a:rPr>
              <a:t>A</a:t>
            </a:r>
            <a:r>
              <a:rPr lang="en-US" altLang="zh-CN" sz="2307" b="1" dirty="0">
                <a:solidFill>
                  <a:schemeClr val="tx1"/>
                </a:solidFill>
                <a:latin typeface="Arial Black" panose="020B0A04020102020204" pitchFamily="34" charset="0"/>
              </a:rPr>
              <a:t>v. TCP</a:t>
            </a:r>
            <a:endParaRPr lang="en-US" sz="2307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8947EC0B-FEC6-4F7F-DAF0-57D5AEB70BD5}"/>
              </a:ext>
            </a:extLst>
          </p:cNvPr>
          <p:cNvSpPr/>
          <p:nvPr/>
        </p:nvSpPr>
        <p:spPr>
          <a:xfrm>
            <a:off x="23246976" y="5795432"/>
            <a:ext cx="2330316" cy="5087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307" b="1" dirty="0">
                <a:solidFill>
                  <a:schemeClr val="tx1"/>
                </a:solidFill>
                <a:latin typeface="Arial Black" panose="020B0A04020102020204" pitchFamily="34" charset="0"/>
              </a:rPr>
              <a:t>A</a:t>
            </a:r>
            <a:r>
              <a:rPr lang="en-US" altLang="zh-CN" sz="2307" b="1" dirty="0">
                <a:solidFill>
                  <a:schemeClr val="tx1"/>
                </a:solidFill>
                <a:latin typeface="Arial Black" panose="020B0A04020102020204" pitchFamily="34" charset="0"/>
              </a:rPr>
              <a:t>v. </a:t>
            </a:r>
            <a:r>
              <a:rPr lang="en-US" altLang="zh-CN" sz="2307" b="1" dirty="0" err="1">
                <a:solidFill>
                  <a:schemeClr val="tx1"/>
                </a:solidFill>
                <a:latin typeface="Arial Black" panose="020B0A04020102020204" pitchFamily="34" charset="0"/>
              </a:rPr>
              <a:t>Cais</a:t>
            </a:r>
            <a:endParaRPr lang="en-US" sz="2307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7360731A-AF4E-32CF-2F51-591009595C30}"/>
              </a:ext>
            </a:extLst>
          </p:cNvPr>
          <p:cNvSpPr/>
          <p:nvPr/>
        </p:nvSpPr>
        <p:spPr>
          <a:xfrm>
            <a:off x="19989170" y="9298982"/>
            <a:ext cx="1855017" cy="15305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307" dirty="0" err="1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Rua</a:t>
            </a:r>
            <a:endParaRPr lang="en-US" sz="2307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 eaLnBrk="0" fontAlgn="ctr" hangingPunct="0"/>
            <a:r>
              <a:rPr lang="en-US" altLang="zh-CN" sz="2307" b="1" dirty="0">
                <a:solidFill>
                  <a:schemeClr val="tx1"/>
                </a:solidFill>
                <a:latin typeface="Arial Black" panose="020B0A04020102020204" pitchFamily="34" charset="0"/>
              </a:rPr>
              <a:t>#3</a:t>
            </a:r>
            <a:endParaRPr lang="en-US" sz="2307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665354B6-CE0D-2AB5-ED23-6CF9D960FA7A}"/>
              </a:ext>
            </a:extLst>
          </p:cNvPr>
          <p:cNvSpPr/>
          <p:nvPr/>
        </p:nvSpPr>
        <p:spPr>
          <a:xfrm>
            <a:off x="27728015" y="9275435"/>
            <a:ext cx="1855017" cy="15305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307" dirty="0" err="1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Rua</a:t>
            </a:r>
            <a:endParaRPr lang="en-US" sz="2307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 eaLnBrk="0" fontAlgn="ctr" hangingPunct="0"/>
            <a:r>
              <a:rPr lang="en-US" altLang="zh-CN" sz="2307" b="1" dirty="0">
                <a:solidFill>
                  <a:schemeClr val="tx1"/>
                </a:solidFill>
                <a:latin typeface="Arial Black" panose="020B0A04020102020204" pitchFamily="34" charset="0"/>
              </a:rPr>
              <a:t>#4</a:t>
            </a:r>
            <a:endParaRPr lang="en-US" sz="2307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8FFDC340-C301-13E7-BE84-E5E53DE01A2C}"/>
              </a:ext>
            </a:extLst>
          </p:cNvPr>
          <p:cNvSpPr/>
          <p:nvPr/>
        </p:nvSpPr>
        <p:spPr>
          <a:xfrm>
            <a:off x="4223745" y="9501968"/>
            <a:ext cx="1227372" cy="8181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307" dirty="0" err="1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Rua</a:t>
            </a:r>
            <a:endParaRPr lang="en-US" sz="2307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 eaLnBrk="0" fontAlgn="ctr" hangingPunct="0"/>
            <a:r>
              <a:rPr lang="en-US" altLang="zh-CN" sz="2307" b="1" dirty="0">
                <a:solidFill>
                  <a:schemeClr val="tx1"/>
                </a:solidFill>
                <a:latin typeface="Arial Black" panose="020B0A04020102020204" pitchFamily="34" charset="0"/>
              </a:rPr>
              <a:t>#1</a:t>
            </a:r>
            <a:endParaRPr lang="en-US" sz="2307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276" name="Picture 275">
            <a:extLst>
              <a:ext uri="{FF2B5EF4-FFF2-40B4-BE49-F238E27FC236}">
                <a16:creationId xmlns:a16="http://schemas.microsoft.com/office/drawing/2014/main" id="{812A6885-9A8E-A3CD-303C-1F81A618CE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8260" y="7080185"/>
            <a:ext cx="1576626" cy="1365843"/>
          </a:xfrm>
          <a:prstGeom prst="rect">
            <a:avLst/>
          </a:prstGeom>
        </p:spPr>
      </p:pic>
      <p:pic>
        <p:nvPicPr>
          <p:cNvPr id="169" name="Graphic 168" descr="Tools with solid fill">
            <a:extLst>
              <a:ext uri="{FF2B5EF4-FFF2-40B4-BE49-F238E27FC236}">
                <a16:creationId xmlns:a16="http://schemas.microsoft.com/office/drawing/2014/main" id="{83B153CA-AC7A-151A-6E49-037762CBB2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03794" y="6353229"/>
            <a:ext cx="369141" cy="371382"/>
          </a:xfrm>
          <a:prstGeom prst="rect">
            <a:avLst/>
          </a:prstGeom>
        </p:spPr>
      </p:pic>
      <p:grpSp>
        <p:nvGrpSpPr>
          <p:cNvPr id="309" name="Group 308">
            <a:extLst>
              <a:ext uri="{FF2B5EF4-FFF2-40B4-BE49-F238E27FC236}">
                <a16:creationId xmlns:a16="http://schemas.microsoft.com/office/drawing/2014/main" id="{69E5B391-9D66-6847-157D-2825049D95D0}"/>
              </a:ext>
            </a:extLst>
          </p:cNvPr>
          <p:cNvGrpSpPr/>
          <p:nvPr/>
        </p:nvGrpSpPr>
        <p:grpSpPr>
          <a:xfrm>
            <a:off x="5614304" y="6247422"/>
            <a:ext cx="3282273" cy="5149974"/>
            <a:chOff x="2622540" y="1996389"/>
            <a:chExt cx="1404602" cy="1566424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4FBDE83E-1B23-9147-3B46-2626B64DD78A}"/>
                </a:ext>
              </a:extLst>
            </p:cNvPr>
            <p:cNvCxnSpPr>
              <a:cxnSpLocks/>
            </p:cNvCxnSpPr>
            <p:nvPr/>
          </p:nvCxnSpPr>
          <p:spPr>
            <a:xfrm>
              <a:off x="2824670" y="2195393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Arrow Connector 291">
              <a:extLst>
                <a:ext uri="{FF2B5EF4-FFF2-40B4-BE49-F238E27FC236}">
                  <a16:creationId xmlns:a16="http://schemas.microsoft.com/office/drawing/2014/main" id="{4A6A8A2C-4781-9681-5802-4F1EC345D6C4}"/>
                </a:ext>
              </a:extLst>
            </p:cNvPr>
            <p:cNvCxnSpPr>
              <a:cxnSpLocks/>
            </p:cNvCxnSpPr>
            <p:nvPr/>
          </p:nvCxnSpPr>
          <p:spPr>
            <a:xfrm>
              <a:off x="2998501" y="2385893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Arrow Connector 292">
              <a:extLst>
                <a:ext uri="{FF2B5EF4-FFF2-40B4-BE49-F238E27FC236}">
                  <a16:creationId xmlns:a16="http://schemas.microsoft.com/office/drawing/2014/main" id="{C7EBCDB1-F492-9676-5E90-14DBC8968C45}"/>
                </a:ext>
              </a:extLst>
            </p:cNvPr>
            <p:cNvCxnSpPr>
              <a:cxnSpLocks/>
            </p:cNvCxnSpPr>
            <p:nvPr/>
          </p:nvCxnSpPr>
          <p:spPr>
            <a:xfrm>
              <a:off x="3159236" y="2583658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Arrow Connector 293">
              <a:extLst>
                <a:ext uri="{FF2B5EF4-FFF2-40B4-BE49-F238E27FC236}">
                  <a16:creationId xmlns:a16="http://schemas.microsoft.com/office/drawing/2014/main" id="{24358B51-A736-5F6B-97A4-44C64FFB1FE7}"/>
                </a:ext>
              </a:extLst>
            </p:cNvPr>
            <p:cNvCxnSpPr>
              <a:cxnSpLocks/>
            </p:cNvCxnSpPr>
            <p:nvPr/>
          </p:nvCxnSpPr>
          <p:spPr>
            <a:xfrm>
              <a:off x="3294967" y="2786063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Arrow Connector 294">
              <a:extLst>
                <a:ext uri="{FF2B5EF4-FFF2-40B4-BE49-F238E27FC236}">
                  <a16:creationId xmlns:a16="http://schemas.microsoft.com/office/drawing/2014/main" id="{220D6164-15A2-93C3-F437-7698E744798E}"/>
                </a:ext>
              </a:extLst>
            </p:cNvPr>
            <p:cNvCxnSpPr>
              <a:cxnSpLocks/>
            </p:cNvCxnSpPr>
            <p:nvPr/>
          </p:nvCxnSpPr>
          <p:spPr>
            <a:xfrm>
              <a:off x="3437095" y="2973723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Arrow Connector 295">
              <a:extLst>
                <a:ext uri="{FF2B5EF4-FFF2-40B4-BE49-F238E27FC236}">
                  <a16:creationId xmlns:a16="http://schemas.microsoft.com/office/drawing/2014/main" id="{296A142D-60C9-3986-5F99-8A8EFC51D81A}"/>
                </a:ext>
              </a:extLst>
            </p:cNvPr>
            <p:cNvCxnSpPr>
              <a:cxnSpLocks/>
            </p:cNvCxnSpPr>
            <p:nvPr/>
          </p:nvCxnSpPr>
          <p:spPr>
            <a:xfrm>
              <a:off x="3611940" y="3156086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Arrow Connector 296">
              <a:extLst>
                <a:ext uri="{FF2B5EF4-FFF2-40B4-BE49-F238E27FC236}">
                  <a16:creationId xmlns:a16="http://schemas.microsoft.com/office/drawing/2014/main" id="{05C89167-4846-6BEC-FCBB-BF296B10B817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97" y="3358023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Arrow Connector 297">
              <a:extLst>
                <a:ext uri="{FF2B5EF4-FFF2-40B4-BE49-F238E27FC236}">
                  <a16:creationId xmlns:a16="http://schemas.microsoft.com/office/drawing/2014/main" id="{F25584E1-0CD1-BF17-8C5A-A244E105657C}"/>
                </a:ext>
              </a:extLst>
            </p:cNvPr>
            <p:cNvCxnSpPr>
              <a:cxnSpLocks/>
            </p:cNvCxnSpPr>
            <p:nvPr/>
          </p:nvCxnSpPr>
          <p:spPr>
            <a:xfrm>
              <a:off x="3870487" y="3562813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Arrow Connector 298">
              <a:extLst>
                <a:ext uri="{FF2B5EF4-FFF2-40B4-BE49-F238E27FC236}">
                  <a16:creationId xmlns:a16="http://schemas.microsoft.com/office/drawing/2014/main" id="{7662917B-881D-800B-D6B0-1E2208EF8F3B}"/>
                </a:ext>
              </a:extLst>
            </p:cNvPr>
            <p:cNvCxnSpPr>
              <a:cxnSpLocks/>
            </p:cNvCxnSpPr>
            <p:nvPr/>
          </p:nvCxnSpPr>
          <p:spPr>
            <a:xfrm>
              <a:off x="2622540" y="1996389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A45A5A55-CD5F-C334-BE1E-B4F0EE3600F4}"/>
              </a:ext>
            </a:extLst>
          </p:cNvPr>
          <p:cNvGrpSpPr/>
          <p:nvPr/>
        </p:nvGrpSpPr>
        <p:grpSpPr>
          <a:xfrm>
            <a:off x="7486940" y="5831013"/>
            <a:ext cx="607125" cy="150312"/>
            <a:chOff x="3294967" y="1881912"/>
            <a:chExt cx="245675" cy="63569"/>
          </a:xfrm>
        </p:grpSpPr>
        <p:cxnSp>
          <p:nvCxnSpPr>
            <p:cNvPr id="300" name="Straight Arrow Connector 299">
              <a:extLst>
                <a:ext uri="{FF2B5EF4-FFF2-40B4-BE49-F238E27FC236}">
                  <a16:creationId xmlns:a16="http://schemas.microsoft.com/office/drawing/2014/main" id="{59306D09-AE84-F3F2-E875-05FACC9E0B58}"/>
                </a:ext>
              </a:extLst>
            </p:cNvPr>
            <p:cNvCxnSpPr>
              <a:cxnSpLocks/>
            </p:cNvCxnSpPr>
            <p:nvPr/>
          </p:nvCxnSpPr>
          <p:spPr>
            <a:xfrm>
              <a:off x="3383987" y="1945481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Arrow Connector 300">
              <a:extLst>
                <a:ext uri="{FF2B5EF4-FFF2-40B4-BE49-F238E27FC236}">
                  <a16:creationId xmlns:a16="http://schemas.microsoft.com/office/drawing/2014/main" id="{7E5D1466-EC3F-7E1B-7772-2F85737917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94967" y="1881912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FF936945-89AA-FE30-06EB-A60BC71C9648}"/>
              </a:ext>
            </a:extLst>
          </p:cNvPr>
          <p:cNvGrpSpPr/>
          <p:nvPr/>
        </p:nvGrpSpPr>
        <p:grpSpPr>
          <a:xfrm>
            <a:off x="14589146" y="6035214"/>
            <a:ext cx="607125" cy="150312"/>
            <a:chOff x="3294967" y="1881912"/>
            <a:chExt cx="245675" cy="63569"/>
          </a:xfrm>
        </p:grpSpPr>
        <p:cxnSp>
          <p:nvCxnSpPr>
            <p:cNvPr id="304" name="Straight Arrow Connector 303">
              <a:extLst>
                <a:ext uri="{FF2B5EF4-FFF2-40B4-BE49-F238E27FC236}">
                  <a16:creationId xmlns:a16="http://schemas.microsoft.com/office/drawing/2014/main" id="{092CDE6E-672F-DAF0-5BF2-E138295F7045}"/>
                </a:ext>
              </a:extLst>
            </p:cNvPr>
            <p:cNvCxnSpPr>
              <a:cxnSpLocks/>
            </p:cNvCxnSpPr>
            <p:nvPr/>
          </p:nvCxnSpPr>
          <p:spPr>
            <a:xfrm>
              <a:off x="3383987" y="1945481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Arrow Connector 304">
              <a:extLst>
                <a:ext uri="{FF2B5EF4-FFF2-40B4-BE49-F238E27FC236}">
                  <a16:creationId xmlns:a16="http://schemas.microsoft.com/office/drawing/2014/main" id="{284CEA31-8A69-DCEC-5B44-D7293F18CB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94967" y="1881912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B06AB143-F2E8-3755-19F8-AB774271464E}"/>
              </a:ext>
            </a:extLst>
          </p:cNvPr>
          <p:cNvGrpSpPr/>
          <p:nvPr/>
        </p:nvGrpSpPr>
        <p:grpSpPr>
          <a:xfrm>
            <a:off x="25637366" y="5953074"/>
            <a:ext cx="607125" cy="150312"/>
            <a:chOff x="3294967" y="1881912"/>
            <a:chExt cx="245675" cy="63569"/>
          </a:xfrm>
        </p:grpSpPr>
        <p:cxnSp>
          <p:nvCxnSpPr>
            <p:cNvPr id="307" name="Straight Arrow Connector 306">
              <a:extLst>
                <a:ext uri="{FF2B5EF4-FFF2-40B4-BE49-F238E27FC236}">
                  <a16:creationId xmlns:a16="http://schemas.microsoft.com/office/drawing/2014/main" id="{AB397798-1C35-117F-0CBF-ABDCC8A281CC}"/>
                </a:ext>
              </a:extLst>
            </p:cNvPr>
            <p:cNvCxnSpPr>
              <a:cxnSpLocks/>
            </p:cNvCxnSpPr>
            <p:nvPr/>
          </p:nvCxnSpPr>
          <p:spPr>
            <a:xfrm>
              <a:off x="3383987" y="1945481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Arrow Connector 307">
              <a:extLst>
                <a:ext uri="{FF2B5EF4-FFF2-40B4-BE49-F238E27FC236}">
                  <a16:creationId xmlns:a16="http://schemas.microsoft.com/office/drawing/2014/main" id="{26C3D6DF-E0C7-512E-1BBA-D2079BAEE6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94967" y="1881912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45587065-AE8A-2B12-A4E3-9364B66DD467}"/>
              </a:ext>
            </a:extLst>
          </p:cNvPr>
          <p:cNvGrpSpPr/>
          <p:nvPr/>
        </p:nvGrpSpPr>
        <p:grpSpPr>
          <a:xfrm>
            <a:off x="13556099" y="6247424"/>
            <a:ext cx="2980149" cy="4476681"/>
            <a:chOff x="2622540" y="1996389"/>
            <a:chExt cx="1275312" cy="1361634"/>
          </a:xfrm>
        </p:grpSpPr>
        <p:cxnSp>
          <p:nvCxnSpPr>
            <p:cNvPr id="311" name="Straight Arrow Connector 310">
              <a:extLst>
                <a:ext uri="{FF2B5EF4-FFF2-40B4-BE49-F238E27FC236}">
                  <a16:creationId xmlns:a16="http://schemas.microsoft.com/office/drawing/2014/main" id="{30936384-3FD9-CDB0-E968-5193992CC302}"/>
                </a:ext>
              </a:extLst>
            </p:cNvPr>
            <p:cNvCxnSpPr>
              <a:cxnSpLocks/>
            </p:cNvCxnSpPr>
            <p:nvPr/>
          </p:nvCxnSpPr>
          <p:spPr>
            <a:xfrm>
              <a:off x="2824670" y="2195393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Arrow Connector 311">
              <a:extLst>
                <a:ext uri="{FF2B5EF4-FFF2-40B4-BE49-F238E27FC236}">
                  <a16:creationId xmlns:a16="http://schemas.microsoft.com/office/drawing/2014/main" id="{7B3BCF9E-D2BB-674C-51E3-E1492EDA9424}"/>
                </a:ext>
              </a:extLst>
            </p:cNvPr>
            <p:cNvCxnSpPr>
              <a:cxnSpLocks/>
            </p:cNvCxnSpPr>
            <p:nvPr/>
          </p:nvCxnSpPr>
          <p:spPr>
            <a:xfrm>
              <a:off x="2998501" y="2385893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Arrow Connector 312">
              <a:extLst>
                <a:ext uri="{FF2B5EF4-FFF2-40B4-BE49-F238E27FC236}">
                  <a16:creationId xmlns:a16="http://schemas.microsoft.com/office/drawing/2014/main" id="{29875190-D695-2A60-B7E2-93DAA2D3E61B}"/>
                </a:ext>
              </a:extLst>
            </p:cNvPr>
            <p:cNvCxnSpPr>
              <a:cxnSpLocks/>
            </p:cNvCxnSpPr>
            <p:nvPr/>
          </p:nvCxnSpPr>
          <p:spPr>
            <a:xfrm>
              <a:off x="3159236" y="2583658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Arrow Connector 313">
              <a:extLst>
                <a:ext uri="{FF2B5EF4-FFF2-40B4-BE49-F238E27FC236}">
                  <a16:creationId xmlns:a16="http://schemas.microsoft.com/office/drawing/2014/main" id="{66BEDF59-3B61-D618-6D53-019164C303C7}"/>
                </a:ext>
              </a:extLst>
            </p:cNvPr>
            <p:cNvCxnSpPr>
              <a:cxnSpLocks/>
            </p:cNvCxnSpPr>
            <p:nvPr/>
          </p:nvCxnSpPr>
          <p:spPr>
            <a:xfrm>
              <a:off x="3294967" y="2786063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Arrow Connector 314">
              <a:extLst>
                <a:ext uri="{FF2B5EF4-FFF2-40B4-BE49-F238E27FC236}">
                  <a16:creationId xmlns:a16="http://schemas.microsoft.com/office/drawing/2014/main" id="{F553FACB-7D4C-C0DA-F67A-0445FE874980}"/>
                </a:ext>
              </a:extLst>
            </p:cNvPr>
            <p:cNvCxnSpPr>
              <a:cxnSpLocks/>
            </p:cNvCxnSpPr>
            <p:nvPr/>
          </p:nvCxnSpPr>
          <p:spPr>
            <a:xfrm>
              <a:off x="3437095" y="2973723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Arrow Connector 315">
              <a:extLst>
                <a:ext uri="{FF2B5EF4-FFF2-40B4-BE49-F238E27FC236}">
                  <a16:creationId xmlns:a16="http://schemas.microsoft.com/office/drawing/2014/main" id="{2B4E95DE-99CB-9AD6-7F99-4B2EF91DA1E1}"/>
                </a:ext>
              </a:extLst>
            </p:cNvPr>
            <p:cNvCxnSpPr>
              <a:cxnSpLocks/>
            </p:cNvCxnSpPr>
            <p:nvPr/>
          </p:nvCxnSpPr>
          <p:spPr>
            <a:xfrm>
              <a:off x="3611940" y="3156086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Arrow Connector 316">
              <a:extLst>
                <a:ext uri="{FF2B5EF4-FFF2-40B4-BE49-F238E27FC236}">
                  <a16:creationId xmlns:a16="http://schemas.microsoft.com/office/drawing/2014/main" id="{DA226FA2-8CAF-71CD-787C-F8BA0CF28827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97" y="3358023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Arrow Connector 318">
              <a:extLst>
                <a:ext uri="{FF2B5EF4-FFF2-40B4-BE49-F238E27FC236}">
                  <a16:creationId xmlns:a16="http://schemas.microsoft.com/office/drawing/2014/main" id="{5B7D85F5-7BC9-F8BD-DE94-65CAA41E7CED}"/>
                </a:ext>
              </a:extLst>
            </p:cNvPr>
            <p:cNvCxnSpPr>
              <a:cxnSpLocks/>
            </p:cNvCxnSpPr>
            <p:nvPr/>
          </p:nvCxnSpPr>
          <p:spPr>
            <a:xfrm>
              <a:off x="2622540" y="1996389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888A72A2-CE08-2C06-A9A2-DE4EAA9C14FB}"/>
              </a:ext>
            </a:extLst>
          </p:cNvPr>
          <p:cNvGrpSpPr/>
          <p:nvPr/>
        </p:nvGrpSpPr>
        <p:grpSpPr>
          <a:xfrm>
            <a:off x="22276022" y="6247424"/>
            <a:ext cx="2980149" cy="4476681"/>
            <a:chOff x="2622540" y="1996389"/>
            <a:chExt cx="1275312" cy="1361634"/>
          </a:xfrm>
        </p:grpSpPr>
        <p:cxnSp>
          <p:nvCxnSpPr>
            <p:cNvPr id="321" name="Straight Arrow Connector 320">
              <a:extLst>
                <a:ext uri="{FF2B5EF4-FFF2-40B4-BE49-F238E27FC236}">
                  <a16:creationId xmlns:a16="http://schemas.microsoft.com/office/drawing/2014/main" id="{66E38837-5327-8D3F-84B4-5C205AC8639A}"/>
                </a:ext>
              </a:extLst>
            </p:cNvPr>
            <p:cNvCxnSpPr>
              <a:cxnSpLocks/>
            </p:cNvCxnSpPr>
            <p:nvPr/>
          </p:nvCxnSpPr>
          <p:spPr>
            <a:xfrm>
              <a:off x="2824670" y="2195393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Arrow Connector 321">
              <a:extLst>
                <a:ext uri="{FF2B5EF4-FFF2-40B4-BE49-F238E27FC236}">
                  <a16:creationId xmlns:a16="http://schemas.microsoft.com/office/drawing/2014/main" id="{6D7006B4-96FC-4C9D-D7A6-05352D94E643}"/>
                </a:ext>
              </a:extLst>
            </p:cNvPr>
            <p:cNvCxnSpPr>
              <a:cxnSpLocks/>
            </p:cNvCxnSpPr>
            <p:nvPr/>
          </p:nvCxnSpPr>
          <p:spPr>
            <a:xfrm>
              <a:off x="2998501" y="2385893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Arrow Connector 322">
              <a:extLst>
                <a:ext uri="{FF2B5EF4-FFF2-40B4-BE49-F238E27FC236}">
                  <a16:creationId xmlns:a16="http://schemas.microsoft.com/office/drawing/2014/main" id="{B68A30ED-CAC3-1782-601C-3E8112CA9414}"/>
                </a:ext>
              </a:extLst>
            </p:cNvPr>
            <p:cNvCxnSpPr>
              <a:cxnSpLocks/>
            </p:cNvCxnSpPr>
            <p:nvPr/>
          </p:nvCxnSpPr>
          <p:spPr>
            <a:xfrm>
              <a:off x="3159236" y="2583658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Arrow Connector 323">
              <a:extLst>
                <a:ext uri="{FF2B5EF4-FFF2-40B4-BE49-F238E27FC236}">
                  <a16:creationId xmlns:a16="http://schemas.microsoft.com/office/drawing/2014/main" id="{185EFD1B-BB6F-BDA4-12C7-70D7C13D81E5}"/>
                </a:ext>
              </a:extLst>
            </p:cNvPr>
            <p:cNvCxnSpPr>
              <a:cxnSpLocks/>
            </p:cNvCxnSpPr>
            <p:nvPr/>
          </p:nvCxnSpPr>
          <p:spPr>
            <a:xfrm>
              <a:off x="3294967" y="2786063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Arrow Connector 324">
              <a:extLst>
                <a:ext uri="{FF2B5EF4-FFF2-40B4-BE49-F238E27FC236}">
                  <a16:creationId xmlns:a16="http://schemas.microsoft.com/office/drawing/2014/main" id="{AC299AD1-75D0-C258-0927-682865A6245B}"/>
                </a:ext>
              </a:extLst>
            </p:cNvPr>
            <p:cNvCxnSpPr>
              <a:cxnSpLocks/>
            </p:cNvCxnSpPr>
            <p:nvPr/>
          </p:nvCxnSpPr>
          <p:spPr>
            <a:xfrm>
              <a:off x="3437095" y="2973723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Arrow Connector 325">
              <a:extLst>
                <a:ext uri="{FF2B5EF4-FFF2-40B4-BE49-F238E27FC236}">
                  <a16:creationId xmlns:a16="http://schemas.microsoft.com/office/drawing/2014/main" id="{7FB25F3D-8E99-BA8A-1C1A-094E06DE7E17}"/>
                </a:ext>
              </a:extLst>
            </p:cNvPr>
            <p:cNvCxnSpPr>
              <a:cxnSpLocks/>
            </p:cNvCxnSpPr>
            <p:nvPr/>
          </p:nvCxnSpPr>
          <p:spPr>
            <a:xfrm>
              <a:off x="3611940" y="3156086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Arrow Connector 326">
              <a:extLst>
                <a:ext uri="{FF2B5EF4-FFF2-40B4-BE49-F238E27FC236}">
                  <a16:creationId xmlns:a16="http://schemas.microsoft.com/office/drawing/2014/main" id="{E2B15EAC-6C1F-44D0-4CAA-5281151F054A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97" y="3358023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Arrow Connector 328">
              <a:extLst>
                <a:ext uri="{FF2B5EF4-FFF2-40B4-BE49-F238E27FC236}">
                  <a16:creationId xmlns:a16="http://schemas.microsoft.com/office/drawing/2014/main" id="{0D4B994A-0F7E-813A-3130-5F2E6D9E6635}"/>
                </a:ext>
              </a:extLst>
            </p:cNvPr>
            <p:cNvCxnSpPr>
              <a:cxnSpLocks/>
            </p:cNvCxnSpPr>
            <p:nvPr/>
          </p:nvCxnSpPr>
          <p:spPr>
            <a:xfrm>
              <a:off x="2622540" y="1996389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BD882A5F-8BE1-7870-3A9D-38A0E09353FC}"/>
              </a:ext>
            </a:extLst>
          </p:cNvPr>
          <p:cNvGrpSpPr/>
          <p:nvPr/>
        </p:nvGrpSpPr>
        <p:grpSpPr>
          <a:xfrm>
            <a:off x="24728699" y="12260112"/>
            <a:ext cx="802845" cy="208998"/>
            <a:chOff x="3294967" y="1881912"/>
            <a:chExt cx="245675" cy="63569"/>
          </a:xfrm>
        </p:grpSpPr>
        <p:cxnSp>
          <p:nvCxnSpPr>
            <p:cNvPr id="341" name="Straight Arrow Connector 340">
              <a:extLst>
                <a:ext uri="{FF2B5EF4-FFF2-40B4-BE49-F238E27FC236}">
                  <a16:creationId xmlns:a16="http://schemas.microsoft.com/office/drawing/2014/main" id="{41F9F719-9E4B-668D-76DD-16A907BBB71C}"/>
                </a:ext>
              </a:extLst>
            </p:cNvPr>
            <p:cNvCxnSpPr>
              <a:cxnSpLocks/>
            </p:cNvCxnSpPr>
            <p:nvPr/>
          </p:nvCxnSpPr>
          <p:spPr>
            <a:xfrm>
              <a:off x="3383987" y="1945481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Arrow Connector 341">
              <a:extLst>
                <a:ext uri="{FF2B5EF4-FFF2-40B4-BE49-F238E27FC236}">
                  <a16:creationId xmlns:a16="http://schemas.microsoft.com/office/drawing/2014/main" id="{B4B083AB-48F1-64E4-4ED4-57CE663086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94967" y="1881912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E14C8670-C1F4-96BA-C4FB-854A3A43AADB}"/>
              </a:ext>
            </a:extLst>
          </p:cNvPr>
          <p:cNvGrpSpPr/>
          <p:nvPr/>
        </p:nvGrpSpPr>
        <p:grpSpPr>
          <a:xfrm>
            <a:off x="9160217" y="12140825"/>
            <a:ext cx="802845" cy="352659"/>
            <a:chOff x="3294967" y="1881912"/>
            <a:chExt cx="245675" cy="63569"/>
          </a:xfrm>
        </p:grpSpPr>
        <p:cxnSp>
          <p:nvCxnSpPr>
            <p:cNvPr id="348" name="Straight Arrow Connector 347">
              <a:extLst>
                <a:ext uri="{FF2B5EF4-FFF2-40B4-BE49-F238E27FC236}">
                  <a16:creationId xmlns:a16="http://schemas.microsoft.com/office/drawing/2014/main" id="{59C56E93-B406-4D1A-F9AE-F53D1E465EC1}"/>
                </a:ext>
              </a:extLst>
            </p:cNvPr>
            <p:cNvCxnSpPr>
              <a:cxnSpLocks/>
            </p:cNvCxnSpPr>
            <p:nvPr/>
          </p:nvCxnSpPr>
          <p:spPr>
            <a:xfrm>
              <a:off x="3383987" y="1945481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Arrow Connector 348">
              <a:extLst>
                <a:ext uri="{FF2B5EF4-FFF2-40B4-BE49-F238E27FC236}">
                  <a16:creationId xmlns:a16="http://schemas.microsoft.com/office/drawing/2014/main" id="{1A7886A1-2E1D-4BF8-F568-7B6454C14C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94967" y="1881912"/>
              <a:ext cx="156655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C8F4F768-2903-29D7-B564-48BE0A78B328}"/>
              </a:ext>
            </a:extLst>
          </p:cNvPr>
          <p:cNvGrpSpPr/>
          <p:nvPr/>
        </p:nvGrpSpPr>
        <p:grpSpPr>
          <a:xfrm>
            <a:off x="7307732" y="15786470"/>
            <a:ext cx="557211" cy="154521"/>
            <a:chOff x="3294967" y="1881912"/>
            <a:chExt cx="245675" cy="63569"/>
          </a:xfrm>
        </p:grpSpPr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F097D25D-2BB8-8CE4-2A80-672C8EE23C30}"/>
                </a:ext>
              </a:extLst>
            </p:cNvPr>
            <p:cNvCxnSpPr>
              <a:cxnSpLocks/>
            </p:cNvCxnSpPr>
            <p:nvPr/>
          </p:nvCxnSpPr>
          <p:spPr>
            <a:xfrm>
              <a:off x="3383987" y="1945481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Arrow Connector 367">
              <a:extLst>
                <a:ext uri="{FF2B5EF4-FFF2-40B4-BE49-F238E27FC236}">
                  <a16:creationId xmlns:a16="http://schemas.microsoft.com/office/drawing/2014/main" id="{42CDC90F-744D-D7E0-9FB5-F9320D6B3D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94967" y="1881912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8" name="Group 377">
            <a:extLst>
              <a:ext uri="{FF2B5EF4-FFF2-40B4-BE49-F238E27FC236}">
                <a16:creationId xmlns:a16="http://schemas.microsoft.com/office/drawing/2014/main" id="{0B363BA8-A4E4-A3C8-16DD-A13DEA808EAB}"/>
              </a:ext>
            </a:extLst>
          </p:cNvPr>
          <p:cNvGrpSpPr/>
          <p:nvPr/>
        </p:nvGrpSpPr>
        <p:grpSpPr>
          <a:xfrm rot="5400000">
            <a:off x="20667644" y="8845578"/>
            <a:ext cx="543459" cy="207738"/>
            <a:chOff x="3294967" y="1881912"/>
            <a:chExt cx="245675" cy="63569"/>
          </a:xfrm>
        </p:grpSpPr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8BC4F157-0E8F-1987-E9F3-665E2030C9FD}"/>
                </a:ext>
              </a:extLst>
            </p:cNvPr>
            <p:cNvCxnSpPr>
              <a:cxnSpLocks/>
            </p:cNvCxnSpPr>
            <p:nvPr/>
          </p:nvCxnSpPr>
          <p:spPr>
            <a:xfrm>
              <a:off x="3383987" y="1945481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BDEADC9B-21AB-3138-B528-BB8B84C998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94967" y="1881912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B787B2AC-D220-D3AB-5ED0-7C6F6A3FBF61}"/>
              </a:ext>
            </a:extLst>
          </p:cNvPr>
          <p:cNvGrpSpPr/>
          <p:nvPr/>
        </p:nvGrpSpPr>
        <p:grpSpPr>
          <a:xfrm rot="5400000">
            <a:off x="4464000" y="8692679"/>
            <a:ext cx="678966" cy="215979"/>
            <a:chOff x="3294967" y="1881912"/>
            <a:chExt cx="245675" cy="63569"/>
          </a:xfrm>
        </p:grpSpPr>
        <p:cxnSp>
          <p:nvCxnSpPr>
            <p:cNvPr id="382" name="Straight Arrow Connector 381">
              <a:extLst>
                <a:ext uri="{FF2B5EF4-FFF2-40B4-BE49-F238E27FC236}">
                  <a16:creationId xmlns:a16="http://schemas.microsoft.com/office/drawing/2014/main" id="{8F5C3951-188D-81BC-86CA-60DC7859F640}"/>
                </a:ext>
              </a:extLst>
            </p:cNvPr>
            <p:cNvCxnSpPr>
              <a:cxnSpLocks/>
            </p:cNvCxnSpPr>
            <p:nvPr/>
          </p:nvCxnSpPr>
          <p:spPr>
            <a:xfrm>
              <a:off x="3383987" y="1945481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Arrow Connector 382">
              <a:extLst>
                <a:ext uri="{FF2B5EF4-FFF2-40B4-BE49-F238E27FC236}">
                  <a16:creationId xmlns:a16="http://schemas.microsoft.com/office/drawing/2014/main" id="{6A14D6CC-01B3-4D02-3B1E-296BACFF43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94967" y="1881912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3F4273FF-1801-4547-5772-6BA348DB47FE}"/>
              </a:ext>
            </a:extLst>
          </p:cNvPr>
          <p:cNvGrpSpPr/>
          <p:nvPr/>
        </p:nvGrpSpPr>
        <p:grpSpPr>
          <a:xfrm rot="5400000">
            <a:off x="28335662" y="9026064"/>
            <a:ext cx="543459" cy="207738"/>
            <a:chOff x="3294967" y="1881912"/>
            <a:chExt cx="245675" cy="63569"/>
          </a:xfrm>
        </p:grpSpPr>
        <p:cxnSp>
          <p:nvCxnSpPr>
            <p:cNvPr id="388" name="Straight Arrow Connector 387">
              <a:extLst>
                <a:ext uri="{FF2B5EF4-FFF2-40B4-BE49-F238E27FC236}">
                  <a16:creationId xmlns:a16="http://schemas.microsoft.com/office/drawing/2014/main" id="{16E45E22-C7FB-1E7C-29D7-5A775A0364D1}"/>
                </a:ext>
              </a:extLst>
            </p:cNvPr>
            <p:cNvCxnSpPr>
              <a:cxnSpLocks/>
            </p:cNvCxnSpPr>
            <p:nvPr/>
          </p:nvCxnSpPr>
          <p:spPr>
            <a:xfrm>
              <a:off x="3383987" y="1945481"/>
              <a:ext cx="156655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Arrow Connector 388">
              <a:extLst>
                <a:ext uri="{FF2B5EF4-FFF2-40B4-BE49-F238E27FC236}">
                  <a16:creationId xmlns:a16="http://schemas.microsoft.com/office/drawing/2014/main" id="{DC54657B-AB22-1DFC-EB1F-C4E400603C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94967" y="1881912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3" name="Freeform: Shape 392">
            <a:extLst>
              <a:ext uri="{FF2B5EF4-FFF2-40B4-BE49-F238E27FC236}">
                <a16:creationId xmlns:a16="http://schemas.microsoft.com/office/drawing/2014/main" id="{881FE01E-6F5C-4678-AAA7-CF030BDE7B3B}"/>
              </a:ext>
            </a:extLst>
          </p:cNvPr>
          <p:cNvSpPr/>
          <p:nvPr/>
        </p:nvSpPr>
        <p:spPr>
          <a:xfrm>
            <a:off x="2420295" y="13024286"/>
            <a:ext cx="1628970" cy="2881035"/>
          </a:xfrm>
          <a:custGeom>
            <a:avLst/>
            <a:gdLst>
              <a:gd name="connsiteX0" fmla="*/ 0 w 498475"/>
              <a:gd name="connsiteY0" fmla="*/ 0 h 876300"/>
              <a:gd name="connsiteX1" fmla="*/ 498475 w 498475"/>
              <a:gd name="connsiteY1" fmla="*/ 0 h 876300"/>
              <a:gd name="connsiteX2" fmla="*/ 498475 w 498475"/>
              <a:gd name="connsiteY2" fmla="*/ 876300 h 876300"/>
              <a:gd name="connsiteX3" fmla="*/ 3175 w 498475"/>
              <a:gd name="connsiteY3" fmla="*/ 876300 h 87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8475" h="876300">
                <a:moveTo>
                  <a:pt x="0" y="0"/>
                </a:moveTo>
                <a:lnTo>
                  <a:pt x="498475" y="0"/>
                </a:lnTo>
                <a:lnTo>
                  <a:pt x="498475" y="876300"/>
                </a:lnTo>
                <a:lnTo>
                  <a:pt x="3175" y="876300"/>
                </a:lnTo>
              </a:path>
            </a:pathLst>
          </a:cu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pic>
        <p:nvPicPr>
          <p:cNvPr id="197" name="Picture 196">
            <a:extLst>
              <a:ext uri="{FF2B5EF4-FFF2-40B4-BE49-F238E27FC236}">
                <a16:creationId xmlns:a16="http://schemas.microsoft.com/office/drawing/2014/main" id="{E829A1D6-D93B-E894-AF57-833DE1C4429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738548" y="5955672"/>
            <a:ext cx="1654233" cy="4894416"/>
          </a:xfrm>
          <a:prstGeom prst="rect">
            <a:avLst/>
          </a:prstGeom>
        </p:spPr>
      </p:pic>
      <p:pic>
        <p:nvPicPr>
          <p:cNvPr id="396" name="Picture 395">
            <a:extLst>
              <a:ext uri="{FF2B5EF4-FFF2-40B4-BE49-F238E27FC236}">
                <a16:creationId xmlns:a16="http://schemas.microsoft.com/office/drawing/2014/main" id="{7723D652-496B-2C20-F2A1-98B7317D97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29018661" y="6127190"/>
            <a:ext cx="313158" cy="412125"/>
          </a:xfrm>
          <a:prstGeom prst="rect">
            <a:avLst/>
          </a:prstGeom>
        </p:spPr>
      </p:pic>
      <p:sp>
        <p:nvSpPr>
          <p:cNvPr id="403" name="Rectangle 402">
            <a:extLst>
              <a:ext uri="{FF2B5EF4-FFF2-40B4-BE49-F238E27FC236}">
                <a16:creationId xmlns:a16="http://schemas.microsoft.com/office/drawing/2014/main" id="{AA5A5546-70AE-7BF5-9F32-C98CCEC27079}"/>
              </a:ext>
            </a:extLst>
          </p:cNvPr>
          <p:cNvSpPr/>
          <p:nvPr/>
        </p:nvSpPr>
        <p:spPr>
          <a:xfrm>
            <a:off x="19439907" y="6336596"/>
            <a:ext cx="1638150" cy="5087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rgbClr val="0000FF"/>
                </a:solidFill>
                <a:latin typeface="Arial Black" panose="020B0A04020102020204" pitchFamily="34" charset="0"/>
              </a:rPr>
              <a:t>CCO</a:t>
            </a:r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DCB510F3-2AF6-D6A1-3760-DC8082BE6A7C}"/>
              </a:ext>
            </a:extLst>
          </p:cNvPr>
          <p:cNvSpPr/>
          <p:nvPr/>
        </p:nvSpPr>
        <p:spPr>
          <a:xfrm>
            <a:off x="5233337" y="7030931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A2</a:t>
            </a: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28CA802E-77B3-D415-D67A-6BAA66544D72}"/>
              </a:ext>
            </a:extLst>
          </p:cNvPr>
          <p:cNvSpPr/>
          <p:nvPr/>
        </p:nvSpPr>
        <p:spPr>
          <a:xfrm>
            <a:off x="5233337" y="7660748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A3</a:t>
            </a: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F8B86CDC-81E4-23A3-A4FF-19C4C9C2476E}"/>
              </a:ext>
            </a:extLst>
          </p:cNvPr>
          <p:cNvSpPr/>
          <p:nvPr/>
        </p:nvSpPr>
        <p:spPr>
          <a:xfrm>
            <a:off x="5233337" y="8354942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A4</a:t>
            </a:r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6FF758F2-68D6-FF49-5279-AB1D1A988029}"/>
              </a:ext>
            </a:extLst>
          </p:cNvPr>
          <p:cNvSpPr/>
          <p:nvPr/>
        </p:nvSpPr>
        <p:spPr>
          <a:xfrm>
            <a:off x="5233337" y="8978270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A5</a:t>
            </a: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A155577D-6C21-73AB-E10B-30E87300363E}"/>
              </a:ext>
            </a:extLst>
          </p:cNvPr>
          <p:cNvSpPr/>
          <p:nvPr/>
        </p:nvSpPr>
        <p:spPr>
          <a:xfrm>
            <a:off x="5233337" y="9570947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A6</a:t>
            </a: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B4E2FAD0-4EE9-0DE5-A3C9-88D858F92540}"/>
              </a:ext>
            </a:extLst>
          </p:cNvPr>
          <p:cNvSpPr/>
          <p:nvPr/>
        </p:nvSpPr>
        <p:spPr>
          <a:xfrm>
            <a:off x="5233337" y="10194686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A7</a:t>
            </a: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7D97EFA4-D1A6-5FE4-E013-EA4A6274BB51}"/>
              </a:ext>
            </a:extLst>
          </p:cNvPr>
          <p:cNvSpPr/>
          <p:nvPr/>
        </p:nvSpPr>
        <p:spPr>
          <a:xfrm>
            <a:off x="5233337" y="10768751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A8</a:t>
            </a: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17A62365-08C4-1254-65E3-9B73C0E8DF71}"/>
              </a:ext>
            </a:extLst>
          </p:cNvPr>
          <p:cNvSpPr/>
          <p:nvPr/>
        </p:nvSpPr>
        <p:spPr>
          <a:xfrm>
            <a:off x="5233337" y="11541524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A9</a:t>
            </a: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1FBEAD2B-B449-6363-33C5-B084C8E2F99B}"/>
              </a:ext>
            </a:extLst>
          </p:cNvPr>
          <p:cNvSpPr/>
          <p:nvPr/>
        </p:nvSpPr>
        <p:spPr>
          <a:xfrm>
            <a:off x="5233337" y="12771938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A11</a:t>
            </a: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498BBADA-254B-3910-2BC0-4C97A31B6A44}"/>
              </a:ext>
            </a:extLst>
          </p:cNvPr>
          <p:cNvSpPr/>
          <p:nvPr/>
        </p:nvSpPr>
        <p:spPr>
          <a:xfrm>
            <a:off x="13620011" y="7030931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B2</a:t>
            </a: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BA1EDF60-F8F4-E907-6AAC-726F7A8B074F}"/>
              </a:ext>
            </a:extLst>
          </p:cNvPr>
          <p:cNvSpPr/>
          <p:nvPr/>
        </p:nvSpPr>
        <p:spPr>
          <a:xfrm>
            <a:off x="13620011" y="7660748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dirty="0">
                <a:solidFill>
                  <a:schemeClr val="tx1"/>
                </a:solidFill>
              </a:rPr>
              <a:t>B3</a:t>
            </a: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781FAA69-BCE4-F23E-FD3E-AE6DCFB9AE00}"/>
              </a:ext>
            </a:extLst>
          </p:cNvPr>
          <p:cNvSpPr/>
          <p:nvPr/>
        </p:nvSpPr>
        <p:spPr>
          <a:xfrm>
            <a:off x="13620011" y="8252516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B4</a:t>
            </a:r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3B3BAD3F-5EB6-F64B-67BB-C0AC6D4FCFB5}"/>
              </a:ext>
            </a:extLst>
          </p:cNvPr>
          <p:cNvSpPr/>
          <p:nvPr/>
        </p:nvSpPr>
        <p:spPr>
          <a:xfrm>
            <a:off x="13620011" y="8907818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B5</a:t>
            </a: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FF4DA129-913D-1102-F1B2-33DAD44446A5}"/>
              </a:ext>
            </a:extLst>
          </p:cNvPr>
          <p:cNvSpPr/>
          <p:nvPr/>
        </p:nvSpPr>
        <p:spPr>
          <a:xfrm>
            <a:off x="13620011" y="9570947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B6</a:t>
            </a: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5A40C8E5-142A-A960-0BAC-71F1BCC44B7D}"/>
              </a:ext>
            </a:extLst>
          </p:cNvPr>
          <p:cNvSpPr/>
          <p:nvPr/>
        </p:nvSpPr>
        <p:spPr>
          <a:xfrm>
            <a:off x="13620011" y="10194686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B7</a:t>
            </a: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D8BC34D4-96A4-97C4-829E-5C2C037B2643}"/>
              </a:ext>
            </a:extLst>
          </p:cNvPr>
          <p:cNvSpPr/>
          <p:nvPr/>
        </p:nvSpPr>
        <p:spPr>
          <a:xfrm>
            <a:off x="13620011" y="10768751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B8</a:t>
            </a: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000CCAA4-F6DE-8429-5624-0D7F5B584E68}"/>
              </a:ext>
            </a:extLst>
          </p:cNvPr>
          <p:cNvSpPr/>
          <p:nvPr/>
        </p:nvSpPr>
        <p:spPr>
          <a:xfrm>
            <a:off x="13620011" y="11541524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B9</a:t>
            </a: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4F05A9E7-72E8-FFD8-E6AF-2179A5E0031C}"/>
              </a:ext>
            </a:extLst>
          </p:cNvPr>
          <p:cNvSpPr/>
          <p:nvPr/>
        </p:nvSpPr>
        <p:spPr>
          <a:xfrm>
            <a:off x="13573325" y="12771938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B11</a:t>
            </a:r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1053832D-91B4-77DA-3246-2CA12FBEBB05}"/>
              </a:ext>
            </a:extLst>
          </p:cNvPr>
          <p:cNvSpPr/>
          <p:nvPr/>
        </p:nvSpPr>
        <p:spPr>
          <a:xfrm>
            <a:off x="21463445" y="6326006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C1</a:t>
            </a:r>
          </a:p>
        </p:txBody>
      </p:sp>
      <p:sp>
        <p:nvSpPr>
          <p:cNvPr id="427" name="Rectangle 426">
            <a:extLst>
              <a:ext uri="{FF2B5EF4-FFF2-40B4-BE49-F238E27FC236}">
                <a16:creationId xmlns:a16="http://schemas.microsoft.com/office/drawing/2014/main" id="{BB5C26F0-447C-EC0E-8082-337548A61642}"/>
              </a:ext>
            </a:extLst>
          </p:cNvPr>
          <p:cNvSpPr/>
          <p:nvPr/>
        </p:nvSpPr>
        <p:spPr>
          <a:xfrm>
            <a:off x="21463445" y="7030931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C2</a:t>
            </a: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04E9EBE7-8F76-7028-9BD7-20B68E45F3AE}"/>
              </a:ext>
            </a:extLst>
          </p:cNvPr>
          <p:cNvSpPr/>
          <p:nvPr/>
        </p:nvSpPr>
        <p:spPr>
          <a:xfrm>
            <a:off x="21463445" y="7660748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C3</a:t>
            </a:r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E5A96AF7-127C-E262-034A-63D36ACF174E}"/>
              </a:ext>
            </a:extLst>
          </p:cNvPr>
          <p:cNvSpPr/>
          <p:nvPr/>
        </p:nvSpPr>
        <p:spPr>
          <a:xfrm>
            <a:off x="21463445" y="8283497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C4</a:t>
            </a:r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9676048F-1D50-8483-B151-90450D286AEA}"/>
              </a:ext>
            </a:extLst>
          </p:cNvPr>
          <p:cNvSpPr/>
          <p:nvPr/>
        </p:nvSpPr>
        <p:spPr>
          <a:xfrm>
            <a:off x="21463445" y="8907818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C5</a:t>
            </a:r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A5FFBD01-C886-A3E2-8B0E-9484A82BA092}"/>
              </a:ext>
            </a:extLst>
          </p:cNvPr>
          <p:cNvSpPr/>
          <p:nvPr/>
        </p:nvSpPr>
        <p:spPr>
          <a:xfrm>
            <a:off x="21463445" y="9570947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C6</a:t>
            </a:r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BA45FE9A-E876-9629-7D83-3C5727B5E3E9}"/>
              </a:ext>
            </a:extLst>
          </p:cNvPr>
          <p:cNvSpPr/>
          <p:nvPr/>
        </p:nvSpPr>
        <p:spPr>
          <a:xfrm>
            <a:off x="21463445" y="10194686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C7</a:t>
            </a:r>
          </a:p>
        </p:txBody>
      </p:sp>
      <p:sp>
        <p:nvSpPr>
          <p:cNvPr id="433" name="Rectangle 432">
            <a:extLst>
              <a:ext uri="{FF2B5EF4-FFF2-40B4-BE49-F238E27FC236}">
                <a16:creationId xmlns:a16="http://schemas.microsoft.com/office/drawing/2014/main" id="{63CC64A5-3582-1FBF-A049-E9B704116FB1}"/>
              </a:ext>
            </a:extLst>
          </p:cNvPr>
          <p:cNvSpPr/>
          <p:nvPr/>
        </p:nvSpPr>
        <p:spPr>
          <a:xfrm>
            <a:off x="21463445" y="10768751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C8</a:t>
            </a:r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F736DF37-910D-AE2B-51AA-64637BFF8ADB}"/>
              </a:ext>
            </a:extLst>
          </p:cNvPr>
          <p:cNvSpPr/>
          <p:nvPr/>
        </p:nvSpPr>
        <p:spPr>
          <a:xfrm>
            <a:off x="21463445" y="11541524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C9</a:t>
            </a:r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6454825B-8E1E-59B6-5D6C-FA108F0EF105}"/>
              </a:ext>
            </a:extLst>
          </p:cNvPr>
          <p:cNvSpPr/>
          <p:nvPr/>
        </p:nvSpPr>
        <p:spPr>
          <a:xfrm>
            <a:off x="21463445" y="12771938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C11</a:t>
            </a:r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2E91FF6E-4FF0-E0F8-ACD4-8E285B2AAAA3}"/>
              </a:ext>
            </a:extLst>
          </p:cNvPr>
          <p:cNvSpPr/>
          <p:nvPr/>
        </p:nvSpPr>
        <p:spPr>
          <a:xfrm>
            <a:off x="21463445" y="13473389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C12</a:t>
            </a:r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375495D1-A813-6E15-EF58-07458B7574D0}"/>
              </a:ext>
            </a:extLst>
          </p:cNvPr>
          <p:cNvSpPr/>
          <p:nvPr/>
        </p:nvSpPr>
        <p:spPr>
          <a:xfrm>
            <a:off x="21463445" y="14073230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C13</a:t>
            </a:r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F228B7CA-BB9E-A031-0B02-D6A31189F6A2}"/>
              </a:ext>
            </a:extLst>
          </p:cNvPr>
          <p:cNvSpPr/>
          <p:nvPr/>
        </p:nvSpPr>
        <p:spPr>
          <a:xfrm>
            <a:off x="21463445" y="14689391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C14</a:t>
            </a: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4E7FFAF5-52B8-3556-1A3F-3AE93822765B}"/>
              </a:ext>
            </a:extLst>
          </p:cNvPr>
          <p:cNvSpPr/>
          <p:nvPr/>
        </p:nvSpPr>
        <p:spPr>
          <a:xfrm>
            <a:off x="21463445" y="15359540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dirty="0">
                <a:solidFill>
                  <a:schemeClr val="tx1"/>
                </a:solidFill>
              </a:rPr>
              <a:t>C15</a:t>
            </a:r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79C63039-8515-E82E-3751-6CCB9FA627A6}"/>
              </a:ext>
            </a:extLst>
          </p:cNvPr>
          <p:cNvSpPr/>
          <p:nvPr/>
        </p:nvSpPr>
        <p:spPr>
          <a:xfrm>
            <a:off x="21463445" y="16809470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dirty="0">
                <a:solidFill>
                  <a:schemeClr val="tx1"/>
                </a:solidFill>
              </a:rPr>
              <a:t>C17</a:t>
            </a:r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3799F425-3300-CD4B-6D44-C3A3D01A1E38}"/>
              </a:ext>
            </a:extLst>
          </p:cNvPr>
          <p:cNvSpPr/>
          <p:nvPr/>
        </p:nvSpPr>
        <p:spPr>
          <a:xfrm>
            <a:off x="13580009" y="13473389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B12</a:t>
            </a: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D3E4CE93-3E50-6E11-C54C-6855B172537D}"/>
              </a:ext>
            </a:extLst>
          </p:cNvPr>
          <p:cNvSpPr/>
          <p:nvPr/>
        </p:nvSpPr>
        <p:spPr>
          <a:xfrm>
            <a:off x="10203795" y="12771938"/>
            <a:ext cx="1011414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A11</a:t>
            </a: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97837826-6D66-0BD0-2524-69A5327BE820}"/>
              </a:ext>
            </a:extLst>
          </p:cNvPr>
          <p:cNvSpPr/>
          <p:nvPr/>
        </p:nvSpPr>
        <p:spPr>
          <a:xfrm>
            <a:off x="10210476" y="13473389"/>
            <a:ext cx="1011414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A12</a:t>
            </a: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F0A791B9-0092-026A-1B17-E067A259AEC1}"/>
              </a:ext>
            </a:extLst>
          </p:cNvPr>
          <p:cNvSpPr/>
          <p:nvPr/>
        </p:nvSpPr>
        <p:spPr>
          <a:xfrm>
            <a:off x="10210476" y="14011421"/>
            <a:ext cx="1011414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A13</a:t>
            </a: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B531EEC2-ABC6-256B-3775-2EEB10EBABA9}"/>
              </a:ext>
            </a:extLst>
          </p:cNvPr>
          <p:cNvSpPr/>
          <p:nvPr/>
        </p:nvSpPr>
        <p:spPr>
          <a:xfrm>
            <a:off x="10210476" y="14699111"/>
            <a:ext cx="1011414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dirty="0">
                <a:solidFill>
                  <a:schemeClr val="tx1"/>
                </a:solidFill>
              </a:rPr>
              <a:t>A14</a:t>
            </a:r>
          </a:p>
        </p:txBody>
      </p:sp>
      <p:sp>
        <p:nvSpPr>
          <p:cNvPr id="458" name="Arrow: U-Turn 457">
            <a:extLst>
              <a:ext uri="{FF2B5EF4-FFF2-40B4-BE49-F238E27FC236}">
                <a16:creationId xmlns:a16="http://schemas.microsoft.com/office/drawing/2014/main" id="{7B2E7BB7-2B4D-2168-9C2C-3213635BB921}"/>
              </a:ext>
            </a:extLst>
          </p:cNvPr>
          <p:cNvSpPr/>
          <p:nvPr/>
        </p:nvSpPr>
        <p:spPr>
          <a:xfrm flipV="1">
            <a:off x="28527248" y="15962793"/>
            <a:ext cx="290805" cy="516306"/>
          </a:xfrm>
          <a:prstGeom prst="uturnArrow">
            <a:avLst>
              <a:gd name="adj1" fmla="val 9207"/>
              <a:gd name="adj2" fmla="val 25000"/>
              <a:gd name="adj3" fmla="val 25000"/>
              <a:gd name="adj4" fmla="val 43750"/>
              <a:gd name="adj5" fmla="val 75000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>
              <a:solidFill>
                <a:schemeClr val="tx1"/>
              </a:solidFill>
            </a:endParaRPr>
          </a:p>
        </p:txBody>
      </p: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C8CF7A4E-5D38-082C-A850-2F70F40CDB2E}"/>
              </a:ext>
            </a:extLst>
          </p:cNvPr>
          <p:cNvGrpSpPr/>
          <p:nvPr/>
        </p:nvGrpSpPr>
        <p:grpSpPr>
          <a:xfrm rot="5400000">
            <a:off x="12843602" y="8768022"/>
            <a:ext cx="543459" cy="207738"/>
            <a:chOff x="3294967" y="1881912"/>
            <a:chExt cx="245675" cy="63569"/>
          </a:xfrm>
        </p:grpSpPr>
        <p:cxnSp>
          <p:nvCxnSpPr>
            <p:cNvPr id="406" name="Straight Arrow Connector 405">
              <a:extLst>
                <a:ext uri="{FF2B5EF4-FFF2-40B4-BE49-F238E27FC236}">
                  <a16:creationId xmlns:a16="http://schemas.microsoft.com/office/drawing/2014/main" id="{9ECB3BFB-0F56-16CC-6DFE-50DD0EA7598D}"/>
                </a:ext>
              </a:extLst>
            </p:cNvPr>
            <p:cNvCxnSpPr>
              <a:cxnSpLocks/>
            </p:cNvCxnSpPr>
            <p:nvPr/>
          </p:nvCxnSpPr>
          <p:spPr>
            <a:xfrm>
              <a:off x="3383987" y="1945481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Arrow Connector 415">
              <a:extLst>
                <a:ext uri="{FF2B5EF4-FFF2-40B4-BE49-F238E27FC236}">
                  <a16:creationId xmlns:a16="http://schemas.microsoft.com/office/drawing/2014/main" id="{6BF35CCA-C3BC-F678-943A-BF56D5F98D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94967" y="1881912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2" name="Rectangle 461">
            <a:extLst>
              <a:ext uri="{FF2B5EF4-FFF2-40B4-BE49-F238E27FC236}">
                <a16:creationId xmlns:a16="http://schemas.microsoft.com/office/drawing/2014/main" id="{8E220698-3DE4-084F-8C59-037AFC786FF7}"/>
              </a:ext>
            </a:extLst>
          </p:cNvPr>
          <p:cNvSpPr/>
          <p:nvPr/>
        </p:nvSpPr>
        <p:spPr>
          <a:xfrm>
            <a:off x="7551704" y="8929766"/>
            <a:ext cx="332127" cy="391443"/>
          </a:xfrm>
          <a:prstGeom prst="rect">
            <a:avLst/>
          </a:prstGeom>
          <a:pattFill prst="pct5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BE9AFA22-FA25-B860-61CE-096E3DE88F0C}"/>
              </a:ext>
            </a:extLst>
          </p:cNvPr>
          <p:cNvSpPr/>
          <p:nvPr/>
        </p:nvSpPr>
        <p:spPr>
          <a:xfrm>
            <a:off x="17094257" y="8906906"/>
            <a:ext cx="332127" cy="391443"/>
          </a:xfrm>
          <a:prstGeom prst="rect">
            <a:avLst/>
          </a:prstGeom>
          <a:pattFill prst="pct5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B8FAEAA9-4E01-C2BA-EBB4-151C2E8C55B6}"/>
              </a:ext>
            </a:extLst>
          </p:cNvPr>
          <p:cNvSpPr/>
          <p:nvPr/>
        </p:nvSpPr>
        <p:spPr>
          <a:xfrm>
            <a:off x="24792596" y="8929766"/>
            <a:ext cx="332127" cy="391443"/>
          </a:xfrm>
          <a:prstGeom prst="rect">
            <a:avLst/>
          </a:prstGeom>
          <a:pattFill prst="pct5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43285BC7-9341-8F4D-964C-3EADEFC8109E}"/>
              </a:ext>
            </a:extLst>
          </p:cNvPr>
          <p:cNvSpPr/>
          <p:nvPr/>
        </p:nvSpPr>
        <p:spPr>
          <a:xfrm>
            <a:off x="24792596" y="6354905"/>
            <a:ext cx="332127" cy="391443"/>
          </a:xfrm>
          <a:prstGeom prst="rect">
            <a:avLst/>
          </a:prstGeom>
          <a:pattFill prst="pct5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D5659099-016B-451B-A887-0DBC95A31934}"/>
              </a:ext>
            </a:extLst>
          </p:cNvPr>
          <p:cNvSpPr/>
          <p:nvPr/>
        </p:nvSpPr>
        <p:spPr>
          <a:xfrm>
            <a:off x="24792596" y="13485587"/>
            <a:ext cx="332127" cy="391443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pic>
        <p:nvPicPr>
          <p:cNvPr id="278" name="Picture 277">
            <a:extLst>
              <a:ext uri="{FF2B5EF4-FFF2-40B4-BE49-F238E27FC236}">
                <a16:creationId xmlns:a16="http://schemas.microsoft.com/office/drawing/2014/main" id="{EB2D4EC4-1921-9DBB-4423-15C0970204A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3667" y="1446176"/>
            <a:ext cx="5343204" cy="2201877"/>
          </a:xfrm>
          <a:prstGeom prst="rect">
            <a:avLst/>
          </a:prstGeom>
        </p:spPr>
      </p:pic>
      <p:sp>
        <p:nvSpPr>
          <p:cNvPr id="467" name="Freeform: Shape 466">
            <a:extLst>
              <a:ext uri="{FF2B5EF4-FFF2-40B4-BE49-F238E27FC236}">
                <a16:creationId xmlns:a16="http://schemas.microsoft.com/office/drawing/2014/main" id="{77832A01-F745-5D28-2C75-24C6AE14D0E9}"/>
              </a:ext>
            </a:extLst>
          </p:cNvPr>
          <p:cNvSpPr/>
          <p:nvPr/>
        </p:nvSpPr>
        <p:spPr>
          <a:xfrm rot="1661973">
            <a:off x="342582" y="17752910"/>
            <a:ext cx="1594290" cy="2106873"/>
          </a:xfrm>
          <a:custGeom>
            <a:avLst/>
            <a:gdLst>
              <a:gd name="connsiteX0" fmla="*/ 146050 w 488950"/>
              <a:gd name="connsiteY0" fmla="*/ 57150 h 527050"/>
              <a:gd name="connsiteX1" fmla="*/ 0 w 488950"/>
              <a:gd name="connsiteY1" fmla="*/ 406400 h 527050"/>
              <a:gd name="connsiteX2" fmla="*/ 425450 w 488950"/>
              <a:gd name="connsiteY2" fmla="*/ 527050 h 527050"/>
              <a:gd name="connsiteX3" fmla="*/ 488950 w 488950"/>
              <a:gd name="connsiteY3" fmla="*/ 0 h 527050"/>
              <a:gd name="connsiteX4" fmla="*/ 146050 w 488950"/>
              <a:gd name="connsiteY4" fmla="*/ 57150 h 527050"/>
              <a:gd name="connsiteX0" fmla="*/ 146050 w 460394"/>
              <a:gd name="connsiteY0" fmla="*/ 0 h 469900"/>
              <a:gd name="connsiteX1" fmla="*/ 0 w 460394"/>
              <a:gd name="connsiteY1" fmla="*/ 349250 h 469900"/>
              <a:gd name="connsiteX2" fmla="*/ 425450 w 460394"/>
              <a:gd name="connsiteY2" fmla="*/ 469900 h 469900"/>
              <a:gd name="connsiteX3" fmla="*/ 460394 w 460394"/>
              <a:gd name="connsiteY3" fmla="*/ 33242 h 469900"/>
              <a:gd name="connsiteX4" fmla="*/ 146050 w 460394"/>
              <a:gd name="connsiteY4" fmla="*/ 0 h 469900"/>
              <a:gd name="connsiteX0" fmla="*/ 144084 w 460394"/>
              <a:gd name="connsiteY0" fmla="*/ 101548 h 436658"/>
              <a:gd name="connsiteX1" fmla="*/ 0 w 460394"/>
              <a:gd name="connsiteY1" fmla="*/ 316008 h 436658"/>
              <a:gd name="connsiteX2" fmla="*/ 425450 w 460394"/>
              <a:gd name="connsiteY2" fmla="*/ 436658 h 436658"/>
              <a:gd name="connsiteX3" fmla="*/ 460394 w 460394"/>
              <a:gd name="connsiteY3" fmla="*/ 0 h 436658"/>
              <a:gd name="connsiteX4" fmla="*/ 144084 w 460394"/>
              <a:gd name="connsiteY4" fmla="*/ 101548 h 436658"/>
              <a:gd name="connsiteX0" fmla="*/ 0 w 316310"/>
              <a:gd name="connsiteY0" fmla="*/ 101548 h 436658"/>
              <a:gd name="connsiteX1" fmla="*/ 87308 w 316310"/>
              <a:gd name="connsiteY1" fmla="*/ 379442 h 436658"/>
              <a:gd name="connsiteX2" fmla="*/ 281366 w 316310"/>
              <a:gd name="connsiteY2" fmla="*/ 436658 h 436658"/>
              <a:gd name="connsiteX3" fmla="*/ 316310 w 316310"/>
              <a:gd name="connsiteY3" fmla="*/ 0 h 436658"/>
              <a:gd name="connsiteX4" fmla="*/ 0 w 316310"/>
              <a:gd name="connsiteY4" fmla="*/ 101548 h 436658"/>
              <a:gd name="connsiteX0" fmla="*/ 0 w 316310"/>
              <a:gd name="connsiteY0" fmla="*/ 101548 h 436658"/>
              <a:gd name="connsiteX1" fmla="*/ 87308 w 316310"/>
              <a:gd name="connsiteY1" fmla="*/ 379442 h 436658"/>
              <a:gd name="connsiteX2" fmla="*/ 281366 w 316310"/>
              <a:gd name="connsiteY2" fmla="*/ 436658 h 436658"/>
              <a:gd name="connsiteX3" fmla="*/ 316310 w 316310"/>
              <a:gd name="connsiteY3" fmla="*/ 0 h 436658"/>
              <a:gd name="connsiteX4" fmla="*/ 211384 w 316310"/>
              <a:gd name="connsiteY4" fmla="*/ 30924 h 436658"/>
              <a:gd name="connsiteX5" fmla="*/ 0 w 316310"/>
              <a:gd name="connsiteY5" fmla="*/ 101548 h 436658"/>
              <a:gd name="connsiteX0" fmla="*/ 0 w 316310"/>
              <a:gd name="connsiteY0" fmla="*/ 147109 h 482219"/>
              <a:gd name="connsiteX1" fmla="*/ 87308 w 316310"/>
              <a:gd name="connsiteY1" fmla="*/ 425003 h 482219"/>
              <a:gd name="connsiteX2" fmla="*/ 281366 w 316310"/>
              <a:gd name="connsiteY2" fmla="*/ 482219 h 482219"/>
              <a:gd name="connsiteX3" fmla="*/ 316310 w 316310"/>
              <a:gd name="connsiteY3" fmla="*/ 45561 h 482219"/>
              <a:gd name="connsiteX4" fmla="*/ 235547 w 316310"/>
              <a:gd name="connsiteY4" fmla="*/ 0 h 482219"/>
              <a:gd name="connsiteX5" fmla="*/ 0 w 316310"/>
              <a:gd name="connsiteY5" fmla="*/ 147109 h 482219"/>
              <a:gd name="connsiteX0" fmla="*/ 1 w 294287"/>
              <a:gd name="connsiteY0" fmla="*/ 138617 h 482219"/>
              <a:gd name="connsiteX1" fmla="*/ 65285 w 294287"/>
              <a:gd name="connsiteY1" fmla="*/ 425003 h 482219"/>
              <a:gd name="connsiteX2" fmla="*/ 259343 w 294287"/>
              <a:gd name="connsiteY2" fmla="*/ 482219 h 482219"/>
              <a:gd name="connsiteX3" fmla="*/ 294287 w 294287"/>
              <a:gd name="connsiteY3" fmla="*/ 45561 h 482219"/>
              <a:gd name="connsiteX4" fmla="*/ 213524 w 294287"/>
              <a:gd name="connsiteY4" fmla="*/ 0 h 482219"/>
              <a:gd name="connsiteX5" fmla="*/ 1 w 294287"/>
              <a:gd name="connsiteY5" fmla="*/ 138617 h 482219"/>
              <a:gd name="connsiteX0" fmla="*/ 0 w 294286"/>
              <a:gd name="connsiteY0" fmla="*/ 138617 h 540979"/>
              <a:gd name="connsiteX1" fmla="*/ 65284 w 294286"/>
              <a:gd name="connsiteY1" fmla="*/ 425003 h 540979"/>
              <a:gd name="connsiteX2" fmla="*/ 258187 w 294286"/>
              <a:gd name="connsiteY2" fmla="*/ 540979 h 540979"/>
              <a:gd name="connsiteX3" fmla="*/ 294286 w 294286"/>
              <a:gd name="connsiteY3" fmla="*/ 45561 h 540979"/>
              <a:gd name="connsiteX4" fmla="*/ 213523 w 294286"/>
              <a:gd name="connsiteY4" fmla="*/ 0 h 540979"/>
              <a:gd name="connsiteX5" fmla="*/ 0 w 294286"/>
              <a:gd name="connsiteY5" fmla="*/ 138617 h 540979"/>
              <a:gd name="connsiteX0" fmla="*/ 0 w 294286"/>
              <a:gd name="connsiteY0" fmla="*/ 138617 h 540979"/>
              <a:gd name="connsiteX1" fmla="*/ 116787 w 294286"/>
              <a:gd name="connsiteY1" fmla="*/ 488494 h 540979"/>
              <a:gd name="connsiteX2" fmla="*/ 258187 w 294286"/>
              <a:gd name="connsiteY2" fmla="*/ 540979 h 540979"/>
              <a:gd name="connsiteX3" fmla="*/ 294286 w 294286"/>
              <a:gd name="connsiteY3" fmla="*/ 45561 h 540979"/>
              <a:gd name="connsiteX4" fmla="*/ 213523 w 294286"/>
              <a:gd name="connsiteY4" fmla="*/ 0 h 540979"/>
              <a:gd name="connsiteX5" fmla="*/ 0 w 294286"/>
              <a:gd name="connsiteY5" fmla="*/ 138617 h 540979"/>
              <a:gd name="connsiteX0" fmla="*/ 0 w 294286"/>
              <a:gd name="connsiteY0" fmla="*/ 138617 h 492421"/>
              <a:gd name="connsiteX1" fmla="*/ 116787 w 294286"/>
              <a:gd name="connsiteY1" fmla="*/ 488494 h 492421"/>
              <a:gd name="connsiteX2" fmla="*/ 267723 w 294286"/>
              <a:gd name="connsiteY2" fmla="*/ 492421 h 492421"/>
              <a:gd name="connsiteX3" fmla="*/ 294286 w 294286"/>
              <a:gd name="connsiteY3" fmla="*/ 45561 h 492421"/>
              <a:gd name="connsiteX4" fmla="*/ 213523 w 294286"/>
              <a:gd name="connsiteY4" fmla="*/ 0 h 492421"/>
              <a:gd name="connsiteX5" fmla="*/ 0 w 294286"/>
              <a:gd name="connsiteY5" fmla="*/ 138617 h 492421"/>
              <a:gd name="connsiteX0" fmla="*/ 48187 w 342473"/>
              <a:gd name="connsiteY0" fmla="*/ 138617 h 492421"/>
              <a:gd name="connsiteX1" fmla="*/ 0 w 342473"/>
              <a:gd name="connsiteY1" fmla="*/ 416854 h 492421"/>
              <a:gd name="connsiteX2" fmla="*/ 315910 w 342473"/>
              <a:gd name="connsiteY2" fmla="*/ 492421 h 492421"/>
              <a:gd name="connsiteX3" fmla="*/ 342473 w 342473"/>
              <a:gd name="connsiteY3" fmla="*/ 45561 h 492421"/>
              <a:gd name="connsiteX4" fmla="*/ 261710 w 342473"/>
              <a:gd name="connsiteY4" fmla="*/ 0 h 492421"/>
              <a:gd name="connsiteX5" fmla="*/ 48187 w 342473"/>
              <a:gd name="connsiteY5" fmla="*/ 138617 h 492421"/>
              <a:gd name="connsiteX0" fmla="*/ 8244 w 302530"/>
              <a:gd name="connsiteY0" fmla="*/ 138617 h 492421"/>
              <a:gd name="connsiteX1" fmla="*/ 0 w 302530"/>
              <a:gd name="connsiteY1" fmla="*/ 486329 h 492421"/>
              <a:gd name="connsiteX2" fmla="*/ 275967 w 302530"/>
              <a:gd name="connsiteY2" fmla="*/ 492421 h 492421"/>
              <a:gd name="connsiteX3" fmla="*/ 302530 w 302530"/>
              <a:gd name="connsiteY3" fmla="*/ 45561 h 492421"/>
              <a:gd name="connsiteX4" fmla="*/ 221767 w 302530"/>
              <a:gd name="connsiteY4" fmla="*/ 0 h 492421"/>
              <a:gd name="connsiteX5" fmla="*/ 8244 w 302530"/>
              <a:gd name="connsiteY5" fmla="*/ 138617 h 492421"/>
              <a:gd name="connsiteX0" fmla="*/ 21366 w 315652"/>
              <a:gd name="connsiteY0" fmla="*/ 138617 h 492421"/>
              <a:gd name="connsiteX1" fmla="*/ 0 w 315652"/>
              <a:gd name="connsiteY1" fmla="*/ 472766 h 492421"/>
              <a:gd name="connsiteX2" fmla="*/ 289089 w 315652"/>
              <a:gd name="connsiteY2" fmla="*/ 492421 h 492421"/>
              <a:gd name="connsiteX3" fmla="*/ 315652 w 315652"/>
              <a:gd name="connsiteY3" fmla="*/ 45561 h 492421"/>
              <a:gd name="connsiteX4" fmla="*/ 234889 w 315652"/>
              <a:gd name="connsiteY4" fmla="*/ 0 h 492421"/>
              <a:gd name="connsiteX5" fmla="*/ 21366 w 315652"/>
              <a:gd name="connsiteY5" fmla="*/ 138617 h 492421"/>
              <a:gd name="connsiteX0" fmla="*/ 0 w 341629"/>
              <a:gd name="connsiteY0" fmla="*/ 166031 h 492421"/>
              <a:gd name="connsiteX1" fmla="*/ 25977 w 341629"/>
              <a:gd name="connsiteY1" fmla="*/ 472766 h 492421"/>
              <a:gd name="connsiteX2" fmla="*/ 315066 w 341629"/>
              <a:gd name="connsiteY2" fmla="*/ 492421 h 492421"/>
              <a:gd name="connsiteX3" fmla="*/ 341629 w 341629"/>
              <a:gd name="connsiteY3" fmla="*/ 45561 h 492421"/>
              <a:gd name="connsiteX4" fmla="*/ 260866 w 341629"/>
              <a:gd name="connsiteY4" fmla="*/ 0 h 492421"/>
              <a:gd name="connsiteX5" fmla="*/ 0 w 341629"/>
              <a:gd name="connsiteY5" fmla="*/ 166031 h 492421"/>
              <a:gd name="connsiteX0" fmla="*/ 0 w 333248"/>
              <a:gd name="connsiteY0" fmla="*/ 176233 h 492421"/>
              <a:gd name="connsiteX1" fmla="*/ 17596 w 333248"/>
              <a:gd name="connsiteY1" fmla="*/ 472766 h 492421"/>
              <a:gd name="connsiteX2" fmla="*/ 306685 w 333248"/>
              <a:gd name="connsiteY2" fmla="*/ 492421 h 492421"/>
              <a:gd name="connsiteX3" fmla="*/ 333248 w 333248"/>
              <a:gd name="connsiteY3" fmla="*/ 45561 h 492421"/>
              <a:gd name="connsiteX4" fmla="*/ 252485 w 333248"/>
              <a:gd name="connsiteY4" fmla="*/ 0 h 492421"/>
              <a:gd name="connsiteX5" fmla="*/ 0 w 333248"/>
              <a:gd name="connsiteY5" fmla="*/ 176233 h 492421"/>
              <a:gd name="connsiteX0" fmla="*/ 0 w 333248"/>
              <a:gd name="connsiteY0" fmla="*/ 153382 h 469570"/>
              <a:gd name="connsiteX1" fmla="*/ 17596 w 333248"/>
              <a:gd name="connsiteY1" fmla="*/ 449915 h 469570"/>
              <a:gd name="connsiteX2" fmla="*/ 306685 w 333248"/>
              <a:gd name="connsiteY2" fmla="*/ 469570 h 469570"/>
              <a:gd name="connsiteX3" fmla="*/ 333248 w 333248"/>
              <a:gd name="connsiteY3" fmla="*/ 22710 h 469570"/>
              <a:gd name="connsiteX4" fmla="*/ 208316 w 333248"/>
              <a:gd name="connsiteY4" fmla="*/ 0 h 469570"/>
              <a:gd name="connsiteX5" fmla="*/ 0 w 333248"/>
              <a:gd name="connsiteY5" fmla="*/ 153382 h 469570"/>
              <a:gd name="connsiteX0" fmla="*/ 0 w 306685"/>
              <a:gd name="connsiteY0" fmla="*/ 153382 h 469570"/>
              <a:gd name="connsiteX1" fmla="*/ 17596 w 306685"/>
              <a:gd name="connsiteY1" fmla="*/ 449915 h 469570"/>
              <a:gd name="connsiteX2" fmla="*/ 306685 w 306685"/>
              <a:gd name="connsiteY2" fmla="*/ 469570 h 469570"/>
              <a:gd name="connsiteX3" fmla="*/ 281239 w 306685"/>
              <a:gd name="connsiteY3" fmla="*/ 16304 h 469570"/>
              <a:gd name="connsiteX4" fmla="*/ 208316 w 306685"/>
              <a:gd name="connsiteY4" fmla="*/ 0 h 469570"/>
              <a:gd name="connsiteX5" fmla="*/ 0 w 306685"/>
              <a:gd name="connsiteY5" fmla="*/ 153382 h 469570"/>
              <a:gd name="connsiteX0" fmla="*/ 0 w 306685"/>
              <a:gd name="connsiteY0" fmla="*/ 144812 h 461000"/>
              <a:gd name="connsiteX1" fmla="*/ 17596 w 306685"/>
              <a:gd name="connsiteY1" fmla="*/ 441345 h 461000"/>
              <a:gd name="connsiteX2" fmla="*/ 306685 w 306685"/>
              <a:gd name="connsiteY2" fmla="*/ 461000 h 461000"/>
              <a:gd name="connsiteX3" fmla="*/ 281239 w 306685"/>
              <a:gd name="connsiteY3" fmla="*/ 7734 h 461000"/>
              <a:gd name="connsiteX4" fmla="*/ 191752 w 306685"/>
              <a:gd name="connsiteY4" fmla="*/ 0 h 461000"/>
              <a:gd name="connsiteX5" fmla="*/ 0 w 306685"/>
              <a:gd name="connsiteY5" fmla="*/ 144812 h 461000"/>
              <a:gd name="connsiteX0" fmla="*/ 0 w 309644"/>
              <a:gd name="connsiteY0" fmla="*/ 144812 h 461000"/>
              <a:gd name="connsiteX1" fmla="*/ 17596 w 309644"/>
              <a:gd name="connsiteY1" fmla="*/ 441345 h 461000"/>
              <a:gd name="connsiteX2" fmla="*/ 306685 w 309644"/>
              <a:gd name="connsiteY2" fmla="*/ 461000 h 461000"/>
              <a:gd name="connsiteX3" fmla="*/ 309644 w 309644"/>
              <a:gd name="connsiteY3" fmla="*/ 5530 h 461000"/>
              <a:gd name="connsiteX4" fmla="*/ 191752 w 309644"/>
              <a:gd name="connsiteY4" fmla="*/ 0 h 461000"/>
              <a:gd name="connsiteX5" fmla="*/ 0 w 309644"/>
              <a:gd name="connsiteY5" fmla="*/ 144812 h 461000"/>
              <a:gd name="connsiteX0" fmla="*/ 0 w 309644"/>
              <a:gd name="connsiteY0" fmla="*/ 144812 h 457175"/>
              <a:gd name="connsiteX1" fmla="*/ 17596 w 309644"/>
              <a:gd name="connsiteY1" fmla="*/ 441345 h 457175"/>
              <a:gd name="connsiteX2" fmla="*/ 271160 w 309644"/>
              <a:gd name="connsiteY2" fmla="*/ 457175 h 457175"/>
              <a:gd name="connsiteX3" fmla="*/ 309644 w 309644"/>
              <a:gd name="connsiteY3" fmla="*/ 5530 h 457175"/>
              <a:gd name="connsiteX4" fmla="*/ 191752 w 309644"/>
              <a:gd name="connsiteY4" fmla="*/ 0 h 457175"/>
              <a:gd name="connsiteX5" fmla="*/ 0 w 309644"/>
              <a:gd name="connsiteY5" fmla="*/ 144812 h 457175"/>
              <a:gd name="connsiteX0" fmla="*/ 0 w 271210"/>
              <a:gd name="connsiteY0" fmla="*/ 144812 h 457175"/>
              <a:gd name="connsiteX1" fmla="*/ 17596 w 271210"/>
              <a:gd name="connsiteY1" fmla="*/ 441345 h 457175"/>
              <a:gd name="connsiteX2" fmla="*/ 271160 w 271210"/>
              <a:gd name="connsiteY2" fmla="*/ 457175 h 457175"/>
              <a:gd name="connsiteX3" fmla="*/ 259261 w 271210"/>
              <a:gd name="connsiteY3" fmla="*/ 8572 h 457175"/>
              <a:gd name="connsiteX4" fmla="*/ 191752 w 271210"/>
              <a:gd name="connsiteY4" fmla="*/ 0 h 457175"/>
              <a:gd name="connsiteX5" fmla="*/ 0 w 271210"/>
              <a:gd name="connsiteY5" fmla="*/ 144812 h 457175"/>
              <a:gd name="connsiteX0" fmla="*/ 0 w 271210"/>
              <a:gd name="connsiteY0" fmla="*/ 136240 h 448603"/>
              <a:gd name="connsiteX1" fmla="*/ 17596 w 271210"/>
              <a:gd name="connsiteY1" fmla="*/ 432773 h 448603"/>
              <a:gd name="connsiteX2" fmla="*/ 271160 w 271210"/>
              <a:gd name="connsiteY2" fmla="*/ 448603 h 448603"/>
              <a:gd name="connsiteX3" fmla="*/ 259261 w 271210"/>
              <a:gd name="connsiteY3" fmla="*/ 0 h 448603"/>
              <a:gd name="connsiteX4" fmla="*/ 126669 w 271210"/>
              <a:gd name="connsiteY4" fmla="*/ 10646 h 448603"/>
              <a:gd name="connsiteX5" fmla="*/ 0 w 271210"/>
              <a:gd name="connsiteY5" fmla="*/ 136240 h 448603"/>
              <a:gd name="connsiteX0" fmla="*/ 0 w 271168"/>
              <a:gd name="connsiteY0" fmla="*/ 137300 h 449663"/>
              <a:gd name="connsiteX1" fmla="*/ 17596 w 271168"/>
              <a:gd name="connsiteY1" fmla="*/ 433833 h 449663"/>
              <a:gd name="connsiteX2" fmla="*/ 271160 w 271168"/>
              <a:gd name="connsiteY2" fmla="*/ 449663 h 449663"/>
              <a:gd name="connsiteX3" fmla="*/ 185169 w 271168"/>
              <a:gd name="connsiteY3" fmla="*/ 0 h 449663"/>
              <a:gd name="connsiteX4" fmla="*/ 126669 w 271168"/>
              <a:gd name="connsiteY4" fmla="*/ 11706 h 449663"/>
              <a:gd name="connsiteX5" fmla="*/ 0 w 271168"/>
              <a:gd name="connsiteY5" fmla="*/ 137300 h 449663"/>
              <a:gd name="connsiteX0" fmla="*/ 0 w 185169"/>
              <a:gd name="connsiteY0" fmla="*/ 137300 h 494553"/>
              <a:gd name="connsiteX1" fmla="*/ 17596 w 185169"/>
              <a:gd name="connsiteY1" fmla="*/ 433833 h 494553"/>
              <a:gd name="connsiteX2" fmla="*/ 183654 w 185169"/>
              <a:gd name="connsiteY2" fmla="*/ 494553 h 494553"/>
              <a:gd name="connsiteX3" fmla="*/ 185169 w 185169"/>
              <a:gd name="connsiteY3" fmla="*/ 0 h 494553"/>
              <a:gd name="connsiteX4" fmla="*/ 126669 w 185169"/>
              <a:gd name="connsiteY4" fmla="*/ 11706 h 494553"/>
              <a:gd name="connsiteX5" fmla="*/ 0 w 185169"/>
              <a:gd name="connsiteY5" fmla="*/ 137300 h 494553"/>
              <a:gd name="connsiteX0" fmla="*/ 6971 w 192140"/>
              <a:gd name="connsiteY0" fmla="*/ 137300 h 494553"/>
              <a:gd name="connsiteX1" fmla="*/ 0 w 192140"/>
              <a:gd name="connsiteY1" fmla="*/ 378526 h 494553"/>
              <a:gd name="connsiteX2" fmla="*/ 190625 w 192140"/>
              <a:gd name="connsiteY2" fmla="*/ 494553 h 494553"/>
              <a:gd name="connsiteX3" fmla="*/ 192140 w 192140"/>
              <a:gd name="connsiteY3" fmla="*/ 0 h 494553"/>
              <a:gd name="connsiteX4" fmla="*/ 133640 w 192140"/>
              <a:gd name="connsiteY4" fmla="*/ 11706 h 494553"/>
              <a:gd name="connsiteX5" fmla="*/ 6971 w 192140"/>
              <a:gd name="connsiteY5" fmla="*/ 137300 h 494553"/>
              <a:gd name="connsiteX0" fmla="*/ 0 w 243000"/>
              <a:gd name="connsiteY0" fmla="*/ 213163 h 494553"/>
              <a:gd name="connsiteX1" fmla="*/ 50860 w 243000"/>
              <a:gd name="connsiteY1" fmla="*/ 378526 h 494553"/>
              <a:gd name="connsiteX2" fmla="*/ 241485 w 243000"/>
              <a:gd name="connsiteY2" fmla="*/ 494553 h 494553"/>
              <a:gd name="connsiteX3" fmla="*/ 243000 w 243000"/>
              <a:gd name="connsiteY3" fmla="*/ 0 h 494553"/>
              <a:gd name="connsiteX4" fmla="*/ 184500 w 243000"/>
              <a:gd name="connsiteY4" fmla="*/ 11706 h 494553"/>
              <a:gd name="connsiteX5" fmla="*/ 0 w 243000"/>
              <a:gd name="connsiteY5" fmla="*/ 213163 h 494553"/>
              <a:gd name="connsiteX0" fmla="*/ 0 w 264838"/>
              <a:gd name="connsiteY0" fmla="*/ 226713 h 494553"/>
              <a:gd name="connsiteX1" fmla="*/ 72698 w 264838"/>
              <a:gd name="connsiteY1" fmla="*/ 378526 h 494553"/>
              <a:gd name="connsiteX2" fmla="*/ 263323 w 264838"/>
              <a:gd name="connsiteY2" fmla="*/ 494553 h 494553"/>
              <a:gd name="connsiteX3" fmla="*/ 264838 w 264838"/>
              <a:gd name="connsiteY3" fmla="*/ 0 h 494553"/>
              <a:gd name="connsiteX4" fmla="*/ 206338 w 264838"/>
              <a:gd name="connsiteY4" fmla="*/ 11706 h 494553"/>
              <a:gd name="connsiteX5" fmla="*/ 0 w 264838"/>
              <a:gd name="connsiteY5" fmla="*/ 226713 h 494553"/>
              <a:gd name="connsiteX0" fmla="*/ 0 w 264838"/>
              <a:gd name="connsiteY0" fmla="*/ 226713 h 494553"/>
              <a:gd name="connsiteX1" fmla="*/ 104636 w 264838"/>
              <a:gd name="connsiteY1" fmla="*/ 450424 h 494553"/>
              <a:gd name="connsiteX2" fmla="*/ 263323 w 264838"/>
              <a:gd name="connsiteY2" fmla="*/ 494553 h 494553"/>
              <a:gd name="connsiteX3" fmla="*/ 264838 w 264838"/>
              <a:gd name="connsiteY3" fmla="*/ 0 h 494553"/>
              <a:gd name="connsiteX4" fmla="*/ 206338 w 264838"/>
              <a:gd name="connsiteY4" fmla="*/ 11706 h 494553"/>
              <a:gd name="connsiteX5" fmla="*/ 0 w 264838"/>
              <a:gd name="connsiteY5" fmla="*/ 226713 h 494553"/>
              <a:gd name="connsiteX0" fmla="*/ 0 w 264838"/>
              <a:gd name="connsiteY0" fmla="*/ 226713 h 790028"/>
              <a:gd name="connsiteX1" fmla="*/ 104636 w 264838"/>
              <a:gd name="connsiteY1" fmla="*/ 450424 h 790028"/>
              <a:gd name="connsiteX2" fmla="*/ 253302 w 264838"/>
              <a:gd name="connsiteY2" fmla="*/ 790028 h 790028"/>
              <a:gd name="connsiteX3" fmla="*/ 264838 w 264838"/>
              <a:gd name="connsiteY3" fmla="*/ 0 h 790028"/>
              <a:gd name="connsiteX4" fmla="*/ 206338 w 264838"/>
              <a:gd name="connsiteY4" fmla="*/ 11706 h 790028"/>
              <a:gd name="connsiteX5" fmla="*/ 0 w 264838"/>
              <a:gd name="connsiteY5" fmla="*/ 226713 h 790028"/>
              <a:gd name="connsiteX0" fmla="*/ 0 w 264838"/>
              <a:gd name="connsiteY0" fmla="*/ 226713 h 790028"/>
              <a:gd name="connsiteX1" fmla="*/ 104636 w 264838"/>
              <a:gd name="connsiteY1" fmla="*/ 450424 h 790028"/>
              <a:gd name="connsiteX2" fmla="*/ 253302 w 264838"/>
              <a:gd name="connsiteY2" fmla="*/ 790028 h 790028"/>
              <a:gd name="connsiteX3" fmla="*/ 264838 w 264838"/>
              <a:gd name="connsiteY3" fmla="*/ 0 h 790028"/>
              <a:gd name="connsiteX4" fmla="*/ 202322 w 264838"/>
              <a:gd name="connsiteY4" fmla="*/ 7143 h 790028"/>
              <a:gd name="connsiteX5" fmla="*/ 0 w 264838"/>
              <a:gd name="connsiteY5" fmla="*/ 226713 h 790028"/>
              <a:gd name="connsiteX0" fmla="*/ 6698 w 271536"/>
              <a:gd name="connsiteY0" fmla="*/ 226713 h 790028"/>
              <a:gd name="connsiteX1" fmla="*/ 0 w 271536"/>
              <a:gd name="connsiteY1" fmla="*/ 437197 h 790028"/>
              <a:gd name="connsiteX2" fmla="*/ 260000 w 271536"/>
              <a:gd name="connsiteY2" fmla="*/ 790028 h 790028"/>
              <a:gd name="connsiteX3" fmla="*/ 271536 w 271536"/>
              <a:gd name="connsiteY3" fmla="*/ 0 h 790028"/>
              <a:gd name="connsiteX4" fmla="*/ 209020 w 271536"/>
              <a:gd name="connsiteY4" fmla="*/ 7143 h 790028"/>
              <a:gd name="connsiteX5" fmla="*/ 6698 w 271536"/>
              <a:gd name="connsiteY5" fmla="*/ 226713 h 790028"/>
              <a:gd name="connsiteX0" fmla="*/ 52284 w 271536"/>
              <a:gd name="connsiteY0" fmla="*/ 172558 h 790028"/>
              <a:gd name="connsiteX1" fmla="*/ 0 w 271536"/>
              <a:gd name="connsiteY1" fmla="*/ 437197 h 790028"/>
              <a:gd name="connsiteX2" fmla="*/ 260000 w 271536"/>
              <a:gd name="connsiteY2" fmla="*/ 790028 h 790028"/>
              <a:gd name="connsiteX3" fmla="*/ 271536 w 271536"/>
              <a:gd name="connsiteY3" fmla="*/ 0 h 790028"/>
              <a:gd name="connsiteX4" fmla="*/ 209020 w 271536"/>
              <a:gd name="connsiteY4" fmla="*/ 7143 h 790028"/>
              <a:gd name="connsiteX5" fmla="*/ 52284 w 271536"/>
              <a:gd name="connsiteY5" fmla="*/ 172558 h 790028"/>
              <a:gd name="connsiteX0" fmla="*/ 52284 w 330147"/>
              <a:gd name="connsiteY0" fmla="*/ 188812 h 806282"/>
              <a:gd name="connsiteX1" fmla="*/ 0 w 330147"/>
              <a:gd name="connsiteY1" fmla="*/ 453451 h 806282"/>
              <a:gd name="connsiteX2" fmla="*/ 260000 w 330147"/>
              <a:gd name="connsiteY2" fmla="*/ 806282 h 806282"/>
              <a:gd name="connsiteX3" fmla="*/ 330147 w 330147"/>
              <a:gd name="connsiteY3" fmla="*/ 0 h 806282"/>
              <a:gd name="connsiteX4" fmla="*/ 209020 w 330147"/>
              <a:gd name="connsiteY4" fmla="*/ 23397 h 806282"/>
              <a:gd name="connsiteX5" fmla="*/ 52284 w 330147"/>
              <a:gd name="connsiteY5" fmla="*/ 188812 h 806282"/>
              <a:gd name="connsiteX0" fmla="*/ 52284 w 330147"/>
              <a:gd name="connsiteY0" fmla="*/ 188812 h 806282"/>
              <a:gd name="connsiteX1" fmla="*/ 0 w 330147"/>
              <a:gd name="connsiteY1" fmla="*/ 453451 h 806282"/>
              <a:gd name="connsiteX2" fmla="*/ 260000 w 330147"/>
              <a:gd name="connsiteY2" fmla="*/ 806282 h 806282"/>
              <a:gd name="connsiteX3" fmla="*/ 330147 w 330147"/>
              <a:gd name="connsiteY3" fmla="*/ 0 h 806282"/>
              <a:gd name="connsiteX4" fmla="*/ 172949 w 330147"/>
              <a:gd name="connsiteY4" fmla="*/ 329 h 806282"/>
              <a:gd name="connsiteX5" fmla="*/ 52284 w 330147"/>
              <a:gd name="connsiteY5" fmla="*/ 188812 h 806282"/>
              <a:gd name="connsiteX0" fmla="*/ 52284 w 288345"/>
              <a:gd name="connsiteY0" fmla="*/ 193985 h 811455"/>
              <a:gd name="connsiteX1" fmla="*/ 0 w 288345"/>
              <a:gd name="connsiteY1" fmla="*/ 458624 h 811455"/>
              <a:gd name="connsiteX2" fmla="*/ 260000 w 288345"/>
              <a:gd name="connsiteY2" fmla="*/ 811455 h 811455"/>
              <a:gd name="connsiteX3" fmla="*/ 288345 w 288345"/>
              <a:gd name="connsiteY3" fmla="*/ 0 h 811455"/>
              <a:gd name="connsiteX4" fmla="*/ 172949 w 288345"/>
              <a:gd name="connsiteY4" fmla="*/ 5502 h 811455"/>
              <a:gd name="connsiteX5" fmla="*/ 52284 w 288345"/>
              <a:gd name="connsiteY5" fmla="*/ 193985 h 811455"/>
              <a:gd name="connsiteX0" fmla="*/ 52284 w 355927"/>
              <a:gd name="connsiteY0" fmla="*/ 188483 h 805953"/>
              <a:gd name="connsiteX1" fmla="*/ 0 w 355927"/>
              <a:gd name="connsiteY1" fmla="*/ 453122 h 805953"/>
              <a:gd name="connsiteX2" fmla="*/ 260000 w 355927"/>
              <a:gd name="connsiteY2" fmla="*/ 805953 h 805953"/>
              <a:gd name="connsiteX3" fmla="*/ 355927 w 355927"/>
              <a:gd name="connsiteY3" fmla="*/ 98144 h 805953"/>
              <a:gd name="connsiteX4" fmla="*/ 172949 w 355927"/>
              <a:gd name="connsiteY4" fmla="*/ 0 h 805953"/>
              <a:gd name="connsiteX5" fmla="*/ 52284 w 355927"/>
              <a:gd name="connsiteY5" fmla="*/ 188483 h 805953"/>
              <a:gd name="connsiteX0" fmla="*/ 52284 w 355927"/>
              <a:gd name="connsiteY0" fmla="*/ 153635 h 771105"/>
              <a:gd name="connsiteX1" fmla="*/ 0 w 355927"/>
              <a:gd name="connsiteY1" fmla="*/ 418274 h 771105"/>
              <a:gd name="connsiteX2" fmla="*/ 260000 w 355927"/>
              <a:gd name="connsiteY2" fmla="*/ 771105 h 771105"/>
              <a:gd name="connsiteX3" fmla="*/ 355927 w 355927"/>
              <a:gd name="connsiteY3" fmla="*/ 63296 h 771105"/>
              <a:gd name="connsiteX4" fmla="*/ 148950 w 355927"/>
              <a:gd name="connsiteY4" fmla="*/ 0 h 771105"/>
              <a:gd name="connsiteX5" fmla="*/ 52284 w 355927"/>
              <a:gd name="connsiteY5" fmla="*/ 153635 h 771105"/>
              <a:gd name="connsiteX0" fmla="*/ 52284 w 327904"/>
              <a:gd name="connsiteY0" fmla="*/ 153635 h 771105"/>
              <a:gd name="connsiteX1" fmla="*/ 0 w 327904"/>
              <a:gd name="connsiteY1" fmla="*/ 418274 h 771105"/>
              <a:gd name="connsiteX2" fmla="*/ 260000 w 327904"/>
              <a:gd name="connsiteY2" fmla="*/ 771105 h 771105"/>
              <a:gd name="connsiteX3" fmla="*/ 327904 w 327904"/>
              <a:gd name="connsiteY3" fmla="*/ 66253 h 771105"/>
              <a:gd name="connsiteX4" fmla="*/ 148950 w 327904"/>
              <a:gd name="connsiteY4" fmla="*/ 0 h 771105"/>
              <a:gd name="connsiteX5" fmla="*/ 52284 w 327904"/>
              <a:gd name="connsiteY5" fmla="*/ 153635 h 771105"/>
              <a:gd name="connsiteX0" fmla="*/ 52284 w 327904"/>
              <a:gd name="connsiteY0" fmla="*/ 153635 h 771105"/>
              <a:gd name="connsiteX1" fmla="*/ 0 w 327904"/>
              <a:gd name="connsiteY1" fmla="*/ 418274 h 771105"/>
              <a:gd name="connsiteX2" fmla="*/ 260000 w 327904"/>
              <a:gd name="connsiteY2" fmla="*/ 771105 h 771105"/>
              <a:gd name="connsiteX3" fmla="*/ 327904 w 327904"/>
              <a:gd name="connsiteY3" fmla="*/ 66253 h 771105"/>
              <a:gd name="connsiteX4" fmla="*/ 148950 w 327904"/>
              <a:gd name="connsiteY4" fmla="*/ 0 h 771105"/>
              <a:gd name="connsiteX5" fmla="*/ 52284 w 327904"/>
              <a:gd name="connsiteY5" fmla="*/ 153635 h 771105"/>
              <a:gd name="connsiteX0" fmla="*/ 52284 w 327904"/>
              <a:gd name="connsiteY0" fmla="*/ 153635 h 771105"/>
              <a:gd name="connsiteX1" fmla="*/ 0 w 327904"/>
              <a:gd name="connsiteY1" fmla="*/ 418274 h 771105"/>
              <a:gd name="connsiteX2" fmla="*/ 260000 w 327904"/>
              <a:gd name="connsiteY2" fmla="*/ 771105 h 771105"/>
              <a:gd name="connsiteX3" fmla="*/ 327904 w 327904"/>
              <a:gd name="connsiteY3" fmla="*/ 66253 h 771105"/>
              <a:gd name="connsiteX4" fmla="*/ 148950 w 327904"/>
              <a:gd name="connsiteY4" fmla="*/ 0 h 771105"/>
              <a:gd name="connsiteX5" fmla="*/ 52284 w 327904"/>
              <a:gd name="connsiteY5" fmla="*/ 153635 h 771105"/>
              <a:gd name="connsiteX0" fmla="*/ 52284 w 327904"/>
              <a:gd name="connsiteY0" fmla="*/ 153635 h 771105"/>
              <a:gd name="connsiteX1" fmla="*/ 0 w 327904"/>
              <a:gd name="connsiteY1" fmla="*/ 418274 h 771105"/>
              <a:gd name="connsiteX2" fmla="*/ 260000 w 327904"/>
              <a:gd name="connsiteY2" fmla="*/ 771105 h 771105"/>
              <a:gd name="connsiteX3" fmla="*/ 327904 w 327904"/>
              <a:gd name="connsiteY3" fmla="*/ 66253 h 771105"/>
              <a:gd name="connsiteX4" fmla="*/ 148950 w 327904"/>
              <a:gd name="connsiteY4" fmla="*/ 0 h 771105"/>
              <a:gd name="connsiteX5" fmla="*/ 52284 w 327904"/>
              <a:gd name="connsiteY5" fmla="*/ 153635 h 771105"/>
              <a:gd name="connsiteX0" fmla="*/ 52284 w 327904"/>
              <a:gd name="connsiteY0" fmla="*/ 153635 h 735587"/>
              <a:gd name="connsiteX1" fmla="*/ 0 w 327904"/>
              <a:gd name="connsiteY1" fmla="*/ 418274 h 735587"/>
              <a:gd name="connsiteX2" fmla="*/ 227981 w 327904"/>
              <a:gd name="connsiteY2" fmla="*/ 735587 h 735587"/>
              <a:gd name="connsiteX3" fmla="*/ 327904 w 327904"/>
              <a:gd name="connsiteY3" fmla="*/ 66253 h 735587"/>
              <a:gd name="connsiteX4" fmla="*/ 148950 w 327904"/>
              <a:gd name="connsiteY4" fmla="*/ 0 h 735587"/>
              <a:gd name="connsiteX5" fmla="*/ 52284 w 327904"/>
              <a:gd name="connsiteY5" fmla="*/ 153635 h 735587"/>
              <a:gd name="connsiteX0" fmla="*/ 52284 w 327904"/>
              <a:gd name="connsiteY0" fmla="*/ 153635 h 735587"/>
              <a:gd name="connsiteX1" fmla="*/ 0 w 327904"/>
              <a:gd name="connsiteY1" fmla="*/ 418274 h 735587"/>
              <a:gd name="connsiteX2" fmla="*/ 227981 w 327904"/>
              <a:gd name="connsiteY2" fmla="*/ 735587 h 735587"/>
              <a:gd name="connsiteX3" fmla="*/ 327904 w 327904"/>
              <a:gd name="connsiteY3" fmla="*/ 66253 h 735587"/>
              <a:gd name="connsiteX4" fmla="*/ 148950 w 327904"/>
              <a:gd name="connsiteY4" fmla="*/ 0 h 735587"/>
              <a:gd name="connsiteX5" fmla="*/ 52284 w 327904"/>
              <a:gd name="connsiteY5" fmla="*/ 153635 h 735587"/>
              <a:gd name="connsiteX0" fmla="*/ 52284 w 327904"/>
              <a:gd name="connsiteY0" fmla="*/ 153635 h 735587"/>
              <a:gd name="connsiteX1" fmla="*/ 0 w 327904"/>
              <a:gd name="connsiteY1" fmla="*/ 418274 h 735587"/>
              <a:gd name="connsiteX2" fmla="*/ 227981 w 327904"/>
              <a:gd name="connsiteY2" fmla="*/ 735587 h 735587"/>
              <a:gd name="connsiteX3" fmla="*/ 327904 w 327904"/>
              <a:gd name="connsiteY3" fmla="*/ 66253 h 735587"/>
              <a:gd name="connsiteX4" fmla="*/ 148950 w 327904"/>
              <a:gd name="connsiteY4" fmla="*/ 0 h 735587"/>
              <a:gd name="connsiteX5" fmla="*/ 52284 w 327904"/>
              <a:gd name="connsiteY5" fmla="*/ 153635 h 735587"/>
              <a:gd name="connsiteX0" fmla="*/ 52284 w 327904"/>
              <a:gd name="connsiteY0" fmla="*/ 134506 h 716458"/>
              <a:gd name="connsiteX1" fmla="*/ 0 w 327904"/>
              <a:gd name="connsiteY1" fmla="*/ 399145 h 716458"/>
              <a:gd name="connsiteX2" fmla="*/ 227981 w 327904"/>
              <a:gd name="connsiteY2" fmla="*/ 716458 h 716458"/>
              <a:gd name="connsiteX3" fmla="*/ 327904 w 327904"/>
              <a:gd name="connsiteY3" fmla="*/ 47124 h 716458"/>
              <a:gd name="connsiteX4" fmla="*/ 202888 w 327904"/>
              <a:gd name="connsiteY4" fmla="*/ 0 h 716458"/>
              <a:gd name="connsiteX5" fmla="*/ 52284 w 327904"/>
              <a:gd name="connsiteY5" fmla="*/ 134506 h 716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904" h="716458">
                <a:moveTo>
                  <a:pt x="52284" y="134506"/>
                </a:moveTo>
                <a:lnTo>
                  <a:pt x="0" y="399145"/>
                </a:lnTo>
                <a:lnTo>
                  <a:pt x="227981" y="716458"/>
                </a:lnTo>
                <a:cubicBezTo>
                  <a:pt x="326506" y="77563"/>
                  <a:pt x="233744" y="674320"/>
                  <a:pt x="327904" y="47124"/>
                </a:cubicBezTo>
                <a:lnTo>
                  <a:pt x="202888" y="0"/>
                </a:lnTo>
                <a:lnTo>
                  <a:pt x="52284" y="134506"/>
                </a:lnTo>
                <a:close/>
              </a:path>
            </a:pathLst>
          </a:custGeom>
          <a:solidFill>
            <a:srgbClr val="FFFF99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468" name="Rectangle 467">
            <a:extLst>
              <a:ext uri="{FF2B5EF4-FFF2-40B4-BE49-F238E27FC236}">
                <a16:creationId xmlns:a16="http://schemas.microsoft.com/office/drawing/2014/main" id="{C8BB9781-A46B-5404-3D3F-B6D7814003DB}"/>
              </a:ext>
            </a:extLst>
          </p:cNvPr>
          <p:cNvSpPr/>
          <p:nvPr/>
        </p:nvSpPr>
        <p:spPr>
          <a:xfrm>
            <a:off x="555357" y="17917887"/>
            <a:ext cx="1485552" cy="11121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307" b="1" dirty="0">
                <a:solidFill>
                  <a:schemeClr val="tx1"/>
                </a:solidFill>
                <a:latin typeface="Arial Black" panose="020B0A04020102020204" pitchFamily="34" charset="0"/>
              </a:rPr>
              <a:t>Pre </a:t>
            </a:r>
          </a:p>
          <a:p>
            <a:pPr algn="ctr" eaLnBrk="0" fontAlgn="ctr" hangingPunct="0"/>
            <a:r>
              <a:rPr lang="en-US" sz="2307" b="1" dirty="0">
                <a:solidFill>
                  <a:schemeClr val="tx1"/>
                </a:solidFill>
                <a:latin typeface="Arial Black" panose="020B0A04020102020204" pitchFamily="34" charset="0"/>
              </a:rPr>
              <a:t>Gate</a:t>
            </a:r>
          </a:p>
          <a:p>
            <a:pPr algn="ctr" eaLnBrk="0" fontAlgn="ctr" hangingPunct="0"/>
            <a:r>
              <a:rPr lang="en-US" altLang="zh-CN" sz="2307" b="1" dirty="0">
                <a:solidFill>
                  <a:schemeClr val="tx1"/>
                </a:solidFill>
                <a:latin typeface="Arial Black" panose="020B0A04020102020204" pitchFamily="34" charset="0"/>
              </a:rPr>
              <a:t>(SAV)</a:t>
            </a:r>
            <a:endParaRPr lang="en-US" sz="2307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ACD45FBC-CA2B-78F2-0D30-A9B95D4D1EAB}"/>
              </a:ext>
            </a:extLst>
          </p:cNvPr>
          <p:cNvSpPr/>
          <p:nvPr/>
        </p:nvSpPr>
        <p:spPr>
          <a:xfrm>
            <a:off x="21452853" y="15214338"/>
            <a:ext cx="6843042" cy="8448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97684D7A-D016-82EB-1331-FE92824BB493}"/>
              </a:ext>
            </a:extLst>
          </p:cNvPr>
          <p:cNvSpPr/>
          <p:nvPr/>
        </p:nvSpPr>
        <p:spPr>
          <a:xfrm>
            <a:off x="21452853" y="16373358"/>
            <a:ext cx="6577908" cy="8448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90487892-7185-AECE-0290-A3584F5B342B}"/>
              </a:ext>
            </a:extLst>
          </p:cNvPr>
          <p:cNvGrpSpPr/>
          <p:nvPr/>
        </p:nvGrpSpPr>
        <p:grpSpPr>
          <a:xfrm>
            <a:off x="21798734" y="12701286"/>
            <a:ext cx="2678103" cy="3524082"/>
            <a:chOff x="2622540" y="1996389"/>
            <a:chExt cx="1146055" cy="1039328"/>
          </a:xfrm>
        </p:grpSpPr>
        <p:cxnSp>
          <p:nvCxnSpPr>
            <p:cNvPr id="331" name="Straight Arrow Connector 330">
              <a:extLst>
                <a:ext uri="{FF2B5EF4-FFF2-40B4-BE49-F238E27FC236}">
                  <a16:creationId xmlns:a16="http://schemas.microsoft.com/office/drawing/2014/main" id="{FB78DE4A-E7ED-9668-752C-E64C67F87F83}"/>
                </a:ext>
              </a:extLst>
            </p:cNvPr>
            <p:cNvCxnSpPr>
              <a:cxnSpLocks/>
            </p:cNvCxnSpPr>
            <p:nvPr/>
          </p:nvCxnSpPr>
          <p:spPr>
            <a:xfrm>
              <a:off x="2824670" y="2186158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Arrow Connector 331">
              <a:extLst>
                <a:ext uri="{FF2B5EF4-FFF2-40B4-BE49-F238E27FC236}">
                  <a16:creationId xmlns:a16="http://schemas.microsoft.com/office/drawing/2014/main" id="{F9D53461-D048-2E27-32D8-5A2988D9F697}"/>
                </a:ext>
              </a:extLst>
            </p:cNvPr>
            <p:cNvCxnSpPr>
              <a:cxnSpLocks/>
            </p:cNvCxnSpPr>
            <p:nvPr/>
          </p:nvCxnSpPr>
          <p:spPr>
            <a:xfrm>
              <a:off x="2998502" y="2365115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Arrow Connector 332">
              <a:extLst>
                <a:ext uri="{FF2B5EF4-FFF2-40B4-BE49-F238E27FC236}">
                  <a16:creationId xmlns:a16="http://schemas.microsoft.com/office/drawing/2014/main" id="{1451C2AC-8779-491C-FD70-042F7469DF9B}"/>
                </a:ext>
              </a:extLst>
            </p:cNvPr>
            <p:cNvCxnSpPr>
              <a:cxnSpLocks/>
            </p:cNvCxnSpPr>
            <p:nvPr/>
          </p:nvCxnSpPr>
          <p:spPr>
            <a:xfrm>
              <a:off x="3159236" y="2553645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Arrow Connector 335">
              <a:extLst>
                <a:ext uri="{FF2B5EF4-FFF2-40B4-BE49-F238E27FC236}">
                  <a16:creationId xmlns:a16="http://schemas.microsoft.com/office/drawing/2014/main" id="{86A3B2D8-D2C3-AACD-E4C7-7B783F583CA5}"/>
                </a:ext>
              </a:extLst>
            </p:cNvPr>
            <p:cNvCxnSpPr>
              <a:cxnSpLocks/>
            </p:cNvCxnSpPr>
            <p:nvPr/>
          </p:nvCxnSpPr>
          <p:spPr>
            <a:xfrm>
              <a:off x="3611939" y="3035717"/>
              <a:ext cx="156656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Arrow Connector 338">
              <a:extLst>
                <a:ext uri="{FF2B5EF4-FFF2-40B4-BE49-F238E27FC236}">
                  <a16:creationId xmlns:a16="http://schemas.microsoft.com/office/drawing/2014/main" id="{83ADA11F-81C9-27BB-3F6C-87B78434C1AC}"/>
                </a:ext>
              </a:extLst>
            </p:cNvPr>
            <p:cNvCxnSpPr>
              <a:cxnSpLocks/>
            </p:cNvCxnSpPr>
            <p:nvPr/>
          </p:nvCxnSpPr>
          <p:spPr>
            <a:xfrm>
              <a:off x="2622540" y="1996389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8" name="Star: 6 Points 157">
            <a:extLst>
              <a:ext uri="{FF2B5EF4-FFF2-40B4-BE49-F238E27FC236}">
                <a16:creationId xmlns:a16="http://schemas.microsoft.com/office/drawing/2014/main" id="{7D76AA55-EB02-BD55-71A1-C79BFB235FEE}"/>
              </a:ext>
            </a:extLst>
          </p:cNvPr>
          <p:cNvSpPr/>
          <p:nvPr/>
        </p:nvSpPr>
        <p:spPr>
          <a:xfrm>
            <a:off x="22421843" y="15112034"/>
            <a:ext cx="210105" cy="234855"/>
          </a:xfrm>
          <a:prstGeom prst="star6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159" name="Star: 6 Points 158">
            <a:extLst>
              <a:ext uri="{FF2B5EF4-FFF2-40B4-BE49-F238E27FC236}">
                <a16:creationId xmlns:a16="http://schemas.microsoft.com/office/drawing/2014/main" id="{4AD96B33-B74E-FF0A-EF93-235EFB55A4D5}"/>
              </a:ext>
            </a:extLst>
          </p:cNvPr>
          <p:cNvSpPr/>
          <p:nvPr/>
        </p:nvSpPr>
        <p:spPr>
          <a:xfrm>
            <a:off x="26869241" y="15112034"/>
            <a:ext cx="210105" cy="234855"/>
          </a:xfrm>
          <a:prstGeom prst="star6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36E9BC8C-1A7D-25ED-DA6C-C00231ED24A2}"/>
              </a:ext>
            </a:extLst>
          </p:cNvPr>
          <p:cNvSpPr/>
          <p:nvPr/>
        </p:nvSpPr>
        <p:spPr>
          <a:xfrm>
            <a:off x="21513464" y="15456131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C31</a:t>
            </a:r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BD43A1B7-7D15-D90A-D78F-7DF9F39B765C}"/>
              </a:ext>
            </a:extLst>
          </p:cNvPr>
          <p:cNvSpPr/>
          <p:nvPr/>
        </p:nvSpPr>
        <p:spPr>
          <a:xfrm>
            <a:off x="21567329" y="16555517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C32</a:t>
            </a:r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874A8E3A-3580-4FD9-2017-C36EE593AA3F}"/>
              </a:ext>
            </a:extLst>
          </p:cNvPr>
          <p:cNvSpPr/>
          <p:nvPr/>
        </p:nvSpPr>
        <p:spPr>
          <a:xfrm>
            <a:off x="5159456" y="16197975"/>
            <a:ext cx="4062621" cy="31315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endParaRPr lang="en-US" sz="1731">
              <a:solidFill>
                <a:schemeClr val="tx1"/>
              </a:solidFill>
            </a:endParaRPr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44295D04-82F5-F588-4448-37C6B49AB900}"/>
              </a:ext>
            </a:extLst>
          </p:cNvPr>
          <p:cNvSpPr/>
          <p:nvPr/>
        </p:nvSpPr>
        <p:spPr>
          <a:xfrm>
            <a:off x="10267481" y="16180814"/>
            <a:ext cx="5787813" cy="356643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endParaRPr lang="en-US" sz="1731">
              <a:solidFill>
                <a:schemeClr val="tx1"/>
              </a:solidFill>
            </a:endParaRPr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03DAC504-5E43-DBB9-CCFA-7FAB2AC10E6B}"/>
              </a:ext>
            </a:extLst>
          </p:cNvPr>
          <p:cNvSpPr/>
          <p:nvPr/>
        </p:nvSpPr>
        <p:spPr>
          <a:xfrm>
            <a:off x="13568550" y="14070158"/>
            <a:ext cx="6843042" cy="391443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F02EF031-98DC-6D7D-DD01-E8037CE0E47C}"/>
              </a:ext>
            </a:extLst>
          </p:cNvPr>
          <p:cNvSpPr/>
          <p:nvPr/>
        </p:nvSpPr>
        <p:spPr>
          <a:xfrm>
            <a:off x="13580009" y="14038058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B13</a:t>
            </a:r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7544DDD0-3EE5-48AE-422A-D52B7B98680C}"/>
              </a:ext>
            </a:extLst>
          </p:cNvPr>
          <p:cNvSpPr/>
          <p:nvPr/>
        </p:nvSpPr>
        <p:spPr>
          <a:xfrm>
            <a:off x="9976787" y="16127216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B16</a:t>
            </a:r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B7283011-4A50-1677-0D47-D6528CF28593}"/>
              </a:ext>
            </a:extLst>
          </p:cNvPr>
          <p:cNvSpPr/>
          <p:nvPr/>
        </p:nvSpPr>
        <p:spPr>
          <a:xfrm>
            <a:off x="5262797" y="16143530"/>
            <a:ext cx="2594985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A16 - </a:t>
            </a:r>
            <a:r>
              <a:rPr lang="en-US" sz="2019" b="1" dirty="0" err="1">
                <a:solidFill>
                  <a:schemeClr val="tx1"/>
                </a:solidFill>
              </a:rPr>
              <a:t>Fumigação</a:t>
            </a:r>
            <a:endParaRPr lang="en-US" sz="2019" b="1" dirty="0">
              <a:solidFill>
                <a:schemeClr val="tx1"/>
              </a:solidFill>
            </a:endParaRPr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E5BD28E0-B138-417A-12A7-6197914A0839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2527542" y="16362765"/>
            <a:ext cx="18104844" cy="691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63742" tIns="131871" rIns="263742" bIns="131871" numCol="1" anchor="t" anchorCtr="0" compatLnSpc="1">
            <a:prstTxWarp prst="textNoShape">
              <a:avLst/>
            </a:prstTxWarp>
          </a:bodyPr>
          <a:lstStyle/>
          <a:p>
            <a:endParaRPr lang="en-US" sz="5193"/>
          </a:p>
        </p:txBody>
      </p:sp>
      <p:grpSp>
        <p:nvGrpSpPr>
          <p:cNvPr id="505" name="Group 504">
            <a:extLst>
              <a:ext uri="{FF2B5EF4-FFF2-40B4-BE49-F238E27FC236}">
                <a16:creationId xmlns:a16="http://schemas.microsoft.com/office/drawing/2014/main" id="{86B9DD54-D74F-0B36-BE0D-F8E67C8B72B5}"/>
              </a:ext>
            </a:extLst>
          </p:cNvPr>
          <p:cNvGrpSpPr/>
          <p:nvPr/>
        </p:nvGrpSpPr>
        <p:grpSpPr>
          <a:xfrm>
            <a:off x="2555012" y="16834374"/>
            <a:ext cx="16938537" cy="210630"/>
            <a:chOff x="641350" y="5822950"/>
            <a:chExt cx="6245225" cy="7302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4A1885BD-44D6-D5DD-C87C-3687E6B4B3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1350" y="5881688"/>
              <a:ext cx="6245225" cy="14288"/>
            </a:xfrm>
            <a:custGeom>
              <a:avLst/>
              <a:gdLst>
                <a:gd name="T0" fmla="*/ 16 w 15489"/>
                <a:gd name="T1" fmla="*/ 0 h 32"/>
                <a:gd name="T2" fmla="*/ 400 w 15489"/>
                <a:gd name="T3" fmla="*/ 0 h 32"/>
                <a:gd name="T4" fmla="*/ 561 w 15489"/>
                <a:gd name="T5" fmla="*/ 0 h 32"/>
                <a:gd name="T6" fmla="*/ 945 w 15489"/>
                <a:gd name="T7" fmla="*/ 0 h 32"/>
                <a:gd name="T8" fmla="*/ 1105 w 15489"/>
                <a:gd name="T9" fmla="*/ 0 h 32"/>
                <a:gd name="T10" fmla="*/ 1489 w 15489"/>
                <a:gd name="T11" fmla="*/ 0 h 32"/>
                <a:gd name="T12" fmla="*/ 1649 w 15489"/>
                <a:gd name="T13" fmla="*/ 0 h 32"/>
                <a:gd name="T14" fmla="*/ 2033 w 15489"/>
                <a:gd name="T15" fmla="*/ 0 h 32"/>
                <a:gd name="T16" fmla="*/ 2193 w 15489"/>
                <a:gd name="T17" fmla="*/ 0 h 32"/>
                <a:gd name="T18" fmla="*/ 2577 w 15489"/>
                <a:gd name="T19" fmla="*/ 0 h 32"/>
                <a:gd name="T20" fmla="*/ 2737 w 15489"/>
                <a:gd name="T21" fmla="*/ 0 h 32"/>
                <a:gd name="T22" fmla="*/ 3121 w 15489"/>
                <a:gd name="T23" fmla="*/ 0 h 32"/>
                <a:gd name="T24" fmla="*/ 3281 w 15489"/>
                <a:gd name="T25" fmla="*/ 0 h 32"/>
                <a:gd name="T26" fmla="*/ 3665 w 15489"/>
                <a:gd name="T27" fmla="*/ 0 h 32"/>
                <a:gd name="T28" fmla="*/ 3825 w 15489"/>
                <a:gd name="T29" fmla="*/ 0 h 32"/>
                <a:gd name="T30" fmla="*/ 4209 w 15489"/>
                <a:gd name="T31" fmla="*/ 0 h 32"/>
                <a:gd name="T32" fmla="*/ 4369 w 15489"/>
                <a:gd name="T33" fmla="*/ 0 h 32"/>
                <a:gd name="T34" fmla="*/ 4753 w 15489"/>
                <a:gd name="T35" fmla="*/ 0 h 32"/>
                <a:gd name="T36" fmla="*/ 4913 w 15489"/>
                <a:gd name="T37" fmla="*/ 0 h 32"/>
                <a:gd name="T38" fmla="*/ 5297 w 15489"/>
                <a:gd name="T39" fmla="*/ 0 h 32"/>
                <a:gd name="T40" fmla="*/ 5457 w 15489"/>
                <a:gd name="T41" fmla="*/ 0 h 32"/>
                <a:gd name="T42" fmla="*/ 5841 w 15489"/>
                <a:gd name="T43" fmla="*/ 0 h 32"/>
                <a:gd name="T44" fmla="*/ 6001 w 15489"/>
                <a:gd name="T45" fmla="*/ 0 h 32"/>
                <a:gd name="T46" fmla="*/ 6385 w 15489"/>
                <a:gd name="T47" fmla="*/ 0 h 32"/>
                <a:gd name="T48" fmla="*/ 6545 w 15489"/>
                <a:gd name="T49" fmla="*/ 0 h 32"/>
                <a:gd name="T50" fmla="*/ 6929 w 15489"/>
                <a:gd name="T51" fmla="*/ 0 h 32"/>
                <a:gd name="T52" fmla="*/ 7089 w 15489"/>
                <a:gd name="T53" fmla="*/ 0 h 32"/>
                <a:gd name="T54" fmla="*/ 7473 w 15489"/>
                <a:gd name="T55" fmla="*/ 0 h 32"/>
                <a:gd name="T56" fmla="*/ 7633 w 15489"/>
                <a:gd name="T57" fmla="*/ 0 h 32"/>
                <a:gd name="T58" fmla="*/ 8017 w 15489"/>
                <a:gd name="T59" fmla="*/ 0 h 32"/>
                <a:gd name="T60" fmla="*/ 8177 w 15489"/>
                <a:gd name="T61" fmla="*/ 0 h 32"/>
                <a:gd name="T62" fmla="*/ 8561 w 15489"/>
                <a:gd name="T63" fmla="*/ 0 h 32"/>
                <a:gd name="T64" fmla="*/ 8721 w 15489"/>
                <a:gd name="T65" fmla="*/ 0 h 32"/>
                <a:gd name="T66" fmla="*/ 9105 w 15489"/>
                <a:gd name="T67" fmla="*/ 0 h 32"/>
                <a:gd name="T68" fmla="*/ 9265 w 15489"/>
                <a:gd name="T69" fmla="*/ 0 h 32"/>
                <a:gd name="T70" fmla="*/ 9649 w 15489"/>
                <a:gd name="T71" fmla="*/ 0 h 32"/>
                <a:gd name="T72" fmla="*/ 9809 w 15489"/>
                <a:gd name="T73" fmla="*/ 0 h 32"/>
                <a:gd name="T74" fmla="*/ 10193 w 15489"/>
                <a:gd name="T75" fmla="*/ 0 h 32"/>
                <a:gd name="T76" fmla="*/ 10353 w 15489"/>
                <a:gd name="T77" fmla="*/ 0 h 32"/>
                <a:gd name="T78" fmla="*/ 10737 w 15489"/>
                <a:gd name="T79" fmla="*/ 0 h 32"/>
                <a:gd name="T80" fmla="*/ 10897 w 15489"/>
                <a:gd name="T81" fmla="*/ 0 h 32"/>
                <a:gd name="T82" fmla="*/ 11281 w 15489"/>
                <a:gd name="T83" fmla="*/ 0 h 32"/>
                <a:gd name="T84" fmla="*/ 11441 w 15489"/>
                <a:gd name="T85" fmla="*/ 0 h 32"/>
                <a:gd name="T86" fmla="*/ 11825 w 15489"/>
                <a:gd name="T87" fmla="*/ 0 h 32"/>
                <a:gd name="T88" fmla="*/ 11985 w 15489"/>
                <a:gd name="T89" fmla="*/ 0 h 32"/>
                <a:gd name="T90" fmla="*/ 12369 w 15489"/>
                <a:gd name="T91" fmla="*/ 0 h 32"/>
                <a:gd name="T92" fmla="*/ 12529 w 15489"/>
                <a:gd name="T93" fmla="*/ 0 h 32"/>
                <a:gd name="T94" fmla="*/ 12913 w 15489"/>
                <a:gd name="T95" fmla="*/ 0 h 32"/>
                <a:gd name="T96" fmla="*/ 13073 w 15489"/>
                <a:gd name="T97" fmla="*/ 0 h 32"/>
                <a:gd name="T98" fmla="*/ 13457 w 15489"/>
                <a:gd name="T99" fmla="*/ 0 h 32"/>
                <a:gd name="T100" fmla="*/ 13617 w 15489"/>
                <a:gd name="T101" fmla="*/ 0 h 32"/>
                <a:gd name="T102" fmla="*/ 14001 w 15489"/>
                <a:gd name="T103" fmla="*/ 0 h 32"/>
                <a:gd name="T104" fmla="*/ 14161 w 15489"/>
                <a:gd name="T105" fmla="*/ 0 h 32"/>
                <a:gd name="T106" fmla="*/ 14545 w 15489"/>
                <a:gd name="T107" fmla="*/ 0 h 32"/>
                <a:gd name="T108" fmla="*/ 14705 w 15489"/>
                <a:gd name="T109" fmla="*/ 0 h 32"/>
                <a:gd name="T110" fmla="*/ 15089 w 15489"/>
                <a:gd name="T111" fmla="*/ 0 h 32"/>
                <a:gd name="T112" fmla="*/ 15249 w 15489"/>
                <a:gd name="T113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489" h="32">
                  <a:moveTo>
                    <a:pt x="16" y="0"/>
                  </a:moveTo>
                  <a:lnTo>
                    <a:pt x="240" y="0"/>
                  </a:lnTo>
                  <a:cubicBezTo>
                    <a:pt x="249" y="0"/>
                    <a:pt x="256" y="7"/>
                    <a:pt x="256" y="16"/>
                  </a:cubicBezTo>
                  <a:cubicBezTo>
                    <a:pt x="256" y="25"/>
                    <a:pt x="249" y="32"/>
                    <a:pt x="240" y="32"/>
                  </a:cubicBezTo>
                  <a:lnTo>
                    <a:pt x="16" y="32"/>
                  </a:lnTo>
                  <a:cubicBezTo>
                    <a:pt x="8" y="32"/>
                    <a:pt x="0" y="25"/>
                    <a:pt x="0" y="16"/>
                  </a:cubicBezTo>
                  <a:cubicBezTo>
                    <a:pt x="0" y="7"/>
                    <a:pt x="8" y="0"/>
                    <a:pt x="16" y="0"/>
                  </a:cubicBezTo>
                  <a:close/>
                  <a:moveTo>
                    <a:pt x="400" y="0"/>
                  </a:moveTo>
                  <a:lnTo>
                    <a:pt x="401" y="0"/>
                  </a:lnTo>
                  <a:cubicBezTo>
                    <a:pt x="409" y="0"/>
                    <a:pt x="417" y="7"/>
                    <a:pt x="417" y="16"/>
                  </a:cubicBezTo>
                  <a:cubicBezTo>
                    <a:pt x="417" y="25"/>
                    <a:pt x="409" y="32"/>
                    <a:pt x="401" y="32"/>
                  </a:cubicBezTo>
                  <a:lnTo>
                    <a:pt x="400" y="32"/>
                  </a:lnTo>
                  <a:cubicBezTo>
                    <a:pt x="392" y="32"/>
                    <a:pt x="384" y="25"/>
                    <a:pt x="384" y="16"/>
                  </a:cubicBezTo>
                  <a:cubicBezTo>
                    <a:pt x="384" y="7"/>
                    <a:pt x="392" y="0"/>
                    <a:pt x="400" y="0"/>
                  </a:cubicBezTo>
                  <a:close/>
                  <a:moveTo>
                    <a:pt x="561" y="0"/>
                  </a:moveTo>
                  <a:lnTo>
                    <a:pt x="785" y="0"/>
                  </a:lnTo>
                  <a:cubicBezTo>
                    <a:pt x="793" y="0"/>
                    <a:pt x="801" y="7"/>
                    <a:pt x="801" y="16"/>
                  </a:cubicBezTo>
                  <a:cubicBezTo>
                    <a:pt x="801" y="25"/>
                    <a:pt x="793" y="32"/>
                    <a:pt x="785" y="32"/>
                  </a:cubicBezTo>
                  <a:lnTo>
                    <a:pt x="561" y="32"/>
                  </a:lnTo>
                  <a:cubicBezTo>
                    <a:pt x="552" y="32"/>
                    <a:pt x="545" y="25"/>
                    <a:pt x="545" y="16"/>
                  </a:cubicBezTo>
                  <a:cubicBezTo>
                    <a:pt x="545" y="7"/>
                    <a:pt x="552" y="0"/>
                    <a:pt x="561" y="0"/>
                  </a:cubicBezTo>
                  <a:close/>
                  <a:moveTo>
                    <a:pt x="945" y="0"/>
                  </a:moveTo>
                  <a:lnTo>
                    <a:pt x="945" y="0"/>
                  </a:lnTo>
                  <a:cubicBezTo>
                    <a:pt x="953" y="0"/>
                    <a:pt x="961" y="7"/>
                    <a:pt x="961" y="16"/>
                  </a:cubicBezTo>
                  <a:cubicBezTo>
                    <a:pt x="961" y="25"/>
                    <a:pt x="953" y="32"/>
                    <a:pt x="945" y="32"/>
                  </a:cubicBezTo>
                  <a:lnTo>
                    <a:pt x="945" y="32"/>
                  </a:lnTo>
                  <a:cubicBezTo>
                    <a:pt x="936" y="32"/>
                    <a:pt x="929" y="25"/>
                    <a:pt x="929" y="16"/>
                  </a:cubicBezTo>
                  <a:cubicBezTo>
                    <a:pt x="929" y="7"/>
                    <a:pt x="936" y="0"/>
                    <a:pt x="945" y="0"/>
                  </a:cubicBezTo>
                  <a:close/>
                  <a:moveTo>
                    <a:pt x="1105" y="0"/>
                  </a:moveTo>
                  <a:lnTo>
                    <a:pt x="1329" y="0"/>
                  </a:lnTo>
                  <a:cubicBezTo>
                    <a:pt x="1337" y="0"/>
                    <a:pt x="1345" y="7"/>
                    <a:pt x="1345" y="16"/>
                  </a:cubicBezTo>
                  <a:cubicBezTo>
                    <a:pt x="1345" y="25"/>
                    <a:pt x="1337" y="32"/>
                    <a:pt x="1329" y="32"/>
                  </a:cubicBezTo>
                  <a:lnTo>
                    <a:pt x="1105" y="32"/>
                  </a:lnTo>
                  <a:cubicBezTo>
                    <a:pt x="1096" y="32"/>
                    <a:pt x="1089" y="25"/>
                    <a:pt x="1089" y="16"/>
                  </a:cubicBezTo>
                  <a:cubicBezTo>
                    <a:pt x="1089" y="7"/>
                    <a:pt x="1096" y="0"/>
                    <a:pt x="1105" y="0"/>
                  </a:cubicBezTo>
                  <a:close/>
                  <a:moveTo>
                    <a:pt x="1489" y="0"/>
                  </a:moveTo>
                  <a:lnTo>
                    <a:pt x="1489" y="0"/>
                  </a:lnTo>
                  <a:cubicBezTo>
                    <a:pt x="1497" y="0"/>
                    <a:pt x="1505" y="7"/>
                    <a:pt x="1505" y="16"/>
                  </a:cubicBezTo>
                  <a:cubicBezTo>
                    <a:pt x="1505" y="25"/>
                    <a:pt x="1497" y="32"/>
                    <a:pt x="1489" y="32"/>
                  </a:cubicBezTo>
                  <a:lnTo>
                    <a:pt x="1489" y="32"/>
                  </a:lnTo>
                  <a:cubicBezTo>
                    <a:pt x="1480" y="32"/>
                    <a:pt x="1473" y="25"/>
                    <a:pt x="1473" y="16"/>
                  </a:cubicBezTo>
                  <a:cubicBezTo>
                    <a:pt x="1473" y="7"/>
                    <a:pt x="1480" y="0"/>
                    <a:pt x="1489" y="0"/>
                  </a:cubicBezTo>
                  <a:close/>
                  <a:moveTo>
                    <a:pt x="1649" y="0"/>
                  </a:moveTo>
                  <a:lnTo>
                    <a:pt x="1873" y="0"/>
                  </a:lnTo>
                  <a:cubicBezTo>
                    <a:pt x="1881" y="0"/>
                    <a:pt x="1889" y="7"/>
                    <a:pt x="1889" y="16"/>
                  </a:cubicBezTo>
                  <a:cubicBezTo>
                    <a:pt x="1889" y="25"/>
                    <a:pt x="1881" y="32"/>
                    <a:pt x="1873" y="32"/>
                  </a:cubicBezTo>
                  <a:lnTo>
                    <a:pt x="1649" y="32"/>
                  </a:lnTo>
                  <a:cubicBezTo>
                    <a:pt x="1640" y="32"/>
                    <a:pt x="1633" y="25"/>
                    <a:pt x="1633" y="16"/>
                  </a:cubicBezTo>
                  <a:cubicBezTo>
                    <a:pt x="1633" y="7"/>
                    <a:pt x="1640" y="0"/>
                    <a:pt x="1649" y="0"/>
                  </a:cubicBezTo>
                  <a:close/>
                  <a:moveTo>
                    <a:pt x="2033" y="0"/>
                  </a:moveTo>
                  <a:lnTo>
                    <a:pt x="2033" y="0"/>
                  </a:lnTo>
                  <a:cubicBezTo>
                    <a:pt x="2041" y="0"/>
                    <a:pt x="2049" y="7"/>
                    <a:pt x="2049" y="16"/>
                  </a:cubicBezTo>
                  <a:cubicBezTo>
                    <a:pt x="2049" y="25"/>
                    <a:pt x="2041" y="32"/>
                    <a:pt x="2033" y="32"/>
                  </a:cubicBezTo>
                  <a:lnTo>
                    <a:pt x="2033" y="32"/>
                  </a:lnTo>
                  <a:cubicBezTo>
                    <a:pt x="2024" y="32"/>
                    <a:pt x="2017" y="25"/>
                    <a:pt x="2017" y="16"/>
                  </a:cubicBezTo>
                  <a:cubicBezTo>
                    <a:pt x="2017" y="7"/>
                    <a:pt x="2024" y="0"/>
                    <a:pt x="2033" y="0"/>
                  </a:cubicBezTo>
                  <a:close/>
                  <a:moveTo>
                    <a:pt x="2193" y="0"/>
                  </a:moveTo>
                  <a:lnTo>
                    <a:pt x="2417" y="0"/>
                  </a:lnTo>
                  <a:cubicBezTo>
                    <a:pt x="2425" y="0"/>
                    <a:pt x="2433" y="7"/>
                    <a:pt x="2433" y="16"/>
                  </a:cubicBezTo>
                  <a:cubicBezTo>
                    <a:pt x="2433" y="25"/>
                    <a:pt x="2425" y="32"/>
                    <a:pt x="2417" y="32"/>
                  </a:cubicBezTo>
                  <a:lnTo>
                    <a:pt x="2193" y="32"/>
                  </a:lnTo>
                  <a:cubicBezTo>
                    <a:pt x="2184" y="32"/>
                    <a:pt x="2177" y="25"/>
                    <a:pt x="2177" y="16"/>
                  </a:cubicBezTo>
                  <a:cubicBezTo>
                    <a:pt x="2177" y="7"/>
                    <a:pt x="2184" y="0"/>
                    <a:pt x="2193" y="0"/>
                  </a:cubicBezTo>
                  <a:close/>
                  <a:moveTo>
                    <a:pt x="2577" y="0"/>
                  </a:moveTo>
                  <a:lnTo>
                    <a:pt x="2577" y="0"/>
                  </a:lnTo>
                  <a:cubicBezTo>
                    <a:pt x="2585" y="0"/>
                    <a:pt x="2593" y="7"/>
                    <a:pt x="2593" y="16"/>
                  </a:cubicBezTo>
                  <a:cubicBezTo>
                    <a:pt x="2593" y="25"/>
                    <a:pt x="2585" y="32"/>
                    <a:pt x="2577" y="32"/>
                  </a:cubicBezTo>
                  <a:lnTo>
                    <a:pt x="2577" y="32"/>
                  </a:lnTo>
                  <a:cubicBezTo>
                    <a:pt x="2568" y="32"/>
                    <a:pt x="2561" y="25"/>
                    <a:pt x="2561" y="16"/>
                  </a:cubicBezTo>
                  <a:cubicBezTo>
                    <a:pt x="2561" y="7"/>
                    <a:pt x="2568" y="0"/>
                    <a:pt x="2577" y="0"/>
                  </a:cubicBezTo>
                  <a:close/>
                  <a:moveTo>
                    <a:pt x="2737" y="0"/>
                  </a:moveTo>
                  <a:lnTo>
                    <a:pt x="2961" y="0"/>
                  </a:lnTo>
                  <a:cubicBezTo>
                    <a:pt x="2969" y="0"/>
                    <a:pt x="2977" y="7"/>
                    <a:pt x="2977" y="16"/>
                  </a:cubicBezTo>
                  <a:cubicBezTo>
                    <a:pt x="2977" y="25"/>
                    <a:pt x="2969" y="32"/>
                    <a:pt x="2961" y="32"/>
                  </a:cubicBezTo>
                  <a:lnTo>
                    <a:pt x="2737" y="32"/>
                  </a:lnTo>
                  <a:cubicBezTo>
                    <a:pt x="2728" y="32"/>
                    <a:pt x="2721" y="25"/>
                    <a:pt x="2721" y="16"/>
                  </a:cubicBezTo>
                  <a:cubicBezTo>
                    <a:pt x="2721" y="7"/>
                    <a:pt x="2728" y="0"/>
                    <a:pt x="2737" y="0"/>
                  </a:cubicBezTo>
                  <a:close/>
                  <a:moveTo>
                    <a:pt x="3121" y="0"/>
                  </a:moveTo>
                  <a:lnTo>
                    <a:pt x="3121" y="0"/>
                  </a:lnTo>
                  <a:cubicBezTo>
                    <a:pt x="3129" y="0"/>
                    <a:pt x="3137" y="7"/>
                    <a:pt x="3137" y="16"/>
                  </a:cubicBezTo>
                  <a:cubicBezTo>
                    <a:pt x="3137" y="25"/>
                    <a:pt x="3129" y="32"/>
                    <a:pt x="3121" y="32"/>
                  </a:cubicBezTo>
                  <a:lnTo>
                    <a:pt x="3121" y="32"/>
                  </a:lnTo>
                  <a:cubicBezTo>
                    <a:pt x="3112" y="32"/>
                    <a:pt x="3105" y="25"/>
                    <a:pt x="3105" y="16"/>
                  </a:cubicBezTo>
                  <a:cubicBezTo>
                    <a:pt x="3105" y="7"/>
                    <a:pt x="3112" y="0"/>
                    <a:pt x="3121" y="0"/>
                  </a:cubicBezTo>
                  <a:close/>
                  <a:moveTo>
                    <a:pt x="3281" y="0"/>
                  </a:moveTo>
                  <a:lnTo>
                    <a:pt x="3505" y="0"/>
                  </a:lnTo>
                  <a:cubicBezTo>
                    <a:pt x="3513" y="0"/>
                    <a:pt x="3521" y="7"/>
                    <a:pt x="3521" y="16"/>
                  </a:cubicBezTo>
                  <a:cubicBezTo>
                    <a:pt x="3521" y="25"/>
                    <a:pt x="3513" y="32"/>
                    <a:pt x="3505" y="32"/>
                  </a:cubicBezTo>
                  <a:lnTo>
                    <a:pt x="3281" y="32"/>
                  </a:lnTo>
                  <a:cubicBezTo>
                    <a:pt x="3272" y="32"/>
                    <a:pt x="3265" y="25"/>
                    <a:pt x="3265" y="16"/>
                  </a:cubicBezTo>
                  <a:cubicBezTo>
                    <a:pt x="3265" y="7"/>
                    <a:pt x="3272" y="0"/>
                    <a:pt x="3281" y="0"/>
                  </a:cubicBezTo>
                  <a:close/>
                  <a:moveTo>
                    <a:pt x="3665" y="0"/>
                  </a:moveTo>
                  <a:lnTo>
                    <a:pt x="3665" y="0"/>
                  </a:lnTo>
                  <a:cubicBezTo>
                    <a:pt x="3674" y="0"/>
                    <a:pt x="3681" y="7"/>
                    <a:pt x="3681" y="16"/>
                  </a:cubicBezTo>
                  <a:cubicBezTo>
                    <a:pt x="3681" y="25"/>
                    <a:pt x="3674" y="32"/>
                    <a:pt x="3665" y="32"/>
                  </a:cubicBezTo>
                  <a:lnTo>
                    <a:pt x="3665" y="32"/>
                  </a:lnTo>
                  <a:cubicBezTo>
                    <a:pt x="3656" y="32"/>
                    <a:pt x="3649" y="25"/>
                    <a:pt x="3649" y="16"/>
                  </a:cubicBezTo>
                  <a:cubicBezTo>
                    <a:pt x="3649" y="7"/>
                    <a:pt x="3656" y="0"/>
                    <a:pt x="3665" y="0"/>
                  </a:cubicBezTo>
                  <a:close/>
                  <a:moveTo>
                    <a:pt x="3825" y="0"/>
                  </a:moveTo>
                  <a:lnTo>
                    <a:pt x="4049" y="0"/>
                  </a:lnTo>
                  <a:cubicBezTo>
                    <a:pt x="4058" y="0"/>
                    <a:pt x="4065" y="7"/>
                    <a:pt x="4065" y="16"/>
                  </a:cubicBezTo>
                  <a:cubicBezTo>
                    <a:pt x="4065" y="25"/>
                    <a:pt x="4058" y="32"/>
                    <a:pt x="4049" y="32"/>
                  </a:cubicBezTo>
                  <a:lnTo>
                    <a:pt x="3825" y="32"/>
                  </a:lnTo>
                  <a:cubicBezTo>
                    <a:pt x="3816" y="32"/>
                    <a:pt x="3809" y="25"/>
                    <a:pt x="3809" y="16"/>
                  </a:cubicBezTo>
                  <a:cubicBezTo>
                    <a:pt x="3809" y="7"/>
                    <a:pt x="3816" y="0"/>
                    <a:pt x="3825" y="0"/>
                  </a:cubicBezTo>
                  <a:close/>
                  <a:moveTo>
                    <a:pt x="4209" y="0"/>
                  </a:moveTo>
                  <a:lnTo>
                    <a:pt x="4209" y="0"/>
                  </a:lnTo>
                  <a:cubicBezTo>
                    <a:pt x="4218" y="0"/>
                    <a:pt x="4225" y="7"/>
                    <a:pt x="4225" y="16"/>
                  </a:cubicBezTo>
                  <a:cubicBezTo>
                    <a:pt x="4225" y="25"/>
                    <a:pt x="4218" y="32"/>
                    <a:pt x="4209" y="32"/>
                  </a:cubicBezTo>
                  <a:lnTo>
                    <a:pt x="4209" y="32"/>
                  </a:lnTo>
                  <a:cubicBezTo>
                    <a:pt x="4200" y="32"/>
                    <a:pt x="4193" y="25"/>
                    <a:pt x="4193" y="16"/>
                  </a:cubicBezTo>
                  <a:cubicBezTo>
                    <a:pt x="4193" y="7"/>
                    <a:pt x="4200" y="0"/>
                    <a:pt x="4209" y="0"/>
                  </a:cubicBezTo>
                  <a:close/>
                  <a:moveTo>
                    <a:pt x="4369" y="0"/>
                  </a:moveTo>
                  <a:lnTo>
                    <a:pt x="4593" y="0"/>
                  </a:lnTo>
                  <a:cubicBezTo>
                    <a:pt x="4602" y="0"/>
                    <a:pt x="4609" y="7"/>
                    <a:pt x="4609" y="16"/>
                  </a:cubicBezTo>
                  <a:cubicBezTo>
                    <a:pt x="4609" y="25"/>
                    <a:pt x="4602" y="32"/>
                    <a:pt x="4593" y="32"/>
                  </a:cubicBezTo>
                  <a:lnTo>
                    <a:pt x="4369" y="32"/>
                  </a:lnTo>
                  <a:cubicBezTo>
                    <a:pt x="4360" y="32"/>
                    <a:pt x="4353" y="25"/>
                    <a:pt x="4353" y="16"/>
                  </a:cubicBezTo>
                  <a:cubicBezTo>
                    <a:pt x="4353" y="7"/>
                    <a:pt x="4360" y="0"/>
                    <a:pt x="4369" y="0"/>
                  </a:cubicBezTo>
                  <a:close/>
                  <a:moveTo>
                    <a:pt x="4753" y="0"/>
                  </a:moveTo>
                  <a:lnTo>
                    <a:pt x="4753" y="0"/>
                  </a:lnTo>
                  <a:cubicBezTo>
                    <a:pt x="4762" y="0"/>
                    <a:pt x="4769" y="7"/>
                    <a:pt x="4769" y="16"/>
                  </a:cubicBezTo>
                  <a:cubicBezTo>
                    <a:pt x="4769" y="25"/>
                    <a:pt x="4762" y="32"/>
                    <a:pt x="4753" y="32"/>
                  </a:cubicBezTo>
                  <a:lnTo>
                    <a:pt x="4753" y="32"/>
                  </a:lnTo>
                  <a:cubicBezTo>
                    <a:pt x="4744" y="32"/>
                    <a:pt x="4737" y="25"/>
                    <a:pt x="4737" y="16"/>
                  </a:cubicBezTo>
                  <a:cubicBezTo>
                    <a:pt x="4737" y="7"/>
                    <a:pt x="4744" y="0"/>
                    <a:pt x="4753" y="0"/>
                  </a:cubicBezTo>
                  <a:close/>
                  <a:moveTo>
                    <a:pt x="4913" y="0"/>
                  </a:moveTo>
                  <a:lnTo>
                    <a:pt x="5137" y="0"/>
                  </a:lnTo>
                  <a:cubicBezTo>
                    <a:pt x="5146" y="0"/>
                    <a:pt x="5153" y="7"/>
                    <a:pt x="5153" y="16"/>
                  </a:cubicBezTo>
                  <a:cubicBezTo>
                    <a:pt x="5153" y="25"/>
                    <a:pt x="5146" y="32"/>
                    <a:pt x="5137" y="32"/>
                  </a:cubicBezTo>
                  <a:lnTo>
                    <a:pt x="4913" y="32"/>
                  </a:lnTo>
                  <a:cubicBezTo>
                    <a:pt x="4904" y="32"/>
                    <a:pt x="4897" y="25"/>
                    <a:pt x="4897" y="16"/>
                  </a:cubicBezTo>
                  <a:cubicBezTo>
                    <a:pt x="4897" y="7"/>
                    <a:pt x="4904" y="0"/>
                    <a:pt x="4913" y="0"/>
                  </a:cubicBezTo>
                  <a:close/>
                  <a:moveTo>
                    <a:pt x="5297" y="0"/>
                  </a:moveTo>
                  <a:lnTo>
                    <a:pt x="5297" y="0"/>
                  </a:lnTo>
                  <a:cubicBezTo>
                    <a:pt x="5306" y="0"/>
                    <a:pt x="5313" y="7"/>
                    <a:pt x="5313" y="16"/>
                  </a:cubicBezTo>
                  <a:cubicBezTo>
                    <a:pt x="5313" y="25"/>
                    <a:pt x="5306" y="32"/>
                    <a:pt x="5297" y="32"/>
                  </a:cubicBezTo>
                  <a:lnTo>
                    <a:pt x="5297" y="32"/>
                  </a:lnTo>
                  <a:cubicBezTo>
                    <a:pt x="5288" y="32"/>
                    <a:pt x="5281" y="25"/>
                    <a:pt x="5281" y="16"/>
                  </a:cubicBezTo>
                  <a:cubicBezTo>
                    <a:pt x="5281" y="7"/>
                    <a:pt x="5288" y="0"/>
                    <a:pt x="5297" y="0"/>
                  </a:cubicBezTo>
                  <a:close/>
                  <a:moveTo>
                    <a:pt x="5457" y="0"/>
                  </a:moveTo>
                  <a:lnTo>
                    <a:pt x="5681" y="0"/>
                  </a:lnTo>
                  <a:cubicBezTo>
                    <a:pt x="5690" y="0"/>
                    <a:pt x="5697" y="7"/>
                    <a:pt x="5697" y="16"/>
                  </a:cubicBezTo>
                  <a:cubicBezTo>
                    <a:pt x="5697" y="25"/>
                    <a:pt x="5690" y="32"/>
                    <a:pt x="5681" y="32"/>
                  </a:cubicBezTo>
                  <a:lnTo>
                    <a:pt x="5457" y="32"/>
                  </a:lnTo>
                  <a:cubicBezTo>
                    <a:pt x="5448" y="32"/>
                    <a:pt x="5441" y="25"/>
                    <a:pt x="5441" y="16"/>
                  </a:cubicBezTo>
                  <a:cubicBezTo>
                    <a:pt x="5441" y="7"/>
                    <a:pt x="5448" y="0"/>
                    <a:pt x="5457" y="0"/>
                  </a:cubicBezTo>
                  <a:close/>
                  <a:moveTo>
                    <a:pt x="5841" y="0"/>
                  </a:moveTo>
                  <a:lnTo>
                    <a:pt x="5841" y="0"/>
                  </a:lnTo>
                  <a:cubicBezTo>
                    <a:pt x="5850" y="0"/>
                    <a:pt x="5857" y="7"/>
                    <a:pt x="5857" y="16"/>
                  </a:cubicBezTo>
                  <a:cubicBezTo>
                    <a:pt x="5857" y="25"/>
                    <a:pt x="5850" y="32"/>
                    <a:pt x="5841" y="32"/>
                  </a:cubicBezTo>
                  <a:lnTo>
                    <a:pt x="5841" y="32"/>
                  </a:lnTo>
                  <a:cubicBezTo>
                    <a:pt x="5832" y="32"/>
                    <a:pt x="5825" y="25"/>
                    <a:pt x="5825" y="16"/>
                  </a:cubicBezTo>
                  <a:cubicBezTo>
                    <a:pt x="5825" y="7"/>
                    <a:pt x="5832" y="0"/>
                    <a:pt x="5841" y="0"/>
                  </a:cubicBezTo>
                  <a:close/>
                  <a:moveTo>
                    <a:pt x="6001" y="0"/>
                  </a:moveTo>
                  <a:lnTo>
                    <a:pt x="6225" y="0"/>
                  </a:lnTo>
                  <a:cubicBezTo>
                    <a:pt x="6234" y="0"/>
                    <a:pt x="6241" y="7"/>
                    <a:pt x="6241" y="16"/>
                  </a:cubicBezTo>
                  <a:cubicBezTo>
                    <a:pt x="6241" y="25"/>
                    <a:pt x="6234" y="32"/>
                    <a:pt x="6225" y="32"/>
                  </a:cubicBezTo>
                  <a:lnTo>
                    <a:pt x="6001" y="32"/>
                  </a:lnTo>
                  <a:cubicBezTo>
                    <a:pt x="5992" y="32"/>
                    <a:pt x="5985" y="25"/>
                    <a:pt x="5985" y="16"/>
                  </a:cubicBezTo>
                  <a:cubicBezTo>
                    <a:pt x="5985" y="7"/>
                    <a:pt x="5992" y="0"/>
                    <a:pt x="6001" y="0"/>
                  </a:cubicBezTo>
                  <a:close/>
                  <a:moveTo>
                    <a:pt x="6385" y="0"/>
                  </a:moveTo>
                  <a:lnTo>
                    <a:pt x="6385" y="0"/>
                  </a:lnTo>
                  <a:cubicBezTo>
                    <a:pt x="6394" y="0"/>
                    <a:pt x="6401" y="7"/>
                    <a:pt x="6401" y="16"/>
                  </a:cubicBezTo>
                  <a:cubicBezTo>
                    <a:pt x="6401" y="25"/>
                    <a:pt x="6394" y="32"/>
                    <a:pt x="6385" y="32"/>
                  </a:cubicBezTo>
                  <a:lnTo>
                    <a:pt x="6385" y="32"/>
                  </a:lnTo>
                  <a:cubicBezTo>
                    <a:pt x="6376" y="32"/>
                    <a:pt x="6369" y="25"/>
                    <a:pt x="6369" y="16"/>
                  </a:cubicBezTo>
                  <a:cubicBezTo>
                    <a:pt x="6369" y="7"/>
                    <a:pt x="6376" y="0"/>
                    <a:pt x="6385" y="0"/>
                  </a:cubicBezTo>
                  <a:close/>
                  <a:moveTo>
                    <a:pt x="6545" y="0"/>
                  </a:moveTo>
                  <a:lnTo>
                    <a:pt x="6769" y="0"/>
                  </a:lnTo>
                  <a:cubicBezTo>
                    <a:pt x="6778" y="0"/>
                    <a:pt x="6785" y="7"/>
                    <a:pt x="6785" y="16"/>
                  </a:cubicBezTo>
                  <a:cubicBezTo>
                    <a:pt x="6785" y="25"/>
                    <a:pt x="6778" y="32"/>
                    <a:pt x="6769" y="32"/>
                  </a:cubicBezTo>
                  <a:lnTo>
                    <a:pt x="6545" y="32"/>
                  </a:lnTo>
                  <a:cubicBezTo>
                    <a:pt x="6536" y="32"/>
                    <a:pt x="6529" y="25"/>
                    <a:pt x="6529" y="16"/>
                  </a:cubicBezTo>
                  <a:cubicBezTo>
                    <a:pt x="6529" y="7"/>
                    <a:pt x="6536" y="0"/>
                    <a:pt x="6545" y="0"/>
                  </a:cubicBezTo>
                  <a:close/>
                  <a:moveTo>
                    <a:pt x="6929" y="0"/>
                  </a:moveTo>
                  <a:lnTo>
                    <a:pt x="6929" y="0"/>
                  </a:lnTo>
                  <a:cubicBezTo>
                    <a:pt x="6938" y="0"/>
                    <a:pt x="6945" y="7"/>
                    <a:pt x="6945" y="16"/>
                  </a:cubicBezTo>
                  <a:cubicBezTo>
                    <a:pt x="6945" y="25"/>
                    <a:pt x="6938" y="32"/>
                    <a:pt x="6929" y="32"/>
                  </a:cubicBezTo>
                  <a:lnTo>
                    <a:pt x="6929" y="32"/>
                  </a:lnTo>
                  <a:cubicBezTo>
                    <a:pt x="6920" y="32"/>
                    <a:pt x="6913" y="25"/>
                    <a:pt x="6913" y="16"/>
                  </a:cubicBezTo>
                  <a:cubicBezTo>
                    <a:pt x="6913" y="7"/>
                    <a:pt x="6920" y="0"/>
                    <a:pt x="6929" y="0"/>
                  </a:cubicBezTo>
                  <a:close/>
                  <a:moveTo>
                    <a:pt x="7089" y="0"/>
                  </a:moveTo>
                  <a:lnTo>
                    <a:pt x="7313" y="0"/>
                  </a:lnTo>
                  <a:cubicBezTo>
                    <a:pt x="7322" y="0"/>
                    <a:pt x="7329" y="7"/>
                    <a:pt x="7329" y="16"/>
                  </a:cubicBezTo>
                  <a:cubicBezTo>
                    <a:pt x="7329" y="25"/>
                    <a:pt x="7322" y="32"/>
                    <a:pt x="7313" y="32"/>
                  </a:cubicBezTo>
                  <a:lnTo>
                    <a:pt x="7089" y="32"/>
                  </a:lnTo>
                  <a:cubicBezTo>
                    <a:pt x="7080" y="32"/>
                    <a:pt x="7073" y="25"/>
                    <a:pt x="7073" y="16"/>
                  </a:cubicBezTo>
                  <a:cubicBezTo>
                    <a:pt x="7073" y="7"/>
                    <a:pt x="7080" y="0"/>
                    <a:pt x="7089" y="0"/>
                  </a:cubicBezTo>
                  <a:close/>
                  <a:moveTo>
                    <a:pt x="7473" y="0"/>
                  </a:moveTo>
                  <a:lnTo>
                    <a:pt x="7473" y="0"/>
                  </a:lnTo>
                  <a:cubicBezTo>
                    <a:pt x="7482" y="0"/>
                    <a:pt x="7489" y="7"/>
                    <a:pt x="7489" y="16"/>
                  </a:cubicBezTo>
                  <a:cubicBezTo>
                    <a:pt x="7489" y="25"/>
                    <a:pt x="7482" y="32"/>
                    <a:pt x="7473" y="32"/>
                  </a:cubicBezTo>
                  <a:lnTo>
                    <a:pt x="7473" y="32"/>
                  </a:lnTo>
                  <a:cubicBezTo>
                    <a:pt x="7464" y="32"/>
                    <a:pt x="7457" y="25"/>
                    <a:pt x="7457" y="16"/>
                  </a:cubicBezTo>
                  <a:cubicBezTo>
                    <a:pt x="7457" y="7"/>
                    <a:pt x="7464" y="0"/>
                    <a:pt x="7473" y="0"/>
                  </a:cubicBezTo>
                  <a:close/>
                  <a:moveTo>
                    <a:pt x="7633" y="0"/>
                  </a:moveTo>
                  <a:lnTo>
                    <a:pt x="7857" y="0"/>
                  </a:lnTo>
                  <a:cubicBezTo>
                    <a:pt x="7866" y="0"/>
                    <a:pt x="7873" y="7"/>
                    <a:pt x="7873" y="16"/>
                  </a:cubicBezTo>
                  <a:cubicBezTo>
                    <a:pt x="7873" y="25"/>
                    <a:pt x="7866" y="32"/>
                    <a:pt x="7857" y="32"/>
                  </a:cubicBezTo>
                  <a:lnTo>
                    <a:pt x="7633" y="32"/>
                  </a:lnTo>
                  <a:cubicBezTo>
                    <a:pt x="7624" y="32"/>
                    <a:pt x="7617" y="25"/>
                    <a:pt x="7617" y="16"/>
                  </a:cubicBezTo>
                  <a:cubicBezTo>
                    <a:pt x="7617" y="7"/>
                    <a:pt x="7624" y="0"/>
                    <a:pt x="7633" y="0"/>
                  </a:cubicBezTo>
                  <a:close/>
                  <a:moveTo>
                    <a:pt x="8017" y="0"/>
                  </a:moveTo>
                  <a:lnTo>
                    <a:pt x="8017" y="0"/>
                  </a:lnTo>
                  <a:cubicBezTo>
                    <a:pt x="8026" y="0"/>
                    <a:pt x="8033" y="7"/>
                    <a:pt x="8033" y="16"/>
                  </a:cubicBezTo>
                  <a:cubicBezTo>
                    <a:pt x="8033" y="25"/>
                    <a:pt x="8026" y="32"/>
                    <a:pt x="8017" y="32"/>
                  </a:cubicBezTo>
                  <a:lnTo>
                    <a:pt x="8017" y="32"/>
                  </a:lnTo>
                  <a:cubicBezTo>
                    <a:pt x="8008" y="32"/>
                    <a:pt x="8001" y="25"/>
                    <a:pt x="8001" y="16"/>
                  </a:cubicBezTo>
                  <a:cubicBezTo>
                    <a:pt x="8001" y="7"/>
                    <a:pt x="8008" y="0"/>
                    <a:pt x="8017" y="0"/>
                  </a:cubicBezTo>
                  <a:close/>
                  <a:moveTo>
                    <a:pt x="8177" y="0"/>
                  </a:moveTo>
                  <a:lnTo>
                    <a:pt x="8401" y="0"/>
                  </a:lnTo>
                  <a:cubicBezTo>
                    <a:pt x="8410" y="0"/>
                    <a:pt x="8417" y="7"/>
                    <a:pt x="8417" y="16"/>
                  </a:cubicBezTo>
                  <a:cubicBezTo>
                    <a:pt x="8417" y="25"/>
                    <a:pt x="8410" y="32"/>
                    <a:pt x="8401" y="32"/>
                  </a:cubicBezTo>
                  <a:lnTo>
                    <a:pt x="8177" y="32"/>
                  </a:lnTo>
                  <a:cubicBezTo>
                    <a:pt x="8168" y="32"/>
                    <a:pt x="8161" y="25"/>
                    <a:pt x="8161" y="16"/>
                  </a:cubicBezTo>
                  <a:cubicBezTo>
                    <a:pt x="8161" y="7"/>
                    <a:pt x="8168" y="0"/>
                    <a:pt x="8177" y="0"/>
                  </a:cubicBezTo>
                  <a:close/>
                  <a:moveTo>
                    <a:pt x="8561" y="0"/>
                  </a:moveTo>
                  <a:lnTo>
                    <a:pt x="8561" y="0"/>
                  </a:lnTo>
                  <a:cubicBezTo>
                    <a:pt x="8570" y="0"/>
                    <a:pt x="8577" y="7"/>
                    <a:pt x="8577" y="16"/>
                  </a:cubicBezTo>
                  <a:cubicBezTo>
                    <a:pt x="8577" y="25"/>
                    <a:pt x="8570" y="32"/>
                    <a:pt x="8561" y="32"/>
                  </a:cubicBezTo>
                  <a:lnTo>
                    <a:pt x="8561" y="32"/>
                  </a:lnTo>
                  <a:cubicBezTo>
                    <a:pt x="8552" y="32"/>
                    <a:pt x="8545" y="25"/>
                    <a:pt x="8545" y="16"/>
                  </a:cubicBezTo>
                  <a:cubicBezTo>
                    <a:pt x="8545" y="7"/>
                    <a:pt x="8552" y="0"/>
                    <a:pt x="8561" y="0"/>
                  </a:cubicBezTo>
                  <a:close/>
                  <a:moveTo>
                    <a:pt x="8721" y="0"/>
                  </a:moveTo>
                  <a:lnTo>
                    <a:pt x="8945" y="0"/>
                  </a:lnTo>
                  <a:cubicBezTo>
                    <a:pt x="8954" y="0"/>
                    <a:pt x="8961" y="7"/>
                    <a:pt x="8961" y="16"/>
                  </a:cubicBezTo>
                  <a:cubicBezTo>
                    <a:pt x="8961" y="25"/>
                    <a:pt x="8954" y="32"/>
                    <a:pt x="8945" y="32"/>
                  </a:cubicBezTo>
                  <a:lnTo>
                    <a:pt x="8721" y="32"/>
                  </a:lnTo>
                  <a:cubicBezTo>
                    <a:pt x="8712" y="32"/>
                    <a:pt x="8705" y="25"/>
                    <a:pt x="8705" y="16"/>
                  </a:cubicBezTo>
                  <a:cubicBezTo>
                    <a:pt x="8705" y="7"/>
                    <a:pt x="8712" y="0"/>
                    <a:pt x="8721" y="0"/>
                  </a:cubicBezTo>
                  <a:close/>
                  <a:moveTo>
                    <a:pt x="9105" y="0"/>
                  </a:moveTo>
                  <a:lnTo>
                    <a:pt x="9105" y="0"/>
                  </a:lnTo>
                  <a:cubicBezTo>
                    <a:pt x="9114" y="0"/>
                    <a:pt x="9121" y="7"/>
                    <a:pt x="9121" y="16"/>
                  </a:cubicBezTo>
                  <a:cubicBezTo>
                    <a:pt x="9121" y="25"/>
                    <a:pt x="9114" y="32"/>
                    <a:pt x="9105" y="32"/>
                  </a:cubicBezTo>
                  <a:lnTo>
                    <a:pt x="9105" y="32"/>
                  </a:lnTo>
                  <a:cubicBezTo>
                    <a:pt x="9096" y="32"/>
                    <a:pt x="9089" y="25"/>
                    <a:pt x="9089" y="16"/>
                  </a:cubicBezTo>
                  <a:cubicBezTo>
                    <a:pt x="9089" y="7"/>
                    <a:pt x="9096" y="0"/>
                    <a:pt x="9105" y="0"/>
                  </a:cubicBezTo>
                  <a:close/>
                  <a:moveTo>
                    <a:pt x="9265" y="0"/>
                  </a:moveTo>
                  <a:lnTo>
                    <a:pt x="9489" y="0"/>
                  </a:lnTo>
                  <a:cubicBezTo>
                    <a:pt x="9498" y="0"/>
                    <a:pt x="9505" y="7"/>
                    <a:pt x="9505" y="16"/>
                  </a:cubicBezTo>
                  <a:cubicBezTo>
                    <a:pt x="9505" y="25"/>
                    <a:pt x="9498" y="32"/>
                    <a:pt x="9489" y="32"/>
                  </a:cubicBezTo>
                  <a:lnTo>
                    <a:pt x="9265" y="32"/>
                  </a:lnTo>
                  <a:cubicBezTo>
                    <a:pt x="9256" y="32"/>
                    <a:pt x="9249" y="25"/>
                    <a:pt x="9249" y="16"/>
                  </a:cubicBezTo>
                  <a:cubicBezTo>
                    <a:pt x="9249" y="7"/>
                    <a:pt x="9256" y="0"/>
                    <a:pt x="9265" y="0"/>
                  </a:cubicBezTo>
                  <a:close/>
                  <a:moveTo>
                    <a:pt x="9649" y="0"/>
                  </a:moveTo>
                  <a:lnTo>
                    <a:pt x="9649" y="0"/>
                  </a:lnTo>
                  <a:cubicBezTo>
                    <a:pt x="9658" y="0"/>
                    <a:pt x="9665" y="7"/>
                    <a:pt x="9665" y="16"/>
                  </a:cubicBezTo>
                  <a:cubicBezTo>
                    <a:pt x="9665" y="25"/>
                    <a:pt x="9658" y="32"/>
                    <a:pt x="9649" y="32"/>
                  </a:cubicBezTo>
                  <a:lnTo>
                    <a:pt x="9649" y="32"/>
                  </a:lnTo>
                  <a:cubicBezTo>
                    <a:pt x="9640" y="32"/>
                    <a:pt x="9633" y="25"/>
                    <a:pt x="9633" y="16"/>
                  </a:cubicBezTo>
                  <a:cubicBezTo>
                    <a:pt x="9633" y="7"/>
                    <a:pt x="9640" y="0"/>
                    <a:pt x="9649" y="0"/>
                  </a:cubicBezTo>
                  <a:close/>
                  <a:moveTo>
                    <a:pt x="9809" y="0"/>
                  </a:moveTo>
                  <a:lnTo>
                    <a:pt x="10033" y="0"/>
                  </a:lnTo>
                  <a:cubicBezTo>
                    <a:pt x="10042" y="0"/>
                    <a:pt x="10049" y="7"/>
                    <a:pt x="10049" y="16"/>
                  </a:cubicBezTo>
                  <a:cubicBezTo>
                    <a:pt x="10049" y="25"/>
                    <a:pt x="10042" y="32"/>
                    <a:pt x="10033" y="32"/>
                  </a:cubicBezTo>
                  <a:lnTo>
                    <a:pt x="9809" y="32"/>
                  </a:lnTo>
                  <a:cubicBezTo>
                    <a:pt x="9800" y="32"/>
                    <a:pt x="9793" y="25"/>
                    <a:pt x="9793" y="16"/>
                  </a:cubicBezTo>
                  <a:cubicBezTo>
                    <a:pt x="9793" y="7"/>
                    <a:pt x="9800" y="0"/>
                    <a:pt x="9809" y="0"/>
                  </a:cubicBezTo>
                  <a:close/>
                  <a:moveTo>
                    <a:pt x="10193" y="0"/>
                  </a:moveTo>
                  <a:lnTo>
                    <a:pt x="10193" y="0"/>
                  </a:lnTo>
                  <a:cubicBezTo>
                    <a:pt x="10202" y="0"/>
                    <a:pt x="10209" y="7"/>
                    <a:pt x="10209" y="16"/>
                  </a:cubicBezTo>
                  <a:cubicBezTo>
                    <a:pt x="10209" y="25"/>
                    <a:pt x="10202" y="32"/>
                    <a:pt x="10193" y="32"/>
                  </a:cubicBezTo>
                  <a:lnTo>
                    <a:pt x="10193" y="32"/>
                  </a:lnTo>
                  <a:cubicBezTo>
                    <a:pt x="10184" y="32"/>
                    <a:pt x="10177" y="25"/>
                    <a:pt x="10177" y="16"/>
                  </a:cubicBezTo>
                  <a:cubicBezTo>
                    <a:pt x="10177" y="7"/>
                    <a:pt x="10184" y="0"/>
                    <a:pt x="10193" y="0"/>
                  </a:cubicBezTo>
                  <a:close/>
                  <a:moveTo>
                    <a:pt x="10353" y="0"/>
                  </a:moveTo>
                  <a:lnTo>
                    <a:pt x="10577" y="0"/>
                  </a:lnTo>
                  <a:cubicBezTo>
                    <a:pt x="10586" y="0"/>
                    <a:pt x="10593" y="7"/>
                    <a:pt x="10593" y="16"/>
                  </a:cubicBezTo>
                  <a:cubicBezTo>
                    <a:pt x="10593" y="25"/>
                    <a:pt x="10586" y="32"/>
                    <a:pt x="10577" y="32"/>
                  </a:cubicBezTo>
                  <a:lnTo>
                    <a:pt x="10353" y="32"/>
                  </a:lnTo>
                  <a:cubicBezTo>
                    <a:pt x="10344" y="32"/>
                    <a:pt x="10337" y="25"/>
                    <a:pt x="10337" y="16"/>
                  </a:cubicBezTo>
                  <a:cubicBezTo>
                    <a:pt x="10337" y="7"/>
                    <a:pt x="10344" y="0"/>
                    <a:pt x="10353" y="0"/>
                  </a:cubicBezTo>
                  <a:close/>
                  <a:moveTo>
                    <a:pt x="10737" y="0"/>
                  </a:moveTo>
                  <a:lnTo>
                    <a:pt x="10737" y="0"/>
                  </a:lnTo>
                  <a:cubicBezTo>
                    <a:pt x="10746" y="0"/>
                    <a:pt x="10753" y="7"/>
                    <a:pt x="10753" y="16"/>
                  </a:cubicBezTo>
                  <a:cubicBezTo>
                    <a:pt x="10753" y="25"/>
                    <a:pt x="10746" y="32"/>
                    <a:pt x="10737" y="32"/>
                  </a:cubicBezTo>
                  <a:lnTo>
                    <a:pt x="10737" y="32"/>
                  </a:lnTo>
                  <a:cubicBezTo>
                    <a:pt x="10728" y="32"/>
                    <a:pt x="10721" y="25"/>
                    <a:pt x="10721" y="16"/>
                  </a:cubicBezTo>
                  <a:cubicBezTo>
                    <a:pt x="10721" y="7"/>
                    <a:pt x="10728" y="0"/>
                    <a:pt x="10737" y="0"/>
                  </a:cubicBezTo>
                  <a:close/>
                  <a:moveTo>
                    <a:pt x="10897" y="0"/>
                  </a:moveTo>
                  <a:lnTo>
                    <a:pt x="11121" y="0"/>
                  </a:lnTo>
                  <a:cubicBezTo>
                    <a:pt x="11130" y="0"/>
                    <a:pt x="11137" y="7"/>
                    <a:pt x="11137" y="16"/>
                  </a:cubicBezTo>
                  <a:cubicBezTo>
                    <a:pt x="11137" y="25"/>
                    <a:pt x="11130" y="32"/>
                    <a:pt x="11121" y="32"/>
                  </a:cubicBezTo>
                  <a:lnTo>
                    <a:pt x="10897" y="32"/>
                  </a:lnTo>
                  <a:cubicBezTo>
                    <a:pt x="10888" y="32"/>
                    <a:pt x="10881" y="25"/>
                    <a:pt x="10881" y="16"/>
                  </a:cubicBezTo>
                  <a:cubicBezTo>
                    <a:pt x="10881" y="7"/>
                    <a:pt x="10888" y="0"/>
                    <a:pt x="10897" y="0"/>
                  </a:cubicBezTo>
                  <a:close/>
                  <a:moveTo>
                    <a:pt x="11281" y="0"/>
                  </a:moveTo>
                  <a:lnTo>
                    <a:pt x="11281" y="0"/>
                  </a:lnTo>
                  <a:cubicBezTo>
                    <a:pt x="11290" y="0"/>
                    <a:pt x="11297" y="7"/>
                    <a:pt x="11297" y="16"/>
                  </a:cubicBezTo>
                  <a:cubicBezTo>
                    <a:pt x="11297" y="25"/>
                    <a:pt x="11290" y="32"/>
                    <a:pt x="11281" y="32"/>
                  </a:cubicBezTo>
                  <a:lnTo>
                    <a:pt x="11281" y="32"/>
                  </a:lnTo>
                  <a:cubicBezTo>
                    <a:pt x="11272" y="32"/>
                    <a:pt x="11265" y="25"/>
                    <a:pt x="11265" y="16"/>
                  </a:cubicBezTo>
                  <a:cubicBezTo>
                    <a:pt x="11265" y="7"/>
                    <a:pt x="11272" y="0"/>
                    <a:pt x="11281" y="0"/>
                  </a:cubicBezTo>
                  <a:close/>
                  <a:moveTo>
                    <a:pt x="11441" y="0"/>
                  </a:moveTo>
                  <a:lnTo>
                    <a:pt x="11665" y="0"/>
                  </a:lnTo>
                  <a:cubicBezTo>
                    <a:pt x="11674" y="0"/>
                    <a:pt x="11681" y="7"/>
                    <a:pt x="11681" y="16"/>
                  </a:cubicBezTo>
                  <a:cubicBezTo>
                    <a:pt x="11681" y="25"/>
                    <a:pt x="11674" y="32"/>
                    <a:pt x="11665" y="32"/>
                  </a:cubicBezTo>
                  <a:lnTo>
                    <a:pt x="11441" y="32"/>
                  </a:lnTo>
                  <a:cubicBezTo>
                    <a:pt x="11432" y="32"/>
                    <a:pt x="11425" y="25"/>
                    <a:pt x="11425" y="16"/>
                  </a:cubicBezTo>
                  <a:cubicBezTo>
                    <a:pt x="11425" y="7"/>
                    <a:pt x="11432" y="0"/>
                    <a:pt x="11441" y="0"/>
                  </a:cubicBezTo>
                  <a:close/>
                  <a:moveTo>
                    <a:pt x="11825" y="0"/>
                  </a:moveTo>
                  <a:lnTo>
                    <a:pt x="11825" y="0"/>
                  </a:lnTo>
                  <a:cubicBezTo>
                    <a:pt x="11834" y="0"/>
                    <a:pt x="11841" y="7"/>
                    <a:pt x="11841" y="16"/>
                  </a:cubicBezTo>
                  <a:cubicBezTo>
                    <a:pt x="11841" y="25"/>
                    <a:pt x="11834" y="32"/>
                    <a:pt x="11825" y="32"/>
                  </a:cubicBezTo>
                  <a:lnTo>
                    <a:pt x="11825" y="32"/>
                  </a:lnTo>
                  <a:cubicBezTo>
                    <a:pt x="11816" y="32"/>
                    <a:pt x="11809" y="25"/>
                    <a:pt x="11809" y="16"/>
                  </a:cubicBezTo>
                  <a:cubicBezTo>
                    <a:pt x="11809" y="7"/>
                    <a:pt x="11816" y="0"/>
                    <a:pt x="11825" y="0"/>
                  </a:cubicBezTo>
                  <a:close/>
                  <a:moveTo>
                    <a:pt x="11985" y="0"/>
                  </a:moveTo>
                  <a:lnTo>
                    <a:pt x="12209" y="0"/>
                  </a:lnTo>
                  <a:cubicBezTo>
                    <a:pt x="12218" y="0"/>
                    <a:pt x="12225" y="7"/>
                    <a:pt x="12225" y="16"/>
                  </a:cubicBezTo>
                  <a:cubicBezTo>
                    <a:pt x="12225" y="25"/>
                    <a:pt x="12218" y="32"/>
                    <a:pt x="12209" y="32"/>
                  </a:cubicBezTo>
                  <a:lnTo>
                    <a:pt x="11985" y="32"/>
                  </a:lnTo>
                  <a:cubicBezTo>
                    <a:pt x="11976" y="32"/>
                    <a:pt x="11969" y="25"/>
                    <a:pt x="11969" y="16"/>
                  </a:cubicBezTo>
                  <a:cubicBezTo>
                    <a:pt x="11969" y="7"/>
                    <a:pt x="11976" y="0"/>
                    <a:pt x="11985" y="0"/>
                  </a:cubicBezTo>
                  <a:close/>
                  <a:moveTo>
                    <a:pt x="12369" y="0"/>
                  </a:moveTo>
                  <a:lnTo>
                    <a:pt x="12369" y="0"/>
                  </a:lnTo>
                  <a:cubicBezTo>
                    <a:pt x="12378" y="0"/>
                    <a:pt x="12385" y="7"/>
                    <a:pt x="12385" y="16"/>
                  </a:cubicBezTo>
                  <a:cubicBezTo>
                    <a:pt x="12385" y="25"/>
                    <a:pt x="12378" y="32"/>
                    <a:pt x="12369" y="32"/>
                  </a:cubicBezTo>
                  <a:lnTo>
                    <a:pt x="12369" y="32"/>
                  </a:lnTo>
                  <a:cubicBezTo>
                    <a:pt x="12360" y="32"/>
                    <a:pt x="12353" y="25"/>
                    <a:pt x="12353" y="16"/>
                  </a:cubicBezTo>
                  <a:cubicBezTo>
                    <a:pt x="12353" y="7"/>
                    <a:pt x="12360" y="0"/>
                    <a:pt x="12369" y="0"/>
                  </a:cubicBezTo>
                  <a:close/>
                  <a:moveTo>
                    <a:pt x="12529" y="0"/>
                  </a:moveTo>
                  <a:lnTo>
                    <a:pt x="12753" y="0"/>
                  </a:lnTo>
                  <a:cubicBezTo>
                    <a:pt x="12762" y="0"/>
                    <a:pt x="12769" y="7"/>
                    <a:pt x="12769" y="16"/>
                  </a:cubicBezTo>
                  <a:cubicBezTo>
                    <a:pt x="12769" y="25"/>
                    <a:pt x="12762" y="32"/>
                    <a:pt x="12753" y="32"/>
                  </a:cubicBezTo>
                  <a:lnTo>
                    <a:pt x="12529" y="32"/>
                  </a:lnTo>
                  <a:cubicBezTo>
                    <a:pt x="12520" y="32"/>
                    <a:pt x="12513" y="25"/>
                    <a:pt x="12513" y="16"/>
                  </a:cubicBezTo>
                  <a:cubicBezTo>
                    <a:pt x="12513" y="7"/>
                    <a:pt x="12520" y="0"/>
                    <a:pt x="12529" y="0"/>
                  </a:cubicBezTo>
                  <a:close/>
                  <a:moveTo>
                    <a:pt x="12913" y="0"/>
                  </a:moveTo>
                  <a:lnTo>
                    <a:pt x="12913" y="0"/>
                  </a:lnTo>
                  <a:cubicBezTo>
                    <a:pt x="12922" y="0"/>
                    <a:pt x="12929" y="7"/>
                    <a:pt x="12929" y="16"/>
                  </a:cubicBezTo>
                  <a:cubicBezTo>
                    <a:pt x="12929" y="25"/>
                    <a:pt x="12922" y="32"/>
                    <a:pt x="12913" y="32"/>
                  </a:cubicBezTo>
                  <a:lnTo>
                    <a:pt x="12913" y="32"/>
                  </a:lnTo>
                  <a:cubicBezTo>
                    <a:pt x="12904" y="32"/>
                    <a:pt x="12897" y="25"/>
                    <a:pt x="12897" y="16"/>
                  </a:cubicBezTo>
                  <a:cubicBezTo>
                    <a:pt x="12897" y="7"/>
                    <a:pt x="12904" y="0"/>
                    <a:pt x="12913" y="0"/>
                  </a:cubicBezTo>
                  <a:close/>
                  <a:moveTo>
                    <a:pt x="13073" y="0"/>
                  </a:moveTo>
                  <a:lnTo>
                    <a:pt x="13297" y="0"/>
                  </a:lnTo>
                  <a:cubicBezTo>
                    <a:pt x="13306" y="0"/>
                    <a:pt x="13313" y="7"/>
                    <a:pt x="13313" y="16"/>
                  </a:cubicBezTo>
                  <a:cubicBezTo>
                    <a:pt x="13313" y="25"/>
                    <a:pt x="13306" y="32"/>
                    <a:pt x="13297" y="32"/>
                  </a:cubicBezTo>
                  <a:lnTo>
                    <a:pt x="13073" y="32"/>
                  </a:lnTo>
                  <a:cubicBezTo>
                    <a:pt x="13064" y="32"/>
                    <a:pt x="13057" y="25"/>
                    <a:pt x="13057" y="16"/>
                  </a:cubicBezTo>
                  <a:cubicBezTo>
                    <a:pt x="13057" y="7"/>
                    <a:pt x="13064" y="0"/>
                    <a:pt x="13073" y="0"/>
                  </a:cubicBezTo>
                  <a:close/>
                  <a:moveTo>
                    <a:pt x="13457" y="0"/>
                  </a:moveTo>
                  <a:lnTo>
                    <a:pt x="13457" y="0"/>
                  </a:lnTo>
                  <a:cubicBezTo>
                    <a:pt x="13466" y="0"/>
                    <a:pt x="13473" y="7"/>
                    <a:pt x="13473" y="16"/>
                  </a:cubicBezTo>
                  <a:cubicBezTo>
                    <a:pt x="13473" y="25"/>
                    <a:pt x="13466" y="32"/>
                    <a:pt x="13457" y="32"/>
                  </a:cubicBezTo>
                  <a:lnTo>
                    <a:pt x="13457" y="32"/>
                  </a:lnTo>
                  <a:cubicBezTo>
                    <a:pt x="13448" y="32"/>
                    <a:pt x="13441" y="25"/>
                    <a:pt x="13441" y="16"/>
                  </a:cubicBezTo>
                  <a:cubicBezTo>
                    <a:pt x="13441" y="7"/>
                    <a:pt x="13448" y="0"/>
                    <a:pt x="13457" y="0"/>
                  </a:cubicBezTo>
                  <a:close/>
                  <a:moveTo>
                    <a:pt x="13617" y="0"/>
                  </a:moveTo>
                  <a:lnTo>
                    <a:pt x="13841" y="0"/>
                  </a:lnTo>
                  <a:cubicBezTo>
                    <a:pt x="13850" y="0"/>
                    <a:pt x="13857" y="7"/>
                    <a:pt x="13857" y="16"/>
                  </a:cubicBezTo>
                  <a:cubicBezTo>
                    <a:pt x="13857" y="25"/>
                    <a:pt x="13850" y="32"/>
                    <a:pt x="13841" y="32"/>
                  </a:cubicBezTo>
                  <a:lnTo>
                    <a:pt x="13617" y="32"/>
                  </a:lnTo>
                  <a:cubicBezTo>
                    <a:pt x="13608" y="32"/>
                    <a:pt x="13601" y="25"/>
                    <a:pt x="13601" y="16"/>
                  </a:cubicBezTo>
                  <a:cubicBezTo>
                    <a:pt x="13601" y="7"/>
                    <a:pt x="13608" y="0"/>
                    <a:pt x="13617" y="0"/>
                  </a:cubicBezTo>
                  <a:close/>
                  <a:moveTo>
                    <a:pt x="14001" y="0"/>
                  </a:moveTo>
                  <a:lnTo>
                    <a:pt x="14001" y="0"/>
                  </a:lnTo>
                  <a:cubicBezTo>
                    <a:pt x="14010" y="0"/>
                    <a:pt x="14017" y="7"/>
                    <a:pt x="14017" y="16"/>
                  </a:cubicBezTo>
                  <a:cubicBezTo>
                    <a:pt x="14017" y="25"/>
                    <a:pt x="14010" y="32"/>
                    <a:pt x="14001" y="32"/>
                  </a:cubicBezTo>
                  <a:lnTo>
                    <a:pt x="14001" y="32"/>
                  </a:lnTo>
                  <a:cubicBezTo>
                    <a:pt x="13992" y="32"/>
                    <a:pt x="13985" y="25"/>
                    <a:pt x="13985" y="16"/>
                  </a:cubicBezTo>
                  <a:cubicBezTo>
                    <a:pt x="13985" y="7"/>
                    <a:pt x="13992" y="0"/>
                    <a:pt x="14001" y="0"/>
                  </a:cubicBezTo>
                  <a:close/>
                  <a:moveTo>
                    <a:pt x="14161" y="0"/>
                  </a:moveTo>
                  <a:lnTo>
                    <a:pt x="14385" y="0"/>
                  </a:lnTo>
                  <a:cubicBezTo>
                    <a:pt x="14394" y="0"/>
                    <a:pt x="14401" y="7"/>
                    <a:pt x="14401" y="16"/>
                  </a:cubicBezTo>
                  <a:cubicBezTo>
                    <a:pt x="14401" y="25"/>
                    <a:pt x="14394" y="32"/>
                    <a:pt x="14385" y="32"/>
                  </a:cubicBezTo>
                  <a:lnTo>
                    <a:pt x="14161" y="32"/>
                  </a:lnTo>
                  <a:cubicBezTo>
                    <a:pt x="14152" y="32"/>
                    <a:pt x="14145" y="25"/>
                    <a:pt x="14145" y="16"/>
                  </a:cubicBezTo>
                  <a:cubicBezTo>
                    <a:pt x="14145" y="7"/>
                    <a:pt x="14152" y="0"/>
                    <a:pt x="14161" y="0"/>
                  </a:cubicBezTo>
                  <a:close/>
                  <a:moveTo>
                    <a:pt x="14545" y="0"/>
                  </a:moveTo>
                  <a:lnTo>
                    <a:pt x="14545" y="0"/>
                  </a:lnTo>
                  <a:cubicBezTo>
                    <a:pt x="14554" y="0"/>
                    <a:pt x="14561" y="7"/>
                    <a:pt x="14561" y="16"/>
                  </a:cubicBezTo>
                  <a:cubicBezTo>
                    <a:pt x="14561" y="25"/>
                    <a:pt x="14554" y="32"/>
                    <a:pt x="14545" y="32"/>
                  </a:cubicBezTo>
                  <a:lnTo>
                    <a:pt x="14545" y="32"/>
                  </a:lnTo>
                  <a:cubicBezTo>
                    <a:pt x="14536" y="32"/>
                    <a:pt x="14529" y="25"/>
                    <a:pt x="14529" y="16"/>
                  </a:cubicBezTo>
                  <a:cubicBezTo>
                    <a:pt x="14529" y="7"/>
                    <a:pt x="14536" y="0"/>
                    <a:pt x="14545" y="0"/>
                  </a:cubicBezTo>
                  <a:close/>
                  <a:moveTo>
                    <a:pt x="14705" y="0"/>
                  </a:moveTo>
                  <a:lnTo>
                    <a:pt x="14929" y="0"/>
                  </a:lnTo>
                  <a:cubicBezTo>
                    <a:pt x="14938" y="0"/>
                    <a:pt x="14945" y="7"/>
                    <a:pt x="14945" y="16"/>
                  </a:cubicBezTo>
                  <a:cubicBezTo>
                    <a:pt x="14945" y="25"/>
                    <a:pt x="14938" y="32"/>
                    <a:pt x="14929" y="32"/>
                  </a:cubicBezTo>
                  <a:lnTo>
                    <a:pt x="14705" y="32"/>
                  </a:lnTo>
                  <a:cubicBezTo>
                    <a:pt x="14696" y="32"/>
                    <a:pt x="14689" y="25"/>
                    <a:pt x="14689" y="16"/>
                  </a:cubicBezTo>
                  <a:cubicBezTo>
                    <a:pt x="14689" y="7"/>
                    <a:pt x="14696" y="0"/>
                    <a:pt x="14705" y="0"/>
                  </a:cubicBezTo>
                  <a:close/>
                  <a:moveTo>
                    <a:pt x="15089" y="0"/>
                  </a:moveTo>
                  <a:lnTo>
                    <a:pt x="15089" y="0"/>
                  </a:lnTo>
                  <a:cubicBezTo>
                    <a:pt x="15098" y="0"/>
                    <a:pt x="15105" y="7"/>
                    <a:pt x="15105" y="16"/>
                  </a:cubicBezTo>
                  <a:cubicBezTo>
                    <a:pt x="15105" y="25"/>
                    <a:pt x="15098" y="32"/>
                    <a:pt x="15089" y="32"/>
                  </a:cubicBezTo>
                  <a:lnTo>
                    <a:pt x="15089" y="32"/>
                  </a:lnTo>
                  <a:cubicBezTo>
                    <a:pt x="15081" y="32"/>
                    <a:pt x="15073" y="25"/>
                    <a:pt x="15073" y="16"/>
                  </a:cubicBezTo>
                  <a:cubicBezTo>
                    <a:pt x="15073" y="7"/>
                    <a:pt x="15081" y="0"/>
                    <a:pt x="15089" y="0"/>
                  </a:cubicBezTo>
                  <a:close/>
                  <a:moveTo>
                    <a:pt x="15249" y="0"/>
                  </a:moveTo>
                  <a:lnTo>
                    <a:pt x="15473" y="0"/>
                  </a:lnTo>
                  <a:cubicBezTo>
                    <a:pt x="15482" y="0"/>
                    <a:pt x="15489" y="7"/>
                    <a:pt x="15489" y="16"/>
                  </a:cubicBezTo>
                  <a:cubicBezTo>
                    <a:pt x="15489" y="25"/>
                    <a:pt x="15482" y="32"/>
                    <a:pt x="15473" y="32"/>
                  </a:cubicBezTo>
                  <a:lnTo>
                    <a:pt x="15249" y="32"/>
                  </a:lnTo>
                  <a:cubicBezTo>
                    <a:pt x="15241" y="32"/>
                    <a:pt x="15233" y="25"/>
                    <a:pt x="15233" y="16"/>
                  </a:cubicBezTo>
                  <a:cubicBezTo>
                    <a:pt x="15233" y="7"/>
                    <a:pt x="15241" y="0"/>
                    <a:pt x="15249" y="0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5B96642-E43C-0937-B221-1B3C3844B0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4525" y="5822950"/>
              <a:ext cx="6238875" cy="14288"/>
            </a:xfrm>
            <a:custGeom>
              <a:avLst/>
              <a:gdLst>
                <a:gd name="T0" fmla="*/ 16 w 15471"/>
                <a:gd name="T1" fmla="*/ 0 h 32"/>
                <a:gd name="T2" fmla="*/ 400 w 15471"/>
                <a:gd name="T3" fmla="*/ 0 h 32"/>
                <a:gd name="T4" fmla="*/ 560 w 15471"/>
                <a:gd name="T5" fmla="*/ 0 h 32"/>
                <a:gd name="T6" fmla="*/ 944 w 15471"/>
                <a:gd name="T7" fmla="*/ 0 h 32"/>
                <a:gd name="T8" fmla="*/ 1104 w 15471"/>
                <a:gd name="T9" fmla="*/ 0 h 32"/>
                <a:gd name="T10" fmla="*/ 1488 w 15471"/>
                <a:gd name="T11" fmla="*/ 0 h 32"/>
                <a:gd name="T12" fmla="*/ 1648 w 15471"/>
                <a:gd name="T13" fmla="*/ 0 h 32"/>
                <a:gd name="T14" fmla="*/ 2032 w 15471"/>
                <a:gd name="T15" fmla="*/ 0 h 32"/>
                <a:gd name="T16" fmla="*/ 2192 w 15471"/>
                <a:gd name="T17" fmla="*/ 0 h 32"/>
                <a:gd name="T18" fmla="*/ 2576 w 15471"/>
                <a:gd name="T19" fmla="*/ 0 h 32"/>
                <a:gd name="T20" fmla="*/ 2736 w 15471"/>
                <a:gd name="T21" fmla="*/ 0 h 32"/>
                <a:gd name="T22" fmla="*/ 3120 w 15471"/>
                <a:gd name="T23" fmla="*/ 0 h 32"/>
                <a:gd name="T24" fmla="*/ 3280 w 15471"/>
                <a:gd name="T25" fmla="*/ 0 h 32"/>
                <a:gd name="T26" fmla="*/ 3664 w 15471"/>
                <a:gd name="T27" fmla="*/ 0 h 32"/>
                <a:gd name="T28" fmla="*/ 3824 w 15471"/>
                <a:gd name="T29" fmla="*/ 0 h 32"/>
                <a:gd name="T30" fmla="*/ 4208 w 15471"/>
                <a:gd name="T31" fmla="*/ 0 h 32"/>
                <a:gd name="T32" fmla="*/ 4368 w 15471"/>
                <a:gd name="T33" fmla="*/ 0 h 32"/>
                <a:gd name="T34" fmla="*/ 4752 w 15471"/>
                <a:gd name="T35" fmla="*/ 0 h 32"/>
                <a:gd name="T36" fmla="*/ 4912 w 15471"/>
                <a:gd name="T37" fmla="*/ 0 h 32"/>
                <a:gd name="T38" fmla="*/ 5296 w 15471"/>
                <a:gd name="T39" fmla="*/ 0 h 32"/>
                <a:gd name="T40" fmla="*/ 5456 w 15471"/>
                <a:gd name="T41" fmla="*/ 0 h 32"/>
                <a:gd name="T42" fmla="*/ 5840 w 15471"/>
                <a:gd name="T43" fmla="*/ 0 h 32"/>
                <a:gd name="T44" fmla="*/ 6000 w 15471"/>
                <a:gd name="T45" fmla="*/ 0 h 32"/>
                <a:gd name="T46" fmla="*/ 6384 w 15471"/>
                <a:gd name="T47" fmla="*/ 0 h 32"/>
                <a:gd name="T48" fmla="*/ 6544 w 15471"/>
                <a:gd name="T49" fmla="*/ 0 h 32"/>
                <a:gd name="T50" fmla="*/ 6928 w 15471"/>
                <a:gd name="T51" fmla="*/ 0 h 32"/>
                <a:gd name="T52" fmla="*/ 7088 w 15471"/>
                <a:gd name="T53" fmla="*/ 0 h 32"/>
                <a:gd name="T54" fmla="*/ 7472 w 15471"/>
                <a:gd name="T55" fmla="*/ 0 h 32"/>
                <a:gd name="T56" fmla="*/ 7632 w 15471"/>
                <a:gd name="T57" fmla="*/ 0 h 32"/>
                <a:gd name="T58" fmla="*/ 8016 w 15471"/>
                <a:gd name="T59" fmla="*/ 0 h 32"/>
                <a:gd name="T60" fmla="*/ 8176 w 15471"/>
                <a:gd name="T61" fmla="*/ 0 h 32"/>
                <a:gd name="T62" fmla="*/ 8560 w 15471"/>
                <a:gd name="T63" fmla="*/ 0 h 32"/>
                <a:gd name="T64" fmla="*/ 8720 w 15471"/>
                <a:gd name="T65" fmla="*/ 0 h 32"/>
                <a:gd name="T66" fmla="*/ 9104 w 15471"/>
                <a:gd name="T67" fmla="*/ 0 h 32"/>
                <a:gd name="T68" fmla="*/ 9264 w 15471"/>
                <a:gd name="T69" fmla="*/ 0 h 32"/>
                <a:gd name="T70" fmla="*/ 9648 w 15471"/>
                <a:gd name="T71" fmla="*/ 0 h 32"/>
                <a:gd name="T72" fmla="*/ 9808 w 15471"/>
                <a:gd name="T73" fmla="*/ 0 h 32"/>
                <a:gd name="T74" fmla="*/ 10192 w 15471"/>
                <a:gd name="T75" fmla="*/ 0 h 32"/>
                <a:gd name="T76" fmla="*/ 10352 w 15471"/>
                <a:gd name="T77" fmla="*/ 0 h 32"/>
                <a:gd name="T78" fmla="*/ 10736 w 15471"/>
                <a:gd name="T79" fmla="*/ 0 h 32"/>
                <a:gd name="T80" fmla="*/ 10896 w 15471"/>
                <a:gd name="T81" fmla="*/ 0 h 32"/>
                <a:gd name="T82" fmla="*/ 11280 w 15471"/>
                <a:gd name="T83" fmla="*/ 0 h 32"/>
                <a:gd name="T84" fmla="*/ 11440 w 15471"/>
                <a:gd name="T85" fmla="*/ 0 h 32"/>
                <a:gd name="T86" fmla="*/ 11824 w 15471"/>
                <a:gd name="T87" fmla="*/ 0 h 32"/>
                <a:gd name="T88" fmla="*/ 11984 w 15471"/>
                <a:gd name="T89" fmla="*/ 0 h 32"/>
                <a:gd name="T90" fmla="*/ 12368 w 15471"/>
                <a:gd name="T91" fmla="*/ 0 h 32"/>
                <a:gd name="T92" fmla="*/ 12528 w 15471"/>
                <a:gd name="T93" fmla="*/ 0 h 32"/>
                <a:gd name="T94" fmla="*/ 12912 w 15471"/>
                <a:gd name="T95" fmla="*/ 0 h 32"/>
                <a:gd name="T96" fmla="*/ 13072 w 15471"/>
                <a:gd name="T97" fmla="*/ 0 h 32"/>
                <a:gd name="T98" fmla="*/ 13456 w 15471"/>
                <a:gd name="T99" fmla="*/ 0 h 32"/>
                <a:gd name="T100" fmla="*/ 13616 w 15471"/>
                <a:gd name="T101" fmla="*/ 0 h 32"/>
                <a:gd name="T102" fmla="*/ 14000 w 15471"/>
                <a:gd name="T103" fmla="*/ 0 h 32"/>
                <a:gd name="T104" fmla="*/ 14161 w 15471"/>
                <a:gd name="T105" fmla="*/ 0 h 32"/>
                <a:gd name="T106" fmla="*/ 14545 w 15471"/>
                <a:gd name="T107" fmla="*/ 0 h 32"/>
                <a:gd name="T108" fmla="*/ 14705 w 15471"/>
                <a:gd name="T109" fmla="*/ 0 h 32"/>
                <a:gd name="T110" fmla="*/ 15089 w 15471"/>
                <a:gd name="T111" fmla="*/ 0 h 32"/>
                <a:gd name="T112" fmla="*/ 15249 w 15471"/>
                <a:gd name="T113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471" h="32">
                  <a:moveTo>
                    <a:pt x="16" y="0"/>
                  </a:moveTo>
                  <a:lnTo>
                    <a:pt x="240" y="0"/>
                  </a:lnTo>
                  <a:cubicBezTo>
                    <a:pt x="249" y="0"/>
                    <a:pt x="256" y="8"/>
                    <a:pt x="256" y="16"/>
                  </a:cubicBezTo>
                  <a:cubicBezTo>
                    <a:pt x="256" y="25"/>
                    <a:pt x="249" y="32"/>
                    <a:pt x="240" y="32"/>
                  </a:cubicBezTo>
                  <a:lnTo>
                    <a:pt x="16" y="32"/>
                  </a:lnTo>
                  <a:cubicBezTo>
                    <a:pt x="7" y="32"/>
                    <a:pt x="0" y="25"/>
                    <a:pt x="0" y="16"/>
                  </a:cubicBezTo>
                  <a:cubicBezTo>
                    <a:pt x="0" y="8"/>
                    <a:pt x="7" y="0"/>
                    <a:pt x="16" y="0"/>
                  </a:cubicBezTo>
                  <a:close/>
                  <a:moveTo>
                    <a:pt x="400" y="0"/>
                  </a:moveTo>
                  <a:lnTo>
                    <a:pt x="400" y="0"/>
                  </a:lnTo>
                  <a:cubicBezTo>
                    <a:pt x="409" y="0"/>
                    <a:pt x="416" y="8"/>
                    <a:pt x="416" y="16"/>
                  </a:cubicBezTo>
                  <a:cubicBezTo>
                    <a:pt x="416" y="25"/>
                    <a:pt x="409" y="32"/>
                    <a:pt x="400" y="32"/>
                  </a:cubicBezTo>
                  <a:lnTo>
                    <a:pt x="400" y="32"/>
                  </a:lnTo>
                  <a:cubicBezTo>
                    <a:pt x="391" y="32"/>
                    <a:pt x="384" y="25"/>
                    <a:pt x="384" y="16"/>
                  </a:cubicBezTo>
                  <a:cubicBezTo>
                    <a:pt x="384" y="8"/>
                    <a:pt x="391" y="0"/>
                    <a:pt x="400" y="0"/>
                  </a:cubicBezTo>
                  <a:close/>
                  <a:moveTo>
                    <a:pt x="560" y="0"/>
                  </a:moveTo>
                  <a:lnTo>
                    <a:pt x="784" y="0"/>
                  </a:lnTo>
                  <a:cubicBezTo>
                    <a:pt x="793" y="0"/>
                    <a:pt x="800" y="8"/>
                    <a:pt x="800" y="16"/>
                  </a:cubicBezTo>
                  <a:cubicBezTo>
                    <a:pt x="800" y="25"/>
                    <a:pt x="793" y="32"/>
                    <a:pt x="784" y="32"/>
                  </a:cubicBezTo>
                  <a:lnTo>
                    <a:pt x="560" y="32"/>
                  </a:lnTo>
                  <a:cubicBezTo>
                    <a:pt x="551" y="32"/>
                    <a:pt x="544" y="25"/>
                    <a:pt x="544" y="16"/>
                  </a:cubicBezTo>
                  <a:cubicBezTo>
                    <a:pt x="544" y="8"/>
                    <a:pt x="551" y="0"/>
                    <a:pt x="560" y="0"/>
                  </a:cubicBezTo>
                  <a:close/>
                  <a:moveTo>
                    <a:pt x="944" y="0"/>
                  </a:moveTo>
                  <a:lnTo>
                    <a:pt x="944" y="0"/>
                  </a:lnTo>
                  <a:cubicBezTo>
                    <a:pt x="953" y="0"/>
                    <a:pt x="960" y="8"/>
                    <a:pt x="960" y="16"/>
                  </a:cubicBezTo>
                  <a:cubicBezTo>
                    <a:pt x="960" y="25"/>
                    <a:pt x="953" y="32"/>
                    <a:pt x="944" y="32"/>
                  </a:cubicBezTo>
                  <a:lnTo>
                    <a:pt x="944" y="32"/>
                  </a:lnTo>
                  <a:cubicBezTo>
                    <a:pt x="935" y="32"/>
                    <a:pt x="928" y="25"/>
                    <a:pt x="928" y="16"/>
                  </a:cubicBezTo>
                  <a:cubicBezTo>
                    <a:pt x="928" y="8"/>
                    <a:pt x="935" y="0"/>
                    <a:pt x="944" y="0"/>
                  </a:cubicBezTo>
                  <a:close/>
                  <a:moveTo>
                    <a:pt x="1104" y="0"/>
                  </a:moveTo>
                  <a:lnTo>
                    <a:pt x="1328" y="0"/>
                  </a:lnTo>
                  <a:cubicBezTo>
                    <a:pt x="1337" y="0"/>
                    <a:pt x="1344" y="8"/>
                    <a:pt x="1344" y="16"/>
                  </a:cubicBezTo>
                  <a:cubicBezTo>
                    <a:pt x="1344" y="25"/>
                    <a:pt x="1337" y="32"/>
                    <a:pt x="1328" y="32"/>
                  </a:cubicBezTo>
                  <a:lnTo>
                    <a:pt x="1104" y="32"/>
                  </a:lnTo>
                  <a:cubicBezTo>
                    <a:pt x="1095" y="32"/>
                    <a:pt x="1088" y="25"/>
                    <a:pt x="1088" y="16"/>
                  </a:cubicBezTo>
                  <a:cubicBezTo>
                    <a:pt x="1088" y="8"/>
                    <a:pt x="1095" y="0"/>
                    <a:pt x="1104" y="0"/>
                  </a:cubicBezTo>
                  <a:close/>
                  <a:moveTo>
                    <a:pt x="1488" y="0"/>
                  </a:moveTo>
                  <a:lnTo>
                    <a:pt x="1488" y="0"/>
                  </a:lnTo>
                  <a:cubicBezTo>
                    <a:pt x="1497" y="0"/>
                    <a:pt x="1504" y="8"/>
                    <a:pt x="1504" y="16"/>
                  </a:cubicBezTo>
                  <a:cubicBezTo>
                    <a:pt x="1504" y="25"/>
                    <a:pt x="1497" y="32"/>
                    <a:pt x="1488" y="32"/>
                  </a:cubicBezTo>
                  <a:lnTo>
                    <a:pt x="1488" y="32"/>
                  </a:lnTo>
                  <a:cubicBezTo>
                    <a:pt x="1479" y="32"/>
                    <a:pt x="1472" y="25"/>
                    <a:pt x="1472" y="16"/>
                  </a:cubicBezTo>
                  <a:cubicBezTo>
                    <a:pt x="1472" y="8"/>
                    <a:pt x="1479" y="0"/>
                    <a:pt x="1488" y="0"/>
                  </a:cubicBezTo>
                  <a:close/>
                  <a:moveTo>
                    <a:pt x="1648" y="0"/>
                  </a:moveTo>
                  <a:lnTo>
                    <a:pt x="1872" y="0"/>
                  </a:lnTo>
                  <a:cubicBezTo>
                    <a:pt x="1881" y="0"/>
                    <a:pt x="1888" y="8"/>
                    <a:pt x="1888" y="16"/>
                  </a:cubicBezTo>
                  <a:cubicBezTo>
                    <a:pt x="1888" y="25"/>
                    <a:pt x="1881" y="32"/>
                    <a:pt x="1872" y="32"/>
                  </a:cubicBezTo>
                  <a:lnTo>
                    <a:pt x="1648" y="32"/>
                  </a:lnTo>
                  <a:cubicBezTo>
                    <a:pt x="1639" y="32"/>
                    <a:pt x="1632" y="25"/>
                    <a:pt x="1632" y="16"/>
                  </a:cubicBezTo>
                  <a:cubicBezTo>
                    <a:pt x="1632" y="8"/>
                    <a:pt x="1639" y="0"/>
                    <a:pt x="1648" y="0"/>
                  </a:cubicBezTo>
                  <a:close/>
                  <a:moveTo>
                    <a:pt x="2032" y="0"/>
                  </a:moveTo>
                  <a:lnTo>
                    <a:pt x="2032" y="0"/>
                  </a:lnTo>
                  <a:cubicBezTo>
                    <a:pt x="2041" y="0"/>
                    <a:pt x="2048" y="8"/>
                    <a:pt x="2048" y="16"/>
                  </a:cubicBezTo>
                  <a:cubicBezTo>
                    <a:pt x="2048" y="25"/>
                    <a:pt x="2041" y="32"/>
                    <a:pt x="2032" y="32"/>
                  </a:cubicBezTo>
                  <a:lnTo>
                    <a:pt x="2032" y="32"/>
                  </a:lnTo>
                  <a:cubicBezTo>
                    <a:pt x="2023" y="32"/>
                    <a:pt x="2016" y="25"/>
                    <a:pt x="2016" y="16"/>
                  </a:cubicBezTo>
                  <a:cubicBezTo>
                    <a:pt x="2016" y="8"/>
                    <a:pt x="2023" y="0"/>
                    <a:pt x="2032" y="0"/>
                  </a:cubicBezTo>
                  <a:close/>
                  <a:moveTo>
                    <a:pt x="2192" y="0"/>
                  </a:moveTo>
                  <a:lnTo>
                    <a:pt x="2416" y="0"/>
                  </a:lnTo>
                  <a:cubicBezTo>
                    <a:pt x="2425" y="0"/>
                    <a:pt x="2432" y="8"/>
                    <a:pt x="2432" y="16"/>
                  </a:cubicBezTo>
                  <a:cubicBezTo>
                    <a:pt x="2432" y="25"/>
                    <a:pt x="2425" y="32"/>
                    <a:pt x="2416" y="32"/>
                  </a:cubicBezTo>
                  <a:lnTo>
                    <a:pt x="2192" y="32"/>
                  </a:lnTo>
                  <a:cubicBezTo>
                    <a:pt x="2183" y="32"/>
                    <a:pt x="2176" y="25"/>
                    <a:pt x="2176" y="16"/>
                  </a:cubicBezTo>
                  <a:cubicBezTo>
                    <a:pt x="2176" y="8"/>
                    <a:pt x="2183" y="0"/>
                    <a:pt x="2192" y="0"/>
                  </a:cubicBezTo>
                  <a:close/>
                  <a:moveTo>
                    <a:pt x="2576" y="0"/>
                  </a:moveTo>
                  <a:lnTo>
                    <a:pt x="2576" y="0"/>
                  </a:lnTo>
                  <a:cubicBezTo>
                    <a:pt x="2585" y="0"/>
                    <a:pt x="2592" y="8"/>
                    <a:pt x="2592" y="16"/>
                  </a:cubicBezTo>
                  <a:cubicBezTo>
                    <a:pt x="2592" y="25"/>
                    <a:pt x="2585" y="32"/>
                    <a:pt x="2576" y="32"/>
                  </a:cubicBezTo>
                  <a:lnTo>
                    <a:pt x="2576" y="32"/>
                  </a:lnTo>
                  <a:cubicBezTo>
                    <a:pt x="2567" y="32"/>
                    <a:pt x="2560" y="25"/>
                    <a:pt x="2560" y="16"/>
                  </a:cubicBezTo>
                  <a:cubicBezTo>
                    <a:pt x="2560" y="8"/>
                    <a:pt x="2567" y="0"/>
                    <a:pt x="2576" y="0"/>
                  </a:cubicBezTo>
                  <a:close/>
                  <a:moveTo>
                    <a:pt x="2736" y="0"/>
                  </a:moveTo>
                  <a:lnTo>
                    <a:pt x="2960" y="0"/>
                  </a:lnTo>
                  <a:cubicBezTo>
                    <a:pt x="2969" y="0"/>
                    <a:pt x="2976" y="8"/>
                    <a:pt x="2976" y="16"/>
                  </a:cubicBezTo>
                  <a:cubicBezTo>
                    <a:pt x="2976" y="25"/>
                    <a:pt x="2969" y="32"/>
                    <a:pt x="2960" y="32"/>
                  </a:cubicBezTo>
                  <a:lnTo>
                    <a:pt x="2736" y="32"/>
                  </a:lnTo>
                  <a:cubicBezTo>
                    <a:pt x="2727" y="32"/>
                    <a:pt x="2720" y="25"/>
                    <a:pt x="2720" y="16"/>
                  </a:cubicBezTo>
                  <a:cubicBezTo>
                    <a:pt x="2720" y="8"/>
                    <a:pt x="2727" y="0"/>
                    <a:pt x="2736" y="0"/>
                  </a:cubicBezTo>
                  <a:close/>
                  <a:moveTo>
                    <a:pt x="3120" y="0"/>
                  </a:moveTo>
                  <a:lnTo>
                    <a:pt x="3120" y="0"/>
                  </a:lnTo>
                  <a:cubicBezTo>
                    <a:pt x="3129" y="0"/>
                    <a:pt x="3136" y="8"/>
                    <a:pt x="3136" y="16"/>
                  </a:cubicBezTo>
                  <a:cubicBezTo>
                    <a:pt x="3136" y="25"/>
                    <a:pt x="3129" y="32"/>
                    <a:pt x="3120" y="32"/>
                  </a:cubicBezTo>
                  <a:lnTo>
                    <a:pt x="3120" y="32"/>
                  </a:lnTo>
                  <a:cubicBezTo>
                    <a:pt x="3111" y="32"/>
                    <a:pt x="3104" y="25"/>
                    <a:pt x="3104" y="16"/>
                  </a:cubicBezTo>
                  <a:cubicBezTo>
                    <a:pt x="3104" y="8"/>
                    <a:pt x="3111" y="0"/>
                    <a:pt x="3120" y="0"/>
                  </a:cubicBezTo>
                  <a:close/>
                  <a:moveTo>
                    <a:pt x="3280" y="0"/>
                  </a:moveTo>
                  <a:lnTo>
                    <a:pt x="3504" y="0"/>
                  </a:lnTo>
                  <a:cubicBezTo>
                    <a:pt x="3513" y="0"/>
                    <a:pt x="3520" y="8"/>
                    <a:pt x="3520" y="16"/>
                  </a:cubicBezTo>
                  <a:cubicBezTo>
                    <a:pt x="3520" y="25"/>
                    <a:pt x="3513" y="32"/>
                    <a:pt x="3504" y="32"/>
                  </a:cubicBezTo>
                  <a:lnTo>
                    <a:pt x="3280" y="32"/>
                  </a:lnTo>
                  <a:cubicBezTo>
                    <a:pt x="3271" y="32"/>
                    <a:pt x="3264" y="25"/>
                    <a:pt x="3264" y="16"/>
                  </a:cubicBezTo>
                  <a:cubicBezTo>
                    <a:pt x="3264" y="8"/>
                    <a:pt x="3271" y="0"/>
                    <a:pt x="3280" y="0"/>
                  </a:cubicBezTo>
                  <a:close/>
                  <a:moveTo>
                    <a:pt x="3664" y="0"/>
                  </a:moveTo>
                  <a:lnTo>
                    <a:pt x="3664" y="0"/>
                  </a:lnTo>
                  <a:cubicBezTo>
                    <a:pt x="3673" y="0"/>
                    <a:pt x="3680" y="8"/>
                    <a:pt x="3680" y="16"/>
                  </a:cubicBezTo>
                  <a:cubicBezTo>
                    <a:pt x="3680" y="25"/>
                    <a:pt x="3673" y="32"/>
                    <a:pt x="3664" y="32"/>
                  </a:cubicBezTo>
                  <a:lnTo>
                    <a:pt x="3664" y="32"/>
                  </a:lnTo>
                  <a:cubicBezTo>
                    <a:pt x="3655" y="32"/>
                    <a:pt x="3648" y="25"/>
                    <a:pt x="3648" y="16"/>
                  </a:cubicBezTo>
                  <a:cubicBezTo>
                    <a:pt x="3648" y="8"/>
                    <a:pt x="3655" y="0"/>
                    <a:pt x="3664" y="0"/>
                  </a:cubicBezTo>
                  <a:close/>
                  <a:moveTo>
                    <a:pt x="3824" y="0"/>
                  </a:moveTo>
                  <a:lnTo>
                    <a:pt x="4048" y="0"/>
                  </a:lnTo>
                  <a:cubicBezTo>
                    <a:pt x="4057" y="0"/>
                    <a:pt x="4064" y="8"/>
                    <a:pt x="4064" y="16"/>
                  </a:cubicBezTo>
                  <a:cubicBezTo>
                    <a:pt x="4064" y="25"/>
                    <a:pt x="4057" y="32"/>
                    <a:pt x="4048" y="32"/>
                  </a:cubicBezTo>
                  <a:lnTo>
                    <a:pt x="3824" y="32"/>
                  </a:lnTo>
                  <a:cubicBezTo>
                    <a:pt x="3815" y="32"/>
                    <a:pt x="3808" y="25"/>
                    <a:pt x="3808" y="16"/>
                  </a:cubicBezTo>
                  <a:cubicBezTo>
                    <a:pt x="3808" y="8"/>
                    <a:pt x="3815" y="0"/>
                    <a:pt x="3824" y="0"/>
                  </a:cubicBezTo>
                  <a:close/>
                  <a:moveTo>
                    <a:pt x="4208" y="0"/>
                  </a:moveTo>
                  <a:lnTo>
                    <a:pt x="4208" y="0"/>
                  </a:lnTo>
                  <a:cubicBezTo>
                    <a:pt x="4217" y="0"/>
                    <a:pt x="4224" y="8"/>
                    <a:pt x="4224" y="16"/>
                  </a:cubicBezTo>
                  <a:cubicBezTo>
                    <a:pt x="4224" y="25"/>
                    <a:pt x="4217" y="32"/>
                    <a:pt x="4208" y="32"/>
                  </a:cubicBezTo>
                  <a:lnTo>
                    <a:pt x="4208" y="32"/>
                  </a:lnTo>
                  <a:cubicBezTo>
                    <a:pt x="4199" y="32"/>
                    <a:pt x="4192" y="25"/>
                    <a:pt x="4192" y="16"/>
                  </a:cubicBezTo>
                  <a:cubicBezTo>
                    <a:pt x="4192" y="8"/>
                    <a:pt x="4199" y="0"/>
                    <a:pt x="4208" y="0"/>
                  </a:cubicBezTo>
                  <a:close/>
                  <a:moveTo>
                    <a:pt x="4368" y="0"/>
                  </a:moveTo>
                  <a:lnTo>
                    <a:pt x="4592" y="0"/>
                  </a:lnTo>
                  <a:cubicBezTo>
                    <a:pt x="4601" y="0"/>
                    <a:pt x="4608" y="8"/>
                    <a:pt x="4608" y="16"/>
                  </a:cubicBezTo>
                  <a:cubicBezTo>
                    <a:pt x="4608" y="25"/>
                    <a:pt x="4601" y="32"/>
                    <a:pt x="4592" y="32"/>
                  </a:cubicBezTo>
                  <a:lnTo>
                    <a:pt x="4368" y="32"/>
                  </a:lnTo>
                  <a:cubicBezTo>
                    <a:pt x="4359" y="32"/>
                    <a:pt x="4352" y="25"/>
                    <a:pt x="4352" y="16"/>
                  </a:cubicBezTo>
                  <a:cubicBezTo>
                    <a:pt x="4352" y="8"/>
                    <a:pt x="4359" y="0"/>
                    <a:pt x="4368" y="0"/>
                  </a:cubicBezTo>
                  <a:close/>
                  <a:moveTo>
                    <a:pt x="4752" y="0"/>
                  </a:moveTo>
                  <a:lnTo>
                    <a:pt x="4752" y="0"/>
                  </a:lnTo>
                  <a:cubicBezTo>
                    <a:pt x="4761" y="0"/>
                    <a:pt x="4768" y="8"/>
                    <a:pt x="4768" y="16"/>
                  </a:cubicBezTo>
                  <a:cubicBezTo>
                    <a:pt x="4768" y="25"/>
                    <a:pt x="4761" y="32"/>
                    <a:pt x="4752" y="32"/>
                  </a:cubicBezTo>
                  <a:lnTo>
                    <a:pt x="4752" y="32"/>
                  </a:lnTo>
                  <a:cubicBezTo>
                    <a:pt x="4743" y="32"/>
                    <a:pt x="4736" y="25"/>
                    <a:pt x="4736" y="16"/>
                  </a:cubicBezTo>
                  <a:cubicBezTo>
                    <a:pt x="4736" y="8"/>
                    <a:pt x="4743" y="0"/>
                    <a:pt x="4752" y="0"/>
                  </a:cubicBezTo>
                  <a:close/>
                  <a:moveTo>
                    <a:pt x="4912" y="0"/>
                  </a:moveTo>
                  <a:lnTo>
                    <a:pt x="5136" y="0"/>
                  </a:lnTo>
                  <a:cubicBezTo>
                    <a:pt x="5145" y="0"/>
                    <a:pt x="5152" y="8"/>
                    <a:pt x="5152" y="16"/>
                  </a:cubicBezTo>
                  <a:cubicBezTo>
                    <a:pt x="5152" y="25"/>
                    <a:pt x="5145" y="32"/>
                    <a:pt x="5136" y="32"/>
                  </a:cubicBezTo>
                  <a:lnTo>
                    <a:pt x="4912" y="32"/>
                  </a:lnTo>
                  <a:cubicBezTo>
                    <a:pt x="4903" y="32"/>
                    <a:pt x="4896" y="25"/>
                    <a:pt x="4896" y="16"/>
                  </a:cubicBezTo>
                  <a:cubicBezTo>
                    <a:pt x="4896" y="8"/>
                    <a:pt x="4903" y="0"/>
                    <a:pt x="4912" y="0"/>
                  </a:cubicBezTo>
                  <a:close/>
                  <a:moveTo>
                    <a:pt x="5296" y="0"/>
                  </a:moveTo>
                  <a:lnTo>
                    <a:pt x="5296" y="0"/>
                  </a:lnTo>
                  <a:cubicBezTo>
                    <a:pt x="5305" y="0"/>
                    <a:pt x="5312" y="8"/>
                    <a:pt x="5312" y="16"/>
                  </a:cubicBezTo>
                  <a:cubicBezTo>
                    <a:pt x="5312" y="25"/>
                    <a:pt x="5305" y="32"/>
                    <a:pt x="5296" y="32"/>
                  </a:cubicBezTo>
                  <a:lnTo>
                    <a:pt x="5296" y="32"/>
                  </a:lnTo>
                  <a:cubicBezTo>
                    <a:pt x="5287" y="32"/>
                    <a:pt x="5280" y="25"/>
                    <a:pt x="5280" y="16"/>
                  </a:cubicBezTo>
                  <a:cubicBezTo>
                    <a:pt x="5280" y="8"/>
                    <a:pt x="5287" y="0"/>
                    <a:pt x="5296" y="0"/>
                  </a:cubicBezTo>
                  <a:close/>
                  <a:moveTo>
                    <a:pt x="5456" y="0"/>
                  </a:moveTo>
                  <a:lnTo>
                    <a:pt x="5680" y="0"/>
                  </a:lnTo>
                  <a:cubicBezTo>
                    <a:pt x="5689" y="0"/>
                    <a:pt x="5696" y="8"/>
                    <a:pt x="5696" y="16"/>
                  </a:cubicBezTo>
                  <a:cubicBezTo>
                    <a:pt x="5696" y="25"/>
                    <a:pt x="5689" y="32"/>
                    <a:pt x="5680" y="32"/>
                  </a:cubicBezTo>
                  <a:lnTo>
                    <a:pt x="5456" y="32"/>
                  </a:lnTo>
                  <a:cubicBezTo>
                    <a:pt x="5447" y="32"/>
                    <a:pt x="5440" y="25"/>
                    <a:pt x="5440" y="16"/>
                  </a:cubicBezTo>
                  <a:cubicBezTo>
                    <a:pt x="5440" y="8"/>
                    <a:pt x="5447" y="0"/>
                    <a:pt x="5456" y="0"/>
                  </a:cubicBezTo>
                  <a:close/>
                  <a:moveTo>
                    <a:pt x="5840" y="0"/>
                  </a:moveTo>
                  <a:lnTo>
                    <a:pt x="5840" y="0"/>
                  </a:lnTo>
                  <a:cubicBezTo>
                    <a:pt x="5849" y="0"/>
                    <a:pt x="5856" y="8"/>
                    <a:pt x="5856" y="16"/>
                  </a:cubicBezTo>
                  <a:cubicBezTo>
                    <a:pt x="5856" y="25"/>
                    <a:pt x="5849" y="32"/>
                    <a:pt x="5840" y="32"/>
                  </a:cubicBezTo>
                  <a:lnTo>
                    <a:pt x="5840" y="32"/>
                  </a:lnTo>
                  <a:cubicBezTo>
                    <a:pt x="5831" y="32"/>
                    <a:pt x="5824" y="25"/>
                    <a:pt x="5824" y="16"/>
                  </a:cubicBezTo>
                  <a:cubicBezTo>
                    <a:pt x="5824" y="8"/>
                    <a:pt x="5831" y="0"/>
                    <a:pt x="5840" y="0"/>
                  </a:cubicBezTo>
                  <a:close/>
                  <a:moveTo>
                    <a:pt x="6000" y="0"/>
                  </a:moveTo>
                  <a:lnTo>
                    <a:pt x="6224" y="0"/>
                  </a:lnTo>
                  <a:cubicBezTo>
                    <a:pt x="6233" y="0"/>
                    <a:pt x="6240" y="8"/>
                    <a:pt x="6240" y="16"/>
                  </a:cubicBezTo>
                  <a:cubicBezTo>
                    <a:pt x="6240" y="25"/>
                    <a:pt x="6233" y="32"/>
                    <a:pt x="6224" y="32"/>
                  </a:cubicBezTo>
                  <a:lnTo>
                    <a:pt x="6000" y="32"/>
                  </a:lnTo>
                  <a:cubicBezTo>
                    <a:pt x="5991" y="32"/>
                    <a:pt x="5984" y="25"/>
                    <a:pt x="5984" y="16"/>
                  </a:cubicBezTo>
                  <a:cubicBezTo>
                    <a:pt x="5984" y="8"/>
                    <a:pt x="5991" y="0"/>
                    <a:pt x="6000" y="0"/>
                  </a:cubicBezTo>
                  <a:close/>
                  <a:moveTo>
                    <a:pt x="6384" y="0"/>
                  </a:moveTo>
                  <a:lnTo>
                    <a:pt x="6384" y="0"/>
                  </a:lnTo>
                  <a:cubicBezTo>
                    <a:pt x="6393" y="0"/>
                    <a:pt x="6400" y="8"/>
                    <a:pt x="6400" y="16"/>
                  </a:cubicBezTo>
                  <a:cubicBezTo>
                    <a:pt x="6400" y="25"/>
                    <a:pt x="6393" y="32"/>
                    <a:pt x="6384" y="32"/>
                  </a:cubicBezTo>
                  <a:lnTo>
                    <a:pt x="6384" y="32"/>
                  </a:lnTo>
                  <a:cubicBezTo>
                    <a:pt x="6375" y="32"/>
                    <a:pt x="6368" y="25"/>
                    <a:pt x="6368" y="16"/>
                  </a:cubicBezTo>
                  <a:cubicBezTo>
                    <a:pt x="6368" y="8"/>
                    <a:pt x="6375" y="0"/>
                    <a:pt x="6384" y="0"/>
                  </a:cubicBezTo>
                  <a:close/>
                  <a:moveTo>
                    <a:pt x="6544" y="0"/>
                  </a:moveTo>
                  <a:lnTo>
                    <a:pt x="6768" y="0"/>
                  </a:lnTo>
                  <a:cubicBezTo>
                    <a:pt x="6777" y="0"/>
                    <a:pt x="6784" y="8"/>
                    <a:pt x="6784" y="16"/>
                  </a:cubicBezTo>
                  <a:cubicBezTo>
                    <a:pt x="6784" y="25"/>
                    <a:pt x="6777" y="32"/>
                    <a:pt x="6768" y="32"/>
                  </a:cubicBezTo>
                  <a:lnTo>
                    <a:pt x="6544" y="32"/>
                  </a:lnTo>
                  <a:cubicBezTo>
                    <a:pt x="6535" y="32"/>
                    <a:pt x="6528" y="25"/>
                    <a:pt x="6528" y="16"/>
                  </a:cubicBezTo>
                  <a:cubicBezTo>
                    <a:pt x="6528" y="8"/>
                    <a:pt x="6535" y="0"/>
                    <a:pt x="6544" y="0"/>
                  </a:cubicBezTo>
                  <a:close/>
                  <a:moveTo>
                    <a:pt x="6928" y="0"/>
                  </a:moveTo>
                  <a:lnTo>
                    <a:pt x="6928" y="0"/>
                  </a:lnTo>
                  <a:cubicBezTo>
                    <a:pt x="6937" y="0"/>
                    <a:pt x="6944" y="8"/>
                    <a:pt x="6944" y="16"/>
                  </a:cubicBezTo>
                  <a:cubicBezTo>
                    <a:pt x="6944" y="25"/>
                    <a:pt x="6937" y="32"/>
                    <a:pt x="6928" y="32"/>
                  </a:cubicBezTo>
                  <a:lnTo>
                    <a:pt x="6928" y="32"/>
                  </a:lnTo>
                  <a:cubicBezTo>
                    <a:pt x="6919" y="32"/>
                    <a:pt x="6912" y="25"/>
                    <a:pt x="6912" y="16"/>
                  </a:cubicBezTo>
                  <a:cubicBezTo>
                    <a:pt x="6912" y="8"/>
                    <a:pt x="6919" y="0"/>
                    <a:pt x="6928" y="0"/>
                  </a:cubicBezTo>
                  <a:close/>
                  <a:moveTo>
                    <a:pt x="7088" y="0"/>
                  </a:moveTo>
                  <a:lnTo>
                    <a:pt x="7312" y="0"/>
                  </a:lnTo>
                  <a:cubicBezTo>
                    <a:pt x="7321" y="0"/>
                    <a:pt x="7328" y="8"/>
                    <a:pt x="7328" y="16"/>
                  </a:cubicBezTo>
                  <a:cubicBezTo>
                    <a:pt x="7328" y="25"/>
                    <a:pt x="7321" y="32"/>
                    <a:pt x="7312" y="32"/>
                  </a:cubicBezTo>
                  <a:lnTo>
                    <a:pt x="7088" y="32"/>
                  </a:lnTo>
                  <a:cubicBezTo>
                    <a:pt x="7079" y="32"/>
                    <a:pt x="7072" y="25"/>
                    <a:pt x="7072" y="16"/>
                  </a:cubicBezTo>
                  <a:cubicBezTo>
                    <a:pt x="7072" y="8"/>
                    <a:pt x="7079" y="0"/>
                    <a:pt x="7088" y="0"/>
                  </a:cubicBezTo>
                  <a:close/>
                  <a:moveTo>
                    <a:pt x="7472" y="0"/>
                  </a:moveTo>
                  <a:lnTo>
                    <a:pt x="7472" y="0"/>
                  </a:lnTo>
                  <a:cubicBezTo>
                    <a:pt x="7481" y="0"/>
                    <a:pt x="7488" y="8"/>
                    <a:pt x="7488" y="16"/>
                  </a:cubicBezTo>
                  <a:cubicBezTo>
                    <a:pt x="7488" y="25"/>
                    <a:pt x="7481" y="32"/>
                    <a:pt x="7472" y="32"/>
                  </a:cubicBezTo>
                  <a:lnTo>
                    <a:pt x="7472" y="32"/>
                  </a:lnTo>
                  <a:cubicBezTo>
                    <a:pt x="7463" y="32"/>
                    <a:pt x="7456" y="25"/>
                    <a:pt x="7456" y="16"/>
                  </a:cubicBezTo>
                  <a:cubicBezTo>
                    <a:pt x="7456" y="8"/>
                    <a:pt x="7463" y="0"/>
                    <a:pt x="7472" y="0"/>
                  </a:cubicBezTo>
                  <a:close/>
                  <a:moveTo>
                    <a:pt x="7632" y="0"/>
                  </a:moveTo>
                  <a:lnTo>
                    <a:pt x="7856" y="0"/>
                  </a:lnTo>
                  <a:cubicBezTo>
                    <a:pt x="7865" y="0"/>
                    <a:pt x="7872" y="8"/>
                    <a:pt x="7872" y="16"/>
                  </a:cubicBezTo>
                  <a:cubicBezTo>
                    <a:pt x="7872" y="25"/>
                    <a:pt x="7865" y="32"/>
                    <a:pt x="7856" y="32"/>
                  </a:cubicBezTo>
                  <a:lnTo>
                    <a:pt x="7632" y="32"/>
                  </a:lnTo>
                  <a:cubicBezTo>
                    <a:pt x="7623" y="32"/>
                    <a:pt x="7616" y="25"/>
                    <a:pt x="7616" y="16"/>
                  </a:cubicBezTo>
                  <a:cubicBezTo>
                    <a:pt x="7616" y="8"/>
                    <a:pt x="7623" y="0"/>
                    <a:pt x="7632" y="0"/>
                  </a:cubicBezTo>
                  <a:close/>
                  <a:moveTo>
                    <a:pt x="8016" y="0"/>
                  </a:moveTo>
                  <a:lnTo>
                    <a:pt x="8016" y="0"/>
                  </a:lnTo>
                  <a:cubicBezTo>
                    <a:pt x="8025" y="0"/>
                    <a:pt x="8032" y="8"/>
                    <a:pt x="8032" y="16"/>
                  </a:cubicBezTo>
                  <a:cubicBezTo>
                    <a:pt x="8032" y="25"/>
                    <a:pt x="8025" y="32"/>
                    <a:pt x="8016" y="32"/>
                  </a:cubicBezTo>
                  <a:lnTo>
                    <a:pt x="8016" y="32"/>
                  </a:lnTo>
                  <a:cubicBezTo>
                    <a:pt x="8007" y="32"/>
                    <a:pt x="8000" y="25"/>
                    <a:pt x="8000" y="16"/>
                  </a:cubicBezTo>
                  <a:cubicBezTo>
                    <a:pt x="8000" y="8"/>
                    <a:pt x="8007" y="0"/>
                    <a:pt x="8016" y="0"/>
                  </a:cubicBezTo>
                  <a:close/>
                  <a:moveTo>
                    <a:pt x="8176" y="0"/>
                  </a:moveTo>
                  <a:lnTo>
                    <a:pt x="8400" y="0"/>
                  </a:lnTo>
                  <a:cubicBezTo>
                    <a:pt x="8409" y="0"/>
                    <a:pt x="8416" y="8"/>
                    <a:pt x="8416" y="16"/>
                  </a:cubicBezTo>
                  <a:cubicBezTo>
                    <a:pt x="8416" y="25"/>
                    <a:pt x="8409" y="32"/>
                    <a:pt x="8400" y="32"/>
                  </a:cubicBezTo>
                  <a:lnTo>
                    <a:pt x="8176" y="32"/>
                  </a:lnTo>
                  <a:cubicBezTo>
                    <a:pt x="8167" y="32"/>
                    <a:pt x="8160" y="25"/>
                    <a:pt x="8160" y="16"/>
                  </a:cubicBezTo>
                  <a:cubicBezTo>
                    <a:pt x="8160" y="8"/>
                    <a:pt x="8167" y="0"/>
                    <a:pt x="8176" y="0"/>
                  </a:cubicBezTo>
                  <a:close/>
                  <a:moveTo>
                    <a:pt x="8560" y="0"/>
                  </a:moveTo>
                  <a:lnTo>
                    <a:pt x="8560" y="0"/>
                  </a:lnTo>
                  <a:cubicBezTo>
                    <a:pt x="8569" y="0"/>
                    <a:pt x="8576" y="8"/>
                    <a:pt x="8576" y="16"/>
                  </a:cubicBezTo>
                  <a:cubicBezTo>
                    <a:pt x="8576" y="25"/>
                    <a:pt x="8569" y="32"/>
                    <a:pt x="8560" y="32"/>
                  </a:cubicBezTo>
                  <a:lnTo>
                    <a:pt x="8560" y="32"/>
                  </a:lnTo>
                  <a:cubicBezTo>
                    <a:pt x="8551" y="32"/>
                    <a:pt x="8544" y="25"/>
                    <a:pt x="8544" y="16"/>
                  </a:cubicBezTo>
                  <a:cubicBezTo>
                    <a:pt x="8544" y="8"/>
                    <a:pt x="8551" y="0"/>
                    <a:pt x="8560" y="0"/>
                  </a:cubicBezTo>
                  <a:close/>
                  <a:moveTo>
                    <a:pt x="8720" y="0"/>
                  </a:moveTo>
                  <a:lnTo>
                    <a:pt x="8944" y="0"/>
                  </a:lnTo>
                  <a:cubicBezTo>
                    <a:pt x="8953" y="0"/>
                    <a:pt x="8960" y="8"/>
                    <a:pt x="8960" y="16"/>
                  </a:cubicBezTo>
                  <a:cubicBezTo>
                    <a:pt x="8960" y="25"/>
                    <a:pt x="8953" y="32"/>
                    <a:pt x="8944" y="32"/>
                  </a:cubicBezTo>
                  <a:lnTo>
                    <a:pt x="8720" y="32"/>
                  </a:lnTo>
                  <a:cubicBezTo>
                    <a:pt x="8711" y="32"/>
                    <a:pt x="8704" y="25"/>
                    <a:pt x="8704" y="16"/>
                  </a:cubicBezTo>
                  <a:cubicBezTo>
                    <a:pt x="8704" y="8"/>
                    <a:pt x="8711" y="0"/>
                    <a:pt x="8720" y="0"/>
                  </a:cubicBezTo>
                  <a:close/>
                  <a:moveTo>
                    <a:pt x="9104" y="0"/>
                  </a:moveTo>
                  <a:lnTo>
                    <a:pt x="9104" y="0"/>
                  </a:lnTo>
                  <a:cubicBezTo>
                    <a:pt x="9113" y="0"/>
                    <a:pt x="9120" y="8"/>
                    <a:pt x="9120" y="16"/>
                  </a:cubicBezTo>
                  <a:cubicBezTo>
                    <a:pt x="9120" y="25"/>
                    <a:pt x="9113" y="32"/>
                    <a:pt x="9104" y="32"/>
                  </a:cubicBezTo>
                  <a:lnTo>
                    <a:pt x="9104" y="32"/>
                  </a:lnTo>
                  <a:cubicBezTo>
                    <a:pt x="9095" y="32"/>
                    <a:pt x="9088" y="25"/>
                    <a:pt x="9088" y="16"/>
                  </a:cubicBezTo>
                  <a:cubicBezTo>
                    <a:pt x="9088" y="8"/>
                    <a:pt x="9095" y="0"/>
                    <a:pt x="9104" y="0"/>
                  </a:cubicBezTo>
                  <a:close/>
                  <a:moveTo>
                    <a:pt x="9264" y="0"/>
                  </a:moveTo>
                  <a:lnTo>
                    <a:pt x="9488" y="0"/>
                  </a:lnTo>
                  <a:cubicBezTo>
                    <a:pt x="9497" y="0"/>
                    <a:pt x="9504" y="8"/>
                    <a:pt x="9504" y="16"/>
                  </a:cubicBezTo>
                  <a:cubicBezTo>
                    <a:pt x="9504" y="25"/>
                    <a:pt x="9497" y="32"/>
                    <a:pt x="9488" y="32"/>
                  </a:cubicBezTo>
                  <a:lnTo>
                    <a:pt x="9264" y="32"/>
                  </a:lnTo>
                  <a:cubicBezTo>
                    <a:pt x="9255" y="32"/>
                    <a:pt x="9248" y="25"/>
                    <a:pt x="9248" y="16"/>
                  </a:cubicBezTo>
                  <a:cubicBezTo>
                    <a:pt x="9248" y="8"/>
                    <a:pt x="9255" y="0"/>
                    <a:pt x="9264" y="0"/>
                  </a:cubicBezTo>
                  <a:close/>
                  <a:moveTo>
                    <a:pt x="9648" y="0"/>
                  </a:moveTo>
                  <a:lnTo>
                    <a:pt x="9648" y="0"/>
                  </a:lnTo>
                  <a:cubicBezTo>
                    <a:pt x="9657" y="0"/>
                    <a:pt x="9664" y="8"/>
                    <a:pt x="9664" y="16"/>
                  </a:cubicBezTo>
                  <a:cubicBezTo>
                    <a:pt x="9664" y="25"/>
                    <a:pt x="9657" y="32"/>
                    <a:pt x="9648" y="32"/>
                  </a:cubicBezTo>
                  <a:lnTo>
                    <a:pt x="9648" y="32"/>
                  </a:lnTo>
                  <a:cubicBezTo>
                    <a:pt x="9639" y="32"/>
                    <a:pt x="9632" y="25"/>
                    <a:pt x="9632" y="16"/>
                  </a:cubicBezTo>
                  <a:cubicBezTo>
                    <a:pt x="9632" y="8"/>
                    <a:pt x="9639" y="0"/>
                    <a:pt x="9648" y="0"/>
                  </a:cubicBezTo>
                  <a:close/>
                  <a:moveTo>
                    <a:pt x="9808" y="0"/>
                  </a:moveTo>
                  <a:lnTo>
                    <a:pt x="10032" y="0"/>
                  </a:lnTo>
                  <a:cubicBezTo>
                    <a:pt x="10041" y="0"/>
                    <a:pt x="10048" y="8"/>
                    <a:pt x="10048" y="16"/>
                  </a:cubicBezTo>
                  <a:cubicBezTo>
                    <a:pt x="10048" y="25"/>
                    <a:pt x="10041" y="32"/>
                    <a:pt x="10032" y="32"/>
                  </a:cubicBezTo>
                  <a:lnTo>
                    <a:pt x="9808" y="32"/>
                  </a:lnTo>
                  <a:cubicBezTo>
                    <a:pt x="9799" y="32"/>
                    <a:pt x="9792" y="25"/>
                    <a:pt x="9792" y="16"/>
                  </a:cubicBezTo>
                  <a:cubicBezTo>
                    <a:pt x="9792" y="8"/>
                    <a:pt x="9799" y="0"/>
                    <a:pt x="9808" y="0"/>
                  </a:cubicBezTo>
                  <a:close/>
                  <a:moveTo>
                    <a:pt x="10192" y="0"/>
                  </a:moveTo>
                  <a:lnTo>
                    <a:pt x="10192" y="0"/>
                  </a:lnTo>
                  <a:cubicBezTo>
                    <a:pt x="10201" y="0"/>
                    <a:pt x="10208" y="8"/>
                    <a:pt x="10208" y="16"/>
                  </a:cubicBezTo>
                  <a:cubicBezTo>
                    <a:pt x="10208" y="25"/>
                    <a:pt x="10201" y="32"/>
                    <a:pt x="10192" y="32"/>
                  </a:cubicBezTo>
                  <a:lnTo>
                    <a:pt x="10192" y="32"/>
                  </a:lnTo>
                  <a:cubicBezTo>
                    <a:pt x="10183" y="32"/>
                    <a:pt x="10176" y="25"/>
                    <a:pt x="10176" y="16"/>
                  </a:cubicBezTo>
                  <a:cubicBezTo>
                    <a:pt x="10176" y="8"/>
                    <a:pt x="10183" y="0"/>
                    <a:pt x="10192" y="0"/>
                  </a:cubicBezTo>
                  <a:close/>
                  <a:moveTo>
                    <a:pt x="10352" y="0"/>
                  </a:moveTo>
                  <a:lnTo>
                    <a:pt x="10576" y="0"/>
                  </a:lnTo>
                  <a:cubicBezTo>
                    <a:pt x="10585" y="0"/>
                    <a:pt x="10592" y="8"/>
                    <a:pt x="10592" y="16"/>
                  </a:cubicBezTo>
                  <a:cubicBezTo>
                    <a:pt x="10592" y="25"/>
                    <a:pt x="10585" y="32"/>
                    <a:pt x="10576" y="32"/>
                  </a:cubicBezTo>
                  <a:lnTo>
                    <a:pt x="10352" y="32"/>
                  </a:lnTo>
                  <a:cubicBezTo>
                    <a:pt x="10343" y="32"/>
                    <a:pt x="10336" y="25"/>
                    <a:pt x="10336" y="16"/>
                  </a:cubicBezTo>
                  <a:cubicBezTo>
                    <a:pt x="10336" y="8"/>
                    <a:pt x="10343" y="0"/>
                    <a:pt x="10352" y="0"/>
                  </a:cubicBezTo>
                  <a:close/>
                  <a:moveTo>
                    <a:pt x="10736" y="0"/>
                  </a:moveTo>
                  <a:lnTo>
                    <a:pt x="10736" y="0"/>
                  </a:lnTo>
                  <a:cubicBezTo>
                    <a:pt x="10745" y="0"/>
                    <a:pt x="10752" y="8"/>
                    <a:pt x="10752" y="16"/>
                  </a:cubicBezTo>
                  <a:cubicBezTo>
                    <a:pt x="10752" y="25"/>
                    <a:pt x="10745" y="32"/>
                    <a:pt x="10736" y="32"/>
                  </a:cubicBezTo>
                  <a:lnTo>
                    <a:pt x="10736" y="32"/>
                  </a:lnTo>
                  <a:cubicBezTo>
                    <a:pt x="10727" y="32"/>
                    <a:pt x="10720" y="25"/>
                    <a:pt x="10720" y="16"/>
                  </a:cubicBezTo>
                  <a:cubicBezTo>
                    <a:pt x="10720" y="8"/>
                    <a:pt x="10727" y="0"/>
                    <a:pt x="10736" y="0"/>
                  </a:cubicBezTo>
                  <a:close/>
                  <a:moveTo>
                    <a:pt x="10896" y="0"/>
                  </a:moveTo>
                  <a:lnTo>
                    <a:pt x="11120" y="0"/>
                  </a:lnTo>
                  <a:cubicBezTo>
                    <a:pt x="11129" y="0"/>
                    <a:pt x="11136" y="8"/>
                    <a:pt x="11136" y="16"/>
                  </a:cubicBezTo>
                  <a:cubicBezTo>
                    <a:pt x="11136" y="25"/>
                    <a:pt x="11129" y="32"/>
                    <a:pt x="11120" y="32"/>
                  </a:cubicBezTo>
                  <a:lnTo>
                    <a:pt x="10896" y="32"/>
                  </a:lnTo>
                  <a:cubicBezTo>
                    <a:pt x="10887" y="32"/>
                    <a:pt x="10880" y="25"/>
                    <a:pt x="10880" y="16"/>
                  </a:cubicBezTo>
                  <a:cubicBezTo>
                    <a:pt x="10880" y="8"/>
                    <a:pt x="10887" y="0"/>
                    <a:pt x="10896" y="0"/>
                  </a:cubicBezTo>
                  <a:close/>
                  <a:moveTo>
                    <a:pt x="11280" y="0"/>
                  </a:moveTo>
                  <a:lnTo>
                    <a:pt x="11280" y="0"/>
                  </a:lnTo>
                  <a:cubicBezTo>
                    <a:pt x="11289" y="0"/>
                    <a:pt x="11296" y="8"/>
                    <a:pt x="11296" y="16"/>
                  </a:cubicBezTo>
                  <a:cubicBezTo>
                    <a:pt x="11296" y="25"/>
                    <a:pt x="11289" y="32"/>
                    <a:pt x="11280" y="32"/>
                  </a:cubicBezTo>
                  <a:lnTo>
                    <a:pt x="11280" y="32"/>
                  </a:lnTo>
                  <a:cubicBezTo>
                    <a:pt x="11271" y="32"/>
                    <a:pt x="11264" y="25"/>
                    <a:pt x="11264" y="16"/>
                  </a:cubicBezTo>
                  <a:cubicBezTo>
                    <a:pt x="11264" y="8"/>
                    <a:pt x="11271" y="0"/>
                    <a:pt x="11280" y="0"/>
                  </a:cubicBezTo>
                  <a:close/>
                  <a:moveTo>
                    <a:pt x="11440" y="0"/>
                  </a:moveTo>
                  <a:lnTo>
                    <a:pt x="11664" y="0"/>
                  </a:lnTo>
                  <a:cubicBezTo>
                    <a:pt x="11673" y="0"/>
                    <a:pt x="11680" y="8"/>
                    <a:pt x="11680" y="16"/>
                  </a:cubicBezTo>
                  <a:cubicBezTo>
                    <a:pt x="11680" y="25"/>
                    <a:pt x="11673" y="32"/>
                    <a:pt x="11664" y="32"/>
                  </a:cubicBezTo>
                  <a:lnTo>
                    <a:pt x="11440" y="32"/>
                  </a:lnTo>
                  <a:cubicBezTo>
                    <a:pt x="11432" y="32"/>
                    <a:pt x="11424" y="25"/>
                    <a:pt x="11424" y="16"/>
                  </a:cubicBezTo>
                  <a:cubicBezTo>
                    <a:pt x="11424" y="8"/>
                    <a:pt x="11432" y="0"/>
                    <a:pt x="11440" y="0"/>
                  </a:cubicBezTo>
                  <a:close/>
                  <a:moveTo>
                    <a:pt x="11824" y="0"/>
                  </a:moveTo>
                  <a:lnTo>
                    <a:pt x="11824" y="0"/>
                  </a:lnTo>
                  <a:cubicBezTo>
                    <a:pt x="11833" y="0"/>
                    <a:pt x="11840" y="8"/>
                    <a:pt x="11840" y="16"/>
                  </a:cubicBezTo>
                  <a:cubicBezTo>
                    <a:pt x="11840" y="25"/>
                    <a:pt x="11833" y="32"/>
                    <a:pt x="11824" y="32"/>
                  </a:cubicBezTo>
                  <a:lnTo>
                    <a:pt x="11824" y="32"/>
                  </a:lnTo>
                  <a:cubicBezTo>
                    <a:pt x="11816" y="32"/>
                    <a:pt x="11808" y="25"/>
                    <a:pt x="11808" y="16"/>
                  </a:cubicBezTo>
                  <a:cubicBezTo>
                    <a:pt x="11808" y="8"/>
                    <a:pt x="11816" y="0"/>
                    <a:pt x="11824" y="0"/>
                  </a:cubicBezTo>
                  <a:close/>
                  <a:moveTo>
                    <a:pt x="11984" y="0"/>
                  </a:moveTo>
                  <a:lnTo>
                    <a:pt x="12208" y="0"/>
                  </a:lnTo>
                  <a:cubicBezTo>
                    <a:pt x="12217" y="0"/>
                    <a:pt x="12224" y="8"/>
                    <a:pt x="12224" y="16"/>
                  </a:cubicBezTo>
                  <a:cubicBezTo>
                    <a:pt x="12224" y="25"/>
                    <a:pt x="12217" y="32"/>
                    <a:pt x="12208" y="32"/>
                  </a:cubicBezTo>
                  <a:lnTo>
                    <a:pt x="11984" y="32"/>
                  </a:lnTo>
                  <a:cubicBezTo>
                    <a:pt x="11976" y="32"/>
                    <a:pt x="11968" y="25"/>
                    <a:pt x="11968" y="16"/>
                  </a:cubicBezTo>
                  <a:cubicBezTo>
                    <a:pt x="11968" y="8"/>
                    <a:pt x="11976" y="0"/>
                    <a:pt x="11984" y="0"/>
                  </a:cubicBezTo>
                  <a:close/>
                  <a:moveTo>
                    <a:pt x="12368" y="0"/>
                  </a:moveTo>
                  <a:lnTo>
                    <a:pt x="12368" y="0"/>
                  </a:lnTo>
                  <a:cubicBezTo>
                    <a:pt x="12377" y="0"/>
                    <a:pt x="12384" y="8"/>
                    <a:pt x="12384" y="16"/>
                  </a:cubicBezTo>
                  <a:cubicBezTo>
                    <a:pt x="12384" y="25"/>
                    <a:pt x="12377" y="32"/>
                    <a:pt x="12368" y="32"/>
                  </a:cubicBezTo>
                  <a:lnTo>
                    <a:pt x="12368" y="32"/>
                  </a:lnTo>
                  <a:cubicBezTo>
                    <a:pt x="12360" y="32"/>
                    <a:pt x="12352" y="25"/>
                    <a:pt x="12352" y="16"/>
                  </a:cubicBezTo>
                  <a:cubicBezTo>
                    <a:pt x="12352" y="8"/>
                    <a:pt x="12360" y="0"/>
                    <a:pt x="12368" y="0"/>
                  </a:cubicBezTo>
                  <a:close/>
                  <a:moveTo>
                    <a:pt x="12528" y="0"/>
                  </a:moveTo>
                  <a:lnTo>
                    <a:pt x="12752" y="0"/>
                  </a:lnTo>
                  <a:cubicBezTo>
                    <a:pt x="12761" y="0"/>
                    <a:pt x="12768" y="8"/>
                    <a:pt x="12768" y="16"/>
                  </a:cubicBezTo>
                  <a:cubicBezTo>
                    <a:pt x="12768" y="25"/>
                    <a:pt x="12761" y="32"/>
                    <a:pt x="12752" y="32"/>
                  </a:cubicBezTo>
                  <a:lnTo>
                    <a:pt x="12528" y="32"/>
                  </a:lnTo>
                  <a:cubicBezTo>
                    <a:pt x="12520" y="32"/>
                    <a:pt x="12512" y="25"/>
                    <a:pt x="12512" y="16"/>
                  </a:cubicBezTo>
                  <a:cubicBezTo>
                    <a:pt x="12512" y="8"/>
                    <a:pt x="12520" y="0"/>
                    <a:pt x="12528" y="0"/>
                  </a:cubicBezTo>
                  <a:close/>
                  <a:moveTo>
                    <a:pt x="12912" y="0"/>
                  </a:moveTo>
                  <a:lnTo>
                    <a:pt x="12912" y="0"/>
                  </a:lnTo>
                  <a:cubicBezTo>
                    <a:pt x="12921" y="0"/>
                    <a:pt x="12928" y="8"/>
                    <a:pt x="12928" y="16"/>
                  </a:cubicBezTo>
                  <a:cubicBezTo>
                    <a:pt x="12928" y="25"/>
                    <a:pt x="12921" y="32"/>
                    <a:pt x="12912" y="32"/>
                  </a:cubicBezTo>
                  <a:lnTo>
                    <a:pt x="12912" y="32"/>
                  </a:lnTo>
                  <a:cubicBezTo>
                    <a:pt x="12904" y="32"/>
                    <a:pt x="12896" y="25"/>
                    <a:pt x="12896" y="16"/>
                  </a:cubicBezTo>
                  <a:cubicBezTo>
                    <a:pt x="12896" y="8"/>
                    <a:pt x="12904" y="0"/>
                    <a:pt x="12912" y="0"/>
                  </a:cubicBezTo>
                  <a:close/>
                  <a:moveTo>
                    <a:pt x="13072" y="0"/>
                  </a:moveTo>
                  <a:lnTo>
                    <a:pt x="13296" y="0"/>
                  </a:lnTo>
                  <a:cubicBezTo>
                    <a:pt x="13305" y="0"/>
                    <a:pt x="13312" y="8"/>
                    <a:pt x="13312" y="16"/>
                  </a:cubicBezTo>
                  <a:cubicBezTo>
                    <a:pt x="13312" y="25"/>
                    <a:pt x="13305" y="32"/>
                    <a:pt x="13296" y="32"/>
                  </a:cubicBezTo>
                  <a:lnTo>
                    <a:pt x="13072" y="32"/>
                  </a:lnTo>
                  <a:cubicBezTo>
                    <a:pt x="13064" y="32"/>
                    <a:pt x="13056" y="25"/>
                    <a:pt x="13056" y="16"/>
                  </a:cubicBezTo>
                  <a:cubicBezTo>
                    <a:pt x="13056" y="8"/>
                    <a:pt x="13064" y="0"/>
                    <a:pt x="13072" y="0"/>
                  </a:cubicBezTo>
                  <a:close/>
                  <a:moveTo>
                    <a:pt x="13456" y="0"/>
                  </a:moveTo>
                  <a:lnTo>
                    <a:pt x="13456" y="0"/>
                  </a:lnTo>
                  <a:cubicBezTo>
                    <a:pt x="13465" y="0"/>
                    <a:pt x="13472" y="8"/>
                    <a:pt x="13472" y="16"/>
                  </a:cubicBezTo>
                  <a:cubicBezTo>
                    <a:pt x="13472" y="25"/>
                    <a:pt x="13465" y="32"/>
                    <a:pt x="13456" y="32"/>
                  </a:cubicBezTo>
                  <a:lnTo>
                    <a:pt x="13456" y="32"/>
                  </a:lnTo>
                  <a:cubicBezTo>
                    <a:pt x="13448" y="32"/>
                    <a:pt x="13440" y="25"/>
                    <a:pt x="13440" y="16"/>
                  </a:cubicBezTo>
                  <a:cubicBezTo>
                    <a:pt x="13440" y="8"/>
                    <a:pt x="13448" y="0"/>
                    <a:pt x="13456" y="0"/>
                  </a:cubicBezTo>
                  <a:close/>
                  <a:moveTo>
                    <a:pt x="13616" y="0"/>
                  </a:moveTo>
                  <a:lnTo>
                    <a:pt x="13840" y="0"/>
                  </a:lnTo>
                  <a:cubicBezTo>
                    <a:pt x="13849" y="0"/>
                    <a:pt x="13856" y="8"/>
                    <a:pt x="13856" y="16"/>
                  </a:cubicBezTo>
                  <a:cubicBezTo>
                    <a:pt x="13856" y="25"/>
                    <a:pt x="13849" y="32"/>
                    <a:pt x="13840" y="32"/>
                  </a:cubicBezTo>
                  <a:lnTo>
                    <a:pt x="13616" y="32"/>
                  </a:lnTo>
                  <a:cubicBezTo>
                    <a:pt x="13608" y="32"/>
                    <a:pt x="13600" y="25"/>
                    <a:pt x="13600" y="16"/>
                  </a:cubicBezTo>
                  <a:cubicBezTo>
                    <a:pt x="13600" y="8"/>
                    <a:pt x="13608" y="0"/>
                    <a:pt x="13616" y="0"/>
                  </a:cubicBezTo>
                  <a:close/>
                  <a:moveTo>
                    <a:pt x="14000" y="0"/>
                  </a:moveTo>
                  <a:lnTo>
                    <a:pt x="14001" y="0"/>
                  </a:lnTo>
                  <a:cubicBezTo>
                    <a:pt x="14009" y="0"/>
                    <a:pt x="14017" y="8"/>
                    <a:pt x="14017" y="16"/>
                  </a:cubicBezTo>
                  <a:cubicBezTo>
                    <a:pt x="14017" y="25"/>
                    <a:pt x="14009" y="32"/>
                    <a:pt x="14001" y="32"/>
                  </a:cubicBezTo>
                  <a:lnTo>
                    <a:pt x="14000" y="32"/>
                  </a:lnTo>
                  <a:cubicBezTo>
                    <a:pt x="13992" y="32"/>
                    <a:pt x="13984" y="25"/>
                    <a:pt x="13984" y="16"/>
                  </a:cubicBezTo>
                  <a:cubicBezTo>
                    <a:pt x="13984" y="8"/>
                    <a:pt x="13992" y="0"/>
                    <a:pt x="14000" y="0"/>
                  </a:cubicBezTo>
                  <a:close/>
                  <a:moveTo>
                    <a:pt x="14161" y="0"/>
                  </a:moveTo>
                  <a:lnTo>
                    <a:pt x="14385" y="0"/>
                  </a:lnTo>
                  <a:cubicBezTo>
                    <a:pt x="14393" y="0"/>
                    <a:pt x="14401" y="8"/>
                    <a:pt x="14401" y="16"/>
                  </a:cubicBezTo>
                  <a:cubicBezTo>
                    <a:pt x="14401" y="25"/>
                    <a:pt x="14393" y="32"/>
                    <a:pt x="14385" y="32"/>
                  </a:cubicBezTo>
                  <a:lnTo>
                    <a:pt x="14161" y="32"/>
                  </a:lnTo>
                  <a:cubicBezTo>
                    <a:pt x="14152" y="32"/>
                    <a:pt x="14145" y="25"/>
                    <a:pt x="14145" y="16"/>
                  </a:cubicBezTo>
                  <a:cubicBezTo>
                    <a:pt x="14145" y="8"/>
                    <a:pt x="14152" y="0"/>
                    <a:pt x="14161" y="0"/>
                  </a:cubicBezTo>
                  <a:close/>
                  <a:moveTo>
                    <a:pt x="14545" y="0"/>
                  </a:moveTo>
                  <a:lnTo>
                    <a:pt x="14545" y="0"/>
                  </a:lnTo>
                  <a:cubicBezTo>
                    <a:pt x="14553" y="0"/>
                    <a:pt x="14561" y="8"/>
                    <a:pt x="14561" y="16"/>
                  </a:cubicBezTo>
                  <a:cubicBezTo>
                    <a:pt x="14561" y="25"/>
                    <a:pt x="14553" y="32"/>
                    <a:pt x="14545" y="32"/>
                  </a:cubicBezTo>
                  <a:lnTo>
                    <a:pt x="14545" y="32"/>
                  </a:lnTo>
                  <a:cubicBezTo>
                    <a:pt x="14536" y="32"/>
                    <a:pt x="14529" y="25"/>
                    <a:pt x="14529" y="16"/>
                  </a:cubicBezTo>
                  <a:cubicBezTo>
                    <a:pt x="14529" y="8"/>
                    <a:pt x="14536" y="0"/>
                    <a:pt x="14545" y="0"/>
                  </a:cubicBezTo>
                  <a:close/>
                  <a:moveTo>
                    <a:pt x="14705" y="0"/>
                  </a:moveTo>
                  <a:lnTo>
                    <a:pt x="14929" y="0"/>
                  </a:lnTo>
                  <a:cubicBezTo>
                    <a:pt x="14937" y="0"/>
                    <a:pt x="14945" y="8"/>
                    <a:pt x="14945" y="16"/>
                  </a:cubicBezTo>
                  <a:cubicBezTo>
                    <a:pt x="14945" y="25"/>
                    <a:pt x="14937" y="32"/>
                    <a:pt x="14929" y="32"/>
                  </a:cubicBezTo>
                  <a:lnTo>
                    <a:pt x="14705" y="32"/>
                  </a:lnTo>
                  <a:cubicBezTo>
                    <a:pt x="14696" y="32"/>
                    <a:pt x="14689" y="25"/>
                    <a:pt x="14689" y="16"/>
                  </a:cubicBezTo>
                  <a:cubicBezTo>
                    <a:pt x="14689" y="8"/>
                    <a:pt x="14696" y="0"/>
                    <a:pt x="14705" y="0"/>
                  </a:cubicBezTo>
                  <a:close/>
                  <a:moveTo>
                    <a:pt x="15089" y="0"/>
                  </a:moveTo>
                  <a:lnTo>
                    <a:pt x="15089" y="0"/>
                  </a:lnTo>
                  <a:cubicBezTo>
                    <a:pt x="15097" y="0"/>
                    <a:pt x="15105" y="8"/>
                    <a:pt x="15105" y="16"/>
                  </a:cubicBezTo>
                  <a:cubicBezTo>
                    <a:pt x="15105" y="25"/>
                    <a:pt x="15097" y="32"/>
                    <a:pt x="15089" y="32"/>
                  </a:cubicBezTo>
                  <a:lnTo>
                    <a:pt x="15089" y="32"/>
                  </a:lnTo>
                  <a:cubicBezTo>
                    <a:pt x="15080" y="32"/>
                    <a:pt x="15073" y="25"/>
                    <a:pt x="15073" y="16"/>
                  </a:cubicBezTo>
                  <a:cubicBezTo>
                    <a:pt x="15073" y="8"/>
                    <a:pt x="15080" y="0"/>
                    <a:pt x="15089" y="0"/>
                  </a:cubicBezTo>
                  <a:close/>
                  <a:moveTo>
                    <a:pt x="15249" y="0"/>
                  </a:moveTo>
                  <a:lnTo>
                    <a:pt x="15455" y="0"/>
                  </a:lnTo>
                  <a:cubicBezTo>
                    <a:pt x="15464" y="0"/>
                    <a:pt x="15471" y="8"/>
                    <a:pt x="15471" y="16"/>
                  </a:cubicBezTo>
                  <a:cubicBezTo>
                    <a:pt x="15471" y="25"/>
                    <a:pt x="15464" y="32"/>
                    <a:pt x="15455" y="32"/>
                  </a:cubicBezTo>
                  <a:lnTo>
                    <a:pt x="15249" y="32"/>
                  </a:lnTo>
                  <a:cubicBezTo>
                    <a:pt x="15240" y="32"/>
                    <a:pt x="15233" y="25"/>
                    <a:pt x="15233" y="16"/>
                  </a:cubicBezTo>
                  <a:cubicBezTo>
                    <a:pt x="15233" y="8"/>
                    <a:pt x="15240" y="0"/>
                    <a:pt x="15249" y="0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</p:grpSp>
      <p:grpSp>
        <p:nvGrpSpPr>
          <p:cNvPr id="501" name="Group 500">
            <a:extLst>
              <a:ext uri="{FF2B5EF4-FFF2-40B4-BE49-F238E27FC236}">
                <a16:creationId xmlns:a16="http://schemas.microsoft.com/office/drawing/2014/main" id="{D9C9DBAA-EB13-1B27-2340-CB9A21192AC0}"/>
              </a:ext>
            </a:extLst>
          </p:cNvPr>
          <p:cNvGrpSpPr/>
          <p:nvPr/>
        </p:nvGrpSpPr>
        <p:grpSpPr>
          <a:xfrm>
            <a:off x="19561758" y="16599693"/>
            <a:ext cx="375468" cy="595254"/>
            <a:chOff x="6770688" y="5694363"/>
            <a:chExt cx="130175" cy="206375"/>
          </a:xfrm>
        </p:grpSpPr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233CF83F-946F-213E-3E9D-149D4D27BC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688" y="5707063"/>
              <a:ext cx="130175" cy="141288"/>
            </a:xfrm>
            <a:custGeom>
              <a:avLst/>
              <a:gdLst>
                <a:gd name="T0" fmla="*/ 64 w 321"/>
                <a:gd name="T1" fmla="*/ 0 h 301"/>
                <a:gd name="T2" fmla="*/ 0 w 321"/>
                <a:gd name="T3" fmla="*/ 50 h 301"/>
                <a:gd name="T4" fmla="*/ 0 w 321"/>
                <a:gd name="T5" fmla="*/ 251 h 301"/>
                <a:gd name="T6" fmla="*/ 64 w 321"/>
                <a:gd name="T7" fmla="*/ 301 h 301"/>
                <a:gd name="T8" fmla="*/ 257 w 321"/>
                <a:gd name="T9" fmla="*/ 301 h 301"/>
                <a:gd name="T10" fmla="*/ 321 w 321"/>
                <a:gd name="T11" fmla="*/ 251 h 301"/>
                <a:gd name="T12" fmla="*/ 321 w 321"/>
                <a:gd name="T13" fmla="*/ 50 h 301"/>
                <a:gd name="T14" fmla="*/ 257 w 321"/>
                <a:gd name="T15" fmla="*/ 0 h 301"/>
                <a:gd name="T16" fmla="*/ 64 w 321"/>
                <a:gd name="T17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1" h="301">
                  <a:moveTo>
                    <a:pt x="64" y="0"/>
                  </a:moveTo>
                  <a:cubicBezTo>
                    <a:pt x="29" y="0"/>
                    <a:pt x="0" y="22"/>
                    <a:pt x="0" y="50"/>
                  </a:cubicBezTo>
                  <a:lnTo>
                    <a:pt x="0" y="251"/>
                  </a:lnTo>
                  <a:cubicBezTo>
                    <a:pt x="0" y="279"/>
                    <a:pt x="29" y="301"/>
                    <a:pt x="64" y="301"/>
                  </a:cubicBezTo>
                  <a:lnTo>
                    <a:pt x="257" y="301"/>
                  </a:lnTo>
                  <a:cubicBezTo>
                    <a:pt x="293" y="301"/>
                    <a:pt x="321" y="279"/>
                    <a:pt x="321" y="251"/>
                  </a:cubicBezTo>
                  <a:lnTo>
                    <a:pt x="321" y="50"/>
                  </a:lnTo>
                  <a:cubicBezTo>
                    <a:pt x="321" y="22"/>
                    <a:pt x="293" y="0"/>
                    <a:pt x="257" y="0"/>
                  </a:cubicBezTo>
                  <a:lnTo>
                    <a:pt x="6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  <p:sp>
          <p:nvSpPr>
            <p:cNvPr id="42" name="Oval 8">
              <a:extLst>
                <a:ext uri="{FF2B5EF4-FFF2-40B4-BE49-F238E27FC236}">
                  <a16:creationId xmlns:a16="http://schemas.microsoft.com/office/drawing/2014/main" id="{D51FD5D2-26D9-F16B-6B6B-97A0CB344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3388" y="5813425"/>
              <a:ext cx="22225" cy="22225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  <p:sp>
          <p:nvSpPr>
            <p:cNvPr id="484" name="Oval 9">
              <a:extLst>
                <a:ext uri="{FF2B5EF4-FFF2-40B4-BE49-F238E27FC236}">
                  <a16:creationId xmlns:a16="http://schemas.microsoft.com/office/drawing/2014/main" id="{21CE6412-5060-43C7-5F80-09F279C3A7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4350" y="5813425"/>
              <a:ext cx="22225" cy="22225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  <p:sp>
          <p:nvSpPr>
            <p:cNvPr id="485" name="Freeform 10">
              <a:extLst>
                <a:ext uri="{FF2B5EF4-FFF2-40B4-BE49-F238E27FC236}">
                  <a16:creationId xmlns:a16="http://schemas.microsoft.com/office/drawing/2014/main" id="{A670FC32-8DC2-DB79-5CCE-D9C2B2223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313" y="5715000"/>
              <a:ext cx="33338" cy="12700"/>
            </a:xfrm>
            <a:custGeom>
              <a:avLst/>
              <a:gdLst>
                <a:gd name="T0" fmla="*/ 8 w 81"/>
                <a:gd name="T1" fmla="*/ 0 h 27"/>
                <a:gd name="T2" fmla="*/ 73 w 81"/>
                <a:gd name="T3" fmla="*/ 0 h 27"/>
                <a:gd name="T4" fmla="*/ 81 w 81"/>
                <a:gd name="T5" fmla="*/ 6 h 27"/>
                <a:gd name="T6" fmla="*/ 81 w 81"/>
                <a:gd name="T7" fmla="*/ 20 h 27"/>
                <a:gd name="T8" fmla="*/ 73 w 81"/>
                <a:gd name="T9" fmla="*/ 27 h 27"/>
                <a:gd name="T10" fmla="*/ 8 w 81"/>
                <a:gd name="T11" fmla="*/ 27 h 27"/>
                <a:gd name="T12" fmla="*/ 0 w 81"/>
                <a:gd name="T13" fmla="*/ 20 h 27"/>
                <a:gd name="T14" fmla="*/ 0 w 81"/>
                <a:gd name="T15" fmla="*/ 6 h 27"/>
                <a:gd name="T16" fmla="*/ 8 w 81"/>
                <a:gd name="T1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1" h="27">
                  <a:moveTo>
                    <a:pt x="8" y="0"/>
                  </a:moveTo>
                  <a:lnTo>
                    <a:pt x="73" y="0"/>
                  </a:lnTo>
                  <a:cubicBezTo>
                    <a:pt x="77" y="0"/>
                    <a:pt x="81" y="3"/>
                    <a:pt x="81" y="6"/>
                  </a:cubicBezTo>
                  <a:lnTo>
                    <a:pt x="81" y="20"/>
                  </a:lnTo>
                  <a:cubicBezTo>
                    <a:pt x="81" y="24"/>
                    <a:pt x="77" y="27"/>
                    <a:pt x="73" y="27"/>
                  </a:cubicBezTo>
                  <a:lnTo>
                    <a:pt x="8" y="27"/>
                  </a:lnTo>
                  <a:cubicBezTo>
                    <a:pt x="4" y="27"/>
                    <a:pt x="0" y="24"/>
                    <a:pt x="0" y="20"/>
                  </a:cubicBezTo>
                  <a:lnTo>
                    <a:pt x="0" y="6"/>
                  </a:lnTo>
                  <a:cubicBezTo>
                    <a:pt x="0" y="3"/>
                    <a:pt x="4" y="0"/>
                    <a:pt x="8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  <p:sp>
          <p:nvSpPr>
            <p:cNvPr id="486" name="Oval 11">
              <a:extLst>
                <a:ext uri="{FF2B5EF4-FFF2-40B4-BE49-F238E27FC236}">
                  <a16:creationId xmlns:a16="http://schemas.microsoft.com/office/drawing/2014/main" id="{453FC7C2-6DE7-B5CE-7C66-A20E24FC0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9900" y="569436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  <p:sp>
          <p:nvSpPr>
            <p:cNvPr id="487" name="Oval 12">
              <a:extLst>
                <a:ext uri="{FF2B5EF4-FFF2-40B4-BE49-F238E27FC236}">
                  <a16:creationId xmlns:a16="http://schemas.microsoft.com/office/drawing/2014/main" id="{00CE284A-6C95-237F-CB16-4D28B57B3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8950" y="56943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  <p:sp>
          <p:nvSpPr>
            <p:cNvPr id="488" name="Freeform 13">
              <a:extLst>
                <a:ext uri="{FF2B5EF4-FFF2-40B4-BE49-F238E27FC236}">
                  <a16:creationId xmlns:a16="http://schemas.microsoft.com/office/drawing/2014/main" id="{A8DD28E0-CB17-C7C8-3035-642CA05EE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3388" y="5734050"/>
              <a:ext cx="103188" cy="44450"/>
            </a:xfrm>
            <a:custGeom>
              <a:avLst/>
              <a:gdLst>
                <a:gd name="T0" fmla="*/ 32 w 257"/>
                <a:gd name="T1" fmla="*/ 0 h 96"/>
                <a:gd name="T2" fmla="*/ 0 w 257"/>
                <a:gd name="T3" fmla="*/ 27 h 96"/>
                <a:gd name="T4" fmla="*/ 0 w 257"/>
                <a:gd name="T5" fmla="*/ 68 h 96"/>
                <a:gd name="T6" fmla="*/ 32 w 257"/>
                <a:gd name="T7" fmla="*/ 96 h 96"/>
                <a:gd name="T8" fmla="*/ 225 w 257"/>
                <a:gd name="T9" fmla="*/ 96 h 96"/>
                <a:gd name="T10" fmla="*/ 257 w 257"/>
                <a:gd name="T11" fmla="*/ 68 h 96"/>
                <a:gd name="T12" fmla="*/ 257 w 257"/>
                <a:gd name="T13" fmla="*/ 27 h 96"/>
                <a:gd name="T14" fmla="*/ 225 w 257"/>
                <a:gd name="T15" fmla="*/ 0 h 96"/>
                <a:gd name="T16" fmla="*/ 32 w 257"/>
                <a:gd name="T17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7" h="96">
                  <a:moveTo>
                    <a:pt x="32" y="0"/>
                  </a:moveTo>
                  <a:cubicBezTo>
                    <a:pt x="14" y="0"/>
                    <a:pt x="0" y="12"/>
                    <a:pt x="0" y="27"/>
                  </a:cubicBezTo>
                  <a:lnTo>
                    <a:pt x="0" y="68"/>
                  </a:lnTo>
                  <a:cubicBezTo>
                    <a:pt x="0" y="83"/>
                    <a:pt x="14" y="96"/>
                    <a:pt x="32" y="96"/>
                  </a:cubicBezTo>
                  <a:lnTo>
                    <a:pt x="225" y="96"/>
                  </a:lnTo>
                  <a:cubicBezTo>
                    <a:pt x="243" y="96"/>
                    <a:pt x="257" y="83"/>
                    <a:pt x="257" y="68"/>
                  </a:cubicBezTo>
                  <a:lnTo>
                    <a:pt x="257" y="27"/>
                  </a:lnTo>
                  <a:cubicBezTo>
                    <a:pt x="257" y="12"/>
                    <a:pt x="243" y="0"/>
                    <a:pt x="225" y="0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  <p:sp>
          <p:nvSpPr>
            <p:cNvPr id="489" name="Freeform 14">
              <a:extLst>
                <a:ext uri="{FF2B5EF4-FFF2-40B4-BE49-F238E27FC236}">
                  <a16:creationId xmlns:a16="http://schemas.microsoft.com/office/drawing/2014/main" id="{45B7FC03-D584-2C5B-9FFE-F1FFAE1E4E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70688" y="5848350"/>
              <a:ext cx="130175" cy="52388"/>
            </a:xfrm>
            <a:custGeom>
              <a:avLst/>
              <a:gdLst>
                <a:gd name="T0" fmla="*/ 20 w 82"/>
                <a:gd name="T1" fmla="*/ 0 h 33"/>
                <a:gd name="T2" fmla="*/ 0 w 82"/>
                <a:gd name="T3" fmla="*/ 33 h 33"/>
                <a:gd name="T4" fmla="*/ 8 w 82"/>
                <a:gd name="T5" fmla="*/ 33 h 33"/>
                <a:gd name="T6" fmla="*/ 28 w 82"/>
                <a:gd name="T7" fmla="*/ 0 h 33"/>
                <a:gd name="T8" fmla="*/ 20 w 82"/>
                <a:gd name="T9" fmla="*/ 0 h 33"/>
                <a:gd name="T10" fmla="*/ 61 w 82"/>
                <a:gd name="T11" fmla="*/ 0 h 33"/>
                <a:gd name="T12" fmla="*/ 82 w 82"/>
                <a:gd name="T13" fmla="*/ 33 h 33"/>
                <a:gd name="T14" fmla="*/ 73 w 82"/>
                <a:gd name="T15" fmla="*/ 33 h 33"/>
                <a:gd name="T16" fmla="*/ 53 w 82"/>
                <a:gd name="T17" fmla="*/ 0 h 33"/>
                <a:gd name="T18" fmla="*/ 61 w 82"/>
                <a:gd name="T19" fmla="*/ 0 h 33"/>
                <a:gd name="T20" fmla="*/ 23 w 82"/>
                <a:gd name="T21" fmla="*/ 8 h 33"/>
                <a:gd name="T22" fmla="*/ 58 w 82"/>
                <a:gd name="T23" fmla="*/ 8 h 33"/>
                <a:gd name="T24" fmla="*/ 53 w 82"/>
                <a:gd name="T25" fmla="*/ 0 h 33"/>
                <a:gd name="T26" fmla="*/ 28 w 82"/>
                <a:gd name="T27" fmla="*/ 0 h 33"/>
                <a:gd name="T28" fmla="*/ 23 w 82"/>
                <a:gd name="T29" fmla="*/ 8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" h="33">
                  <a:moveTo>
                    <a:pt x="20" y="0"/>
                  </a:moveTo>
                  <a:lnTo>
                    <a:pt x="0" y="33"/>
                  </a:lnTo>
                  <a:lnTo>
                    <a:pt x="8" y="33"/>
                  </a:lnTo>
                  <a:lnTo>
                    <a:pt x="28" y="0"/>
                  </a:lnTo>
                  <a:lnTo>
                    <a:pt x="20" y="0"/>
                  </a:lnTo>
                  <a:close/>
                  <a:moveTo>
                    <a:pt x="61" y="0"/>
                  </a:moveTo>
                  <a:lnTo>
                    <a:pt x="82" y="33"/>
                  </a:lnTo>
                  <a:lnTo>
                    <a:pt x="73" y="33"/>
                  </a:lnTo>
                  <a:lnTo>
                    <a:pt x="53" y="0"/>
                  </a:lnTo>
                  <a:lnTo>
                    <a:pt x="61" y="0"/>
                  </a:lnTo>
                  <a:close/>
                  <a:moveTo>
                    <a:pt x="23" y="8"/>
                  </a:moveTo>
                  <a:lnTo>
                    <a:pt x="58" y="8"/>
                  </a:lnTo>
                  <a:lnTo>
                    <a:pt x="53" y="0"/>
                  </a:lnTo>
                  <a:lnTo>
                    <a:pt x="28" y="0"/>
                  </a:lnTo>
                  <a:lnTo>
                    <a:pt x="23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  <p:sp>
          <p:nvSpPr>
            <p:cNvPr id="490" name="Freeform 15">
              <a:extLst>
                <a:ext uri="{FF2B5EF4-FFF2-40B4-BE49-F238E27FC236}">
                  <a16:creationId xmlns:a16="http://schemas.microsoft.com/office/drawing/2014/main" id="{2739FBC4-86DF-E40B-857A-1105F17B4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3388" y="5884863"/>
              <a:ext cx="103188" cy="9525"/>
            </a:xfrm>
            <a:custGeom>
              <a:avLst/>
              <a:gdLst>
                <a:gd name="T0" fmla="*/ 4 w 65"/>
                <a:gd name="T1" fmla="*/ 0 h 6"/>
                <a:gd name="T2" fmla="*/ 0 w 65"/>
                <a:gd name="T3" fmla="*/ 6 h 6"/>
                <a:gd name="T4" fmla="*/ 65 w 65"/>
                <a:gd name="T5" fmla="*/ 6 h 6"/>
                <a:gd name="T6" fmla="*/ 61 w 65"/>
                <a:gd name="T7" fmla="*/ 0 h 6"/>
                <a:gd name="T8" fmla="*/ 4 w 6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6">
                  <a:moveTo>
                    <a:pt x="4" y="0"/>
                  </a:moveTo>
                  <a:lnTo>
                    <a:pt x="0" y="6"/>
                  </a:lnTo>
                  <a:lnTo>
                    <a:pt x="65" y="6"/>
                  </a:lnTo>
                  <a:lnTo>
                    <a:pt x="61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</p:grp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FE77FCD0-0003-736C-01C4-B0BEB11EBD23}"/>
              </a:ext>
            </a:extLst>
          </p:cNvPr>
          <p:cNvGrpSpPr/>
          <p:nvPr/>
        </p:nvGrpSpPr>
        <p:grpSpPr>
          <a:xfrm>
            <a:off x="4112280" y="16584911"/>
            <a:ext cx="375468" cy="595257"/>
            <a:chOff x="846138" y="5711825"/>
            <a:chExt cx="130175" cy="206376"/>
          </a:xfrm>
        </p:grpSpPr>
        <p:sp>
          <p:nvSpPr>
            <p:cNvPr id="491" name="Freeform 16">
              <a:extLst>
                <a:ext uri="{FF2B5EF4-FFF2-40B4-BE49-F238E27FC236}">
                  <a16:creationId xmlns:a16="http://schemas.microsoft.com/office/drawing/2014/main" id="{F1FC2A1A-1812-D2D1-EA57-1E00662D0949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138" y="5724525"/>
              <a:ext cx="130175" cy="141288"/>
            </a:xfrm>
            <a:custGeom>
              <a:avLst/>
              <a:gdLst>
                <a:gd name="T0" fmla="*/ 64 w 322"/>
                <a:gd name="T1" fmla="*/ 0 h 302"/>
                <a:gd name="T2" fmla="*/ 0 w 322"/>
                <a:gd name="T3" fmla="*/ 51 h 302"/>
                <a:gd name="T4" fmla="*/ 0 w 322"/>
                <a:gd name="T5" fmla="*/ 251 h 302"/>
                <a:gd name="T6" fmla="*/ 64 w 322"/>
                <a:gd name="T7" fmla="*/ 302 h 302"/>
                <a:gd name="T8" fmla="*/ 257 w 322"/>
                <a:gd name="T9" fmla="*/ 302 h 302"/>
                <a:gd name="T10" fmla="*/ 322 w 322"/>
                <a:gd name="T11" fmla="*/ 251 h 302"/>
                <a:gd name="T12" fmla="*/ 322 w 322"/>
                <a:gd name="T13" fmla="*/ 51 h 302"/>
                <a:gd name="T14" fmla="*/ 257 w 322"/>
                <a:gd name="T15" fmla="*/ 0 h 302"/>
                <a:gd name="T16" fmla="*/ 64 w 322"/>
                <a:gd name="T17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2" h="302">
                  <a:moveTo>
                    <a:pt x="64" y="0"/>
                  </a:moveTo>
                  <a:cubicBezTo>
                    <a:pt x="29" y="0"/>
                    <a:pt x="0" y="23"/>
                    <a:pt x="0" y="51"/>
                  </a:cubicBezTo>
                  <a:lnTo>
                    <a:pt x="0" y="251"/>
                  </a:lnTo>
                  <a:cubicBezTo>
                    <a:pt x="0" y="279"/>
                    <a:pt x="29" y="302"/>
                    <a:pt x="64" y="302"/>
                  </a:cubicBezTo>
                  <a:lnTo>
                    <a:pt x="257" y="302"/>
                  </a:lnTo>
                  <a:cubicBezTo>
                    <a:pt x="293" y="302"/>
                    <a:pt x="322" y="279"/>
                    <a:pt x="322" y="251"/>
                  </a:cubicBezTo>
                  <a:lnTo>
                    <a:pt x="322" y="51"/>
                  </a:lnTo>
                  <a:cubicBezTo>
                    <a:pt x="322" y="23"/>
                    <a:pt x="293" y="0"/>
                    <a:pt x="257" y="0"/>
                  </a:cubicBezTo>
                  <a:lnTo>
                    <a:pt x="6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  <p:sp>
          <p:nvSpPr>
            <p:cNvPr id="492" name="Oval 17">
              <a:extLst>
                <a:ext uri="{FF2B5EF4-FFF2-40B4-BE49-F238E27FC236}">
                  <a16:creationId xmlns:a16="http://schemas.microsoft.com/office/drawing/2014/main" id="{5BD14133-5E0D-4D53-5D83-9CC18788D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8838" y="5830888"/>
              <a:ext cx="22225" cy="22225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  <p:sp>
          <p:nvSpPr>
            <p:cNvPr id="493" name="Oval 18">
              <a:extLst>
                <a:ext uri="{FF2B5EF4-FFF2-40B4-BE49-F238E27FC236}">
                  <a16:creationId xmlns:a16="http://schemas.microsoft.com/office/drawing/2014/main" id="{696C5DE3-A618-62C3-C001-BDD84C29A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800" y="5830888"/>
              <a:ext cx="22225" cy="22225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  <p:sp>
          <p:nvSpPr>
            <p:cNvPr id="494" name="Freeform 19">
              <a:extLst>
                <a:ext uri="{FF2B5EF4-FFF2-40B4-BE49-F238E27FC236}">
                  <a16:creationId xmlns:a16="http://schemas.microsoft.com/office/drawing/2014/main" id="{1D2FA6A1-B64E-C65A-7A34-33A8F4F2F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893763" y="5730875"/>
              <a:ext cx="33338" cy="12700"/>
            </a:xfrm>
            <a:custGeom>
              <a:avLst/>
              <a:gdLst>
                <a:gd name="T0" fmla="*/ 8 w 80"/>
                <a:gd name="T1" fmla="*/ 0 h 27"/>
                <a:gd name="T2" fmla="*/ 72 w 80"/>
                <a:gd name="T3" fmla="*/ 0 h 27"/>
                <a:gd name="T4" fmla="*/ 80 w 80"/>
                <a:gd name="T5" fmla="*/ 7 h 27"/>
                <a:gd name="T6" fmla="*/ 80 w 80"/>
                <a:gd name="T7" fmla="*/ 21 h 27"/>
                <a:gd name="T8" fmla="*/ 72 w 80"/>
                <a:gd name="T9" fmla="*/ 27 h 27"/>
                <a:gd name="T10" fmla="*/ 8 w 80"/>
                <a:gd name="T11" fmla="*/ 27 h 27"/>
                <a:gd name="T12" fmla="*/ 0 w 80"/>
                <a:gd name="T13" fmla="*/ 21 h 27"/>
                <a:gd name="T14" fmla="*/ 0 w 80"/>
                <a:gd name="T15" fmla="*/ 7 h 27"/>
                <a:gd name="T16" fmla="*/ 8 w 80"/>
                <a:gd name="T1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27">
                  <a:moveTo>
                    <a:pt x="8" y="0"/>
                  </a:moveTo>
                  <a:lnTo>
                    <a:pt x="72" y="0"/>
                  </a:lnTo>
                  <a:cubicBezTo>
                    <a:pt x="76" y="0"/>
                    <a:pt x="80" y="3"/>
                    <a:pt x="80" y="7"/>
                  </a:cubicBezTo>
                  <a:lnTo>
                    <a:pt x="80" y="21"/>
                  </a:lnTo>
                  <a:cubicBezTo>
                    <a:pt x="80" y="24"/>
                    <a:pt x="76" y="27"/>
                    <a:pt x="72" y="27"/>
                  </a:cubicBezTo>
                  <a:lnTo>
                    <a:pt x="8" y="27"/>
                  </a:lnTo>
                  <a:cubicBezTo>
                    <a:pt x="3" y="27"/>
                    <a:pt x="0" y="24"/>
                    <a:pt x="0" y="21"/>
                  </a:cubicBezTo>
                  <a:lnTo>
                    <a:pt x="0" y="7"/>
                  </a:lnTo>
                  <a:cubicBezTo>
                    <a:pt x="0" y="3"/>
                    <a:pt x="3" y="0"/>
                    <a:pt x="8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  <p:sp>
          <p:nvSpPr>
            <p:cNvPr id="495" name="Oval 20">
              <a:extLst>
                <a:ext uri="{FF2B5EF4-FFF2-40B4-BE49-F238E27FC236}">
                  <a16:creationId xmlns:a16="http://schemas.microsoft.com/office/drawing/2014/main" id="{D8FBA09D-377A-27C6-92C5-838E5E334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350" y="57118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  <p:sp>
          <p:nvSpPr>
            <p:cNvPr id="496" name="Oval 21">
              <a:extLst>
                <a:ext uri="{FF2B5EF4-FFF2-40B4-BE49-F238E27FC236}">
                  <a16:creationId xmlns:a16="http://schemas.microsoft.com/office/drawing/2014/main" id="{BF4E5989-35E4-48D4-86F4-061F3CCD9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57118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  <p:sp>
          <p:nvSpPr>
            <p:cNvPr id="497" name="Freeform 22">
              <a:extLst>
                <a:ext uri="{FF2B5EF4-FFF2-40B4-BE49-F238E27FC236}">
                  <a16:creationId xmlns:a16="http://schemas.microsoft.com/office/drawing/2014/main" id="{480087C2-5AD7-B4AD-41C8-53E036203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838" y="5751513"/>
              <a:ext cx="103188" cy="44450"/>
            </a:xfrm>
            <a:custGeom>
              <a:avLst/>
              <a:gdLst>
                <a:gd name="T0" fmla="*/ 32 w 257"/>
                <a:gd name="T1" fmla="*/ 0 h 96"/>
                <a:gd name="T2" fmla="*/ 0 w 257"/>
                <a:gd name="T3" fmla="*/ 28 h 96"/>
                <a:gd name="T4" fmla="*/ 0 w 257"/>
                <a:gd name="T5" fmla="*/ 69 h 96"/>
                <a:gd name="T6" fmla="*/ 32 w 257"/>
                <a:gd name="T7" fmla="*/ 96 h 96"/>
                <a:gd name="T8" fmla="*/ 225 w 257"/>
                <a:gd name="T9" fmla="*/ 96 h 96"/>
                <a:gd name="T10" fmla="*/ 257 w 257"/>
                <a:gd name="T11" fmla="*/ 69 h 96"/>
                <a:gd name="T12" fmla="*/ 257 w 257"/>
                <a:gd name="T13" fmla="*/ 28 h 96"/>
                <a:gd name="T14" fmla="*/ 225 w 257"/>
                <a:gd name="T15" fmla="*/ 0 h 96"/>
                <a:gd name="T16" fmla="*/ 32 w 257"/>
                <a:gd name="T17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7" h="96">
                  <a:moveTo>
                    <a:pt x="32" y="0"/>
                  </a:moveTo>
                  <a:cubicBezTo>
                    <a:pt x="15" y="0"/>
                    <a:pt x="0" y="12"/>
                    <a:pt x="0" y="28"/>
                  </a:cubicBezTo>
                  <a:lnTo>
                    <a:pt x="0" y="69"/>
                  </a:lnTo>
                  <a:cubicBezTo>
                    <a:pt x="0" y="84"/>
                    <a:pt x="15" y="96"/>
                    <a:pt x="32" y="96"/>
                  </a:cubicBezTo>
                  <a:lnTo>
                    <a:pt x="225" y="96"/>
                  </a:lnTo>
                  <a:cubicBezTo>
                    <a:pt x="243" y="96"/>
                    <a:pt x="257" y="84"/>
                    <a:pt x="257" y="69"/>
                  </a:cubicBezTo>
                  <a:lnTo>
                    <a:pt x="257" y="28"/>
                  </a:lnTo>
                  <a:cubicBezTo>
                    <a:pt x="257" y="12"/>
                    <a:pt x="243" y="0"/>
                    <a:pt x="225" y="0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  <p:sp>
          <p:nvSpPr>
            <p:cNvPr id="498" name="Freeform 23">
              <a:extLst>
                <a:ext uri="{FF2B5EF4-FFF2-40B4-BE49-F238E27FC236}">
                  <a16:creationId xmlns:a16="http://schemas.microsoft.com/office/drawing/2014/main" id="{EEECA31B-AD26-9E66-3961-FA918AD5F7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6138" y="5865813"/>
              <a:ext cx="130175" cy="52388"/>
            </a:xfrm>
            <a:custGeom>
              <a:avLst/>
              <a:gdLst>
                <a:gd name="T0" fmla="*/ 20 w 82"/>
                <a:gd name="T1" fmla="*/ 0 h 33"/>
                <a:gd name="T2" fmla="*/ 0 w 82"/>
                <a:gd name="T3" fmla="*/ 33 h 33"/>
                <a:gd name="T4" fmla="*/ 8 w 82"/>
                <a:gd name="T5" fmla="*/ 33 h 33"/>
                <a:gd name="T6" fmla="*/ 28 w 82"/>
                <a:gd name="T7" fmla="*/ 0 h 33"/>
                <a:gd name="T8" fmla="*/ 20 w 82"/>
                <a:gd name="T9" fmla="*/ 0 h 33"/>
                <a:gd name="T10" fmla="*/ 61 w 82"/>
                <a:gd name="T11" fmla="*/ 0 h 33"/>
                <a:gd name="T12" fmla="*/ 82 w 82"/>
                <a:gd name="T13" fmla="*/ 33 h 33"/>
                <a:gd name="T14" fmla="*/ 73 w 82"/>
                <a:gd name="T15" fmla="*/ 33 h 33"/>
                <a:gd name="T16" fmla="*/ 53 w 82"/>
                <a:gd name="T17" fmla="*/ 0 h 33"/>
                <a:gd name="T18" fmla="*/ 61 w 82"/>
                <a:gd name="T19" fmla="*/ 0 h 33"/>
                <a:gd name="T20" fmla="*/ 23 w 82"/>
                <a:gd name="T21" fmla="*/ 8 h 33"/>
                <a:gd name="T22" fmla="*/ 58 w 82"/>
                <a:gd name="T23" fmla="*/ 8 h 33"/>
                <a:gd name="T24" fmla="*/ 53 w 82"/>
                <a:gd name="T25" fmla="*/ 0 h 33"/>
                <a:gd name="T26" fmla="*/ 28 w 82"/>
                <a:gd name="T27" fmla="*/ 0 h 33"/>
                <a:gd name="T28" fmla="*/ 23 w 82"/>
                <a:gd name="T29" fmla="*/ 8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" h="33">
                  <a:moveTo>
                    <a:pt x="20" y="0"/>
                  </a:moveTo>
                  <a:lnTo>
                    <a:pt x="0" y="33"/>
                  </a:lnTo>
                  <a:lnTo>
                    <a:pt x="8" y="33"/>
                  </a:lnTo>
                  <a:lnTo>
                    <a:pt x="28" y="0"/>
                  </a:lnTo>
                  <a:lnTo>
                    <a:pt x="20" y="0"/>
                  </a:lnTo>
                  <a:close/>
                  <a:moveTo>
                    <a:pt x="61" y="0"/>
                  </a:moveTo>
                  <a:lnTo>
                    <a:pt x="82" y="33"/>
                  </a:lnTo>
                  <a:lnTo>
                    <a:pt x="73" y="33"/>
                  </a:lnTo>
                  <a:lnTo>
                    <a:pt x="53" y="0"/>
                  </a:lnTo>
                  <a:lnTo>
                    <a:pt x="61" y="0"/>
                  </a:lnTo>
                  <a:close/>
                  <a:moveTo>
                    <a:pt x="23" y="8"/>
                  </a:moveTo>
                  <a:lnTo>
                    <a:pt x="58" y="8"/>
                  </a:lnTo>
                  <a:lnTo>
                    <a:pt x="53" y="0"/>
                  </a:lnTo>
                  <a:lnTo>
                    <a:pt x="28" y="0"/>
                  </a:lnTo>
                  <a:lnTo>
                    <a:pt x="23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  <p:sp>
          <p:nvSpPr>
            <p:cNvPr id="499" name="Freeform 24">
              <a:extLst>
                <a:ext uri="{FF2B5EF4-FFF2-40B4-BE49-F238E27FC236}">
                  <a16:creationId xmlns:a16="http://schemas.microsoft.com/office/drawing/2014/main" id="{A7838B5F-784B-A3D3-5BCB-2D7F72DF5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838" y="5902325"/>
              <a:ext cx="103188" cy="9525"/>
            </a:xfrm>
            <a:custGeom>
              <a:avLst/>
              <a:gdLst>
                <a:gd name="T0" fmla="*/ 4 w 65"/>
                <a:gd name="T1" fmla="*/ 0 h 6"/>
                <a:gd name="T2" fmla="*/ 0 w 65"/>
                <a:gd name="T3" fmla="*/ 6 h 6"/>
                <a:gd name="T4" fmla="*/ 65 w 65"/>
                <a:gd name="T5" fmla="*/ 6 h 6"/>
                <a:gd name="T6" fmla="*/ 61 w 65"/>
                <a:gd name="T7" fmla="*/ 0 h 6"/>
                <a:gd name="T8" fmla="*/ 4 w 6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6">
                  <a:moveTo>
                    <a:pt x="4" y="0"/>
                  </a:moveTo>
                  <a:lnTo>
                    <a:pt x="0" y="6"/>
                  </a:lnTo>
                  <a:lnTo>
                    <a:pt x="65" y="6"/>
                  </a:lnTo>
                  <a:lnTo>
                    <a:pt x="61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</p:grpSp>
      <p:grpSp>
        <p:nvGrpSpPr>
          <p:cNvPr id="510" name="Group 27">
            <a:extLst>
              <a:ext uri="{FF2B5EF4-FFF2-40B4-BE49-F238E27FC236}">
                <a16:creationId xmlns:a16="http://schemas.microsoft.com/office/drawing/2014/main" id="{8CE0076E-D85D-5978-2D4C-FF22DA5E3AF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166737" y="16405980"/>
            <a:ext cx="694155" cy="964872"/>
            <a:chOff x="4200" y="3411"/>
            <a:chExt cx="240" cy="365"/>
          </a:xfrm>
        </p:grpSpPr>
        <p:sp>
          <p:nvSpPr>
            <p:cNvPr id="511" name="AutoShape 26">
              <a:extLst>
                <a:ext uri="{FF2B5EF4-FFF2-40B4-BE49-F238E27FC236}">
                  <a16:creationId xmlns:a16="http://schemas.microsoft.com/office/drawing/2014/main" id="{08637782-4679-D460-2508-F52BBBAAB5DA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200" y="3435"/>
              <a:ext cx="240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  <p:sp>
          <p:nvSpPr>
            <p:cNvPr id="71" name="Rectangle 28">
              <a:extLst>
                <a:ext uri="{FF2B5EF4-FFF2-40B4-BE49-F238E27FC236}">
                  <a16:creationId xmlns:a16="http://schemas.microsoft.com/office/drawing/2014/main" id="{1C455295-958C-AF60-D126-B9C4D6577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3411"/>
              <a:ext cx="59" cy="365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  <p:sp>
          <p:nvSpPr>
            <p:cNvPr id="86" name="Freeform 29">
              <a:extLst>
                <a:ext uri="{FF2B5EF4-FFF2-40B4-BE49-F238E27FC236}">
                  <a16:creationId xmlns:a16="http://schemas.microsoft.com/office/drawing/2014/main" id="{9FEE64CC-5C8B-59CB-2B71-2C145ECED5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3" y="3616"/>
              <a:ext cx="74" cy="76"/>
            </a:xfrm>
            <a:custGeom>
              <a:avLst/>
              <a:gdLst>
                <a:gd name="T0" fmla="*/ 0 w 193"/>
                <a:gd name="T1" fmla="*/ 178 h 200"/>
                <a:gd name="T2" fmla="*/ 97 w 193"/>
                <a:gd name="T3" fmla="*/ 200 h 200"/>
                <a:gd name="T4" fmla="*/ 193 w 193"/>
                <a:gd name="T5" fmla="*/ 178 h 200"/>
                <a:gd name="T6" fmla="*/ 193 w 193"/>
                <a:gd name="T7" fmla="*/ 0 h 200"/>
                <a:gd name="T8" fmla="*/ 0 w 193"/>
                <a:gd name="T9" fmla="*/ 0 h 200"/>
                <a:gd name="T10" fmla="*/ 0 w 193"/>
                <a:gd name="T11" fmla="*/ 178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3" h="200">
                  <a:moveTo>
                    <a:pt x="0" y="178"/>
                  </a:moveTo>
                  <a:cubicBezTo>
                    <a:pt x="0" y="190"/>
                    <a:pt x="43" y="200"/>
                    <a:pt x="97" y="200"/>
                  </a:cubicBezTo>
                  <a:cubicBezTo>
                    <a:pt x="150" y="200"/>
                    <a:pt x="193" y="190"/>
                    <a:pt x="193" y="178"/>
                  </a:cubicBezTo>
                  <a:lnTo>
                    <a:pt x="193" y="0"/>
                  </a:lnTo>
                  <a:lnTo>
                    <a:pt x="0" y="0"/>
                  </a:lnTo>
                  <a:lnTo>
                    <a:pt x="0" y="178"/>
                  </a:lnTo>
                  <a:close/>
                </a:path>
              </a:pathLst>
            </a:custGeom>
            <a:solidFill>
              <a:srgbClr val="A5A5A5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  <p:sp>
          <p:nvSpPr>
            <p:cNvPr id="88" name="Freeform 30">
              <a:extLst>
                <a:ext uri="{FF2B5EF4-FFF2-40B4-BE49-F238E27FC236}">
                  <a16:creationId xmlns:a16="http://schemas.microsoft.com/office/drawing/2014/main" id="{7FE75D8B-39C8-3AEA-1084-05E8B3B13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3" y="3616"/>
              <a:ext cx="74" cy="76"/>
            </a:xfrm>
            <a:custGeom>
              <a:avLst/>
              <a:gdLst>
                <a:gd name="T0" fmla="*/ 0 w 193"/>
                <a:gd name="T1" fmla="*/ 178 h 200"/>
                <a:gd name="T2" fmla="*/ 97 w 193"/>
                <a:gd name="T3" fmla="*/ 200 h 200"/>
                <a:gd name="T4" fmla="*/ 193 w 193"/>
                <a:gd name="T5" fmla="*/ 178 h 200"/>
                <a:gd name="T6" fmla="*/ 193 w 193"/>
                <a:gd name="T7" fmla="*/ 0 h 200"/>
                <a:gd name="T8" fmla="*/ 0 w 193"/>
                <a:gd name="T9" fmla="*/ 0 h 200"/>
                <a:gd name="T10" fmla="*/ 0 w 193"/>
                <a:gd name="T11" fmla="*/ 178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3" h="200">
                  <a:moveTo>
                    <a:pt x="0" y="178"/>
                  </a:moveTo>
                  <a:cubicBezTo>
                    <a:pt x="0" y="190"/>
                    <a:pt x="43" y="200"/>
                    <a:pt x="97" y="200"/>
                  </a:cubicBezTo>
                  <a:cubicBezTo>
                    <a:pt x="150" y="200"/>
                    <a:pt x="193" y="190"/>
                    <a:pt x="193" y="178"/>
                  </a:cubicBezTo>
                  <a:lnTo>
                    <a:pt x="193" y="0"/>
                  </a:lnTo>
                  <a:lnTo>
                    <a:pt x="0" y="0"/>
                  </a:lnTo>
                  <a:lnTo>
                    <a:pt x="0" y="178"/>
                  </a:ln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  <p:sp>
          <p:nvSpPr>
            <p:cNvPr id="89" name="Oval 31">
              <a:extLst>
                <a:ext uri="{FF2B5EF4-FFF2-40B4-BE49-F238E27FC236}">
                  <a16:creationId xmlns:a16="http://schemas.microsoft.com/office/drawing/2014/main" id="{7B3ECBD8-0659-3DA9-7AE4-D6D62A721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3" y="3607"/>
              <a:ext cx="74" cy="17"/>
            </a:xfrm>
            <a:prstGeom prst="ellipse">
              <a:avLst/>
            </a:prstGeom>
            <a:solidFill>
              <a:srgbClr val="A5A5A5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  <p:sp>
          <p:nvSpPr>
            <p:cNvPr id="90" name="Oval 32">
              <a:extLst>
                <a:ext uri="{FF2B5EF4-FFF2-40B4-BE49-F238E27FC236}">
                  <a16:creationId xmlns:a16="http://schemas.microsoft.com/office/drawing/2014/main" id="{0D8E435E-0372-B879-C7EE-36B72659F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3" y="3607"/>
              <a:ext cx="74" cy="17"/>
            </a:xfrm>
            <a:prstGeom prst="ellipse">
              <a:avLst/>
            </a:pr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  <p:sp>
          <p:nvSpPr>
            <p:cNvPr id="96" name="Freeform 33">
              <a:extLst>
                <a:ext uri="{FF2B5EF4-FFF2-40B4-BE49-F238E27FC236}">
                  <a16:creationId xmlns:a16="http://schemas.microsoft.com/office/drawing/2014/main" id="{020E5EA4-768B-6D8F-33A9-4B6837C9F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1" y="3465"/>
              <a:ext cx="74" cy="76"/>
            </a:xfrm>
            <a:custGeom>
              <a:avLst/>
              <a:gdLst>
                <a:gd name="T0" fmla="*/ 0 w 193"/>
                <a:gd name="T1" fmla="*/ 178 h 200"/>
                <a:gd name="T2" fmla="*/ 97 w 193"/>
                <a:gd name="T3" fmla="*/ 200 h 200"/>
                <a:gd name="T4" fmla="*/ 193 w 193"/>
                <a:gd name="T5" fmla="*/ 178 h 200"/>
                <a:gd name="T6" fmla="*/ 193 w 193"/>
                <a:gd name="T7" fmla="*/ 0 h 200"/>
                <a:gd name="T8" fmla="*/ 0 w 193"/>
                <a:gd name="T9" fmla="*/ 0 h 200"/>
                <a:gd name="T10" fmla="*/ 0 w 193"/>
                <a:gd name="T11" fmla="*/ 178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3" h="200">
                  <a:moveTo>
                    <a:pt x="0" y="178"/>
                  </a:moveTo>
                  <a:cubicBezTo>
                    <a:pt x="0" y="190"/>
                    <a:pt x="43" y="200"/>
                    <a:pt x="97" y="200"/>
                  </a:cubicBezTo>
                  <a:cubicBezTo>
                    <a:pt x="150" y="200"/>
                    <a:pt x="193" y="190"/>
                    <a:pt x="193" y="178"/>
                  </a:cubicBezTo>
                  <a:lnTo>
                    <a:pt x="193" y="0"/>
                  </a:lnTo>
                  <a:lnTo>
                    <a:pt x="0" y="0"/>
                  </a:lnTo>
                  <a:lnTo>
                    <a:pt x="0" y="178"/>
                  </a:lnTo>
                  <a:close/>
                </a:path>
              </a:pathLst>
            </a:custGeom>
            <a:solidFill>
              <a:srgbClr val="A5A5A5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  <p:sp>
          <p:nvSpPr>
            <p:cNvPr id="97" name="Freeform 34">
              <a:extLst>
                <a:ext uri="{FF2B5EF4-FFF2-40B4-BE49-F238E27FC236}">
                  <a16:creationId xmlns:a16="http://schemas.microsoft.com/office/drawing/2014/main" id="{96988F62-B0F5-5701-4658-F42EDB2A2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1" y="3465"/>
              <a:ext cx="74" cy="76"/>
            </a:xfrm>
            <a:custGeom>
              <a:avLst/>
              <a:gdLst>
                <a:gd name="T0" fmla="*/ 0 w 193"/>
                <a:gd name="T1" fmla="*/ 178 h 200"/>
                <a:gd name="T2" fmla="*/ 97 w 193"/>
                <a:gd name="T3" fmla="*/ 200 h 200"/>
                <a:gd name="T4" fmla="*/ 193 w 193"/>
                <a:gd name="T5" fmla="*/ 178 h 200"/>
                <a:gd name="T6" fmla="*/ 193 w 193"/>
                <a:gd name="T7" fmla="*/ 0 h 200"/>
                <a:gd name="T8" fmla="*/ 0 w 193"/>
                <a:gd name="T9" fmla="*/ 0 h 200"/>
                <a:gd name="T10" fmla="*/ 0 w 193"/>
                <a:gd name="T11" fmla="*/ 178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3" h="200">
                  <a:moveTo>
                    <a:pt x="0" y="178"/>
                  </a:moveTo>
                  <a:cubicBezTo>
                    <a:pt x="0" y="190"/>
                    <a:pt x="43" y="200"/>
                    <a:pt x="97" y="200"/>
                  </a:cubicBezTo>
                  <a:cubicBezTo>
                    <a:pt x="150" y="200"/>
                    <a:pt x="193" y="190"/>
                    <a:pt x="193" y="178"/>
                  </a:cubicBezTo>
                  <a:lnTo>
                    <a:pt x="193" y="0"/>
                  </a:lnTo>
                  <a:lnTo>
                    <a:pt x="0" y="0"/>
                  </a:lnTo>
                  <a:lnTo>
                    <a:pt x="0" y="178"/>
                  </a:ln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  <p:sp>
          <p:nvSpPr>
            <p:cNvPr id="98" name="Oval 35">
              <a:extLst>
                <a:ext uri="{FF2B5EF4-FFF2-40B4-BE49-F238E27FC236}">
                  <a16:creationId xmlns:a16="http://schemas.microsoft.com/office/drawing/2014/main" id="{06527DBE-9CBA-2665-69EC-363A7931C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1" y="3456"/>
              <a:ext cx="74" cy="17"/>
            </a:xfrm>
            <a:prstGeom prst="ellipse">
              <a:avLst/>
            </a:prstGeom>
            <a:solidFill>
              <a:srgbClr val="A5A5A5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  <p:sp>
          <p:nvSpPr>
            <p:cNvPr id="126" name="Oval 36">
              <a:extLst>
                <a:ext uri="{FF2B5EF4-FFF2-40B4-BE49-F238E27FC236}">
                  <a16:creationId xmlns:a16="http://schemas.microsoft.com/office/drawing/2014/main" id="{77C53F2A-FAF2-BED4-4F9A-608142F1AB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1" y="3456"/>
              <a:ext cx="74" cy="17"/>
            </a:xfrm>
            <a:prstGeom prst="ellipse">
              <a:avLst/>
            </a:pr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263742" tIns="131871" rIns="263742" bIns="131871" numCol="1" anchor="t" anchorCtr="0" compatLnSpc="1">
              <a:prstTxWarp prst="textNoShape">
                <a:avLst/>
              </a:prstTxWarp>
            </a:bodyPr>
            <a:lstStyle/>
            <a:p>
              <a:endParaRPr lang="en-US" sz="5193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6561898-974E-5EE4-3471-C68A9BCAF9AC}"/>
              </a:ext>
            </a:extLst>
          </p:cNvPr>
          <p:cNvGrpSpPr/>
          <p:nvPr/>
        </p:nvGrpSpPr>
        <p:grpSpPr>
          <a:xfrm>
            <a:off x="13556087" y="7661486"/>
            <a:ext cx="6855507" cy="391443"/>
            <a:chOff x="4455438" y="2666506"/>
            <a:chExt cx="2376814" cy="135714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E5D9706-5DCB-3C43-A72B-28461EC74112}"/>
                </a:ext>
              </a:extLst>
            </p:cNvPr>
            <p:cNvSpPr/>
            <p:nvPr/>
          </p:nvSpPr>
          <p:spPr>
            <a:xfrm>
              <a:off x="4455438" y="2666506"/>
              <a:ext cx="2376814" cy="135714"/>
            </a:xfrm>
            <a:prstGeom prst="rect">
              <a:avLst/>
            </a:prstGeom>
            <a:solidFill>
              <a:srgbClr val="EDCD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193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FE8787A-1DBD-79F5-79D2-56321A34E141}"/>
                </a:ext>
              </a:extLst>
            </p:cNvPr>
            <p:cNvSpPr/>
            <p:nvPr/>
          </p:nvSpPr>
          <p:spPr>
            <a:xfrm>
              <a:off x="5194252" y="2666506"/>
              <a:ext cx="1637999" cy="135714"/>
            </a:xfrm>
            <a:prstGeom prst="rect">
              <a:avLst/>
            </a:prstGeom>
            <a:solidFill>
              <a:srgbClr val="92CD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193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A23B9B9-2DD9-5D5B-8BC7-9F0FDDBB171B}"/>
              </a:ext>
            </a:extLst>
          </p:cNvPr>
          <p:cNvGrpSpPr/>
          <p:nvPr/>
        </p:nvGrpSpPr>
        <p:grpSpPr>
          <a:xfrm>
            <a:off x="9343523" y="1683027"/>
            <a:ext cx="23552625" cy="628308"/>
            <a:chOff x="3876691" y="622801"/>
            <a:chExt cx="7612377" cy="20307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E3BF880-9C97-1725-C5A8-A22C44A994B8}"/>
                </a:ext>
              </a:extLst>
            </p:cNvPr>
            <p:cNvSpPr txBox="1"/>
            <p:nvPr/>
          </p:nvSpPr>
          <p:spPr>
            <a:xfrm>
              <a:off x="3876691" y="666962"/>
              <a:ext cx="1548156" cy="15891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595" b="1" dirty="0">
                  <a:solidFill>
                    <a:srgbClr val="0000FF"/>
                  </a:solidFill>
                </a:rPr>
                <a:t>Berço #215 (364m)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245714D-B51C-B52B-DE9F-369299D284F1}"/>
                </a:ext>
              </a:extLst>
            </p:cNvPr>
            <p:cNvSpPr txBox="1"/>
            <p:nvPr/>
          </p:nvSpPr>
          <p:spPr>
            <a:xfrm>
              <a:off x="6045983" y="650522"/>
              <a:ext cx="1628081" cy="15891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595" b="1" dirty="0">
                  <a:solidFill>
                    <a:srgbClr val="0000FF"/>
                  </a:solidFill>
                </a:rPr>
                <a:t>Berço #216 (200m)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FE1DC5F-7BA1-455F-C477-0132AC00FA1F}"/>
                </a:ext>
              </a:extLst>
            </p:cNvPr>
            <p:cNvSpPr txBox="1"/>
            <p:nvPr/>
          </p:nvSpPr>
          <p:spPr>
            <a:xfrm>
              <a:off x="9892432" y="622801"/>
              <a:ext cx="1596636" cy="15891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595" b="1" dirty="0">
                  <a:solidFill>
                    <a:srgbClr val="0000FF"/>
                  </a:solidFill>
                </a:rPr>
                <a:t>Berço #218 (220m)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0FC1DB0F-8801-6807-A1FC-697C52EFF570}"/>
              </a:ext>
            </a:extLst>
          </p:cNvPr>
          <p:cNvSpPr txBox="1"/>
          <p:nvPr/>
        </p:nvSpPr>
        <p:spPr>
          <a:xfrm>
            <a:off x="22473603" y="1756448"/>
            <a:ext cx="5081478" cy="4916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595" b="1" dirty="0">
                <a:solidFill>
                  <a:srgbClr val="0000FF"/>
                </a:solidFill>
              </a:rPr>
              <a:t>Berço #217 (315m)</a:t>
            </a:r>
          </a:p>
        </p:txBody>
      </p: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D3024615-2503-AFFC-F3D4-436D4AFE2BEF}"/>
              </a:ext>
            </a:extLst>
          </p:cNvPr>
          <p:cNvGrpSpPr/>
          <p:nvPr/>
        </p:nvGrpSpPr>
        <p:grpSpPr>
          <a:xfrm>
            <a:off x="10981833" y="12720716"/>
            <a:ext cx="1244616" cy="1250253"/>
            <a:chOff x="2622541" y="1996387"/>
            <a:chExt cx="532616" cy="368728"/>
          </a:xfrm>
        </p:grpSpPr>
        <p:cxnSp>
          <p:nvCxnSpPr>
            <p:cNvPr id="359" name="Straight Arrow Connector 358">
              <a:extLst>
                <a:ext uri="{FF2B5EF4-FFF2-40B4-BE49-F238E27FC236}">
                  <a16:creationId xmlns:a16="http://schemas.microsoft.com/office/drawing/2014/main" id="{9C47827C-CD6F-47F2-E188-70A4FD3A1302}"/>
                </a:ext>
              </a:extLst>
            </p:cNvPr>
            <p:cNvCxnSpPr>
              <a:cxnSpLocks/>
            </p:cNvCxnSpPr>
            <p:nvPr/>
          </p:nvCxnSpPr>
          <p:spPr>
            <a:xfrm>
              <a:off x="2824670" y="2186158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Arrow Connector 359">
              <a:extLst>
                <a:ext uri="{FF2B5EF4-FFF2-40B4-BE49-F238E27FC236}">
                  <a16:creationId xmlns:a16="http://schemas.microsoft.com/office/drawing/2014/main" id="{D3E2A8D1-20AA-4C13-1C97-C7A71349A472}"/>
                </a:ext>
              </a:extLst>
            </p:cNvPr>
            <p:cNvCxnSpPr>
              <a:cxnSpLocks/>
            </p:cNvCxnSpPr>
            <p:nvPr/>
          </p:nvCxnSpPr>
          <p:spPr>
            <a:xfrm>
              <a:off x="2998502" y="2365115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Arrow Connector 364">
              <a:extLst>
                <a:ext uri="{FF2B5EF4-FFF2-40B4-BE49-F238E27FC236}">
                  <a16:creationId xmlns:a16="http://schemas.microsoft.com/office/drawing/2014/main" id="{972057D4-3364-7793-CA7C-650D1F0FC0CE}"/>
                </a:ext>
              </a:extLst>
            </p:cNvPr>
            <p:cNvCxnSpPr>
              <a:cxnSpLocks/>
            </p:cNvCxnSpPr>
            <p:nvPr/>
          </p:nvCxnSpPr>
          <p:spPr>
            <a:xfrm>
              <a:off x="2622541" y="1996387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60" name="Graphic 559" descr="Warehouse with solid fill">
            <a:extLst>
              <a:ext uri="{FF2B5EF4-FFF2-40B4-BE49-F238E27FC236}">
                <a16:creationId xmlns:a16="http://schemas.microsoft.com/office/drawing/2014/main" id="{26D63BD2-9399-A1CB-5CAC-B9774EE678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07933" y="13157568"/>
            <a:ext cx="494694" cy="651438"/>
          </a:xfrm>
          <a:prstGeom prst="rect">
            <a:avLst/>
          </a:prstGeom>
        </p:spPr>
      </p:pic>
      <p:sp>
        <p:nvSpPr>
          <p:cNvPr id="563" name="Rectangle 562">
            <a:extLst>
              <a:ext uri="{FF2B5EF4-FFF2-40B4-BE49-F238E27FC236}">
                <a16:creationId xmlns:a16="http://schemas.microsoft.com/office/drawing/2014/main" id="{07728CBB-38C5-D865-EC55-E00F0FB9ED37}"/>
              </a:ext>
            </a:extLst>
          </p:cNvPr>
          <p:cNvSpPr/>
          <p:nvPr/>
        </p:nvSpPr>
        <p:spPr>
          <a:xfrm>
            <a:off x="9285092" y="13830977"/>
            <a:ext cx="299565" cy="16568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731" b="1" dirty="0">
              <a:solidFill>
                <a:schemeClr val="tx1"/>
              </a:solidFill>
            </a:endParaRPr>
          </a:p>
          <a:p>
            <a:pPr algn="ctr"/>
            <a:endParaRPr lang="en-US" sz="1731" b="1" dirty="0">
              <a:solidFill>
                <a:schemeClr val="tx1"/>
              </a:solidFill>
            </a:endParaRPr>
          </a:p>
          <a:p>
            <a:pPr algn="r"/>
            <a:endParaRPr lang="en-US" sz="1731" b="1" dirty="0">
              <a:solidFill>
                <a:schemeClr val="tx1"/>
              </a:solidFill>
            </a:endParaRPr>
          </a:p>
        </p:txBody>
      </p:sp>
      <p:grpSp>
        <p:nvGrpSpPr>
          <p:cNvPr id="564" name="Group 563">
            <a:extLst>
              <a:ext uri="{FF2B5EF4-FFF2-40B4-BE49-F238E27FC236}">
                <a16:creationId xmlns:a16="http://schemas.microsoft.com/office/drawing/2014/main" id="{AF2281E4-0DB5-6A03-DDF9-C78129160C56}"/>
              </a:ext>
            </a:extLst>
          </p:cNvPr>
          <p:cNvGrpSpPr/>
          <p:nvPr/>
        </p:nvGrpSpPr>
        <p:grpSpPr>
          <a:xfrm rot="5400000">
            <a:off x="9670481" y="14049465"/>
            <a:ext cx="543459" cy="207738"/>
            <a:chOff x="3294967" y="1881912"/>
            <a:chExt cx="245675" cy="63569"/>
          </a:xfrm>
        </p:grpSpPr>
        <p:cxnSp>
          <p:nvCxnSpPr>
            <p:cNvPr id="565" name="Straight Arrow Connector 564">
              <a:extLst>
                <a:ext uri="{FF2B5EF4-FFF2-40B4-BE49-F238E27FC236}">
                  <a16:creationId xmlns:a16="http://schemas.microsoft.com/office/drawing/2014/main" id="{385DBFAA-0182-E130-E034-A0F177AF1C30}"/>
                </a:ext>
              </a:extLst>
            </p:cNvPr>
            <p:cNvCxnSpPr>
              <a:cxnSpLocks/>
            </p:cNvCxnSpPr>
            <p:nvPr/>
          </p:nvCxnSpPr>
          <p:spPr>
            <a:xfrm>
              <a:off x="3383987" y="1945481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Straight Arrow Connector 565">
              <a:extLst>
                <a:ext uri="{FF2B5EF4-FFF2-40B4-BE49-F238E27FC236}">
                  <a16:creationId xmlns:a16="http://schemas.microsoft.com/office/drawing/2014/main" id="{FFA2A761-C157-4ADA-8543-8688FDE1A1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94967" y="1881912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7" name="Group 566">
            <a:extLst>
              <a:ext uri="{FF2B5EF4-FFF2-40B4-BE49-F238E27FC236}">
                <a16:creationId xmlns:a16="http://schemas.microsoft.com/office/drawing/2014/main" id="{1E064159-1741-999C-5B19-C947C3A0C9F7}"/>
              </a:ext>
            </a:extLst>
          </p:cNvPr>
          <p:cNvGrpSpPr/>
          <p:nvPr/>
        </p:nvGrpSpPr>
        <p:grpSpPr>
          <a:xfrm rot="5400000">
            <a:off x="28384703" y="14525487"/>
            <a:ext cx="543459" cy="207738"/>
            <a:chOff x="3294967" y="1881912"/>
            <a:chExt cx="245675" cy="63569"/>
          </a:xfrm>
        </p:grpSpPr>
        <p:cxnSp>
          <p:nvCxnSpPr>
            <p:cNvPr id="568" name="Straight Arrow Connector 567">
              <a:extLst>
                <a:ext uri="{FF2B5EF4-FFF2-40B4-BE49-F238E27FC236}">
                  <a16:creationId xmlns:a16="http://schemas.microsoft.com/office/drawing/2014/main" id="{BCAAFABA-9D39-4991-2414-FA7884F02C4A}"/>
                </a:ext>
              </a:extLst>
            </p:cNvPr>
            <p:cNvCxnSpPr>
              <a:cxnSpLocks/>
            </p:cNvCxnSpPr>
            <p:nvPr/>
          </p:nvCxnSpPr>
          <p:spPr>
            <a:xfrm>
              <a:off x="3383987" y="1945481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Straight Arrow Connector 568">
              <a:extLst>
                <a:ext uri="{FF2B5EF4-FFF2-40B4-BE49-F238E27FC236}">
                  <a16:creationId xmlns:a16="http://schemas.microsoft.com/office/drawing/2014/main" id="{F2C2E8B3-BB1B-8BAE-8599-74C889C7BF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94967" y="1881912"/>
              <a:ext cx="156655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867BECF3-CCF0-E370-B4CE-9C27E4E16C8A}"/>
              </a:ext>
            </a:extLst>
          </p:cNvPr>
          <p:cNvGrpSpPr/>
          <p:nvPr/>
        </p:nvGrpSpPr>
        <p:grpSpPr>
          <a:xfrm>
            <a:off x="15023487" y="16598430"/>
            <a:ext cx="631044" cy="131868"/>
            <a:chOff x="3294967" y="1881912"/>
            <a:chExt cx="245675" cy="63569"/>
          </a:xfrm>
        </p:grpSpPr>
        <p:cxnSp>
          <p:nvCxnSpPr>
            <p:cNvPr id="571" name="Straight Arrow Connector 570">
              <a:extLst>
                <a:ext uri="{FF2B5EF4-FFF2-40B4-BE49-F238E27FC236}">
                  <a16:creationId xmlns:a16="http://schemas.microsoft.com/office/drawing/2014/main" id="{778A1ECC-B11D-0284-0C13-552883422686}"/>
                </a:ext>
              </a:extLst>
            </p:cNvPr>
            <p:cNvCxnSpPr>
              <a:cxnSpLocks/>
            </p:cNvCxnSpPr>
            <p:nvPr/>
          </p:nvCxnSpPr>
          <p:spPr>
            <a:xfrm>
              <a:off x="3383987" y="1945481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Straight Arrow Connector 571">
              <a:extLst>
                <a:ext uri="{FF2B5EF4-FFF2-40B4-BE49-F238E27FC236}">
                  <a16:creationId xmlns:a16="http://schemas.microsoft.com/office/drawing/2014/main" id="{466AD65F-947F-6250-876F-ABADF9544F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94967" y="1881912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4" name="Rectangle 573">
            <a:extLst>
              <a:ext uri="{FF2B5EF4-FFF2-40B4-BE49-F238E27FC236}">
                <a16:creationId xmlns:a16="http://schemas.microsoft.com/office/drawing/2014/main" id="{D0940887-EB71-DF73-8560-05A8F60D924F}"/>
              </a:ext>
            </a:extLst>
          </p:cNvPr>
          <p:cNvSpPr/>
          <p:nvPr/>
        </p:nvSpPr>
        <p:spPr>
          <a:xfrm>
            <a:off x="13620011" y="7653767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B3</a:t>
            </a:r>
          </a:p>
        </p:txBody>
      </p:sp>
      <p:cxnSp>
        <p:nvCxnSpPr>
          <p:cNvPr id="527" name="Straight Connector 526">
            <a:extLst>
              <a:ext uri="{FF2B5EF4-FFF2-40B4-BE49-F238E27FC236}">
                <a16:creationId xmlns:a16="http://schemas.microsoft.com/office/drawing/2014/main" id="{5DA25145-CBF6-C2BB-2FC4-63B9C607FEDD}"/>
              </a:ext>
            </a:extLst>
          </p:cNvPr>
          <p:cNvCxnSpPr>
            <a:cxnSpLocks/>
          </p:cNvCxnSpPr>
          <p:nvPr/>
        </p:nvCxnSpPr>
        <p:spPr>
          <a:xfrm>
            <a:off x="28642026" y="2714343"/>
            <a:ext cx="5213160" cy="21888"/>
          </a:xfrm>
          <a:prstGeom prst="line">
            <a:avLst/>
          </a:prstGeom>
          <a:ln w="19050">
            <a:solidFill>
              <a:schemeClr val="bg1"/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5" name="Rectangle 524">
            <a:extLst>
              <a:ext uri="{FF2B5EF4-FFF2-40B4-BE49-F238E27FC236}">
                <a16:creationId xmlns:a16="http://schemas.microsoft.com/office/drawing/2014/main" id="{0451FEEC-5A9F-21DB-9B53-5D98237D6C03}"/>
              </a:ext>
            </a:extLst>
          </p:cNvPr>
          <p:cNvSpPr/>
          <p:nvPr/>
        </p:nvSpPr>
        <p:spPr>
          <a:xfrm rot="5400000">
            <a:off x="20192736" y="17148248"/>
            <a:ext cx="182898" cy="3012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grpSp>
        <p:nvGrpSpPr>
          <p:cNvPr id="526" name="Group 525">
            <a:extLst>
              <a:ext uri="{FF2B5EF4-FFF2-40B4-BE49-F238E27FC236}">
                <a16:creationId xmlns:a16="http://schemas.microsoft.com/office/drawing/2014/main" id="{4D5D9497-986B-30C8-7B4D-4AF83832DA4C}"/>
              </a:ext>
            </a:extLst>
          </p:cNvPr>
          <p:cNvGrpSpPr/>
          <p:nvPr/>
        </p:nvGrpSpPr>
        <p:grpSpPr>
          <a:xfrm rot="5400000">
            <a:off x="20649902" y="14759565"/>
            <a:ext cx="543459" cy="207738"/>
            <a:chOff x="3294967" y="1881912"/>
            <a:chExt cx="245675" cy="63569"/>
          </a:xfrm>
        </p:grpSpPr>
        <p:cxnSp>
          <p:nvCxnSpPr>
            <p:cNvPr id="528" name="Straight Arrow Connector 527">
              <a:extLst>
                <a:ext uri="{FF2B5EF4-FFF2-40B4-BE49-F238E27FC236}">
                  <a16:creationId xmlns:a16="http://schemas.microsoft.com/office/drawing/2014/main" id="{F2983B6D-3B3F-6D27-481C-8FD2BED84ACC}"/>
                </a:ext>
              </a:extLst>
            </p:cNvPr>
            <p:cNvCxnSpPr>
              <a:cxnSpLocks/>
            </p:cNvCxnSpPr>
            <p:nvPr/>
          </p:nvCxnSpPr>
          <p:spPr>
            <a:xfrm>
              <a:off x="3383987" y="1945481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Arrow Connector 528">
              <a:extLst>
                <a:ext uri="{FF2B5EF4-FFF2-40B4-BE49-F238E27FC236}">
                  <a16:creationId xmlns:a16="http://schemas.microsoft.com/office/drawing/2014/main" id="{5C03FA25-13E4-8164-3A9B-A83365741C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94967" y="1881912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32" name="Picture 531" descr="A blue building with boxes in front of it&#10;&#10;Description automatically generated">
            <a:extLst>
              <a:ext uri="{FF2B5EF4-FFF2-40B4-BE49-F238E27FC236}">
                <a16:creationId xmlns:a16="http://schemas.microsoft.com/office/drawing/2014/main" id="{02DDD42C-C291-5230-230A-CF8DDE8E98E1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521598" y="9637922"/>
            <a:ext cx="695649" cy="695649"/>
          </a:xfrm>
          <a:prstGeom prst="rect">
            <a:avLst/>
          </a:prstGeom>
        </p:spPr>
      </p:pic>
      <p:pic>
        <p:nvPicPr>
          <p:cNvPr id="536" name="Picture 535" descr="Several buildings with windows&#10;&#10;Description automatically generated">
            <a:extLst>
              <a:ext uri="{FF2B5EF4-FFF2-40B4-BE49-F238E27FC236}">
                <a16:creationId xmlns:a16="http://schemas.microsoft.com/office/drawing/2014/main" id="{8285AAFB-6772-DDC2-1A9E-032D34435024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17999" y="10521989"/>
            <a:ext cx="761868" cy="949221"/>
          </a:xfrm>
          <a:prstGeom prst="rect">
            <a:avLst/>
          </a:prstGeom>
        </p:spPr>
      </p:pic>
      <p:pic>
        <p:nvPicPr>
          <p:cNvPr id="538" name="Picture 537" descr="A building with windows and a door&#10;&#10;Description automatically generated">
            <a:extLst>
              <a:ext uri="{FF2B5EF4-FFF2-40B4-BE49-F238E27FC236}">
                <a16:creationId xmlns:a16="http://schemas.microsoft.com/office/drawing/2014/main" id="{78744B6E-1B68-2F1C-14A0-09E906308F70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142" r="15538"/>
          <a:stretch/>
        </p:blipFill>
        <p:spPr>
          <a:xfrm>
            <a:off x="2656935" y="13077756"/>
            <a:ext cx="1124922" cy="1063668"/>
          </a:xfrm>
          <a:prstGeom prst="rect">
            <a:avLst/>
          </a:prstGeom>
        </p:spPr>
      </p:pic>
      <p:sp>
        <p:nvSpPr>
          <p:cNvPr id="523" name="Rectangle 522">
            <a:extLst>
              <a:ext uri="{FF2B5EF4-FFF2-40B4-BE49-F238E27FC236}">
                <a16:creationId xmlns:a16="http://schemas.microsoft.com/office/drawing/2014/main" id="{5FB376E1-69CF-FA1F-C015-A0DA7B87630D}"/>
              </a:ext>
            </a:extLst>
          </p:cNvPr>
          <p:cNvSpPr/>
          <p:nvPr/>
        </p:nvSpPr>
        <p:spPr>
          <a:xfrm>
            <a:off x="2487656" y="10284500"/>
            <a:ext cx="2185047" cy="6397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b="1" dirty="0">
                <a:solidFill>
                  <a:srgbClr val="0000FF"/>
                </a:solidFill>
                <a:latin typeface="Arial Black" panose="020B0A04020102020204" pitchFamily="34" charset="0"/>
              </a:rPr>
              <a:t>Atendimento Gate</a:t>
            </a: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1F0171B0-479C-66AC-7203-19AC38EB383C}"/>
              </a:ext>
            </a:extLst>
          </p:cNvPr>
          <p:cNvSpPr/>
          <p:nvPr/>
        </p:nvSpPr>
        <p:spPr>
          <a:xfrm>
            <a:off x="2394611" y="17374692"/>
            <a:ext cx="17698455" cy="2152548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C33A1ADE-C11E-9474-20C9-89AC7E191F60}"/>
              </a:ext>
            </a:extLst>
          </p:cNvPr>
          <p:cNvSpPr/>
          <p:nvPr/>
        </p:nvSpPr>
        <p:spPr>
          <a:xfrm>
            <a:off x="2394611" y="19510136"/>
            <a:ext cx="17698455" cy="840087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537" name="Freeform: Shape 536">
            <a:extLst>
              <a:ext uri="{FF2B5EF4-FFF2-40B4-BE49-F238E27FC236}">
                <a16:creationId xmlns:a16="http://schemas.microsoft.com/office/drawing/2014/main" id="{C1437C83-4EAC-9DBC-D329-3230FB458ADC}"/>
              </a:ext>
            </a:extLst>
          </p:cNvPr>
          <p:cNvSpPr/>
          <p:nvPr/>
        </p:nvSpPr>
        <p:spPr>
          <a:xfrm>
            <a:off x="1108709" y="19129668"/>
            <a:ext cx="1283823" cy="1220550"/>
          </a:xfrm>
          <a:custGeom>
            <a:avLst/>
            <a:gdLst>
              <a:gd name="connsiteX0" fmla="*/ 376237 w 376237"/>
              <a:gd name="connsiteY0" fmla="*/ 0 h 397669"/>
              <a:gd name="connsiteX1" fmla="*/ 376237 w 376237"/>
              <a:gd name="connsiteY1" fmla="*/ 397669 h 397669"/>
              <a:gd name="connsiteX2" fmla="*/ 73819 w 376237"/>
              <a:gd name="connsiteY2" fmla="*/ 397669 h 397669"/>
              <a:gd name="connsiteX3" fmla="*/ 0 w 376237"/>
              <a:gd name="connsiteY3" fmla="*/ 288132 h 397669"/>
              <a:gd name="connsiteX4" fmla="*/ 180975 w 376237"/>
              <a:gd name="connsiteY4" fmla="*/ 7144 h 397669"/>
              <a:gd name="connsiteX5" fmla="*/ 376237 w 376237"/>
              <a:gd name="connsiteY5" fmla="*/ 0 h 397669"/>
              <a:gd name="connsiteX0" fmla="*/ 376237 w 376237"/>
              <a:gd name="connsiteY0" fmla="*/ 113 h 397782"/>
              <a:gd name="connsiteX1" fmla="*/ 376237 w 376237"/>
              <a:gd name="connsiteY1" fmla="*/ 397782 h 397782"/>
              <a:gd name="connsiteX2" fmla="*/ 73819 w 376237"/>
              <a:gd name="connsiteY2" fmla="*/ 397782 h 397782"/>
              <a:gd name="connsiteX3" fmla="*/ 0 w 376237"/>
              <a:gd name="connsiteY3" fmla="*/ 288245 h 397782"/>
              <a:gd name="connsiteX4" fmla="*/ 233237 w 376237"/>
              <a:gd name="connsiteY4" fmla="*/ 0 h 397782"/>
              <a:gd name="connsiteX5" fmla="*/ 376237 w 376237"/>
              <a:gd name="connsiteY5" fmla="*/ 113 h 397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6237" h="397782">
                <a:moveTo>
                  <a:pt x="376237" y="113"/>
                </a:moveTo>
                <a:lnTo>
                  <a:pt x="376237" y="397782"/>
                </a:lnTo>
                <a:lnTo>
                  <a:pt x="73819" y="397782"/>
                </a:lnTo>
                <a:lnTo>
                  <a:pt x="0" y="288245"/>
                </a:lnTo>
                <a:lnTo>
                  <a:pt x="233237" y="0"/>
                </a:lnTo>
                <a:lnTo>
                  <a:pt x="376237" y="113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91B4B33B-DCDC-7CB5-C1ED-D7FFCA665105}"/>
              </a:ext>
            </a:extLst>
          </p:cNvPr>
          <p:cNvSpPr/>
          <p:nvPr/>
        </p:nvSpPr>
        <p:spPr>
          <a:xfrm>
            <a:off x="1244067" y="19427414"/>
            <a:ext cx="1319736" cy="9094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307" b="1" dirty="0">
                <a:solidFill>
                  <a:schemeClr val="tx1"/>
                </a:solidFill>
                <a:latin typeface="Arial Black" panose="020B0A04020102020204" pitchFamily="34" charset="0"/>
              </a:rPr>
              <a:t>PAR </a:t>
            </a:r>
          </a:p>
          <a:p>
            <a:pPr algn="ctr" eaLnBrk="0" fontAlgn="ctr" hangingPunct="0"/>
            <a:r>
              <a:rPr lang="en-US" sz="2307" b="1" dirty="0">
                <a:solidFill>
                  <a:schemeClr val="tx1"/>
                </a:solidFill>
                <a:latin typeface="Arial Black" panose="020B0A04020102020204" pitchFamily="34" charset="0"/>
              </a:rPr>
              <a:t>#10</a:t>
            </a:r>
          </a:p>
        </p:txBody>
      </p:sp>
      <p:sp>
        <p:nvSpPr>
          <p:cNvPr id="266" name="Freeform: Shape 265">
            <a:extLst>
              <a:ext uri="{FF2B5EF4-FFF2-40B4-BE49-F238E27FC236}">
                <a16:creationId xmlns:a16="http://schemas.microsoft.com/office/drawing/2014/main" id="{9101E34A-B6A5-7C5B-8790-D6CC7AD7F79C}"/>
              </a:ext>
            </a:extLst>
          </p:cNvPr>
          <p:cNvSpPr/>
          <p:nvPr/>
        </p:nvSpPr>
        <p:spPr>
          <a:xfrm>
            <a:off x="22093719" y="17586749"/>
            <a:ext cx="3468036" cy="3005091"/>
          </a:xfrm>
          <a:custGeom>
            <a:avLst/>
            <a:gdLst>
              <a:gd name="connsiteX0" fmla="*/ 158750 w 704850"/>
              <a:gd name="connsiteY0" fmla="*/ 66675 h 1476375"/>
              <a:gd name="connsiteX1" fmla="*/ 419100 w 704850"/>
              <a:gd name="connsiteY1" fmla="*/ 428625 h 1476375"/>
              <a:gd name="connsiteX2" fmla="*/ 596900 w 704850"/>
              <a:gd name="connsiteY2" fmla="*/ 666750 h 1476375"/>
              <a:gd name="connsiteX3" fmla="*/ 409575 w 704850"/>
              <a:gd name="connsiteY3" fmla="*/ 854075 h 1476375"/>
              <a:gd name="connsiteX4" fmla="*/ 704850 w 704850"/>
              <a:gd name="connsiteY4" fmla="*/ 1216025 h 1476375"/>
              <a:gd name="connsiteX5" fmla="*/ 536575 w 704850"/>
              <a:gd name="connsiteY5" fmla="*/ 1473200 h 1476375"/>
              <a:gd name="connsiteX6" fmla="*/ 3175 w 704850"/>
              <a:gd name="connsiteY6" fmla="*/ 1476375 h 1476375"/>
              <a:gd name="connsiteX7" fmla="*/ 0 w 704850"/>
              <a:gd name="connsiteY7" fmla="*/ 6350 h 1476375"/>
              <a:gd name="connsiteX8" fmla="*/ 114300 w 704850"/>
              <a:gd name="connsiteY8" fmla="*/ 0 h 1476375"/>
              <a:gd name="connsiteX9" fmla="*/ 158750 w 704850"/>
              <a:gd name="connsiteY9" fmla="*/ 66675 h 1476375"/>
              <a:gd name="connsiteX0" fmla="*/ 158750 w 704850"/>
              <a:gd name="connsiteY0" fmla="*/ 66675 h 1476375"/>
              <a:gd name="connsiteX1" fmla="*/ 419100 w 704850"/>
              <a:gd name="connsiteY1" fmla="*/ 428625 h 1476375"/>
              <a:gd name="connsiteX2" fmla="*/ 514350 w 704850"/>
              <a:gd name="connsiteY2" fmla="*/ 641350 h 1476375"/>
              <a:gd name="connsiteX3" fmla="*/ 409575 w 704850"/>
              <a:gd name="connsiteY3" fmla="*/ 854075 h 1476375"/>
              <a:gd name="connsiteX4" fmla="*/ 704850 w 704850"/>
              <a:gd name="connsiteY4" fmla="*/ 1216025 h 1476375"/>
              <a:gd name="connsiteX5" fmla="*/ 536575 w 704850"/>
              <a:gd name="connsiteY5" fmla="*/ 1473200 h 1476375"/>
              <a:gd name="connsiteX6" fmla="*/ 3175 w 704850"/>
              <a:gd name="connsiteY6" fmla="*/ 1476375 h 1476375"/>
              <a:gd name="connsiteX7" fmla="*/ 0 w 704850"/>
              <a:gd name="connsiteY7" fmla="*/ 6350 h 1476375"/>
              <a:gd name="connsiteX8" fmla="*/ 114300 w 704850"/>
              <a:gd name="connsiteY8" fmla="*/ 0 h 1476375"/>
              <a:gd name="connsiteX9" fmla="*/ 158750 w 704850"/>
              <a:gd name="connsiteY9" fmla="*/ 66675 h 1476375"/>
              <a:gd name="connsiteX0" fmla="*/ 158750 w 704850"/>
              <a:gd name="connsiteY0" fmla="*/ 66675 h 1476375"/>
              <a:gd name="connsiteX1" fmla="*/ 419100 w 704850"/>
              <a:gd name="connsiteY1" fmla="*/ 428625 h 1476375"/>
              <a:gd name="connsiteX2" fmla="*/ 514350 w 704850"/>
              <a:gd name="connsiteY2" fmla="*/ 641350 h 1476375"/>
              <a:gd name="connsiteX3" fmla="*/ 409575 w 704850"/>
              <a:gd name="connsiteY3" fmla="*/ 854075 h 1476375"/>
              <a:gd name="connsiteX4" fmla="*/ 704850 w 704850"/>
              <a:gd name="connsiteY4" fmla="*/ 1216025 h 1476375"/>
              <a:gd name="connsiteX5" fmla="*/ 536575 w 704850"/>
              <a:gd name="connsiteY5" fmla="*/ 1473200 h 1476375"/>
              <a:gd name="connsiteX6" fmla="*/ 3175 w 704850"/>
              <a:gd name="connsiteY6" fmla="*/ 1476375 h 1476375"/>
              <a:gd name="connsiteX7" fmla="*/ 0 w 704850"/>
              <a:gd name="connsiteY7" fmla="*/ 6350 h 1476375"/>
              <a:gd name="connsiteX8" fmla="*/ 114300 w 704850"/>
              <a:gd name="connsiteY8" fmla="*/ 0 h 1476375"/>
              <a:gd name="connsiteX9" fmla="*/ 158750 w 704850"/>
              <a:gd name="connsiteY9" fmla="*/ 66675 h 1476375"/>
              <a:gd name="connsiteX0" fmla="*/ 158750 w 704850"/>
              <a:gd name="connsiteY0" fmla="*/ 66675 h 1476375"/>
              <a:gd name="connsiteX1" fmla="*/ 419100 w 704850"/>
              <a:gd name="connsiteY1" fmla="*/ 428625 h 1476375"/>
              <a:gd name="connsiteX2" fmla="*/ 514350 w 704850"/>
              <a:gd name="connsiteY2" fmla="*/ 641350 h 1476375"/>
              <a:gd name="connsiteX3" fmla="*/ 409575 w 704850"/>
              <a:gd name="connsiteY3" fmla="*/ 854075 h 1476375"/>
              <a:gd name="connsiteX4" fmla="*/ 704850 w 704850"/>
              <a:gd name="connsiteY4" fmla="*/ 1216025 h 1476375"/>
              <a:gd name="connsiteX5" fmla="*/ 536575 w 704850"/>
              <a:gd name="connsiteY5" fmla="*/ 1473200 h 1476375"/>
              <a:gd name="connsiteX6" fmla="*/ 3175 w 704850"/>
              <a:gd name="connsiteY6" fmla="*/ 1476375 h 1476375"/>
              <a:gd name="connsiteX7" fmla="*/ 0 w 704850"/>
              <a:gd name="connsiteY7" fmla="*/ 6350 h 1476375"/>
              <a:gd name="connsiteX8" fmla="*/ 114300 w 704850"/>
              <a:gd name="connsiteY8" fmla="*/ 0 h 1476375"/>
              <a:gd name="connsiteX9" fmla="*/ 158750 w 704850"/>
              <a:gd name="connsiteY9" fmla="*/ 66675 h 1476375"/>
              <a:gd name="connsiteX0" fmla="*/ 158750 w 704850"/>
              <a:gd name="connsiteY0" fmla="*/ 66675 h 1476375"/>
              <a:gd name="connsiteX1" fmla="*/ 419100 w 704850"/>
              <a:gd name="connsiteY1" fmla="*/ 428625 h 1476375"/>
              <a:gd name="connsiteX2" fmla="*/ 514350 w 704850"/>
              <a:gd name="connsiteY2" fmla="*/ 641350 h 1476375"/>
              <a:gd name="connsiteX3" fmla="*/ 514350 w 704850"/>
              <a:gd name="connsiteY3" fmla="*/ 923925 h 1476375"/>
              <a:gd name="connsiteX4" fmla="*/ 704850 w 704850"/>
              <a:gd name="connsiteY4" fmla="*/ 1216025 h 1476375"/>
              <a:gd name="connsiteX5" fmla="*/ 536575 w 704850"/>
              <a:gd name="connsiteY5" fmla="*/ 1473200 h 1476375"/>
              <a:gd name="connsiteX6" fmla="*/ 3175 w 704850"/>
              <a:gd name="connsiteY6" fmla="*/ 1476375 h 1476375"/>
              <a:gd name="connsiteX7" fmla="*/ 0 w 704850"/>
              <a:gd name="connsiteY7" fmla="*/ 6350 h 1476375"/>
              <a:gd name="connsiteX8" fmla="*/ 114300 w 704850"/>
              <a:gd name="connsiteY8" fmla="*/ 0 h 1476375"/>
              <a:gd name="connsiteX9" fmla="*/ 158750 w 704850"/>
              <a:gd name="connsiteY9" fmla="*/ 66675 h 1476375"/>
              <a:gd name="connsiteX0" fmla="*/ 158750 w 704850"/>
              <a:gd name="connsiteY0" fmla="*/ 66675 h 1476375"/>
              <a:gd name="connsiteX1" fmla="*/ 419100 w 704850"/>
              <a:gd name="connsiteY1" fmla="*/ 428625 h 1476375"/>
              <a:gd name="connsiteX2" fmla="*/ 514350 w 704850"/>
              <a:gd name="connsiteY2" fmla="*/ 641350 h 1476375"/>
              <a:gd name="connsiteX3" fmla="*/ 514350 w 704850"/>
              <a:gd name="connsiteY3" fmla="*/ 923925 h 1476375"/>
              <a:gd name="connsiteX4" fmla="*/ 704850 w 704850"/>
              <a:gd name="connsiteY4" fmla="*/ 1216025 h 1476375"/>
              <a:gd name="connsiteX5" fmla="*/ 536575 w 704850"/>
              <a:gd name="connsiteY5" fmla="*/ 1473200 h 1476375"/>
              <a:gd name="connsiteX6" fmla="*/ 3175 w 704850"/>
              <a:gd name="connsiteY6" fmla="*/ 1476375 h 1476375"/>
              <a:gd name="connsiteX7" fmla="*/ 0 w 704850"/>
              <a:gd name="connsiteY7" fmla="*/ 6350 h 1476375"/>
              <a:gd name="connsiteX8" fmla="*/ 114300 w 704850"/>
              <a:gd name="connsiteY8" fmla="*/ 0 h 1476375"/>
              <a:gd name="connsiteX9" fmla="*/ 158750 w 704850"/>
              <a:gd name="connsiteY9" fmla="*/ 66675 h 1476375"/>
              <a:gd name="connsiteX0" fmla="*/ 158750 w 704850"/>
              <a:gd name="connsiteY0" fmla="*/ 66675 h 1476375"/>
              <a:gd name="connsiteX1" fmla="*/ 419100 w 704850"/>
              <a:gd name="connsiteY1" fmla="*/ 428625 h 1476375"/>
              <a:gd name="connsiteX2" fmla="*/ 514350 w 704850"/>
              <a:gd name="connsiteY2" fmla="*/ 641350 h 1476375"/>
              <a:gd name="connsiteX3" fmla="*/ 514350 w 704850"/>
              <a:gd name="connsiteY3" fmla="*/ 923925 h 1476375"/>
              <a:gd name="connsiteX4" fmla="*/ 704850 w 704850"/>
              <a:gd name="connsiteY4" fmla="*/ 1216025 h 1476375"/>
              <a:gd name="connsiteX5" fmla="*/ 536575 w 704850"/>
              <a:gd name="connsiteY5" fmla="*/ 1473200 h 1476375"/>
              <a:gd name="connsiteX6" fmla="*/ 3175 w 704850"/>
              <a:gd name="connsiteY6" fmla="*/ 1476375 h 1476375"/>
              <a:gd name="connsiteX7" fmla="*/ 0 w 704850"/>
              <a:gd name="connsiteY7" fmla="*/ 6350 h 1476375"/>
              <a:gd name="connsiteX8" fmla="*/ 114300 w 704850"/>
              <a:gd name="connsiteY8" fmla="*/ 0 h 1476375"/>
              <a:gd name="connsiteX9" fmla="*/ 158750 w 704850"/>
              <a:gd name="connsiteY9" fmla="*/ 66675 h 1476375"/>
              <a:gd name="connsiteX0" fmla="*/ 158750 w 631825"/>
              <a:gd name="connsiteY0" fmla="*/ 66675 h 1476375"/>
              <a:gd name="connsiteX1" fmla="*/ 419100 w 631825"/>
              <a:gd name="connsiteY1" fmla="*/ 428625 h 1476375"/>
              <a:gd name="connsiteX2" fmla="*/ 514350 w 631825"/>
              <a:gd name="connsiteY2" fmla="*/ 641350 h 1476375"/>
              <a:gd name="connsiteX3" fmla="*/ 514350 w 631825"/>
              <a:gd name="connsiteY3" fmla="*/ 923925 h 1476375"/>
              <a:gd name="connsiteX4" fmla="*/ 631825 w 631825"/>
              <a:gd name="connsiteY4" fmla="*/ 1206500 h 1476375"/>
              <a:gd name="connsiteX5" fmla="*/ 536575 w 631825"/>
              <a:gd name="connsiteY5" fmla="*/ 1473200 h 1476375"/>
              <a:gd name="connsiteX6" fmla="*/ 3175 w 631825"/>
              <a:gd name="connsiteY6" fmla="*/ 1476375 h 1476375"/>
              <a:gd name="connsiteX7" fmla="*/ 0 w 631825"/>
              <a:gd name="connsiteY7" fmla="*/ 6350 h 1476375"/>
              <a:gd name="connsiteX8" fmla="*/ 114300 w 631825"/>
              <a:gd name="connsiteY8" fmla="*/ 0 h 1476375"/>
              <a:gd name="connsiteX9" fmla="*/ 158750 w 631825"/>
              <a:gd name="connsiteY9" fmla="*/ 66675 h 1476375"/>
              <a:gd name="connsiteX0" fmla="*/ 158750 w 642987"/>
              <a:gd name="connsiteY0" fmla="*/ 66675 h 1476375"/>
              <a:gd name="connsiteX1" fmla="*/ 419100 w 642987"/>
              <a:gd name="connsiteY1" fmla="*/ 428625 h 1476375"/>
              <a:gd name="connsiteX2" fmla="*/ 514350 w 642987"/>
              <a:gd name="connsiteY2" fmla="*/ 641350 h 1476375"/>
              <a:gd name="connsiteX3" fmla="*/ 514350 w 642987"/>
              <a:gd name="connsiteY3" fmla="*/ 923925 h 1476375"/>
              <a:gd name="connsiteX4" fmla="*/ 631825 w 642987"/>
              <a:gd name="connsiteY4" fmla="*/ 1206500 h 1476375"/>
              <a:gd name="connsiteX5" fmla="*/ 536575 w 642987"/>
              <a:gd name="connsiteY5" fmla="*/ 1473200 h 1476375"/>
              <a:gd name="connsiteX6" fmla="*/ 3175 w 642987"/>
              <a:gd name="connsiteY6" fmla="*/ 1476375 h 1476375"/>
              <a:gd name="connsiteX7" fmla="*/ 0 w 642987"/>
              <a:gd name="connsiteY7" fmla="*/ 6350 h 1476375"/>
              <a:gd name="connsiteX8" fmla="*/ 114300 w 642987"/>
              <a:gd name="connsiteY8" fmla="*/ 0 h 1476375"/>
              <a:gd name="connsiteX9" fmla="*/ 158750 w 642987"/>
              <a:gd name="connsiteY9" fmla="*/ 66675 h 1476375"/>
              <a:gd name="connsiteX0" fmla="*/ 158750 w 642987"/>
              <a:gd name="connsiteY0" fmla="*/ 66675 h 1476375"/>
              <a:gd name="connsiteX1" fmla="*/ 419100 w 642987"/>
              <a:gd name="connsiteY1" fmla="*/ 428625 h 1476375"/>
              <a:gd name="connsiteX2" fmla="*/ 514350 w 642987"/>
              <a:gd name="connsiteY2" fmla="*/ 641350 h 1476375"/>
              <a:gd name="connsiteX3" fmla="*/ 514350 w 642987"/>
              <a:gd name="connsiteY3" fmla="*/ 923925 h 1476375"/>
              <a:gd name="connsiteX4" fmla="*/ 631825 w 642987"/>
              <a:gd name="connsiteY4" fmla="*/ 1206500 h 1476375"/>
              <a:gd name="connsiteX5" fmla="*/ 536575 w 642987"/>
              <a:gd name="connsiteY5" fmla="*/ 1473200 h 1476375"/>
              <a:gd name="connsiteX6" fmla="*/ 3175 w 642987"/>
              <a:gd name="connsiteY6" fmla="*/ 1476375 h 1476375"/>
              <a:gd name="connsiteX7" fmla="*/ 0 w 642987"/>
              <a:gd name="connsiteY7" fmla="*/ 6350 h 1476375"/>
              <a:gd name="connsiteX8" fmla="*/ 114300 w 642987"/>
              <a:gd name="connsiteY8" fmla="*/ 0 h 1476375"/>
              <a:gd name="connsiteX9" fmla="*/ 158750 w 642987"/>
              <a:gd name="connsiteY9" fmla="*/ 66675 h 1476375"/>
              <a:gd name="connsiteX0" fmla="*/ 158750 w 642987"/>
              <a:gd name="connsiteY0" fmla="*/ 66675 h 1476375"/>
              <a:gd name="connsiteX1" fmla="*/ 419100 w 642987"/>
              <a:gd name="connsiteY1" fmla="*/ 428625 h 1476375"/>
              <a:gd name="connsiteX2" fmla="*/ 514350 w 642987"/>
              <a:gd name="connsiteY2" fmla="*/ 641350 h 1476375"/>
              <a:gd name="connsiteX3" fmla="*/ 514350 w 642987"/>
              <a:gd name="connsiteY3" fmla="*/ 923925 h 1476375"/>
              <a:gd name="connsiteX4" fmla="*/ 631825 w 642987"/>
              <a:gd name="connsiteY4" fmla="*/ 1206500 h 1476375"/>
              <a:gd name="connsiteX5" fmla="*/ 466725 w 642987"/>
              <a:gd name="connsiteY5" fmla="*/ 1450975 h 1476375"/>
              <a:gd name="connsiteX6" fmla="*/ 3175 w 642987"/>
              <a:gd name="connsiteY6" fmla="*/ 1476375 h 1476375"/>
              <a:gd name="connsiteX7" fmla="*/ 0 w 642987"/>
              <a:gd name="connsiteY7" fmla="*/ 6350 h 1476375"/>
              <a:gd name="connsiteX8" fmla="*/ 114300 w 642987"/>
              <a:gd name="connsiteY8" fmla="*/ 0 h 1476375"/>
              <a:gd name="connsiteX9" fmla="*/ 158750 w 642987"/>
              <a:gd name="connsiteY9" fmla="*/ 66675 h 1476375"/>
              <a:gd name="connsiteX0" fmla="*/ 158750 w 642987"/>
              <a:gd name="connsiteY0" fmla="*/ 66675 h 1476375"/>
              <a:gd name="connsiteX1" fmla="*/ 419100 w 642987"/>
              <a:gd name="connsiteY1" fmla="*/ 428625 h 1476375"/>
              <a:gd name="connsiteX2" fmla="*/ 514350 w 642987"/>
              <a:gd name="connsiteY2" fmla="*/ 641350 h 1476375"/>
              <a:gd name="connsiteX3" fmla="*/ 514350 w 642987"/>
              <a:gd name="connsiteY3" fmla="*/ 923925 h 1476375"/>
              <a:gd name="connsiteX4" fmla="*/ 631825 w 642987"/>
              <a:gd name="connsiteY4" fmla="*/ 1206500 h 1476375"/>
              <a:gd name="connsiteX5" fmla="*/ 450850 w 642987"/>
              <a:gd name="connsiteY5" fmla="*/ 1416050 h 1476375"/>
              <a:gd name="connsiteX6" fmla="*/ 3175 w 642987"/>
              <a:gd name="connsiteY6" fmla="*/ 1476375 h 1476375"/>
              <a:gd name="connsiteX7" fmla="*/ 0 w 642987"/>
              <a:gd name="connsiteY7" fmla="*/ 6350 h 1476375"/>
              <a:gd name="connsiteX8" fmla="*/ 114300 w 642987"/>
              <a:gd name="connsiteY8" fmla="*/ 0 h 1476375"/>
              <a:gd name="connsiteX9" fmla="*/ 158750 w 642987"/>
              <a:gd name="connsiteY9" fmla="*/ 66675 h 1476375"/>
              <a:gd name="connsiteX0" fmla="*/ 158750 w 642987"/>
              <a:gd name="connsiteY0" fmla="*/ 66675 h 1476375"/>
              <a:gd name="connsiteX1" fmla="*/ 419100 w 642987"/>
              <a:gd name="connsiteY1" fmla="*/ 428625 h 1476375"/>
              <a:gd name="connsiteX2" fmla="*/ 514350 w 642987"/>
              <a:gd name="connsiteY2" fmla="*/ 641350 h 1476375"/>
              <a:gd name="connsiteX3" fmla="*/ 514350 w 642987"/>
              <a:gd name="connsiteY3" fmla="*/ 923925 h 1476375"/>
              <a:gd name="connsiteX4" fmla="*/ 631825 w 642987"/>
              <a:gd name="connsiteY4" fmla="*/ 1206500 h 1476375"/>
              <a:gd name="connsiteX5" fmla="*/ 450850 w 642987"/>
              <a:gd name="connsiteY5" fmla="*/ 1416050 h 1476375"/>
              <a:gd name="connsiteX6" fmla="*/ 3175 w 642987"/>
              <a:gd name="connsiteY6" fmla="*/ 1476375 h 1476375"/>
              <a:gd name="connsiteX7" fmla="*/ 0 w 642987"/>
              <a:gd name="connsiteY7" fmla="*/ 6350 h 1476375"/>
              <a:gd name="connsiteX8" fmla="*/ 114300 w 642987"/>
              <a:gd name="connsiteY8" fmla="*/ 0 h 1476375"/>
              <a:gd name="connsiteX9" fmla="*/ 158750 w 642987"/>
              <a:gd name="connsiteY9" fmla="*/ 66675 h 1476375"/>
              <a:gd name="connsiteX0" fmla="*/ 158750 w 642987"/>
              <a:gd name="connsiteY0" fmla="*/ 66675 h 1476375"/>
              <a:gd name="connsiteX1" fmla="*/ 419100 w 642987"/>
              <a:gd name="connsiteY1" fmla="*/ 428625 h 1476375"/>
              <a:gd name="connsiteX2" fmla="*/ 514350 w 642987"/>
              <a:gd name="connsiteY2" fmla="*/ 641350 h 1476375"/>
              <a:gd name="connsiteX3" fmla="*/ 514350 w 642987"/>
              <a:gd name="connsiteY3" fmla="*/ 923925 h 1476375"/>
              <a:gd name="connsiteX4" fmla="*/ 631825 w 642987"/>
              <a:gd name="connsiteY4" fmla="*/ 1206500 h 1476375"/>
              <a:gd name="connsiteX5" fmla="*/ 450850 w 642987"/>
              <a:gd name="connsiteY5" fmla="*/ 1416050 h 1476375"/>
              <a:gd name="connsiteX6" fmla="*/ 3175 w 642987"/>
              <a:gd name="connsiteY6" fmla="*/ 1476375 h 1476375"/>
              <a:gd name="connsiteX7" fmla="*/ 0 w 642987"/>
              <a:gd name="connsiteY7" fmla="*/ 6350 h 1476375"/>
              <a:gd name="connsiteX8" fmla="*/ 114300 w 642987"/>
              <a:gd name="connsiteY8" fmla="*/ 0 h 1476375"/>
              <a:gd name="connsiteX9" fmla="*/ 158750 w 642987"/>
              <a:gd name="connsiteY9" fmla="*/ 66675 h 1476375"/>
              <a:gd name="connsiteX0" fmla="*/ 158750 w 669638"/>
              <a:gd name="connsiteY0" fmla="*/ 66675 h 1476375"/>
              <a:gd name="connsiteX1" fmla="*/ 419100 w 669638"/>
              <a:gd name="connsiteY1" fmla="*/ 428625 h 1476375"/>
              <a:gd name="connsiteX2" fmla="*/ 514350 w 669638"/>
              <a:gd name="connsiteY2" fmla="*/ 641350 h 1476375"/>
              <a:gd name="connsiteX3" fmla="*/ 514350 w 669638"/>
              <a:gd name="connsiteY3" fmla="*/ 923925 h 1476375"/>
              <a:gd name="connsiteX4" fmla="*/ 660400 w 669638"/>
              <a:gd name="connsiteY4" fmla="*/ 1206500 h 1476375"/>
              <a:gd name="connsiteX5" fmla="*/ 450850 w 669638"/>
              <a:gd name="connsiteY5" fmla="*/ 1416050 h 1476375"/>
              <a:gd name="connsiteX6" fmla="*/ 3175 w 669638"/>
              <a:gd name="connsiteY6" fmla="*/ 1476375 h 1476375"/>
              <a:gd name="connsiteX7" fmla="*/ 0 w 669638"/>
              <a:gd name="connsiteY7" fmla="*/ 6350 h 1476375"/>
              <a:gd name="connsiteX8" fmla="*/ 114300 w 669638"/>
              <a:gd name="connsiteY8" fmla="*/ 0 h 1476375"/>
              <a:gd name="connsiteX9" fmla="*/ 158750 w 669638"/>
              <a:gd name="connsiteY9" fmla="*/ 66675 h 1476375"/>
              <a:gd name="connsiteX0" fmla="*/ 158750 w 660400"/>
              <a:gd name="connsiteY0" fmla="*/ 66675 h 1476375"/>
              <a:gd name="connsiteX1" fmla="*/ 419100 w 660400"/>
              <a:gd name="connsiteY1" fmla="*/ 428625 h 1476375"/>
              <a:gd name="connsiteX2" fmla="*/ 514350 w 660400"/>
              <a:gd name="connsiteY2" fmla="*/ 641350 h 1476375"/>
              <a:gd name="connsiteX3" fmla="*/ 514350 w 660400"/>
              <a:gd name="connsiteY3" fmla="*/ 923925 h 1476375"/>
              <a:gd name="connsiteX4" fmla="*/ 660400 w 660400"/>
              <a:gd name="connsiteY4" fmla="*/ 1206500 h 1476375"/>
              <a:gd name="connsiteX5" fmla="*/ 450850 w 660400"/>
              <a:gd name="connsiteY5" fmla="*/ 1416050 h 1476375"/>
              <a:gd name="connsiteX6" fmla="*/ 3175 w 660400"/>
              <a:gd name="connsiteY6" fmla="*/ 1476375 h 1476375"/>
              <a:gd name="connsiteX7" fmla="*/ 0 w 660400"/>
              <a:gd name="connsiteY7" fmla="*/ 6350 h 1476375"/>
              <a:gd name="connsiteX8" fmla="*/ 114300 w 660400"/>
              <a:gd name="connsiteY8" fmla="*/ 0 h 1476375"/>
              <a:gd name="connsiteX9" fmla="*/ 158750 w 660400"/>
              <a:gd name="connsiteY9" fmla="*/ 66675 h 1476375"/>
              <a:gd name="connsiteX0" fmla="*/ 158750 w 660400"/>
              <a:gd name="connsiteY0" fmla="*/ 66675 h 1476375"/>
              <a:gd name="connsiteX1" fmla="*/ 419100 w 660400"/>
              <a:gd name="connsiteY1" fmla="*/ 428625 h 1476375"/>
              <a:gd name="connsiteX2" fmla="*/ 514350 w 660400"/>
              <a:gd name="connsiteY2" fmla="*/ 641350 h 1476375"/>
              <a:gd name="connsiteX3" fmla="*/ 514350 w 660400"/>
              <a:gd name="connsiteY3" fmla="*/ 923925 h 1476375"/>
              <a:gd name="connsiteX4" fmla="*/ 660400 w 660400"/>
              <a:gd name="connsiteY4" fmla="*/ 1206500 h 1476375"/>
              <a:gd name="connsiteX5" fmla="*/ 450850 w 660400"/>
              <a:gd name="connsiteY5" fmla="*/ 1416050 h 1476375"/>
              <a:gd name="connsiteX6" fmla="*/ 3175 w 660400"/>
              <a:gd name="connsiteY6" fmla="*/ 1476375 h 1476375"/>
              <a:gd name="connsiteX7" fmla="*/ 0 w 660400"/>
              <a:gd name="connsiteY7" fmla="*/ 6350 h 1476375"/>
              <a:gd name="connsiteX8" fmla="*/ 114300 w 660400"/>
              <a:gd name="connsiteY8" fmla="*/ 0 h 1476375"/>
              <a:gd name="connsiteX9" fmla="*/ 158750 w 660400"/>
              <a:gd name="connsiteY9" fmla="*/ 66675 h 1476375"/>
              <a:gd name="connsiteX0" fmla="*/ 158750 w 660400"/>
              <a:gd name="connsiteY0" fmla="*/ 66675 h 1476375"/>
              <a:gd name="connsiteX1" fmla="*/ 419100 w 660400"/>
              <a:gd name="connsiteY1" fmla="*/ 428625 h 1476375"/>
              <a:gd name="connsiteX2" fmla="*/ 514350 w 660400"/>
              <a:gd name="connsiteY2" fmla="*/ 641350 h 1476375"/>
              <a:gd name="connsiteX3" fmla="*/ 514350 w 660400"/>
              <a:gd name="connsiteY3" fmla="*/ 923925 h 1476375"/>
              <a:gd name="connsiteX4" fmla="*/ 660400 w 660400"/>
              <a:gd name="connsiteY4" fmla="*/ 1206500 h 1476375"/>
              <a:gd name="connsiteX5" fmla="*/ 450850 w 660400"/>
              <a:gd name="connsiteY5" fmla="*/ 1416050 h 1476375"/>
              <a:gd name="connsiteX6" fmla="*/ 3175 w 660400"/>
              <a:gd name="connsiteY6" fmla="*/ 1476375 h 1476375"/>
              <a:gd name="connsiteX7" fmla="*/ 0 w 660400"/>
              <a:gd name="connsiteY7" fmla="*/ 6350 h 1476375"/>
              <a:gd name="connsiteX8" fmla="*/ 114300 w 660400"/>
              <a:gd name="connsiteY8" fmla="*/ 0 h 1476375"/>
              <a:gd name="connsiteX9" fmla="*/ 158750 w 660400"/>
              <a:gd name="connsiteY9" fmla="*/ 66675 h 1476375"/>
              <a:gd name="connsiteX0" fmla="*/ 158750 w 660400"/>
              <a:gd name="connsiteY0" fmla="*/ 66675 h 1476375"/>
              <a:gd name="connsiteX1" fmla="*/ 304800 w 660400"/>
              <a:gd name="connsiteY1" fmla="*/ 295275 h 1476375"/>
              <a:gd name="connsiteX2" fmla="*/ 514350 w 660400"/>
              <a:gd name="connsiteY2" fmla="*/ 641350 h 1476375"/>
              <a:gd name="connsiteX3" fmla="*/ 514350 w 660400"/>
              <a:gd name="connsiteY3" fmla="*/ 923925 h 1476375"/>
              <a:gd name="connsiteX4" fmla="*/ 660400 w 660400"/>
              <a:gd name="connsiteY4" fmla="*/ 1206500 h 1476375"/>
              <a:gd name="connsiteX5" fmla="*/ 450850 w 660400"/>
              <a:gd name="connsiteY5" fmla="*/ 1416050 h 1476375"/>
              <a:gd name="connsiteX6" fmla="*/ 3175 w 660400"/>
              <a:gd name="connsiteY6" fmla="*/ 1476375 h 1476375"/>
              <a:gd name="connsiteX7" fmla="*/ 0 w 660400"/>
              <a:gd name="connsiteY7" fmla="*/ 6350 h 1476375"/>
              <a:gd name="connsiteX8" fmla="*/ 114300 w 660400"/>
              <a:gd name="connsiteY8" fmla="*/ 0 h 1476375"/>
              <a:gd name="connsiteX9" fmla="*/ 158750 w 660400"/>
              <a:gd name="connsiteY9" fmla="*/ 66675 h 1476375"/>
              <a:gd name="connsiteX0" fmla="*/ 158750 w 660400"/>
              <a:gd name="connsiteY0" fmla="*/ 66675 h 1476375"/>
              <a:gd name="connsiteX1" fmla="*/ 384175 w 660400"/>
              <a:gd name="connsiteY1" fmla="*/ 320675 h 1476375"/>
              <a:gd name="connsiteX2" fmla="*/ 514350 w 660400"/>
              <a:gd name="connsiteY2" fmla="*/ 641350 h 1476375"/>
              <a:gd name="connsiteX3" fmla="*/ 514350 w 660400"/>
              <a:gd name="connsiteY3" fmla="*/ 923925 h 1476375"/>
              <a:gd name="connsiteX4" fmla="*/ 660400 w 660400"/>
              <a:gd name="connsiteY4" fmla="*/ 1206500 h 1476375"/>
              <a:gd name="connsiteX5" fmla="*/ 450850 w 660400"/>
              <a:gd name="connsiteY5" fmla="*/ 1416050 h 1476375"/>
              <a:gd name="connsiteX6" fmla="*/ 3175 w 660400"/>
              <a:gd name="connsiteY6" fmla="*/ 1476375 h 1476375"/>
              <a:gd name="connsiteX7" fmla="*/ 0 w 660400"/>
              <a:gd name="connsiteY7" fmla="*/ 6350 h 1476375"/>
              <a:gd name="connsiteX8" fmla="*/ 114300 w 660400"/>
              <a:gd name="connsiteY8" fmla="*/ 0 h 1476375"/>
              <a:gd name="connsiteX9" fmla="*/ 158750 w 660400"/>
              <a:gd name="connsiteY9" fmla="*/ 66675 h 1476375"/>
              <a:gd name="connsiteX0" fmla="*/ 158750 w 660400"/>
              <a:gd name="connsiteY0" fmla="*/ 66675 h 1476375"/>
              <a:gd name="connsiteX1" fmla="*/ 285750 w 660400"/>
              <a:gd name="connsiteY1" fmla="*/ 384175 h 1476375"/>
              <a:gd name="connsiteX2" fmla="*/ 514350 w 660400"/>
              <a:gd name="connsiteY2" fmla="*/ 641350 h 1476375"/>
              <a:gd name="connsiteX3" fmla="*/ 514350 w 660400"/>
              <a:gd name="connsiteY3" fmla="*/ 923925 h 1476375"/>
              <a:gd name="connsiteX4" fmla="*/ 660400 w 660400"/>
              <a:gd name="connsiteY4" fmla="*/ 1206500 h 1476375"/>
              <a:gd name="connsiteX5" fmla="*/ 450850 w 660400"/>
              <a:gd name="connsiteY5" fmla="*/ 1416050 h 1476375"/>
              <a:gd name="connsiteX6" fmla="*/ 3175 w 660400"/>
              <a:gd name="connsiteY6" fmla="*/ 1476375 h 1476375"/>
              <a:gd name="connsiteX7" fmla="*/ 0 w 660400"/>
              <a:gd name="connsiteY7" fmla="*/ 6350 h 1476375"/>
              <a:gd name="connsiteX8" fmla="*/ 114300 w 660400"/>
              <a:gd name="connsiteY8" fmla="*/ 0 h 1476375"/>
              <a:gd name="connsiteX9" fmla="*/ 158750 w 660400"/>
              <a:gd name="connsiteY9" fmla="*/ 66675 h 1476375"/>
              <a:gd name="connsiteX0" fmla="*/ 158750 w 660400"/>
              <a:gd name="connsiteY0" fmla="*/ 60325 h 1470025"/>
              <a:gd name="connsiteX1" fmla="*/ 285750 w 660400"/>
              <a:gd name="connsiteY1" fmla="*/ 377825 h 1470025"/>
              <a:gd name="connsiteX2" fmla="*/ 514350 w 660400"/>
              <a:gd name="connsiteY2" fmla="*/ 635000 h 1470025"/>
              <a:gd name="connsiteX3" fmla="*/ 514350 w 660400"/>
              <a:gd name="connsiteY3" fmla="*/ 917575 h 1470025"/>
              <a:gd name="connsiteX4" fmla="*/ 660400 w 660400"/>
              <a:gd name="connsiteY4" fmla="*/ 1200150 h 1470025"/>
              <a:gd name="connsiteX5" fmla="*/ 450850 w 660400"/>
              <a:gd name="connsiteY5" fmla="*/ 1409700 h 1470025"/>
              <a:gd name="connsiteX6" fmla="*/ 3175 w 660400"/>
              <a:gd name="connsiteY6" fmla="*/ 1470025 h 1470025"/>
              <a:gd name="connsiteX7" fmla="*/ 0 w 660400"/>
              <a:gd name="connsiteY7" fmla="*/ 0 h 1470025"/>
              <a:gd name="connsiteX8" fmla="*/ 114300 w 660400"/>
              <a:gd name="connsiteY8" fmla="*/ 6350 h 1470025"/>
              <a:gd name="connsiteX9" fmla="*/ 158750 w 660400"/>
              <a:gd name="connsiteY9" fmla="*/ 60325 h 1470025"/>
              <a:gd name="connsiteX0" fmla="*/ 158750 w 660400"/>
              <a:gd name="connsiteY0" fmla="*/ 60325 h 1470025"/>
              <a:gd name="connsiteX1" fmla="*/ 285750 w 660400"/>
              <a:gd name="connsiteY1" fmla="*/ 377825 h 1470025"/>
              <a:gd name="connsiteX2" fmla="*/ 514350 w 660400"/>
              <a:gd name="connsiteY2" fmla="*/ 635000 h 1470025"/>
              <a:gd name="connsiteX3" fmla="*/ 514350 w 660400"/>
              <a:gd name="connsiteY3" fmla="*/ 917575 h 1470025"/>
              <a:gd name="connsiteX4" fmla="*/ 660400 w 660400"/>
              <a:gd name="connsiteY4" fmla="*/ 1200150 h 1470025"/>
              <a:gd name="connsiteX5" fmla="*/ 450850 w 660400"/>
              <a:gd name="connsiteY5" fmla="*/ 1409700 h 1470025"/>
              <a:gd name="connsiteX6" fmla="*/ 3175 w 660400"/>
              <a:gd name="connsiteY6" fmla="*/ 1470025 h 1470025"/>
              <a:gd name="connsiteX7" fmla="*/ 0 w 660400"/>
              <a:gd name="connsiteY7" fmla="*/ 0 h 1470025"/>
              <a:gd name="connsiteX8" fmla="*/ 114300 w 660400"/>
              <a:gd name="connsiteY8" fmla="*/ 6350 h 1470025"/>
              <a:gd name="connsiteX9" fmla="*/ 158750 w 660400"/>
              <a:gd name="connsiteY9" fmla="*/ 60325 h 1470025"/>
              <a:gd name="connsiteX0" fmla="*/ 158750 w 660400"/>
              <a:gd name="connsiteY0" fmla="*/ 60325 h 1470025"/>
              <a:gd name="connsiteX1" fmla="*/ 285750 w 660400"/>
              <a:gd name="connsiteY1" fmla="*/ 377825 h 1470025"/>
              <a:gd name="connsiteX2" fmla="*/ 514350 w 660400"/>
              <a:gd name="connsiteY2" fmla="*/ 635000 h 1470025"/>
              <a:gd name="connsiteX3" fmla="*/ 514350 w 660400"/>
              <a:gd name="connsiteY3" fmla="*/ 917575 h 1470025"/>
              <a:gd name="connsiteX4" fmla="*/ 660400 w 660400"/>
              <a:gd name="connsiteY4" fmla="*/ 1200150 h 1470025"/>
              <a:gd name="connsiteX5" fmla="*/ 450850 w 660400"/>
              <a:gd name="connsiteY5" fmla="*/ 1409700 h 1470025"/>
              <a:gd name="connsiteX6" fmla="*/ 3175 w 660400"/>
              <a:gd name="connsiteY6" fmla="*/ 1470025 h 1470025"/>
              <a:gd name="connsiteX7" fmla="*/ 0 w 660400"/>
              <a:gd name="connsiteY7" fmla="*/ 0 h 1470025"/>
              <a:gd name="connsiteX8" fmla="*/ 114300 w 660400"/>
              <a:gd name="connsiteY8" fmla="*/ 6350 h 1470025"/>
              <a:gd name="connsiteX9" fmla="*/ 158750 w 660400"/>
              <a:gd name="connsiteY9" fmla="*/ 60325 h 1470025"/>
              <a:gd name="connsiteX0" fmla="*/ 158750 w 660400"/>
              <a:gd name="connsiteY0" fmla="*/ 60325 h 1470025"/>
              <a:gd name="connsiteX1" fmla="*/ 285750 w 660400"/>
              <a:gd name="connsiteY1" fmla="*/ 377825 h 1470025"/>
              <a:gd name="connsiteX2" fmla="*/ 514350 w 660400"/>
              <a:gd name="connsiteY2" fmla="*/ 635000 h 1470025"/>
              <a:gd name="connsiteX3" fmla="*/ 514350 w 660400"/>
              <a:gd name="connsiteY3" fmla="*/ 917575 h 1470025"/>
              <a:gd name="connsiteX4" fmla="*/ 660400 w 660400"/>
              <a:gd name="connsiteY4" fmla="*/ 1200150 h 1470025"/>
              <a:gd name="connsiteX5" fmla="*/ 450850 w 660400"/>
              <a:gd name="connsiteY5" fmla="*/ 1409700 h 1470025"/>
              <a:gd name="connsiteX6" fmla="*/ 3175 w 660400"/>
              <a:gd name="connsiteY6" fmla="*/ 1470025 h 1470025"/>
              <a:gd name="connsiteX7" fmla="*/ 0 w 660400"/>
              <a:gd name="connsiteY7" fmla="*/ 0 h 1470025"/>
              <a:gd name="connsiteX8" fmla="*/ 427546 w 660400"/>
              <a:gd name="connsiteY8" fmla="*/ 20204 h 1470025"/>
              <a:gd name="connsiteX9" fmla="*/ 158750 w 660400"/>
              <a:gd name="connsiteY9" fmla="*/ 60325 h 1470025"/>
              <a:gd name="connsiteX0" fmla="*/ 427546 w 660400"/>
              <a:gd name="connsiteY0" fmla="*/ 20204 h 1470025"/>
              <a:gd name="connsiteX1" fmla="*/ 285750 w 660400"/>
              <a:gd name="connsiteY1" fmla="*/ 377825 h 1470025"/>
              <a:gd name="connsiteX2" fmla="*/ 514350 w 660400"/>
              <a:gd name="connsiteY2" fmla="*/ 635000 h 1470025"/>
              <a:gd name="connsiteX3" fmla="*/ 514350 w 660400"/>
              <a:gd name="connsiteY3" fmla="*/ 917575 h 1470025"/>
              <a:gd name="connsiteX4" fmla="*/ 660400 w 660400"/>
              <a:gd name="connsiteY4" fmla="*/ 1200150 h 1470025"/>
              <a:gd name="connsiteX5" fmla="*/ 450850 w 660400"/>
              <a:gd name="connsiteY5" fmla="*/ 1409700 h 1470025"/>
              <a:gd name="connsiteX6" fmla="*/ 3175 w 660400"/>
              <a:gd name="connsiteY6" fmla="*/ 1470025 h 1470025"/>
              <a:gd name="connsiteX7" fmla="*/ 0 w 660400"/>
              <a:gd name="connsiteY7" fmla="*/ 0 h 1470025"/>
              <a:gd name="connsiteX8" fmla="*/ 427546 w 660400"/>
              <a:gd name="connsiteY8" fmla="*/ 20204 h 1470025"/>
              <a:gd name="connsiteX0" fmla="*/ 427546 w 660400"/>
              <a:gd name="connsiteY0" fmla="*/ 20204 h 1470025"/>
              <a:gd name="connsiteX1" fmla="*/ 414424 w 660400"/>
              <a:gd name="connsiteY1" fmla="*/ 373207 h 1470025"/>
              <a:gd name="connsiteX2" fmla="*/ 514350 w 660400"/>
              <a:gd name="connsiteY2" fmla="*/ 635000 h 1470025"/>
              <a:gd name="connsiteX3" fmla="*/ 514350 w 660400"/>
              <a:gd name="connsiteY3" fmla="*/ 917575 h 1470025"/>
              <a:gd name="connsiteX4" fmla="*/ 660400 w 660400"/>
              <a:gd name="connsiteY4" fmla="*/ 1200150 h 1470025"/>
              <a:gd name="connsiteX5" fmla="*/ 450850 w 660400"/>
              <a:gd name="connsiteY5" fmla="*/ 1409700 h 1470025"/>
              <a:gd name="connsiteX6" fmla="*/ 3175 w 660400"/>
              <a:gd name="connsiteY6" fmla="*/ 1470025 h 1470025"/>
              <a:gd name="connsiteX7" fmla="*/ 0 w 660400"/>
              <a:gd name="connsiteY7" fmla="*/ 0 h 1470025"/>
              <a:gd name="connsiteX8" fmla="*/ 427546 w 660400"/>
              <a:gd name="connsiteY8" fmla="*/ 20204 h 1470025"/>
              <a:gd name="connsiteX0" fmla="*/ 427546 w 660400"/>
              <a:gd name="connsiteY0" fmla="*/ 20204 h 1470025"/>
              <a:gd name="connsiteX1" fmla="*/ 449229 w 660400"/>
              <a:gd name="connsiteY1" fmla="*/ 382443 h 1470025"/>
              <a:gd name="connsiteX2" fmla="*/ 514350 w 660400"/>
              <a:gd name="connsiteY2" fmla="*/ 635000 h 1470025"/>
              <a:gd name="connsiteX3" fmla="*/ 514350 w 660400"/>
              <a:gd name="connsiteY3" fmla="*/ 917575 h 1470025"/>
              <a:gd name="connsiteX4" fmla="*/ 660400 w 660400"/>
              <a:gd name="connsiteY4" fmla="*/ 1200150 h 1470025"/>
              <a:gd name="connsiteX5" fmla="*/ 450850 w 660400"/>
              <a:gd name="connsiteY5" fmla="*/ 1409700 h 1470025"/>
              <a:gd name="connsiteX6" fmla="*/ 3175 w 660400"/>
              <a:gd name="connsiteY6" fmla="*/ 1470025 h 1470025"/>
              <a:gd name="connsiteX7" fmla="*/ 0 w 660400"/>
              <a:gd name="connsiteY7" fmla="*/ 0 h 1470025"/>
              <a:gd name="connsiteX8" fmla="*/ 427546 w 660400"/>
              <a:gd name="connsiteY8" fmla="*/ 20204 h 1470025"/>
              <a:gd name="connsiteX0" fmla="*/ 424382 w 660400"/>
              <a:gd name="connsiteY0" fmla="*/ 10967 h 1470025"/>
              <a:gd name="connsiteX1" fmla="*/ 449229 w 660400"/>
              <a:gd name="connsiteY1" fmla="*/ 382443 h 1470025"/>
              <a:gd name="connsiteX2" fmla="*/ 514350 w 660400"/>
              <a:gd name="connsiteY2" fmla="*/ 635000 h 1470025"/>
              <a:gd name="connsiteX3" fmla="*/ 514350 w 660400"/>
              <a:gd name="connsiteY3" fmla="*/ 917575 h 1470025"/>
              <a:gd name="connsiteX4" fmla="*/ 660400 w 660400"/>
              <a:gd name="connsiteY4" fmla="*/ 1200150 h 1470025"/>
              <a:gd name="connsiteX5" fmla="*/ 450850 w 660400"/>
              <a:gd name="connsiteY5" fmla="*/ 1409700 h 1470025"/>
              <a:gd name="connsiteX6" fmla="*/ 3175 w 660400"/>
              <a:gd name="connsiteY6" fmla="*/ 1470025 h 1470025"/>
              <a:gd name="connsiteX7" fmla="*/ 0 w 660400"/>
              <a:gd name="connsiteY7" fmla="*/ 0 h 1470025"/>
              <a:gd name="connsiteX8" fmla="*/ 424382 w 660400"/>
              <a:gd name="connsiteY8" fmla="*/ 10967 h 1470025"/>
              <a:gd name="connsiteX0" fmla="*/ 424382 w 660400"/>
              <a:gd name="connsiteY0" fmla="*/ 10967 h 1479919"/>
              <a:gd name="connsiteX1" fmla="*/ 449229 w 660400"/>
              <a:gd name="connsiteY1" fmla="*/ 382443 h 1479919"/>
              <a:gd name="connsiteX2" fmla="*/ 514350 w 660400"/>
              <a:gd name="connsiteY2" fmla="*/ 635000 h 1479919"/>
              <a:gd name="connsiteX3" fmla="*/ 514350 w 660400"/>
              <a:gd name="connsiteY3" fmla="*/ 917575 h 1479919"/>
              <a:gd name="connsiteX4" fmla="*/ 660400 w 660400"/>
              <a:gd name="connsiteY4" fmla="*/ 1200150 h 1479919"/>
              <a:gd name="connsiteX5" fmla="*/ 426592 w 660400"/>
              <a:gd name="connsiteY5" fmla="*/ 1446644 h 1479919"/>
              <a:gd name="connsiteX6" fmla="*/ 3175 w 660400"/>
              <a:gd name="connsiteY6" fmla="*/ 1470025 h 1479919"/>
              <a:gd name="connsiteX7" fmla="*/ 0 w 660400"/>
              <a:gd name="connsiteY7" fmla="*/ 0 h 1479919"/>
              <a:gd name="connsiteX8" fmla="*/ 424382 w 660400"/>
              <a:gd name="connsiteY8" fmla="*/ 10967 h 1479919"/>
              <a:gd name="connsiteX0" fmla="*/ 424382 w 660400"/>
              <a:gd name="connsiteY0" fmla="*/ 10967 h 1470025"/>
              <a:gd name="connsiteX1" fmla="*/ 449229 w 660400"/>
              <a:gd name="connsiteY1" fmla="*/ 382443 h 1470025"/>
              <a:gd name="connsiteX2" fmla="*/ 514350 w 660400"/>
              <a:gd name="connsiteY2" fmla="*/ 635000 h 1470025"/>
              <a:gd name="connsiteX3" fmla="*/ 514350 w 660400"/>
              <a:gd name="connsiteY3" fmla="*/ 917575 h 1470025"/>
              <a:gd name="connsiteX4" fmla="*/ 660400 w 660400"/>
              <a:gd name="connsiteY4" fmla="*/ 1200150 h 1470025"/>
              <a:gd name="connsiteX5" fmla="*/ 426592 w 660400"/>
              <a:gd name="connsiteY5" fmla="*/ 1446644 h 1470025"/>
              <a:gd name="connsiteX6" fmla="*/ 3175 w 660400"/>
              <a:gd name="connsiteY6" fmla="*/ 1470025 h 1470025"/>
              <a:gd name="connsiteX7" fmla="*/ 0 w 660400"/>
              <a:gd name="connsiteY7" fmla="*/ 0 h 1470025"/>
              <a:gd name="connsiteX8" fmla="*/ 424382 w 660400"/>
              <a:gd name="connsiteY8" fmla="*/ 10967 h 1470025"/>
              <a:gd name="connsiteX0" fmla="*/ 424382 w 660400"/>
              <a:gd name="connsiteY0" fmla="*/ 10967 h 1475571"/>
              <a:gd name="connsiteX1" fmla="*/ 449229 w 660400"/>
              <a:gd name="connsiteY1" fmla="*/ 382443 h 1475571"/>
              <a:gd name="connsiteX2" fmla="*/ 514350 w 660400"/>
              <a:gd name="connsiteY2" fmla="*/ 635000 h 1475571"/>
              <a:gd name="connsiteX3" fmla="*/ 514350 w 660400"/>
              <a:gd name="connsiteY3" fmla="*/ 917575 h 1475571"/>
              <a:gd name="connsiteX4" fmla="*/ 660400 w 660400"/>
              <a:gd name="connsiteY4" fmla="*/ 1200150 h 1475571"/>
              <a:gd name="connsiteX5" fmla="*/ 425537 w 660400"/>
              <a:gd name="connsiteY5" fmla="*/ 1469734 h 1475571"/>
              <a:gd name="connsiteX6" fmla="*/ 3175 w 660400"/>
              <a:gd name="connsiteY6" fmla="*/ 1470025 h 1475571"/>
              <a:gd name="connsiteX7" fmla="*/ 0 w 660400"/>
              <a:gd name="connsiteY7" fmla="*/ 0 h 1475571"/>
              <a:gd name="connsiteX8" fmla="*/ 424382 w 660400"/>
              <a:gd name="connsiteY8" fmla="*/ 10967 h 1475571"/>
              <a:gd name="connsiteX0" fmla="*/ 424382 w 524713"/>
              <a:gd name="connsiteY0" fmla="*/ 10967 h 1475573"/>
              <a:gd name="connsiteX1" fmla="*/ 449229 w 524713"/>
              <a:gd name="connsiteY1" fmla="*/ 382443 h 1475573"/>
              <a:gd name="connsiteX2" fmla="*/ 514350 w 524713"/>
              <a:gd name="connsiteY2" fmla="*/ 635000 h 1475573"/>
              <a:gd name="connsiteX3" fmla="*/ 514350 w 524713"/>
              <a:gd name="connsiteY3" fmla="*/ 917575 h 1475573"/>
              <a:gd name="connsiteX4" fmla="*/ 425537 w 524713"/>
              <a:gd name="connsiteY4" fmla="*/ 1469734 h 1475573"/>
              <a:gd name="connsiteX5" fmla="*/ 3175 w 524713"/>
              <a:gd name="connsiteY5" fmla="*/ 1470025 h 1475573"/>
              <a:gd name="connsiteX6" fmla="*/ 0 w 524713"/>
              <a:gd name="connsiteY6" fmla="*/ 0 h 1475573"/>
              <a:gd name="connsiteX7" fmla="*/ 424382 w 524713"/>
              <a:gd name="connsiteY7" fmla="*/ 10967 h 1475573"/>
              <a:gd name="connsiteX0" fmla="*/ 424382 w 525391"/>
              <a:gd name="connsiteY0" fmla="*/ 10967 h 1475571"/>
              <a:gd name="connsiteX1" fmla="*/ 449229 w 525391"/>
              <a:gd name="connsiteY1" fmla="*/ 382443 h 1475571"/>
              <a:gd name="connsiteX2" fmla="*/ 514350 w 525391"/>
              <a:gd name="connsiteY2" fmla="*/ 635000 h 1475571"/>
              <a:gd name="connsiteX3" fmla="*/ 522788 w 525391"/>
              <a:gd name="connsiteY3" fmla="*/ 1139240 h 1475571"/>
              <a:gd name="connsiteX4" fmla="*/ 425537 w 525391"/>
              <a:gd name="connsiteY4" fmla="*/ 1469734 h 1475571"/>
              <a:gd name="connsiteX5" fmla="*/ 3175 w 525391"/>
              <a:gd name="connsiteY5" fmla="*/ 1470025 h 1475571"/>
              <a:gd name="connsiteX6" fmla="*/ 0 w 525391"/>
              <a:gd name="connsiteY6" fmla="*/ 0 h 1475571"/>
              <a:gd name="connsiteX7" fmla="*/ 424382 w 525391"/>
              <a:gd name="connsiteY7" fmla="*/ 10967 h 1475571"/>
              <a:gd name="connsiteX0" fmla="*/ 424382 w 532554"/>
              <a:gd name="connsiteY0" fmla="*/ 10967 h 1475573"/>
              <a:gd name="connsiteX1" fmla="*/ 449229 w 532554"/>
              <a:gd name="connsiteY1" fmla="*/ 382443 h 1475573"/>
              <a:gd name="connsiteX2" fmla="*/ 514350 w 532554"/>
              <a:gd name="connsiteY2" fmla="*/ 635000 h 1475573"/>
              <a:gd name="connsiteX3" fmla="*/ 522788 w 532554"/>
              <a:gd name="connsiteY3" fmla="*/ 1139240 h 1475573"/>
              <a:gd name="connsiteX4" fmla="*/ 425537 w 532554"/>
              <a:gd name="connsiteY4" fmla="*/ 1469734 h 1475573"/>
              <a:gd name="connsiteX5" fmla="*/ 3175 w 532554"/>
              <a:gd name="connsiteY5" fmla="*/ 1470025 h 1475573"/>
              <a:gd name="connsiteX6" fmla="*/ 0 w 532554"/>
              <a:gd name="connsiteY6" fmla="*/ 0 h 1475573"/>
              <a:gd name="connsiteX7" fmla="*/ 424382 w 532554"/>
              <a:gd name="connsiteY7" fmla="*/ 10967 h 1475573"/>
              <a:gd name="connsiteX0" fmla="*/ 476062 w 532554"/>
              <a:gd name="connsiteY0" fmla="*/ 1732 h 1475571"/>
              <a:gd name="connsiteX1" fmla="*/ 449229 w 532554"/>
              <a:gd name="connsiteY1" fmla="*/ 382443 h 1475571"/>
              <a:gd name="connsiteX2" fmla="*/ 514350 w 532554"/>
              <a:gd name="connsiteY2" fmla="*/ 635000 h 1475571"/>
              <a:gd name="connsiteX3" fmla="*/ 522788 w 532554"/>
              <a:gd name="connsiteY3" fmla="*/ 1139240 h 1475571"/>
              <a:gd name="connsiteX4" fmla="*/ 425537 w 532554"/>
              <a:gd name="connsiteY4" fmla="*/ 1469734 h 1475571"/>
              <a:gd name="connsiteX5" fmla="*/ 3175 w 532554"/>
              <a:gd name="connsiteY5" fmla="*/ 1470025 h 1475571"/>
              <a:gd name="connsiteX6" fmla="*/ 0 w 532554"/>
              <a:gd name="connsiteY6" fmla="*/ 0 h 1475571"/>
              <a:gd name="connsiteX7" fmla="*/ 476062 w 532554"/>
              <a:gd name="connsiteY7" fmla="*/ 1732 h 1475571"/>
              <a:gd name="connsiteX0" fmla="*/ 476062 w 532554"/>
              <a:gd name="connsiteY0" fmla="*/ 1732 h 1475573"/>
              <a:gd name="connsiteX1" fmla="*/ 449229 w 532554"/>
              <a:gd name="connsiteY1" fmla="*/ 382443 h 1475573"/>
              <a:gd name="connsiteX2" fmla="*/ 514350 w 532554"/>
              <a:gd name="connsiteY2" fmla="*/ 635000 h 1475573"/>
              <a:gd name="connsiteX3" fmla="*/ 522788 w 532554"/>
              <a:gd name="connsiteY3" fmla="*/ 1139240 h 1475573"/>
              <a:gd name="connsiteX4" fmla="*/ 425537 w 532554"/>
              <a:gd name="connsiteY4" fmla="*/ 1469734 h 1475573"/>
              <a:gd name="connsiteX5" fmla="*/ 3175 w 532554"/>
              <a:gd name="connsiteY5" fmla="*/ 1470025 h 1475573"/>
              <a:gd name="connsiteX6" fmla="*/ 0 w 532554"/>
              <a:gd name="connsiteY6" fmla="*/ 0 h 1475573"/>
              <a:gd name="connsiteX7" fmla="*/ 476062 w 532554"/>
              <a:gd name="connsiteY7" fmla="*/ 1732 h 1475573"/>
              <a:gd name="connsiteX0" fmla="*/ 476062 w 532554"/>
              <a:gd name="connsiteY0" fmla="*/ 1732 h 1475571"/>
              <a:gd name="connsiteX1" fmla="*/ 449229 w 532554"/>
              <a:gd name="connsiteY1" fmla="*/ 382443 h 1475571"/>
              <a:gd name="connsiteX2" fmla="*/ 514350 w 532554"/>
              <a:gd name="connsiteY2" fmla="*/ 635000 h 1475571"/>
              <a:gd name="connsiteX3" fmla="*/ 522788 w 532554"/>
              <a:gd name="connsiteY3" fmla="*/ 1139240 h 1475571"/>
              <a:gd name="connsiteX4" fmla="*/ 425537 w 532554"/>
              <a:gd name="connsiteY4" fmla="*/ 1469734 h 1475571"/>
              <a:gd name="connsiteX5" fmla="*/ 3175 w 532554"/>
              <a:gd name="connsiteY5" fmla="*/ 1470025 h 1475571"/>
              <a:gd name="connsiteX6" fmla="*/ 0 w 532554"/>
              <a:gd name="connsiteY6" fmla="*/ 0 h 1475571"/>
              <a:gd name="connsiteX7" fmla="*/ 476062 w 532554"/>
              <a:gd name="connsiteY7" fmla="*/ 1732 h 1475571"/>
              <a:gd name="connsiteX0" fmla="*/ 476062 w 532554"/>
              <a:gd name="connsiteY0" fmla="*/ 1732 h 1475573"/>
              <a:gd name="connsiteX1" fmla="*/ 449229 w 532554"/>
              <a:gd name="connsiteY1" fmla="*/ 382443 h 1475573"/>
              <a:gd name="connsiteX2" fmla="*/ 514350 w 532554"/>
              <a:gd name="connsiteY2" fmla="*/ 635000 h 1475573"/>
              <a:gd name="connsiteX3" fmla="*/ 522788 w 532554"/>
              <a:gd name="connsiteY3" fmla="*/ 1139240 h 1475573"/>
              <a:gd name="connsiteX4" fmla="*/ 425537 w 532554"/>
              <a:gd name="connsiteY4" fmla="*/ 1469734 h 1475573"/>
              <a:gd name="connsiteX5" fmla="*/ 3175 w 532554"/>
              <a:gd name="connsiteY5" fmla="*/ 1470025 h 1475573"/>
              <a:gd name="connsiteX6" fmla="*/ 0 w 532554"/>
              <a:gd name="connsiteY6" fmla="*/ 0 h 1475573"/>
              <a:gd name="connsiteX7" fmla="*/ 476062 w 532554"/>
              <a:gd name="connsiteY7" fmla="*/ 1732 h 1475573"/>
              <a:gd name="connsiteX0" fmla="*/ 476062 w 532554"/>
              <a:gd name="connsiteY0" fmla="*/ 1732 h 1475571"/>
              <a:gd name="connsiteX1" fmla="*/ 449229 w 532554"/>
              <a:gd name="connsiteY1" fmla="*/ 382443 h 1475571"/>
              <a:gd name="connsiteX2" fmla="*/ 514350 w 532554"/>
              <a:gd name="connsiteY2" fmla="*/ 635000 h 1475571"/>
              <a:gd name="connsiteX3" fmla="*/ 522788 w 532554"/>
              <a:gd name="connsiteY3" fmla="*/ 1139240 h 1475571"/>
              <a:gd name="connsiteX4" fmla="*/ 425537 w 532554"/>
              <a:gd name="connsiteY4" fmla="*/ 1469734 h 1475571"/>
              <a:gd name="connsiteX5" fmla="*/ 3175 w 532554"/>
              <a:gd name="connsiteY5" fmla="*/ 1470025 h 1475571"/>
              <a:gd name="connsiteX6" fmla="*/ 0 w 532554"/>
              <a:gd name="connsiteY6" fmla="*/ 0 h 1475571"/>
              <a:gd name="connsiteX7" fmla="*/ 476062 w 532554"/>
              <a:gd name="connsiteY7" fmla="*/ 1732 h 147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2554" h="1475571">
                <a:moveTo>
                  <a:pt x="476062" y="1732"/>
                </a:moveTo>
                <a:cubicBezTo>
                  <a:pt x="423875" y="341065"/>
                  <a:pt x="440243" y="274008"/>
                  <a:pt x="449229" y="382443"/>
                </a:cubicBezTo>
                <a:cubicBezTo>
                  <a:pt x="466214" y="494912"/>
                  <a:pt x="447675" y="506942"/>
                  <a:pt x="514350" y="635000"/>
                </a:cubicBezTo>
                <a:cubicBezTo>
                  <a:pt x="558800" y="807508"/>
                  <a:pt x="505663" y="828768"/>
                  <a:pt x="522788" y="1139240"/>
                </a:cubicBezTo>
                <a:cubicBezTo>
                  <a:pt x="507986" y="1278362"/>
                  <a:pt x="510733" y="1377659"/>
                  <a:pt x="425537" y="1469734"/>
                </a:cubicBezTo>
                <a:cubicBezTo>
                  <a:pt x="3839" y="1489843"/>
                  <a:pt x="152400" y="1449917"/>
                  <a:pt x="3175" y="1470025"/>
                </a:cubicBezTo>
                <a:cubicBezTo>
                  <a:pt x="2117" y="980017"/>
                  <a:pt x="1058" y="490008"/>
                  <a:pt x="0" y="0"/>
                </a:cubicBezTo>
                <a:lnTo>
                  <a:pt x="476062" y="1732"/>
                </a:lnTo>
                <a:close/>
              </a:path>
            </a:pathLst>
          </a:custGeom>
          <a:pattFill prst="wdUpDiag">
            <a:fgClr>
              <a:schemeClr val="bg1">
                <a:lumMod val="50000"/>
              </a:schemeClr>
            </a:fgClr>
            <a:bgClr>
              <a:schemeClr val="bg1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43AA6B77-E50B-8094-FFFE-E6BF2620FD4E}"/>
              </a:ext>
            </a:extLst>
          </p:cNvPr>
          <p:cNvSpPr/>
          <p:nvPr/>
        </p:nvSpPr>
        <p:spPr>
          <a:xfrm>
            <a:off x="19264730" y="15863739"/>
            <a:ext cx="2270343" cy="6473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altLang="zh-CN" sz="2307" b="1" dirty="0">
                <a:solidFill>
                  <a:schemeClr val="tx1"/>
                </a:solidFill>
                <a:latin typeface="Arial Black" panose="020B0A04020102020204" pitchFamily="34" charset="0"/>
              </a:rPr>
              <a:t>Gate#2</a:t>
            </a:r>
            <a:endParaRPr lang="en-US" sz="2307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535" name="Group 534">
            <a:extLst>
              <a:ext uri="{FF2B5EF4-FFF2-40B4-BE49-F238E27FC236}">
                <a16:creationId xmlns:a16="http://schemas.microsoft.com/office/drawing/2014/main" id="{FA71D527-0F35-534B-B89F-224529721BF9}"/>
              </a:ext>
            </a:extLst>
          </p:cNvPr>
          <p:cNvGrpSpPr/>
          <p:nvPr/>
        </p:nvGrpSpPr>
        <p:grpSpPr>
          <a:xfrm>
            <a:off x="2249656" y="11452953"/>
            <a:ext cx="1674235" cy="1610334"/>
            <a:chOff x="-880915" y="3869543"/>
            <a:chExt cx="657997" cy="558305"/>
          </a:xfrm>
        </p:grpSpPr>
        <p:sp>
          <p:nvSpPr>
            <p:cNvPr id="540" name="Rectangle 539">
              <a:extLst>
                <a:ext uri="{FF2B5EF4-FFF2-40B4-BE49-F238E27FC236}">
                  <a16:creationId xmlns:a16="http://schemas.microsoft.com/office/drawing/2014/main" id="{DCE140F1-DDD3-0D4F-833C-0EF970376387}"/>
                </a:ext>
              </a:extLst>
            </p:cNvPr>
            <p:cNvSpPr/>
            <p:nvPr/>
          </p:nvSpPr>
          <p:spPr>
            <a:xfrm>
              <a:off x="-793312" y="3901446"/>
              <a:ext cx="570394" cy="493021"/>
            </a:xfrm>
            <a:prstGeom prst="rect">
              <a:avLst/>
            </a:prstGeom>
            <a:solidFill>
              <a:srgbClr val="FFFF9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731">
                <a:solidFill>
                  <a:schemeClr val="tx1"/>
                </a:solidFill>
              </a:endParaRPr>
            </a:p>
          </p:txBody>
        </p: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id="{0A877FD3-396C-B9D9-B0D5-8454EFA8889A}"/>
                </a:ext>
              </a:extLst>
            </p:cNvPr>
            <p:cNvGrpSpPr/>
            <p:nvPr/>
          </p:nvGrpSpPr>
          <p:grpSpPr>
            <a:xfrm>
              <a:off x="-662894" y="3915830"/>
              <a:ext cx="408651" cy="427569"/>
              <a:chOff x="-662894" y="3915831"/>
              <a:chExt cx="408651" cy="408820"/>
            </a:xfrm>
          </p:grpSpPr>
          <p:sp>
            <p:nvSpPr>
              <p:cNvPr id="545" name="Rectangle 544">
                <a:extLst>
                  <a:ext uri="{FF2B5EF4-FFF2-40B4-BE49-F238E27FC236}">
                    <a16:creationId xmlns:a16="http://schemas.microsoft.com/office/drawing/2014/main" id="{85DF42E5-F020-D439-D724-9FB65A89D4A4}"/>
                  </a:ext>
                </a:extLst>
              </p:cNvPr>
              <p:cNvSpPr/>
              <p:nvPr/>
            </p:nvSpPr>
            <p:spPr>
              <a:xfrm>
                <a:off x="-662894" y="4018655"/>
                <a:ext cx="408651" cy="3894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155" dirty="0">
                    <a:solidFill>
                      <a:schemeClr val="tx1"/>
                    </a:solidFill>
                  </a:rPr>
                  <a:t>&lt;&lt;  &gt;&gt;</a:t>
                </a:r>
              </a:p>
            </p:txBody>
          </p:sp>
          <p:sp>
            <p:nvSpPr>
              <p:cNvPr id="546" name="Rectangle 545">
                <a:extLst>
                  <a:ext uri="{FF2B5EF4-FFF2-40B4-BE49-F238E27FC236}">
                    <a16:creationId xmlns:a16="http://schemas.microsoft.com/office/drawing/2014/main" id="{BAF6387C-0042-1315-E2CA-59123EE3FF29}"/>
                  </a:ext>
                </a:extLst>
              </p:cNvPr>
              <p:cNvSpPr/>
              <p:nvPr/>
            </p:nvSpPr>
            <p:spPr>
              <a:xfrm>
                <a:off x="-662894" y="4074532"/>
                <a:ext cx="408651" cy="3894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155" dirty="0">
                    <a:solidFill>
                      <a:schemeClr val="tx1"/>
                    </a:solidFill>
                  </a:rPr>
                  <a:t>&lt;&lt;  &gt;&gt;</a:t>
                </a:r>
              </a:p>
            </p:txBody>
          </p:sp>
          <p:sp>
            <p:nvSpPr>
              <p:cNvPr id="547" name="Rectangle 546">
                <a:extLst>
                  <a:ext uri="{FF2B5EF4-FFF2-40B4-BE49-F238E27FC236}">
                    <a16:creationId xmlns:a16="http://schemas.microsoft.com/office/drawing/2014/main" id="{8530BD83-55AE-8FA2-9B81-254B719A2D47}"/>
                  </a:ext>
                </a:extLst>
              </p:cNvPr>
              <p:cNvSpPr/>
              <p:nvPr/>
            </p:nvSpPr>
            <p:spPr>
              <a:xfrm>
                <a:off x="-662894" y="4127003"/>
                <a:ext cx="408651" cy="3894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155" dirty="0">
                    <a:solidFill>
                      <a:schemeClr val="tx1"/>
                    </a:solidFill>
                  </a:rPr>
                  <a:t>&lt;&lt;  &gt;&gt;</a:t>
                </a:r>
              </a:p>
            </p:txBody>
          </p:sp>
          <p:grpSp>
            <p:nvGrpSpPr>
              <p:cNvPr id="548" name="Group 547">
                <a:extLst>
                  <a:ext uri="{FF2B5EF4-FFF2-40B4-BE49-F238E27FC236}">
                    <a16:creationId xmlns:a16="http://schemas.microsoft.com/office/drawing/2014/main" id="{D38D016C-73F1-F2B7-CA3B-E3596E10C2E2}"/>
                  </a:ext>
                </a:extLst>
              </p:cNvPr>
              <p:cNvGrpSpPr/>
              <p:nvPr/>
            </p:nvGrpSpPr>
            <p:grpSpPr>
              <a:xfrm>
                <a:off x="-662894" y="4181977"/>
                <a:ext cx="303415" cy="142674"/>
                <a:chOff x="-662894" y="4181977"/>
                <a:chExt cx="408651" cy="142674"/>
              </a:xfrm>
            </p:grpSpPr>
            <p:sp>
              <p:nvSpPr>
                <p:cNvPr id="552" name="Rectangle 551">
                  <a:extLst>
                    <a:ext uri="{FF2B5EF4-FFF2-40B4-BE49-F238E27FC236}">
                      <a16:creationId xmlns:a16="http://schemas.microsoft.com/office/drawing/2014/main" id="{CE23525F-FA89-290C-FB10-067AD63DCAA2}"/>
                    </a:ext>
                  </a:extLst>
                </p:cNvPr>
                <p:cNvSpPr/>
                <p:nvPr/>
              </p:nvSpPr>
              <p:spPr>
                <a:xfrm>
                  <a:off x="-662894" y="4233049"/>
                  <a:ext cx="408651" cy="40777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sz="1155" dirty="0">
                      <a:solidFill>
                        <a:schemeClr val="tx1"/>
                      </a:solidFill>
                    </a:rPr>
                    <a:t>&gt;&gt;&gt;</a:t>
                  </a:r>
                </a:p>
              </p:txBody>
            </p:sp>
            <p:sp>
              <p:nvSpPr>
                <p:cNvPr id="553" name="Rectangle 552">
                  <a:extLst>
                    <a:ext uri="{FF2B5EF4-FFF2-40B4-BE49-F238E27FC236}">
                      <a16:creationId xmlns:a16="http://schemas.microsoft.com/office/drawing/2014/main" id="{9B9B2A15-0CF6-57FF-41D5-5FF95FFFBB6C}"/>
                    </a:ext>
                  </a:extLst>
                </p:cNvPr>
                <p:cNvSpPr/>
                <p:nvPr/>
              </p:nvSpPr>
              <p:spPr>
                <a:xfrm>
                  <a:off x="-662894" y="4181977"/>
                  <a:ext cx="408651" cy="38949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sz="1155" dirty="0">
                      <a:solidFill>
                        <a:schemeClr val="tx1"/>
                      </a:solidFill>
                    </a:rPr>
                    <a:t>&gt;&gt;&gt;</a:t>
                  </a:r>
                </a:p>
              </p:txBody>
            </p:sp>
            <p:sp>
              <p:nvSpPr>
                <p:cNvPr id="554" name="Rectangle 553">
                  <a:extLst>
                    <a:ext uri="{FF2B5EF4-FFF2-40B4-BE49-F238E27FC236}">
                      <a16:creationId xmlns:a16="http://schemas.microsoft.com/office/drawing/2014/main" id="{BD234F61-B82E-B293-6959-8686D1864B1F}"/>
                    </a:ext>
                  </a:extLst>
                </p:cNvPr>
                <p:cNvSpPr/>
                <p:nvPr/>
              </p:nvSpPr>
              <p:spPr>
                <a:xfrm>
                  <a:off x="-662894" y="4285702"/>
                  <a:ext cx="408651" cy="38949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sz="1155" dirty="0">
                      <a:solidFill>
                        <a:schemeClr val="tx1"/>
                      </a:solidFill>
                    </a:rPr>
                    <a:t>&gt;&gt;&gt;</a:t>
                  </a:r>
                </a:p>
              </p:txBody>
            </p:sp>
          </p:grpSp>
          <p:grpSp>
            <p:nvGrpSpPr>
              <p:cNvPr id="549" name="Group 548">
                <a:extLst>
                  <a:ext uri="{FF2B5EF4-FFF2-40B4-BE49-F238E27FC236}">
                    <a16:creationId xmlns:a16="http://schemas.microsoft.com/office/drawing/2014/main" id="{E93E1E89-C4C4-23C4-D31A-25BFA3C06520}"/>
                  </a:ext>
                </a:extLst>
              </p:cNvPr>
              <p:cNvGrpSpPr/>
              <p:nvPr/>
            </p:nvGrpSpPr>
            <p:grpSpPr>
              <a:xfrm>
                <a:off x="-662894" y="3915831"/>
                <a:ext cx="305085" cy="89862"/>
                <a:chOff x="-662894" y="3915831"/>
                <a:chExt cx="408651" cy="89862"/>
              </a:xfrm>
            </p:grpSpPr>
            <p:sp>
              <p:nvSpPr>
                <p:cNvPr id="550" name="Rectangle 549">
                  <a:extLst>
                    <a:ext uri="{FF2B5EF4-FFF2-40B4-BE49-F238E27FC236}">
                      <a16:creationId xmlns:a16="http://schemas.microsoft.com/office/drawing/2014/main" id="{A25F0B3E-B55D-B361-0177-D6406D0C8A02}"/>
                    </a:ext>
                  </a:extLst>
                </p:cNvPr>
                <p:cNvSpPr/>
                <p:nvPr/>
              </p:nvSpPr>
              <p:spPr>
                <a:xfrm>
                  <a:off x="-662894" y="3915831"/>
                  <a:ext cx="408651" cy="38949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155" dirty="0">
                      <a:solidFill>
                        <a:schemeClr val="tx1"/>
                      </a:solidFill>
                    </a:rPr>
                    <a:t>&lt;&lt;&lt;</a:t>
                  </a:r>
                </a:p>
              </p:txBody>
            </p:sp>
            <p:sp>
              <p:nvSpPr>
                <p:cNvPr id="551" name="Rectangle 550">
                  <a:extLst>
                    <a:ext uri="{FF2B5EF4-FFF2-40B4-BE49-F238E27FC236}">
                      <a16:creationId xmlns:a16="http://schemas.microsoft.com/office/drawing/2014/main" id="{ADADDE34-A607-2F00-4DAF-123F678FCE39}"/>
                    </a:ext>
                  </a:extLst>
                </p:cNvPr>
                <p:cNvSpPr/>
                <p:nvPr/>
              </p:nvSpPr>
              <p:spPr>
                <a:xfrm>
                  <a:off x="-662894" y="3966744"/>
                  <a:ext cx="408651" cy="38949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155" dirty="0">
                      <a:solidFill>
                        <a:schemeClr val="tx1"/>
                      </a:solidFill>
                    </a:rPr>
                    <a:t>&lt;&lt;&lt;</a:t>
                  </a:r>
                </a:p>
              </p:txBody>
            </p:sp>
          </p:grpSp>
        </p:grpSp>
        <p:sp>
          <p:nvSpPr>
            <p:cNvPr id="542" name="Rectangle 541">
              <a:extLst>
                <a:ext uri="{FF2B5EF4-FFF2-40B4-BE49-F238E27FC236}">
                  <a16:creationId xmlns:a16="http://schemas.microsoft.com/office/drawing/2014/main" id="{7F87FB75-BAE8-A5F3-ED2B-36338FB35961}"/>
                </a:ext>
              </a:extLst>
            </p:cNvPr>
            <p:cNvSpPr/>
            <p:nvPr/>
          </p:nvSpPr>
          <p:spPr>
            <a:xfrm>
              <a:off x="-470144" y="4356278"/>
              <a:ext cx="215900" cy="37736"/>
            </a:xfrm>
            <a:prstGeom prst="rect">
              <a:avLst/>
            </a:prstGeom>
            <a:pattFill prst="dkVert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731" dirty="0">
                <a:solidFill>
                  <a:schemeClr val="tx1"/>
                </a:solidFill>
              </a:endParaRPr>
            </a:p>
          </p:txBody>
        </p:sp>
        <p:sp>
          <p:nvSpPr>
            <p:cNvPr id="543" name="Rectangle 542">
              <a:extLst>
                <a:ext uri="{FF2B5EF4-FFF2-40B4-BE49-F238E27FC236}">
                  <a16:creationId xmlns:a16="http://schemas.microsoft.com/office/drawing/2014/main" id="{3FF1FD53-ABC5-EA2B-9B05-FE572A0BFB6C}"/>
                </a:ext>
              </a:extLst>
            </p:cNvPr>
            <p:cNvSpPr/>
            <p:nvPr/>
          </p:nvSpPr>
          <p:spPr>
            <a:xfrm>
              <a:off x="-879907" y="3869543"/>
              <a:ext cx="86595" cy="558305"/>
            </a:xfrm>
            <a:prstGeom prst="rect">
              <a:avLst/>
            </a:prstGeom>
            <a:solidFill>
              <a:srgbClr val="FFFF9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731">
                <a:solidFill>
                  <a:schemeClr val="tx1"/>
                </a:solidFill>
              </a:endParaRPr>
            </a:p>
          </p:txBody>
        </p:sp>
        <p:sp>
          <p:nvSpPr>
            <p:cNvPr id="544" name="Rectangle 37">
              <a:extLst>
                <a:ext uri="{FF2B5EF4-FFF2-40B4-BE49-F238E27FC236}">
                  <a16:creationId xmlns:a16="http://schemas.microsoft.com/office/drawing/2014/main" id="{A0328866-168A-66D0-1C22-57DA2BF9EB0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952917" y="3967444"/>
              <a:ext cx="458074" cy="314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defTabSz="2637312"/>
              <a:endParaRPr lang="en-US" altLang="en-US" sz="5193" dirty="0"/>
            </a:p>
          </p:txBody>
        </p:sp>
      </p:grpSp>
      <p:sp>
        <p:nvSpPr>
          <p:cNvPr id="555" name="Rectangle 554">
            <a:extLst>
              <a:ext uri="{FF2B5EF4-FFF2-40B4-BE49-F238E27FC236}">
                <a16:creationId xmlns:a16="http://schemas.microsoft.com/office/drawing/2014/main" id="{46C8986F-09CB-1C4C-C1D3-EF2BB14A57F6}"/>
              </a:ext>
            </a:extLst>
          </p:cNvPr>
          <p:cNvSpPr/>
          <p:nvPr/>
        </p:nvSpPr>
        <p:spPr>
          <a:xfrm>
            <a:off x="2283759" y="11849657"/>
            <a:ext cx="1855014" cy="6397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altLang="zh-CN" sz="2595" b="1" dirty="0">
                <a:solidFill>
                  <a:schemeClr val="tx1"/>
                </a:solidFill>
                <a:latin typeface="Arial Black" panose="020B0A04020102020204" pitchFamily="34" charset="0"/>
              </a:rPr>
              <a:t>Gate#1</a:t>
            </a:r>
            <a:endParaRPr lang="en-US" sz="2595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557" name="AutoShape 3">
            <a:extLst>
              <a:ext uri="{FF2B5EF4-FFF2-40B4-BE49-F238E27FC236}">
                <a16:creationId xmlns:a16="http://schemas.microsoft.com/office/drawing/2014/main" id="{DEDA33F5-ADC7-53EB-9D35-27686ADE6CBA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2339802" y="15971691"/>
            <a:ext cx="1332450" cy="69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63742" tIns="131871" rIns="263742" bIns="131871" numCol="1" anchor="t" anchorCtr="0" compatLnSpc="1">
            <a:prstTxWarp prst="textNoShape">
              <a:avLst/>
            </a:prstTxWarp>
          </a:bodyPr>
          <a:lstStyle/>
          <a:p>
            <a:endParaRPr lang="en-US" sz="5193"/>
          </a:p>
        </p:txBody>
      </p:sp>
      <p:sp>
        <p:nvSpPr>
          <p:cNvPr id="134" name="Rectangle 9">
            <a:extLst>
              <a:ext uri="{FF2B5EF4-FFF2-40B4-BE49-F238E27FC236}">
                <a16:creationId xmlns:a16="http://schemas.microsoft.com/office/drawing/2014/main" id="{C02B79BA-E0EC-6941-7E7D-7A1627B94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1854" y="16292214"/>
            <a:ext cx="1272924" cy="30678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63742" tIns="131871" rIns="263742" bIns="131871" numCol="1" anchor="t" anchorCtr="0" compatLnSpc="1">
            <a:prstTxWarp prst="textNoShape">
              <a:avLst/>
            </a:prstTxWarp>
          </a:bodyPr>
          <a:lstStyle/>
          <a:p>
            <a:endParaRPr lang="en-US" sz="5193"/>
          </a:p>
        </p:txBody>
      </p:sp>
      <p:sp>
        <p:nvSpPr>
          <p:cNvPr id="135" name="Rectangle 11">
            <a:extLst>
              <a:ext uri="{FF2B5EF4-FFF2-40B4-BE49-F238E27FC236}">
                <a16:creationId xmlns:a16="http://schemas.microsoft.com/office/drawing/2014/main" id="{1B962EDC-9823-CE62-E7EC-155753BE4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9596" y="16388367"/>
            <a:ext cx="1043979" cy="15110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63742" tIns="131871" rIns="263742" bIns="131871" numCol="1" anchor="t" anchorCtr="0" compatLnSpc="1">
            <a:prstTxWarp prst="textNoShape">
              <a:avLst/>
            </a:prstTxWarp>
          </a:bodyPr>
          <a:lstStyle/>
          <a:p>
            <a:endParaRPr lang="en-US" sz="5193"/>
          </a:p>
        </p:txBody>
      </p:sp>
      <p:pic>
        <p:nvPicPr>
          <p:cNvPr id="138" name="Picture 10">
            <a:extLst>
              <a:ext uri="{FF2B5EF4-FFF2-40B4-BE49-F238E27FC236}">
                <a16:creationId xmlns:a16="http://schemas.microsoft.com/office/drawing/2014/main" id="{9A7A2907-9A18-B7B1-74FD-37F01916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31967" y="16158390"/>
            <a:ext cx="1878690" cy="689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7" name="Rectangle 136">
            <a:extLst>
              <a:ext uri="{FF2B5EF4-FFF2-40B4-BE49-F238E27FC236}">
                <a16:creationId xmlns:a16="http://schemas.microsoft.com/office/drawing/2014/main" id="{FF02052F-1930-D7BA-863C-11BFFC8A010D}"/>
              </a:ext>
            </a:extLst>
          </p:cNvPr>
          <p:cNvSpPr/>
          <p:nvPr/>
        </p:nvSpPr>
        <p:spPr>
          <a:xfrm>
            <a:off x="2449089" y="16267673"/>
            <a:ext cx="1637652" cy="492003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31" b="1" dirty="0">
                <a:solidFill>
                  <a:schemeClr val="tx1"/>
                </a:solidFill>
                <a:latin typeface="Arial Black" panose="020B0A04020102020204" pitchFamily="34" charset="0"/>
              </a:rPr>
              <a:t>OOG &amp; </a:t>
            </a:r>
            <a:r>
              <a:rPr lang="en-US" altLang="zh-CN" sz="1731" b="1" dirty="0">
                <a:solidFill>
                  <a:schemeClr val="tx1"/>
                </a:solidFill>
                <a:latin typeface="Arial Black" panose="020B0A04020102020204" pitchFamily="34" charset="0"/>
              </a:rPr>
              <a:t>Gate #3</a:t>
            </a:r>
            <a:endParaRPr lang="en-US" sz="1731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6C490BE7-D409-5827-5457-B1BE5A5C5290}"/>
              </a:ext>
            </a:extLst>
          </p:cNvPr>
          <p:cNvGrpSpPr/>
          <p:nvPr/>
        </p:nvGrpSpPr>
        <p:grpSpPr>
          <a:xfrm rot="5400000">
            <a:off x="4216692" y="14809529"/>
            <a:ext cx="678966" cy="215979"/>
            <a:chOff x="3294967" y="1881912"/>
            <a:chExt cx="245675" cy="63569"/>
          </a:xfrm>
        </p:grpSpPr>
        <p:cxnSp>
          <p:nvCxnSpPr>
            <p:cNvPr id="454" name="Straight Arrow Connector 453">
              <a:extLst>
                <a:ext uri="{FF2B5EF4-FFF2-40B4-BE49-F238E27FC236}">
                  <a16:creationId xmlns:a16="http://schemas.microsoft.com/office/drawing/2014/main" id="{4AF30FD7-2A29-D365-8EC0-F17FC76BBEDE}"/>
                </a:ext>
              </a:extLst>
            </p:cNvPr>
            <p:cNvCxnSpPr>
              <a:cxnSpLocks/>
            </p:cNvCxnSpPr>
            <p:nvPr/>
          </p:nvCxnSpPr>
          <p:spPr>
            <a:xfrm>
              <a:off x="3383987" y="1945481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Arrow Connector 454">
              <a:extLst>
                <a:ext uri="{FF2B5EF4-FFF2-40B4-BE49-F238E27FC236}">
                  <a16:creationId xmlns:a16="http://schemas.microsoft.com/office/drawing/2014/main" id="{3C1E5A03-872A-D33F-9A54-FE85AEEED2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94967" y="1881912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0" name="Rectangle 459">
            <a:extLst>
              <a:ext uri="{FF2B5EF4-FFF2-40B4-BE49-F238E27FC236}">
                <a16:creationId xmlns:a16="http://schemas.microsoft.com/office/drawing/2014/main" id="{ACF4E8E6-B346-8EFE-1674-12B0A84894A3}"/>
              </a:ext>
            </a:extLst>
          </p:cNvPr>
          <p:cNvSpPr/>
          <p:nvPr/>
        </p:nvSpPr>
        <p:spPr>
          <a:xfrm>
            <a:off x="5582922" y="12016028"/>
            <a:ext cx="3222636" cy="321873"/>
          </a:xfrm>
          <a:prstGeom prst="rect">
            <a:avLst/>
          </a:prstGeom>
          <a:solidFill>
            <a:srgbClr val="00B050"/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B – Área de Travamento</a:t>
            </a:r>
          </a:p>
        </p:txBody>
      </p: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228DBDAF-9EC9-256B-48FA-E459CC2D16C8}"/>
              </a:ext>
            </a:extLst>
          </p:cNvPr>
          <p:cNvGrpSpPr/>
          <p:nvPr/>
        </p:nvGrpSpPr>
        <p:grpSpPr>
          <a:xfrm>
            <a:off x="14164101" y="12701226"/>
            <a:ext cx="1307412" cy="3238470"/>
            <a:chOff x="2622540" y="1996389"/>
            <a:chExt cx="559488" cy="955101"/>
          </a:xfrm>
        </p:grpSpPr>
        <p:cxnSp>
          <p:nvCxnSpPr>
            <p:cNvPr id="351" name="Straight Arrow Connector 350">
              <a:extLst>
                <a:ext uri="{FF2B5EF4-FFF2-40B4-BE49-F238E27FC236}">
                  <a16:creationId xmlns:a16="http://schemas.microsoft.com/office/drawing/2014/main" id="{53AD93CD-1A1A-8B26-9A50-2466A66B0558}"/>
                </a:ext>
              </a:extLst>
            </p:cNvPr>
            <p:cNvCxnSpPr>
              <a:cxnSpLocks/>
            </p:cNvCxnSpPr>
            <p:nvPr/>
          </p:nvCxnSpPr>
          <p:spPr>
            <a:xfrm>
              <a:off x="2824670" y="2186158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Arrow Connector 353">
              <a:extLst>
                <a:ext uri="{FF2B5EF4-FFF2-40B4-BE49-F238E27FC236}">
                  <a16:creationId xmlns:a16="http://schemas.microsoft.com/office/drawing/2014/main" id="{899FE5F0-C474-9D32-135F-F1789A984050}"/>
                </a:ext>
              </a:extLst>
            </p:cNvPr>
            <p:cNvCxnSpPr>
              <a:cxnSpLocks/>
            </p:cNvCxnSpPr>
            <p:nvPr/>
          </p:nvCxnSpPr>
          <p:spPr>
            <a:xfrm>
              <a:off x="2931494" y="2880954"/>
              <a:ext cx="156656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Arrow Connector 354">
              <a:extLst>
                <a:ext uri="{FF2B5EF4-FFF2-40B4-BE49-F238E27FC236}">
                  <a16:creationId xmlns:a16="http://schemas.microsoft.com/office/drawing/2014/main" id="{B9EA9CF9-02B5-766C-B73E-B1AAC350363B}"/>
                </a:ext>
              </a:extLst>
            </p:cNvPr>
            <p:cNvCxnSpPr>
              <a:cxnSpLocks/>
            </p:cNvCxnSpPr>
            <p:nvPr/>
          </p:nvCxnSpPr>
          <p:spPr>
            <a:xfrm>
              <a:off x="2804430" y="2951490"/>
              <a:ext cx="156656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Arrow Connector 356">
              <a:extLst>
                <a:ext uri="{FF2B5EF4-FFF2-40B4-BE49-F238E27FC236}">
                  <a16:creationId xmlns:a16="http://schemas.microsoft.com/office/drawing/2014/main" id="{FED20D12-0AC4-1E72-6E44-0707648F4376}"/>
                </a:ext>
              </a:extLst>
            </p:cNvPr>
            <p:cNvCxnSpPr>
              <a:cxnSpLocks/>
            </p:cNvCxnSpPr>
            <p:nvPr/>
          </p:nvCxnSpPr>
          <p:spPr>
            <a:xfrm>
              <a:off x="2622540" y="1996389"/>
              <a:ext cx="156655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Arrow Connector 458">
              <a:extLst>
                <a:ext uri="{FF2B5EF4-FFF2-40B4-BE49-F238E27FC236}">
                  <a16:creationId xmlns:a16="http://schemas.microsoft.com/office/drawing/2014/main" id="{C90F1561-B4DA-60D5-38BB-57D2367F44D1}"/>
                </a:ext>
              </a:extLst>
            </p:cNvPr>
            <p:cNvCxnSpPr>
              <a:cxnSpLocks/>
            </p:cNvCxnSpPr>
            <p:nvPr/>
          </p:nvCxnSpPr>
          <p:spPr>
            <a:xfrm>
              <a:off x="3025372" y="2360631"/>
              <a:ext cx="156656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6" name="Rectangle 505">
            <a:extLst>
              <a:ext uri="{FF2B5EF4-FFF2-40B4-BE49-F238E27FC236}">
                <a16:creationId xmlns:a16="http://schemas.microsoft.com/office/drawing/2014/main" id="{8D534D2D-9642-AA07-2DB7-4C65EC7ABFE7}"/>
              </a:ext>
            </a:extLst>
          </p:cNvPr>
          <p:cNvSpPr/>
          <p:nvPr/>
        </p:nvSpPr>
        <p:spPr>
          <a:xfrm>
            <a:off x="13563900" y="6420387"/>
            <a:ext cx="1429842" cy="309456"/>
          </a:xfrm>
          <a:prstGeom prst="rect">
            <a:avLst/>
          </a:prstGeom>
          <a:solidFill>
            <a:srgbClr val="D0CECE"/>
          </a:solidFill>
          <a:ln w="28575">
            <a:solidFill>
              <a:srgbClr val="D600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CPJ</a:t>
            </a:r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9AC33DF1-F5A6-5844-ACA5-28DFE6B67B84}"/>
              </a:ext>
            </a:extLst>
          </p:cNvPr>
          <p:cNvSpPr/>
          <p:nvPr/>
        </p:nvSpPr>
        <p:spPr>
          <a:xfrm>
            <a:off x="10267481" y="14714817"/>
            <a:ext cx="10144113" cy="309924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F576632D-ADC1-44E6-51A4-87F8FB135991}"/>
              </a:ext>
            </a:extLst>
          </p:cNvPr>
          <p:cNvSpPr/>
          <p:nvPr/>
        </p:nvSpPr>
        <p:spPr>
          <a:xfrm>
            <a:off x="13580009" y="15217232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dirty="0">
                <a:solidFill>
                  <a:schemeClr val="tx1"/>
                </a:solidFill>
              </a:rPr>
              <a:t>B31</a:t>
            </a: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688C917D-4A37-2ABA-3CD8-C1E5963627E2}"/>
              </a:ext>
            </a:extLst>
          </p:cNvPr>
          <p:cNvSpPr/>
          <p:nvPr/>
        </p:nvSpPr>
        <p:spPr>
          <a:xfrm>
            <a:off x="12747840" y="14724948"/>
            <a:ext cx="3170448" cy="3660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B14</a:t>
            </a:r>
            <a:r>
              <a:rPr lang="en-US" sz="2019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CC1EAE2B-A7BC-FDEA-34D8-95362C244906}"/>
              </a:ext>
            </a:extLst>
          </p:cNvPr>
          <p:cNvSpPr/>
          <p:nvPr/>
        </p:nvSpPr>
        <p:spPr>
          <a:xfrm>
            <a:off x="5237687" y="6338402"/>
            <a:ext cx="1599243" cy="3914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D600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 dirty="0">
              <a:solidFill>
                <a:srgbClr val="FF0000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2B38A6C-85B6-3EFC-C136-4BD54CD712F2}"/>
              </a:ext>
            </a:extLst>
          </p:cNvPr>
          <p:cNvSpPr/>
          <p:nvPr/>
        </p:nvSpPr>
        <p:spPr>
          <a:xfrm>
            <a:off x="5162721" y="6315644"/>
            <a:ext cx="1812126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RTG M&amp;R</a:t>
            </a:r>
          </a:p>
        </p:txBody>
      </p:sp>
      <p:sp>
        <p:nvSpPr>
          <p:cNvPr id="503" name="Rectangle 506">
            <a:extLst>
              <a:ext uri="{FF2B5EF4-FFF2-40B4-BE49-F238E27FC236}">
                <a16:creationId xmlns:a16="http://schemas.microsoft.com/office/drawing/2014/main" id="{A6198882-E193-A9CD-B560-B42EFCDDC338}"/>
              </a:ext>
            </a:extLst>
          </p:cNvPr>
          <p:cNvSpPr/>
          <p:nvPr/>
        </p:nvSpPr>
        <p:spPr>
          <a:xfrm>
            <a:off x="10255794" y="15257147"/>
            <a:ext cx="9406698" cy="391443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cxnSp>
        <p:nvCxnSpPr>
          <p:cNvPr id="168" name="Straight Arrow Connector 338">
            <a:extLst>
              <a:ext uri="{FF2B5EF4-FFF2-40B4-BE49-F238E27FC236}">
                <a16:creationId xmlns:a16="http://schemas.microsoft.com/office/drawing/2014/main" id="{944ACAF5-42AB-6399-8D40-C78F077D9577}"/>
              </a:ext>
            </a:extLst>
          </p:cNvPr>
          <p:cNvCxnSpPr>
            <a:cxnSpLocks/>
          </p:cNvCxnSpPr>
          <p:nvPr/>
        </p:nvCxnSpPr>
        <p:spPr>
          <a:xfrm>
            <a:off x="14182482" y="12446940"/>
            <a:ext cx="366072" cy="0"/>
          </a:xfrm>
          <a:prstGeom prst="straightConnector1">
            <a:avLst/>
          </a:prstGeom>
          <a:ln>
            <a:solidFill>
              <a:srgbClr val="0000FF"/>
            </a:solidFill>
            <a:headEnd type="none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338">
            <a:extLst>
              <a:ext uri="{FF2B5EF4-FFF2-40B4-BE49-F238E27FC236}">
                <a16:creationId xmlns:a16="http://schemas.microsoft.com/office/drawing/2014/main" id="{8EA16E97-4EFA-6419-15EC-E108E295EEF6}"/>
              </a:ext>
            </a:extLst>
          </p:cNvPr>
          <p:cNvCxnSpPr>
            <a:cxnSpLocks/>
          </p:cNvCxnSpPr>
          <p:nvPr/>
        </p:nvCxnSpPr>
        <p:spPr>
          <a:xfrm>
            <a:off x="15825618" y="14557251"/>
            <a:ext cx="366072" cy="0"/>
          </a:xfrm>
          <a:prstGeom prst="straightConnector1">
            <a:avLst/>
          </a:prstGeom>
          <a:ln>
            <a:solidFill>
              <a:srgbClr val="0000FF"/>
            </a:solidFill>
            <a:headEnd type="none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338">
            <a:extLst>
              <a:ext uri="{FF2B5EF4-FFF2-40B4-BE49-F238E27FC236}">
                <a16:creationId xmlns:a16="http://schemas.microsoft.com/office/drawing/2014/main" id="{FC6D5D4F-6843-538C-0A57-74B9E38D306E}"/>
              </a:ext>
            </a:extLst>
          </p:cNvPr>
          <p:cNvCxnSpPr>
            <a:cxnSpLocks/>
          </p:cNvCxnSpPr>
          <p:nvPr/>
        </p:nvCxnSpPr>
        <p:spPr>
          <a:xfrm>
            <a:off x="12391092" y="14554548"/>
            <a:ext cx="366072" cy="0"/>
          </a:xfrm>
          <a:prstGeom prst="straightConnector1">
            <a:avLst/>
          </a:prstGeom>
          <a:ln>
            <a:solidFill>
              <a:srgbClr val="0000FF"/>
            </a:solidFill>
            <a:headEnd type="none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338">
            <a:extLst>
              <a:ext uri="{FF2B5EF4-FFF2-40B4-BE49-F238E27FC236}">
                <a16:creationId xmlns:a16="http://schemas.microsoft.com/office/drawing/2014/main" id="{2A2919F5-A41E-9625-57C7-096E0B6034F3}"/>
              </a:ext>
            </a:extLst>
          </p:cNvPr>
          <p:cNvCxnSpPr>
            <a:cxnSpLocks/>
          </p:cNvCxnSpPr>
          <p:nvPr/>
        </p:nvCxnSpPr>
        <p:spPr>
          <a:xfrm>
            <a:off x="16353207" y="15112029"/>
            <a:ext cx="366072" cy="0"/>
          </a:xfrm>
          <a:prstGeom prst="straightConnector1">
            <a:avLst/>
          </a:prstGeom>
          <a:ln>
            <a:solidFill>
              <a:srgbClr val="0000FF"/>
            </a:solidFill>
            <a:headEnd type="none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EE0C4EDB-F6DA-A976-9E7C-80CDEB1251D6}"/>
              </a:ext>
            </a:extLst>
          </p:cNvPr>
          <p:cNvGrpSpPr/>
          <p:nvPr/>
        </p:nvGrpSpPr>
        <p:grpSpPr>
          <a:xfrm>
            <a:off x="10255797" y="15660759"/>
            <a:ext cx="9400464" cy="510954"/>
            <a:chOff x="3256171" y="4231955"/>
            <a:chExt cx="3420176" cy="177148"/>
          </a:xfrm>
        </p:grpSpPr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2D3D8267-755E-E14A-8312-23F078D7CDB3}"/>
                </a:ext>
              </a:extLst>
            </p:cNvPr>
            <p:cNvSpPr/>
            <p:nvPr/>
          </p:nvSpPr>
          <p:spPr>
            <a:xfrm>
              <a:off x="3256171" y="4273453"/>
              <a:ext cx="3420176" cy="99124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193" dirty="0"/>
            </a:p>
          </p:txBody>
        </p:sp>
        <p:pic>
          <p:nvPicPr>
            <p:cNvPr id="473" name="Picture 472">
              <a:extLst>
                <a:ext uri="{FF2B5EF4-FFF2-40B4-BE49-F238E27FC236}">
                  <a16:creationId xmlns:a16="http://schemas.microsoft.com/office/drawing/2014/main" id="{4B95C88F-4F5B-3716-F992-70DFE67F6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96677" y="4231955"/>
              <a:ext cx="469441" cy="177148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61" name="Rectangle 260">
            <a:extLst>
              <a:ext uri="{FF2B5EF4-FFF2-40B4-BE49-F238E27FC236}">
                <a16:creationId xmlns:a16="http://schemas.microsoft.com/office/drawing/2014/main" id="{43CDA29A-F89D-CA6C-7AD4-5D94E3297139}"/>
              </a:ext>
            </a:extLst>
          </p:cNvPr>
          <p:cNvSpPr/>
          <p:nvPr/>
        </p:nvSpPr>
        <p:spPr>
          <a:xfrm>
            <a:off x="12003407" y="9231458"/>
            <a:ext cx="2299401" cy="15305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307" dirty="0" err="1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Rua</a:t>
            </a:r>
            <a:endParaRPr lang="en-US" sz="2307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 eaLnBrk="0" fontAlgn="ctr" hangingPunct="0"/>
            <a:r>
              <a:rPr lang="en-US" altLang="zh-CN" sz="2307" b="1" dirty="0">
                <a:solidFill>
                  <a:schemeClr val="tx1"/>
                </a:solidFill>
                <a:latin typeface="Arial Black" panose="020B0A04020102020204" pitchFamily="34" charset="0"/>
              </a:rPr>
              <a:t>#2</a:t>
            </a:r>
            <a:endParaRPr lang="en-US" sz="2307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8E48D85D-79F1-103D-FE52-F30103DBF069}"/>
              </a:ext>
            </a:extLst>
          </p:cNvPr>
          <p:cNvSpPr/>
          <p:nvPr/>
        </p:nvSpPr>
        <p:spPr>
          <a:xfrm>
            <a:off x="8627838" y="6144975"/>
            <a:ext cx="4044336" cy="727314"/>
          </a:xfrm>
          <a:custGeom>
            <a:avLst/>
            <a:gdLst>
              <a:gd name="connsiteX0" fmla="*/ 2381 w 1962150"/>
              <a:gd name="connsiteY0" fmla="*/ 252413 h 252413"/>
              <a:gd name="connsiteX1" fmla="*/ 1193006 w 1962150"/>
              <a:gd name="connsiteY1" fmla="*/ 252413 h 252413"/>
              <a:gd name="connsiteX2" fmla="*/ 1193006 w 1962150"/>
              <a:gd name="connsiteY2" fmla="*/ 200025 h 252413"/>
              <a:gd name="connsiteX3" fmla="*/ 1312069 w 1962150"/>
              <a:gd name="connsiteY3" fmla="*/ 200025 h 252413"/>
              <a:gd name="connsiteX4" fmla="*/ 1312069 w 1962150"/>
              <a:gd name="connsiteY4" fmla="*/ 252413 h 252413"/>
              <a:gd name="connsiteX5" fmla="*/ 1821656 w 1962150"/>
              <a:gd name="connsiteY5" fmla="*/ 252413 h 252413"/>
              <a:gd name="connsiteX6" fmla="*/ 1821656 w 1962150"/>
              <a:gd name="connsiteY6" fmla="*/ 204788 h 252413"/>
              <a:gd name="connsiteX7" fmla="*/ 1962150 w 1962150"/>
              <a:gd name="connsiteY7" fmla="*/ 204788 h 252413"/>
              <a:gd name="connsiteX8" fmla="*/ 1962150 w 1962150"/>
              <a:gd name="connsiteY8" fmla="*/ 0 h 252413"/>
              <a:gd name="connsiteX9" fmla="*/ 0 w 1962150"/>
              <a:gd name="connsiteY9" fmla="*/ 0 h 252413"/>
              <a:gd name="connsiteX10" fmla="*/ 2381 w 1962150"/>
              <a:gd name="connsiteY10" fmla="*/ 252413 h 252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62150" h="252413">
                <a:moveTo>
                  <a:pt x="2381" y="252413"/>
                </a:moveTo>
                <a:lnTo>
                  <a:pt x="1193006" y="252413"/>
                </a:lnTo>
                <a:lnTo>
                  <a:pt x="1193006" y="200025"/>
                </a:lnTo>
                <a:lnTo>
                  <a:pt x="1312069" y="200025"/>
                </a:lnTo>
                <a:lnTo>
                  <a:pt x="1312069" y="252413"/>
                </a:lnTo>
                <a:lnTo>
                  <a:pt x="1821656" y="252413"/>
                </a:lnTo>
                <a:lnTo>
                  <a:pt x="1821656" y="204788"/>
                </a:lnTo>
                <a:lnTo>
                  <a:pt x="1962150" y="204788"/>
                </a:lnTo>
                <a:lnTo>
                  <a:pt x="1962150" y="0"/>
                </a:lnTo>
                <a:lnTo>
                  <a:pt x="0" y="0"/>
                </a:lnTo>
                <a:cubicBezTo>
                  <a:pt x="794" y="84138"/>
                  <a:pt x="1587" y="168275"/>
                  <a:pt x="2381" y="252413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D600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A01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303B3D37-1E05-8CE0-AA4E-4830D3D1AB5F}"/>
              </a:ext>
            </a:extLst>
          </p:cNvPr>
          <p:cNvSpPr/>
          <p:nvPr/>
        </p:nvSpPr>
        <p:spPr>
          <a:xfrm>
            <a:off x="9648522" y="5647190"/>
            <a:ext cx="2330316" cy="5087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307" b="1" dirty="0">
                <a:solidFill>
                  <a:schemeClr val="tx1"/>
                </a:solidFill>
                <a:latin typeface="Arial Black" panose="020B0A04020102020204" pitchFamily="34" charset="0"/>
              </a:rPr>
              <a:t>A</a:t>
            </a:r>
            <a:r>
              <a:rPr lang="en-US" altLang="zh-CN" sz="2307" b="1" dirty="0">
                <a:solidFill>
                  <a:schemeClr val="tx1"/>
                </a:solidFill>
                <a:latin typeface="Arial Black" panose="020B0A04020102020204" pitchFamily="34" charset="0"/>
              </a:rPr>
              <a:t>v. </a:t>
            </a:r>
            <a:r>
              <a:rPr lang="en-US" altLang="zh-CN" sz="2307" b="1" dirty="0" err="1">
                <a:solidFill>
                  <a:schemeClr val="tx1"/>
                </a:solidFill>
                <a:latin typeface="Arial Black" panose="020B0A04020102020204" pitchFamily="34" charset="0"/>
              </a:rPr>
              <a:t>Cais</a:t>
            </a:r>
            <a:endParaRPr lang="en-US" sz="2307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2C8260A4-C990-FB1B-E93E-344CA1FC2612}"/>
              </a:ext>
            </a:extLst>
          </p:cNvPr>
          <p:cNvSpPr/>
          <p:nvPr/>
        </p:nvSpPr>
        <p:spPr>
          <a:xfrm>
            <a:off x="6615885" y="6222494"/>
            <a:ext cx="2124192" cy="599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Area CPJ</a:t>
            </a:r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B9A7BD60-7A03-5C56-1545-D07C1732FF58}"/>
              </a:ext>
            </a:extLst>
          </p:cNvPr>
          <p:cNvSpPr/>
          <p:nvPr/>
        </p:nvSpPr>
        <p:spPr>
          <a:xfrm>
            <a:off x="10225757" y="15242033"/>
            <a:ext cx="374889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ctr" hangingPunct="0"/>
            <a:r>
              <a:rPr lang="en-US" sz="2019" b="1" dirty="0">
                <a:solidFill>
                  <a:schemeClr val="tx1"/>
                </a:solidFill>
              </a:rPr>
              <a:t>A15</a:t>
            </a:r>
          </a:p>
        </p:txBody>
      </p:sp>
      <p:sp>
        <p:nvSpPr>
          <p:cNvPr id="556" name="Rectangle 555">
            <a:extLst>
              <a:ext uri="{FF2B5EF4-FFF2-40B4-BE49-F238E27FC236}">
                <a16:creationId xmlns:a16="http://schemas.microsoft.com/office/drawing/2014/main" id="{AA9E0EFA-8C94-A24C-C0B0-B10DC19D7E4B}"/>
              </a:ext>
            </a:extLst>
          </p:cNvPr>
          <p:cNvSpPr/>
          <p:nvPr/>
        </p:nvSpPr>
        <p:spPr>
          <a:xfrm>
            <a:off x="10219059" y="14680949"/>
            <a:ext cx="1011414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A14</a:t>
            </a:r>
          </a:p>
        </p:txBody>
      </p:sp>
      <p:sp>
        <p:nvSpPr>
          <p:cNvPr id="107" name="Rectangle 555">
            <a:extLst>
              <a:ext uri="{FF2B5EF4-FFF2-40B4-BE49-F238E27FC236}">
                <a16:creationId xmlns:a16="http://schemas.microsoft.com/office/drawing/2014/main" id="{9468E8AF-3DB3-3F94-FD83-7E48E59E5452}"/>
              </a:ext>
            </a:extLst>
          </p:cNvPr>
          <p:cNvSpPr/>
          <p:nvPr/>
        </p:nvSpPr>
        <p:spPr>
          <a:xfrm>
            <a:off x="13599606" y="15220088"/>
            <a:ext cx="1469184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100" b="1" dirty="0">
                <a:solidFill>
                  <a:schemeClr val="tx1"/>
                </a:solidFill>
              </a:rPr>
              <a:t>B15</a:t>
            </a:r>
          </a:p>
        </p:txBody>
      </p:sp>
      <p:sp>
        <p:nvSpPr>
          <p:cNvPr id="7" name="Rectangle 43">
            <a:extLst>
              <a:ext uri="{FF2B5EF4-FFF2-40B4-BE49-F238E27FC236}">
                <a16:creationId xmlns:a16="http://schemas.microsoft.com/office/drawing/2014/main" id="{C5C29D85-E914-0C6C-A412-0F62CE669AC0}"/>
              </a:ext>
            </a:extLst>
          </p:cNvPr>
          <p:cNvSpPr/>
          <p:nvPr/>
        </p:nvSpPr>
        <p:spPr>
          <a:xfrm>
            <a:off x="21463074" y="12190178"/>
            <a:ext cx="6843042" cy="391443"/>
          </a:xfrm>
          <a:prstGeom prst="rect">
            <a:avLst/>
          </a:prstGeom>
          <a:solidFill>
            <a:srgbClr val="EDC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 dirty="0"/>
          </a:p>
        </p:txBody>
      </p:sp>
      <p:sp>
        <p:nvSpPr>
          <p:cNvPr id="504" name="Rectangle 433">
            <a:extLst>
              <a:ext uri="{FF2B5EF4-FFF2-40B4-BE49-F238E27FC236}">
                <a16:creationId xmlns:a16="http://schemas.microsoft.com/office/drawing/2014/main" id="{1B2BEF12-53C9-165A-69B4-18A208072FB7}"/>
              </a:ext>
            </a:extLst>
          </p:cNvPr>
          <p:cNvSpPr/>
          <p:nvPr/>
        </p:nvSpPr>
        <p:spPr>
          <a:xfrm>
            <a:off x="21459953" y="12184106"/>
            <a:ext cx="1472073" cy="423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019" b="1" dirty="0">
                <a:solidFill>
                  <a:schemeClr val="tx1"/>
                </a:solidFill>
              </a:rPr>
              <a:t>C10</a:t>
            </a:r>
          </a:p>
        </p:txBody>
      </p:sp>
      <p:pic>
        <p:nvPicPr>
          <p:cNvPr id="99" name="Imagem 98">
            <a:extLst>
              <a:ext uri="{FF2B5EF4-FFF2-40B4-BE49-F238E27FC236}">
                <a16:creationId xmlns:a16="http://schemas.microsoft.com/office/drawing/2014/main" id="{8F79424C-9290-7A88-F276-506CD5FC1A8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029564" y="13298075"/>
            <a:ext cx="657792" cy="639771"/>
          </a:xfrm>
          <a:prstGeom prst="rect">
            <a:avLst/>
          </a:prstGeom>
        </p:spPr>
      </p:pic>
      <p:pic>
        <p:nvPicPr>
          <p:cNvPr id="101" name="Imagem 100">
            <a:extLst>
              <a:ext uri="{FF2B5EF4-FFF2-40B4-BE49-F238E27FC236}">
                <a16:creationId xmlns:a16="http://schemas.microsoft.com/office/drawing/2014/main" id="{13DD6B64-8ECF-FA8E-CDE4-101E6074C72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350237" y="15194108"/>
            <a:ext cx="657792" cy="639771"/>
          </a:xfrm>
          <a:prstGeom prst="rect">
            <a:avLst/>
          </a:prstGeom>
        </p:spPr>
      </p:pic>
      <p:pic>
        <p:nvPicPr>
          <p:cNvPr id="102" name="Imagem 101">
            <a:extLst>
              <a:ext uri="{FF2B5EF4-FFF2-40B4-BE49-F238E27FC236}">
                <a16:creationId xmlns:a16="http://schemas.microsoft.com/office/drawing/2014/main" id="{7527D3F9-426F-9BFA-0E5F-CFEF9DE3A4F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370598" y="5936471"/>
            <a:ext cx="657792" cy="639771"/>
          </a:xfrm>
          <a:prstGeom prst="rect">
            <a:avLst/>
          </a:prstGeom>
        </p:spPr>
      </p:pic>
      <p:sp>
        <p:nvSpPr>
          <p:cNvPr id="561" name="Rectangle 560">
            <a:extLst>
              <a:ext uri="{FF2B5EF4-FFF2-40B4-BE49-F238E27FC236}">
                <a16:creationId xmlns:a16="http://schemas.microsoft.com/office/drawing/2014/main" id="{3F98DA4D-0FAB-A31A-3A37-9D36FC9CCA56}"/>
              </a:ext>
            </a:extLst>
          </p:cNvPr>
          <p:cNvSpPr/>
          <p:nvPr/>
        </p:nvSpPr>
        <p:spPr>
          <a:xfrm>
            <a:off x="11893692" y="15679389"/>
            <a:ext cx="2200830" cy="343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sz="2595" b="1" dirty="0">
                <a:solidFill>
                  <a:schemeClr val="tx1"/>
                </a:solidFill>
              </a:rPr>
              <a:t>Fila Scanner</a:t>
            </a:r>
          </a:p>
        </p:txBody>
      </p:sp>
      <p:pic>
        <p:nvPicPr>
          <p:cNvPr id="606" name="Imagem 605">
            <a:extLst>
              <a:ext uri="{FF2B5EF4-FFF2-40B4-BE49-F238E27FC236}">
                <a16:creationId xmlns:a16="http://schemas.microsoft.com/office/drawing/2014/main" id="{2E784AEF-36CE-036E-5945-855676EB964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3330" y="5674004"/>
            <a:ext cx="657792" cy="639771"/>
          </a:xfrm>
          <a:prstGeom prst="rect">
            <a:avLst/>
          </a:prstGeom>
        </p:spPr>
      </p:pic>
      <p:grpSp>
        <p:nvGrpSpPr>
          <p:cNvPr id="163" name="Group 162">
            <a:extLst>
              <a:ext uri="{FF2B5EF4-FFF2-40B4-BE49-F238E27FC236}">
                <a16:creationId xmlns:a16="http://schemas.microsoft.com/office/drawing/2014/main" id="{A95F585C-4D22-4A9F-EA43-A1D9A38E2652}"/>
              </a:ext>
            </a:extLst>
          </p:cNvPr>
          <p:cNvGrpSpPr/>
          <p:nvPr/>
        </p:nvGrpSpPr>
        <p:grpSpPr>
          <a:xfrm>
            <a:off x="8561792" y="2752758"/>
            <a:ext cx="23749545" cy="3622173"/>
            <a:chOff x="2853930" y="917586"/>
            <a:chExt cx="7916515" cy="1207391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54C1B18A-2080-0CA4-42C9-B5773DC95649}"/>
                </a:ext>
              </a:extLst>
            </p:cNvPr>
            <p:cNvGrpSpPr/>
            <p:nvPr/>
          </p:nvGrpSpPr>
          <p:grpSpPr>
            <a:xfrm>
              <a:off x="9045311" y="983698"/>
              <a:ext cx="373325" cy="1113442"/>
              <a:chOff x="9564532" y="933449"/>
              <a:chExt cx="347765" cy="1101725"/>
            </a:xfrm>
          </p:grpSpPr>
          <p:pic>
            <p:nvPicPr>
              <p:cNvPr id="87" name="Picture 86">
                <a:extLst>
                  <a:ext uri="{FF2B5EF4-FFF2-40B4-BE49-F238E27FC236}">
                    <a16:creationId xmlns:a16="http://schemas.microsoft.com/office/drawing/2014/main" id="{A94E8751-1A6C-FC56-9C98-BBEB7E6CA9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588500" y="933449"/>
                <a:ext cx="307975" cy="1101725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5EF3AB94-FE96-DF34-E5A9-4D862D0243BD}"/>
                  </a:ext>
                </a:extLst>
              </p:cNvPr>
              <p:cNvSpPr txBox="1"/>
              <p:nvPr/>
            </p:nvSpPr>
            <p:spPr>
              <a:xfrm>
                <a:off x="9564532" y="1630866"/>
                <a:ext cx="347765" cy="147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307" b="1" dirty="0">
                    <a:solidFill>
                      <a:schemeClr val="accent5">
                        <a:lumMod val="50000"/>
                      </a:schemeClr>
                    </a:solidFill>
                    <a:highlight>
                      <a:srgbClr val="FFFFFF"/>
                    </a:highlight>
                    <a:latin typeface="Arial" panose="020B0604020202020204" pitchFamily="34" charset="0"/>
                    <a:cs typeface="Arial" panose="020B0604020202020204" pitchFamily="34" charset="0"/>
                  </a:rPr>
                  <a:t>  10</a:t>
                </a: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1EB71F27-05AB-04F8-A8F5-FD2836AACE68}"/>
                </a:ext>
              </a:extLst>
            </p:cNvPr>
            <p:cNvGrpSpPr/>
            <p:nvPr/>
          </p:nvGrpSpPr>
          <p:grpSpPr>
            <a:xfrm>
              <a:off x="7346499" y="983698"/>
              <a:ext cx="401711" cy="1113442"/>
              <a:chOff x="9539456" y="933449"/>
              <a:chExt cx="374207" cy="1101725"/>
            </a:xfrm>
          </p:grpSpPr>
          <p:pic>
            <p:nvPicPr>
              <p:cNvPr id="109" name="Picture 108">
                <a:extLst>
                  <a:ext uri="{FF2B5EF4-FFF2-40B4-BE49-F238E27FC236}">
                    <a16:creationId xmlns:a16="http://schemas.microsoft.com/office/drawing/2014/main" id="{7575E0BA-D875-785B-8E4E-76E854E627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588500" y="933449"/>
                <a:ext cx="307975" cy="1101725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6AE74C35-9EEB-3720-F8C5-AACA48826A8A}"/>
                  </a:ext>
                </a:extLst>
              </p:cNvPr>
              <p:cNvSpPr txBox="1"/>
              <p:nvPr/>
            </p:nvSpPr>
            <p:spPr>
              <a:xfrm>
                <a:off x="9539456" y="1627281"/>
                <a:ext cx="374207" cy="1621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595" b="1" dirty="0">
                    <a:solidFill>
                      <a:schemeClr val="accent5">
                        <a:lumMod val="50000"/>
                      </a:schemeClr>
                    </a:solidFill>
                    <a:highlight>
                      <a:srgbClr val="FFFFFF"/>
                    </a:highlight>
                  </a:rPr>
                  <a:t>  09 </a:t>
                </a:r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B0BFE787-FBA7-A2DC-D96A-DDE25871CD38}"/>
                </a:ext>
              </a:extLst>
            </p:cNvPr>
            <p:cNvGrpSpPr/>
            <p:nvPr/>
          </p:nvGrpSpPr>
          <p:grpSpPr>
            <a:xfrm>
              <a:off x="6703087" y="983698"/>
              <a:ext cx="388652" cy="1113442"/>
              <a:chOff x="9543318" y="933449"/>
              <a:chExt cx="362042" cy="1101725"/>
            </a:xfrm>
          </p:grpSpPr>
          <p:pic>
            <p:nvPicPr>
              <p:cNvPr id="112" name="Picture 111">
                <a:extLst>
                  <a:ext uri="{FF2B5EF4-FFF2-40B4-BE49-F238E27FC236}">
                    <a16:creationId xmlns:a16="http://schemas.microsoft.com/office/drawing/2014/main" id="{8B6E6547-9AEC-85B9-B47A-A31A53E770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588500" y="933449"/>
                <a:ext cx="307975" cy="1101725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E6B9C61C-690D-A3D6-0699-E26CBFB26EB4}"/>
                  </a:ext>
                </a:extLst>
              </p:cNvPr>
              <p:cNvSpPr txBox="1"/>
              <p:nvPr/>
            </p:nvSpPr>
            <p:spPr>
              <a:xfrm>
                <a:off x="9543318" y="1623720"/>
                <a:ext cx="362042" cy="1621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595" b="1" dirty="0">
                    <a:solidFill>
                      <a:schemeClr val="accent5">
                        <a:lumMod val="50000"/>
                      </a:schemeClr>
                    </a:solidFill>
                    <a:highlight>
                      <a:srgbClr val="FFFFFF"/>
                    </a:highlight>
                  </a:rPr>
                  <a:t>  08 </a:t>
                </a:r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A74BCA0A-7CAF-598B-FE0A-BE1922161844}"/>
                </a:ext>
              </a:extLst>
            </p:cNvPr>
            <p:cNvGrpSpPr/>
            <p:nvPr/>
          </p:nvGrpSpPr>
          <p:grpSpPr>
            <a:xfrm>
              <a:off x="5745850" y="983698"/>
              <a:ext cx="356197" cy="1113442"/>
              <a:chOff x="9579359" y="933449"/>
              <a:chExt cx="331809" cy="1101725"/>
            </a:xfrm>
          </p:grpSpPr>
          <p:pic>
            <p:nvPicPr>
              <p:cNvPr id="115" name="Picture 114">
                <a:extLst>
                  <a:ext uri="{FF2B5EF4-FFF2-40B4-BE49-F238E27FC236}">
                    <a16:creationId xmlns:a16="http://schemas.microsoft.com/office/drawing/2014/main" id="{5818EAB5-0879-65C9-14F5-5265D5049F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588500" y="933449"/>
                <a:ext cx="307975" cy="1101725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FFB083A6-686C-9EB2-8942-7E835E5C1DA8}"/>
                  </a:ext>
                </a:extLst>
              </p:cNvPr>
              <p:cNvSpPr txBox="1"/>
              <p:nvPr/>
            </p:nvSpPr>
            <p:spPr>
              <a:xfrm>
                <a:off x="9579359" y="1632233"/>
                <a:ext cx="331809" cy="1621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595" b="1" dirty="0">
                    <a:solidFill>
                      <a:schemeClr val="accent5">
                        <a:lumMod val="50000"/>
                      </a:schemeClr>
                    </a:solidFill>
                    <a:highlight>
                      <a:srgbClr val="FFFFFF"/>
                    </a:highlight>
                  </a:rPr>
                  <a:t>  07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E8C0F968-F322-08FE-1F4D-19CCE9226980}"/>
                </a:ext>
              </a:extLst>
            </p:cNvPr>
            <p:cNvGrpSpPr/>
            <p:nvPr/>
          </p:nvGrpSpPr>
          <p:grpSpPr>
            <a:xfrm>
              <a:off x="3921919" y="1100262"/>
              <a:ext cx="395447" cy="913372"/>
              <a:chOff x="9548314" y="933449"/>
              <a:chExt cx="368372" cy="1101725"/>
            </a:xfrm>
          </p:grpSpPr>
          <p:pic>
            <p:nvPicPr>
              <p:cNvPr id="118" name="Picture 117">
                <a:extLst>
                  <a:ext uri="{FF2B5EF4-FFF2-40B4-BE49-F238E27FC236}">
                    <a16:creationId xmlns:a16="http://schemas.microsoft.com/office/drawing/2014/main" id="{6AC9B9C2-8FC5-CD94-E9FC-136532FB01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588500" y="933449"/>
                <a:ext cx="307975" cy="1101725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9C29EF34-3C82-ECFD-71DA-82D2D991E386}"/>
                  </a:ext>
                </a:extLst>
              </p:cNvPr>
              <p:cNvSpPr txBox="1"/>
              <p:nvPr/>
            </p:nvSpPr>
            <p:spPr>
              <a:xfrm>
                <a:off x="9548314" y="1603210"/>
                <a:ext cx="368372" cy="197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595" b="1" dirty="0">
                    <a:solidFill>
                      <a:schemeClr val="accent5">
                        <a:lumMod val="50000"/>
                      </a:schemeClr>
                    </a:solidFill>
                    <a:highlight>
                      <a:srgbClr val="FFFFFF"/>
                    </a:highlight>
                  </a:rPr>
                  <a:t>  06</a:t>
                </a:r>
              </a:p>
            </p:txBody>
          </p:sp>
        </p:grp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2C108C80-440D-F012-F6CA-87B5C43CDD41}"/>
                </a:ext>
              </a:extLst>
            </p:cNvPr>
            <p:cNvGrpSpPr/>
            <p:nvPr/>
          </p:nvGrpSpPr>
          <p:grpSpPr>
            <a:xfrm>
              <a:off x="2853930" y="1100265"/>
              <a:ext cx="407146" cy="913371"/>
              <a:chOff x="2853930" y="1100265"/>
              <a:chExt cx="407146" cy="913371"/>
            </a:xfrm>
          </p:grpSpPr>
          <p:pic>
            <p:nvPicPr>
              <p:cNvPr id="121" name="Picture 120">
                <a:extLst>
                  <a:ext uri="{FF2B5EF4-FFF2-40B4-BE49-F238E27FC236}">
                    <a16:creationId xmlns:a16="http://schemas.microsoft.com/office/drawing/2014/main" id="{E39A8B3E-9B8E-81D1-DFD9-D728580AF1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910930" y="1100265"/>
                <a:ext cx="330612" cy="913371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3C1952B-4B02-ED33-F094-AC750CBB1442}"/>
                  </a:ext>
                </a:extLst>
              </p:cNvPr>
              <p:cNvSpPr txBox="1"/>
              <p:nvPr/>
            </p:nvSpPr>
            <p:spPr>
              <a:xfrm>
                <a:off x="2853930" y="1661613"/>
                <a:ext cx="407146" cy="1638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 eaLnBrk="0" hangingPunct="0"/>
                <a:r>
                  <a:rPr lang="en-US" sz="2595" b="1" dirty="0">
                    <a:solidFill>
                      <a:schemeClr val="accent5">
                        <a:lumMod val="50000"/>
                      </a:schemeClr>
                    </a:solidFill>
                    <a:highlight>
                      <a:srgbClr val="FFFFFF"/>
                    </a:highlight>
                  </a:rPr>
                  <a:t>   05    </a:t>
                </a:r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45D7BFF1-941F-3455-DFA4-283BD4BDFF96}"/>
                </a:ext>
              </a:extLst>
            </p:cNvPr>
            <p:cNvGrpSpPr/>
            <p:nvPr/>
          </p:nvGrpSpPr>
          <p:grpSpPr>
            <a:xfrm>
              <a:off x="9736101" y="917586"/>
              <a:ext cx="448199" cy="1207391"/>
              <a:chOff x="9523025" y="933449"/>
              <a:chExt cx="411455" cy="1101725"/>
            </a:xfrm>
          </p:grpSpPr>
          <p:pic>
            <p:nvPicPr>
              <p:cNvPr id="124" name="Picture 123">
                <a:extLst>
                  <a:ext uri="{FF2B5EF4-FFF2-40B4-BE49-F238E27FC236}">
                    <a16:creationId xmlns:a16="http://schemas.microsoft.com/office/drawing/2014/main" id="{464E0959-DF2E-BE33-6C85-1FDDF005DB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588500" y="933449"/>
                <a:ext cx="307975" cy="1101725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24DC38C6-BA4C-BDE9-E514-D2BE8C917DF6}"/>
                  </a:ext>
                </a:extLst>
              </p:cNvPr>
              <p:cNvSpPr txBox="1"/>
              <p:nvPr/>
            </p:nvSpPr>
            <p:spPr>
              <a:xfrm>
                <a:off x="9523025" y="1634146"/>
                <a:ext cx="411455" cy="1495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595" b="1" dirty="0">
                    <a:solidFill>
                      <a:schemeClr val="accent5">
                        <a:lumMod val="50000"/>
                      </a:schemeClr>
                    </a:solidFill>
                    <a:highlight>
                      <a:srgbClr val="FFFFFF"/>
                    </a:highlight>
                  </a:rPr>
                  <a:t>  11</a:t>
                </a:r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AC762CF4-4787-2B9D-2E1C-CF18D42D69C9}"/>
                </a:ext>
              </a:extLst>
            </p:cNvPr>
            <p:cNvGrpSpPr/>
            <p:nvPr/>
          </p:nvGrpSpPr>
          <p:grpSpPr>
            <a:xfrm>
              <a:off x="10345485" y="917586"/>
              <a:ext cx="424960" cy="1207391"/>
              <a:chOff x="9535709" y="933449"/>
              <a:chExt cx="390121" cy="1101725"/>
            </a:xfrm>
          </p:grpSpPr>
          <p:pic>
            <p:nvPicPr>
              <p:cNvPr id="94" name="Picture 93">
                <a:extLst>
                  <a:ext uri="{FF2B5EF4-FFF2-40B4-BE49-F238E27FC236}">
                    <a16:creationId xmlns:a16="http://schemas.microsoft.com/office/drawing/2014/main" id="{E43513A0-8D8A-2C97-1AA0-94CD6C33FB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588500" y="933449"/>
                <a:ext cx="307975" cy="1101725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47DF0A96-0E32-9FF0-75B7-4224021536B3}"/>
                  </a:ext>
                </a:extLst>
              </p:cNvPr>
              <p:cNvSpPr txBox="1"/>
              <p:nvPr/>
            </p:nvSpPr>
            <p:spPr>
              <a:xfrm>
                <a:off x="9535709" y="1638115"/>
                <a:ext cx="390121" cy="1495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595" b="1" dirty="0">
                    <a:solidFill>
                      <a:schemeClr val="accent5">
                        <a:lumMod val="50000"/>
                      </a:schemeClr>
                    </a:solidFill>
                    <a:highlight>
                      <a:srgbClr val="FFFFFF"/>
                    </a:highlight>
                  </a:rPr>
                  <a:t>  12</a:t>
                </a:r>
              </a:p>
            </p:txBody>
          </p:sp>
        </p:grpSp>
      </p:grpSp>
      <p:pic>
        <p:nvPicPr>
          <p:cNvPr id="619" name="Imagem 618">
            <a:extLst>
              <a:ext uri="{FF2B5EF4-FFF2-40B4-BE49-F238E27FC236}">
                <a16:creationId xmlns:a16="http://schemas.microsoft.com/office/drawing/2014/main" id="{E318C8E9-4748-6896-C7E3-9BA16AAF917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321509" y="5639042"/>
            <a:ext cx="657792" cy="639771"/>
          </a:xfrm>
          <a:prstGeom prst="rect">
            <a:avLst/>
          </a:prstGeom>
        </p:spPr>
      </p:pic>
      <p:pic>
        <p:nvPicPr>
          <p:cNvPr id="620" name="Imagem 619">
            <a:extLst>
              <a:ext uri="{FF2B5EF4-FFF2-40B4-BE49-F238E27FC236}">
                <a16:creationId xmlns:a16="http://schemas.microsoft.com/office/drawing/2014/main" id="{01A79BA1-2EBF-2CF4-55E0-4177C8C1180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9946112" y="6067814"/>
            <a:ext cx="355776" cy="419307"/>
          </a:xfrm>
          <a:prstGeom prst="rect">
            <a:avLst/>
          </a:prstGeom>
        </p:spPr>
      </p:pic>
      <p:pic>
        <p:nvPicPr>
          <p:cNvPr id="621" name="Imagem 620">
            <a:extLst>
              <a:ext uri="{FF2B5EF4-FFF2-40B4-BE49-F238E27FC236}">
                <a16:creationId xmlns:a16="http://schemas.microsoft.com/office/drawing/2014/main" id="{2E7B7A72-FC1B-4F40-3604-733EB0C457B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77482" y="13902251"/>
            <a:ext cx="355776" cy="419307"/>
          </a:xfrm>
          <a:prstGeom prst="rect">
            <a:avLst/>
          </a:prstGeom>
        </p:spPr>
      </p:pic>
      <p:pic>
        <p:nvPicPr>
          <p:cNvPr id="622" name="Imagem 621">
            <a:extLst>
              <a:ext uri="{FF2B5EF4-FFF2-40B4-BE49-F238E27FC236}">
                <a16:creationId xmlns:a16="http://schemas.microsoft.com/office/drawing/2014/main" id="{680FD414-B484-1EB0-5EB4-0F459C57804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934177" y="5317970"/>
            <a:ext cx="355776" cy="419307"/>
          </a:xfrm>
          <a:prstGeom prst="rect">
            <a:avLst/>
          </a:prstGeom>
        </p:spPr>
      </p:pic>
      <p:pic>
        <p:nvPicPr>
          <p:cNvPr id="623" name="Imagem 622">
            <a:extLst>
              <a:ext uri="{FF2B5EF4-FFF2-40B4-BE49-F238E27FC236}">
                <a16:creationId xmlns:a16="http://schemas.microsoft.com/office/drawing/2014/main" id="{DAE923C9-DE8B-9D99-D3D0-9B5DD11A574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613544" y="11865152"/>
            <a:ext cx="355776" cy="419307"/>
          </a:xfrm>
          <a:prstGeom prst="rect">
            <a:avLst/>
          </a:prstGeom>
        </p:spPr>
      </p:pic>
      <p:sp>
        <p:nvSpPr>
          <p:cNvPr id="625" name="Retângulo 624">
            <a:extLst>
              <a:ext uri="{FF2B5EF4-FFF2-40B4-BE49-F238E27FC236}">
                <a16:creationId xmlns:a16="http://schemas.microsoft.com/office/drawing/2014/main" id="{247BCBEB-F6FF-EAAB-043F-A939CB02B787}"/>
              </a:ext>
            </a:extLst>
          </p:cNvPr>
          <p:cNvSpPr/>
          <p:nvPr/>
        </p:nvSpPr>
        <p:spPr>
          <a:xfrm>
            <a:off x="29456955" y="12271884"/>
            <a:ext cx="6983844" cy="49599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627" name="Rectangle 9">
            <a:extLst>
              <a:ext uri="{FF2B5EF4-FFF2-40B4-BE49-F238E27FC236}">
                <a16:creationId xmlns:a16="http://schemas.microsoft.com/office/drawing/2014/main" id="{C555AE92-3502-EF74-C837-C02B7CCA3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4070" y="13593861"/>
            <a:ext cx="634821" cy="294348"/>
          </a:xfrm>
          <a:prstGeom prst="rect">
            <a:avLst/>
          </a:prstGeom>
          <a:solidFill>
            <a:srgbClr val="EDCD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74320" tIns="137160" rIns="274320" bIns="137160" numCol="1" anchor="t" anchorCtr="0" compatLnSpc="1">
            <a:prstTxWarp prst="textNoShape">
              <a:avLst/>
            </a:prstTxWarp>
          </a:bodyPr>
          <a:lstStyle/>
          <a:p>
            <a:endParaRPr lang="en-US" sz="5400"/>
          </a:p>
        </p:txBody>
      </p:sp>
      <p:sp>
        <p:nvSpPr>
          <p:cNvPr id="628" name="Rectangle 11">
            <a:extLst>
              <a:ext uri="{FF2B5EF4-FFF2-40B4-BE49-F238E27FC236}">
                <a16:creationId xmlns:a16="http://schemas.microsoft.com/office/drawing/2014/main" id="{7FD2FDA9-8EBF-356A-8314-6DAD92638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08870" y="13567103"/>
            <a:ext cx="189955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2743200"/>
            <a:r>
              <a:rPr lang="pt-BR" altLang="pt-BR" dirty="0">
                <a:solidFill>
                  <a:srgbClr val="00000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Área Dry Contêiner</a:t>
            </a:r>
            <a:endParaRPr lang="pt-BR" altLang="pt-BR" sz="5400" dirty="0"/>
          </a:p>
        </p:txBody>
      </p:sp>
      <p:sp>
        <p:nvSpPr>
          <p:cNvPr id="629" name="Rectangle 12">
            <a:extLst>
              <a:ext uri="{FF2B5EF4-FFF2-40B4-BE49-F238E27FC236}">
                <a16:creationId xmlns:a16="http://schemas.microsoft.com/office/drawing/2014/main" id="{591CCB2A-7397-DEB2-7614-0731400B0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78719" y="14102282"/>
            <a:ext cx="634821" cy="288999"/>
          </a:xfrm>
          <a:prstGeom prst="rect">
            <a:avLst/>
          </a:prstGeom>
          <a:solidFill>
            <a:srgbClr val="77C1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74320" tIns="137160" rIns="274320" bIns="137160" numCol="1" anchor="t" anchorCtr="0" compatLnSpc="1">
            <a:prstTxWarp prst="textNoShape">
              <a:avLst/>
            </a:prstTxWarp>
          </a:bodyPr>
          <a:lstStyle/>
          <a:p>
            <a:endParaRPr lang="en-US" sz="5400"/>
          </a:p>
        </p:txBody>
      </p:sp>
      <p:sp>
        <p:nvSpPr>
          <p:cNvPr id="630" name="Rectangle 13">
            <a:extLst>
              <a:ext uri="{FF2B5EF4-FFF2-40B4-BE49-F238E27FC236}">
                <a16:creationId xmlns:a16="http://schemas.microsoft.com/office/drawing/2014/main" id="{805A166A-484B-A9CC-C7BF-1CA43AAA8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18633" y="14027360"/>
            <a:ext cx="115736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2743200"/>
            <a:r>
              <a:rPr lang="pt-BR" altLang="pt-BR">
                <a:solidFill>
                  <a:srgbClr val="00000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Área Reefer</a:t>
            </a:r>
            <a:endParaRPr lang="pt-BR" altLang="pt-BR" sz="5400"/>
          </a:p>
        </p:txBody>
      </p:sp>
      <p:sp>
        <p:nvSpPr>
          <p:cNvPr id="631" name="Rectangle 14">
            <a:extLst>
              <a:ext uri="{FF2B5EF4-FFF2-40B4-BE49-F238E27FC236}">
                <a16:creationId xmlns:a16="http://schemas.microsoft.com/office/drawing/2014/main" id="{2A6D1837-CF2C-0BE6-6A1D-76B389282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83603" y="14557182"/>
            <a:ext cx="634821" cy="294348"/>
          </a:xfrm>
          <a:prstGeom prst="rect">
            <a:avLst/>
          </a:prstGeom>
          <a:solidFill>
            <a:srgbClr val="D7E3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74320" tIns="137160" rIns="274320" bIns="137160" numCol="1" anchor="t" anchorCtr="0" compatLnSpc="1">
            <a:prstTxWarp prst="textNoShape">
              <a:avLst/>
            </a:prstTxWarp>
          </a:bodyPr>
          <a:lstStyle/>
          <a:p>
            <a:endParaRPr lang="en-US" sz="5400"/>
          </a:p>
        </p:txBody>
      </p:sp>
      <p:sp>
        <p:nvSpPr>
          <p:cNvPr id="632" name="Rectangle 15">
            <a:extLst>
              <a:ext uri="{FF2B5EF4-FFF2-40B4-BE49-F238E27FC236}">
                <a16:creationId xmlns:a16="http://schemas.microsoft.com/office/drawing/2014/main" id="{EDEE8607-9E82-A48F-251F-C3BFC64A0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23522" y="14492963"/>
            <a:ext cx="147796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2743200"/>
            <a:r>
              <a:rPr lang="pt-BR" altLang="pt-BR" dirty="0">
                <a:solidFill>
                  <a:srgbClr val="00000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Área de Vazios</a:t>
            </a:r>
            <a:endParaRPr lang="pt-BR" altLang="pt-BR" sz="5400" dirty="0"/>
          </a:p>
        </p:txBody>
      </p:sp>
      <p:sp>
        <p:nvSpPr>
          <p:cNvPr id="633" name="Rectangle 16">
            <a:extLst>
              <a:ext uri="{FF2B5EF4-FFF2-40B4-BE49-F238E27FC236}">
                <a16:creationId xmlns:a16="http://schemas.microsoft.com/office/drawing/2014/main" id="{6742AA6A-7127-F3F0-B0D7-7CF83DF7E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83603" y="14985327"/>
            <a:ext cx="634821" cy="294348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74320" tIns="137160" rIns="274320" bIns="137160" numCol="1" anchor="t" anchorCtr="0" compatLnSpc="1">
            <a:prstTxWarp prst="textNoShape">
              <a:avLst/>
            </a:prstTxWarp>
          </a:bodyPr>
          <a:lstStyle/>
          <a:p>
            <a:endParaRPr lang="en-US" sz="5400"/>
          </a:p>
        </p:txBody>
      </p:sp>
      <p:sp>
        <p:nvSpPr>
          <p:cNvPr id="634" name="Rectangle 17">
            <a:extLst>
              <a:ext uri="{FF2B5EF4-FFF2-40B4-BE49-F238E27FC236}">
                <a16:creationId xmlns:a16="http://schemas.microsoft.com/office/drawing/2014/main" id="{F0E31497-9D9A-C1DB-5CE6-0ACEF766E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13749" y="14931812"/>
            <a:ext cx="95539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2743200"/>
            <a:r>
              <a:rPr lang="pt-BR" altLang="pt-BR">
                <a:solidFill>
                  <a:srgbClr val="00000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Área IMO</a:t>
            </a:r>
            <a:endParaRPr lang="pt-BR" altLang="pt-BR" sz="5400"/>
          </a:p>
        </p:txBody>
      </p:sp>
      <p:sp>
        <p:nvSpPr>
          <p:cNvPr id="635" name="Rectangle 24">
            <a:extLst>
              <a:ext uri="{FF2B5EF4-FFF2-40B4-BE49-F238E27FC236}">
                <a16:creationId xmlns:a16="http://schemas.microsoft.com/office/drawing/2014/main" id="{7FDA6CE1-5C82-99FA-F360-809FDB38E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75329" y="14653517"/>
            <a:ext cx="68364" cy="28899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74320" tIns="137160" rIns="274320" bIns="137160" numCol="1" anchor="t" anchorCtr="0" compatLnSpc="1">
            <a:prstTxWarp prst="textNoShape">
              <a:avLst/>
            </a:prstTxWarp>
          </a:bodyPr>
          <a:lstStyle/>
          <a:p>
            <a:endParaRPr lang="en-US" sz="5400"/>
          </a:p>
        </p:txBody>
      </p:sp>
      <p:sp>
        <p:nvSpPr>
          <p:cNvPr id="636" name="Rectangle 34">
            <a:extLst>
              <a:ext uri="{FF2B5EF4-FFF2-40B4-BE49-F238E27FC236}">
                <a16:creationId xmlns:a16="http://schemas.microsoft.com/office/drawing/2014/main" id="{98249DFE-34B6-9647-E82D-A1D11AE60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5966" y="12639206"/>
            <a:ext cx="78867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2743200"/>
            <a:r>
              <a:rPr lang="pt-BR" altLang="pt-BR" dirty="0">
                <a:solidFill>
                  <a:srgbClr val="00000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Scanner</a:t>
            </a:r>
            <a:endParaRPr lang="pt-BR" altLang="pt-BR" sz="5400" dirty="0"/>
          </a:p>
        </p:txBody>
      </p:sp>
      <p:sp>
        <p:nvSpPr>
          <p:cNvPr id="637" name="Rectangle 35">
            <a:extLst>
              <a:ext uri="{FF2B5EF4-FFF2-40B4-BE49-F238E27FC236}">
                <a16:creationId xmlns:a16="http://schemas.microsoft.com/office/drawing/2014/main" id="{6BBE5F45-E0E0-5DA1-C989-5D87C9490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125" y="13193483"/>
            <a:ext cx="79348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2743200"/>
            <a:r>
              <a:rPr lang="pt-BR" altLang="pt-BR" dirty="0">
                <a:solidFill>
                  <a:srgbClr val="00000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Ferrovia</a:t>
            </a:r>
            <a:endParaRPr lang="pt-BR" altLang="pt-BR" sz="5400" dirty="0"/>
          </a:p>
        </p:txBody>
      </p:sp>
      <p:sp>
        <p:nvSpPr>
          <p:cNvPr id="638" name="Rectangle 36">
            <a:extLst>
              <a:ext uri="{FF2B5EF4-FFF2-40B4-BE49-F238E27FC236}">
                <a16:creationId xmlns:a16="http://schemas.microsoft.com/office/drawing/2014/main" id="{17486522-CA4E-6395-198F-A37209DC1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62583" y="16333982"/>
            <a:ext cx="11958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2743200"/>
            <a:r>
              <a:rPr lang="pt-BR" altLang="pt-BR" dirty="0">
                <a:solidFill>
                  <a:srgbClr val="00000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Subestação </a:t>
            </a:r>
            <a:endParaRPr lang="pt-BR" altLang="pt-BR" sz="5400" dirty="0"/>
          </a:p>
        </p:txBody>
      </p:sp>
      <p:sp>
        <p:nvSpPr>
          <p:cNvPr id="639" name="Rectangle 39">
            <a:extLst>
              <a:ext uri="{FF2B5EF4-FFF2-40B4-BE49-F238E27FC236}">
                <a16:creationId xmlns:a16="http://schemas.microsoft.com/office/drawing/2014/main" id="{4AA6944A-B521-CF54-E3E3-D7C260519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06111" y="13775825"/>
            <a:ext cx="167674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2743200"/>
            <a:r>
              <a:rPr lang="pt-BR" altLang="pt-BR" dirty="0">
                <a:solidFill>
                  <a:srgbClr val="00000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Ponto de Onibus</a:t>
            </a:r>
            <a:endParaRPr lang="pt-BR" altLang="pt-BR" sz="5400" dirty="0"/>
          </a:p>
        </p:txBody>
      </p:sp>
      <p:grpSp>
        <p:nvGrpSpPr>
          <p:cNvPr id="640" name="Agrupar 639">
            <a:extLst>
              <a:ext uri="{FF2B5EF4-FFF2-40B4-BE49-F238E27FC236}">
                <a16:creationId xmlns:a16="http://schemas.microsoft.com/office/drawing/2014/main" id="{402547F3-70F3-FBB1-067E-E308D3E48483}"/>
              </a:ext>
            </a:extLst>
          </p:cNvPr>
          <p:cNvGrpSpPr/>
          <p:nvPr/>
        </p:nvGrpSpPr>
        <p:grpSpPr>
          <a:xfrm>
            <a:off x="33236903" y="13177427"/>
            <a:ext cx="444375" cy="358569"/>
            <a:chOff x="5945149" y="3885646"/>
            <a:chExt cx="153213" cy="112805"/>
          </a:xfrm>
        </p:grpSpPr>
        <p:sp>
          <p:nvSpPr>
            <p:cNvPr id="658" name="Freeform 40">
              <a:extLst>
                <a:ext uri="{FF2B5EF4-FFF2-40B4-BE49-F238E27FC236}">
                  <a16:creationId xmlns:a16="http://schemas.microsoft.com/office/drawing/2014/main" id="{907DFE40-0BE7-7F16-F590-2F1AA70AA1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0608" y="3892381"/>
              <a:ext cx="74081" cy="77448"/>
            </a:xfrm>
            <a:custGeom>
              <a:avLst/>
              <a:gdLst>
                <a:gd name="T0" fmla="*/ 92 w 461"/>
                <a:gd name="T1" fmla="*/ 0 h 481"/>
                <a:gd name="T2" fmla="*/ 0 w 461"/>
                <a:gd name="T3" fmla="*/ 80 h 481"/>
                <a:gd name="T4" fmla="*/ 0 w 461"/>
                <a:gd name="T5" fmla="*/ 401 h 481"/>
                <a:gd name="T6" fmla="*/ 92 w 461"/>
                <a:gd name="T7" fmla="*/ 481 h 481"/>
                <a:gd name="T8" fmla="*/ 369 w 461"/>
                <a:gd name="T9" fmla="*/ 481 h 481"/>
                <a:gd name="T10" fmla="*/ 461 w 461"/>
                <a:gd name="T11" fmla="*/ 401 h 481"/>
                <a:gd name="T12" fmla="*/ 461 w 461"/>
                <a:gd name="T13" fmla="*/ 80 h 481"/>
                <a:gd name="T14" fmla="*/ 369 w 461"/>
                <a:gd name="T15" fmla="*/ 0 h 481"/>
                <a:gd name="T16" fmla="*/ 92 w 461"/>
                <a:gd name="T17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1" h="481">
                  <a:moveTo>
                    <a:pt x="92" y="0"/>
                  </a:moveTo>
                  <a:cubicBezTo>
                    <a:pt x="41" y="0"/>
                    <a:pt x="0" y="36"/>
                    <a:pt x="0" y="80"/>
                  </a:cubicBezTo>
                  <a:lnTo>
                    <a:pt x="0" y="401"/>
                  </a:lnTo>
                  <a:cubicBezTo>
                    <a:pt x="0" y="445"/>
                    <a:pt x="41" y="481"/>
                    <a:pt x="92" y="481"/>
                  </a:cubicBezTo>
                  <a:lnTo>
                    <a:pt x="369" y="481"/>
                  </a:lnTo>
                  <a:cubicBezTo>
                    <a:pt x="420" y="481"/>
                    <a:pt x="461" y="445"/>
                    <a:pt x="461" y="401"/>
                  </a:cubicBezTo>
                  <a:lnTo>
                    <a:pt x="461" y="80"/>
                  </a:lnTo>
                  <a:cubicBezTo>
                    <a:pt x="461" y="36"/>
                    <a:pt x="420" y="0"/>
                    <a:pt x="369" y="0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274320" tIns="137160" rIns="274320" bIns="137160" numCol="1" anchor="t" anchorCtr="0" compatLnSpc="1">
              <a:prstTxWarp prst="textNoShape">
                <a:avLst/>
              </a:prstTxWarp>
            </a:bodyPr>
            <a:lstStyle/>
            <a:p>
              <a:endParaRPr lang="en-US" sz="5400"/>
            </a:p>
          </p:txBody>
        </p:sp>
        <p:sp>
          <p:nvSpPr>
            <p:cNvPr id="659" name="Oval 41">
              <a:extLst>
                <a:ext uri="{FF2B5EF4-FFF2-40B4-BE49-F238E27FC236}">
                  <a16:creationId xmlns:a16="http://schemas.microsoft.com/office/drawing/2014/main" id="{C29F61E6-8D28-A920-E7A2-C7662145F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7342" y="3951309"/>
              <a:ext cx="13469" cy="11786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274320" tIns="137160" rIns="274320" bIns="137160" numCol="1" anchor="t" anchorCtr="0" compatLnSpc="1">
              <a:prstTxWarp prst="textNoShape">
                <a:avLst/>
              </a:prstTxWarp>
            </a:bodyPr>
            <a:lstStyle/>
            <a:p>
              <a:endParaRPr lang="en-US" sz="5400"/>
            </a:p>
          </p:txBody>
        </p:sp>
        <p:sp>
          <p:nvSpPr>
            <p:cNvPr id="660" name="Oval 42">
              <a:extLst>
                <a:ext uri="{FF2B5EF4-FFF2-40B4-BE49-F238E27FC236}">
                  <a16:creationId xmlns:a16="http://schemas.microsoft.com/office/drawing/2014/main" id="{6C364F3E-6D12-0C29-AE1F-FF35DE7F0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4485" y="3951309"/>
              <a:ext cx="13469" cy="11786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274320" tIns="137160" rIns="274320" bIns="137160" numCol="1" anchor="t" anchorCtr="0" compatLnSpc="1">
              <a:prstTxWarp prst="textNoShape">
                <a:avLst/>
              </a:prstTxWarp>
            </a:bodyPr>
            <a:lstStyle/>
            <a:p>
              <a:endParaRPr lang="en-US" sz="5400"/>
            </a:p>
          </p:txBody>
        </p:sp>
        <p:sp>
          <p:nvSpPr>
            <p:cNvPr id="661" name="Freeform 43">
              <a:extLst>
                <a:ext uri="{FF2B5EF4-FFF2-40B4-BE49-F238E27FC236}">
                  <a16:creationId xmlns:a16="http://schemas.microsoft.com/office/drawing/2014/main" id="{4943F095-C65F-A4AC-9B0D-EAA74DD93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230" y="3895748"/>
              <a:ext cx="18520" cy="6735"/>
            </a:xfrm>
            <a:custGeom>
              <a:avLst/>
              <a:gdLst>
                <a:gd name="T0" fmla="*/ 11 w 115"/>
                <a:gd name="T1" fmla="*/ 0 h 44"/>
                <a:gd name="T2" fmla="*/ 104 w 115"/>
                <a:gd name="T3" fmla="*/ 0 h 44"/>
                <a:gd name="T4" fmla="*/ 115 w 115"/>
                <a:gd name="T5" fmla="*/ 11 h 44"/>
                <a:gd name="T6" fmla="*/ 115 w 115"/>
                <a:gd name="T7" fmla="*/ 33 h 44"/>
                <a:gd name="T8" fmla="*/ 104 w 115"/>
                <a:gd name="T9" fmla="*/ 44 h 44"/>
                <a:gd name="T10" fmla="*/ 11 w 115"/>
                <a:gd name="T11" fmla="*/ 44 h 44"/>
                <a:gd name="T12" fmla="*/ 0 w 115"/>
                <a:gd name="T13" fmla="*/ 33 h 44"/>
                <a:gd name="T14" fmla="*/ 0 w 115"/>
                <a:gd name="T15" fmla="*/ 11 h 44"/>
                <a:gd name="T16" fmla="*/ 11 w 115"/>
                <a:gd name="T1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44">
                  <a:moveTo>
                    <a:pt x="11" y="0"/>
                  </a:moveTo>
                  <a:lnTo>
                    <a:pt x="104" y="0"/>
                  </a:lnTo>
                  <a:cubicBezTo>
                    <a:pt x="110" y="0"/>
                    <a:pt x="115" y="5"/>
                    <a:pt x="115" y="11"/>
                  </a:cubicBezTo>
                  <a:lnTo>
                    <a:pt x="115" y="33"/>
                  </a:lnTo>
                  <a:cubicBezTo>
                    <a:pt x="115" y="39"/>
                    <a:pt x="110" y="44"/>
                    <a:pt x="104" y="44"/>
                  </a:cubicBezTo>
                  <a:lnTo>
                    <a:pt x="11" y="44"/>
                  </a:lnTo>
                  <a:cubicBezTo>
                    <a:pt x="5" y="44"/>
                    <a:pt x="0" y="39"/>
                    <a:pt x="0" y="33"/>
                  </a:cubicBezTo>
                  <a:lnTo>
                    <a:pt x="0" y="11"/>
                  </a:lnTo>
                  <a:cubicBezTo>
                    <a:pt x="0" y="5"/>
                    <a:pt x="5" y="0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274320" tIns="137160" rIns="274320" bIns="137160" numCol="1" anchor="t" anchorCtr="0" compatLnSpc="1">
              <a:prstTxWarp prst="textNoShape">
                <a:avLst/>
              </a:prstTxWarp>
            </a:bodyPr>
            <a:lstStyle/>
            <a:p>
              <a:endParaRPr lang="en-US" sz="5400"/>
            </a:p>
          </p:txBody>
        </p:sp>
        <p:sp>
          <p:nvSpPr>
            <p:cNvPr id="662" name="Oval 44">
              <a:extLst>
                <a:ext uri="{FF2B5EF4-FFF2-40B4-BE49-F238E27FC236}">
                  <a16:creationId xmlns:a16="http://schemas.microsoft.com/office/drawing/2014/main" id="{322F1929-92A4-38F7-A5F8-C43EA3300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230" y="3885646"/>
              <a:ext cx="6735" cy="5051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274320" tIns="137160" rIns="274320" bIns="137160" numCol="1" anchor="t" anchorCtr="0" compatLnSpc="1">
              <a:prstTxWarp prst="textNoShape">
                <a:avLst/>
              </a:prstTxWarp>
            </a:bodyPr>
            <a:lstStyle/>
            <a:p>
              <a:endParaRPr lang="en-US" sz="5400"/>
            </a:p>
          </p:txBody>
        </p:sp>
        <p:sp>
          <p:nvSpPr>
            <p:cNvPr id="663" name="Oval 45">
              <a:extLst>
                <a:ext uri="{FF2B5EF4-FFF2-40B4-BE49-F238E27FC236}">
                  <a16:creationId xmlns:a16="http://schemas.microsoft.com/office/drawing/2014/main" id="{F41DF24F-35B1-59E4-9E4B-C6E438848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9332" y="3885646"/>
              <a:ext cx="6735" cy="5051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274320" tIns="137160" rIns="274320" bIns="137160" numCol="1" anchor="t" anchorCtr="0" compatLnSpc="1">
              <a:prstTxWarp prst="textNoShape">
                <a:avLst/>
              </a:prstTxWarp>
            </a:bodyPr>
            <a:lstStyle/>
            <a:p>
              <a:endParaRPr lang="en-US" sz="5400"/>
            </a:p>
          </p:txBody>
        </p:sp>
        <p:sp>
          <p:nvSpPr>
            <p:cNvPr id="664" name="Freeform 46">
              <a:extLst>
                <a:ext uri="{FF2B5EF4-FFF2-40B4-BE49-F238E27FC236}">
                  <a16:creationId xmlns:a16="http://schemas.microsoft.com/office/drawing/2014/main" id="{31C150CB-43DA-B602-FE14-2F9C613AE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7342" y="3905850"/>
              <a:ext cx="60612" cy="25255"/>
            </a:xfrm>
            <a:custGeom>
              <a:avLst/>
              <a:gdLst>
                <a:gd name="T0" fmla="*/ 46 w 369"/>
                <a:gd name="T1" fmla="*/ 0 h 152"/>
                <a:gd name="T2" fmla="*/ 0 w 369"/>
                <a:gd name="T3" fmla="*/ 43 h 152"/>
                <a:gd name="T4" fmla="*/ 0 w 369"/>
                <a:gd name="T5" fmla="*/ 109 h 152"/>
                <a:gd name="T6" fmla="*/ 46 w 369"/>
                <a:gd name="T7" fmla="*/ 152 h 152"/>
                <a:gd name="T8" fmla="*/ 323 w 369"/>
                <a:gd name="T9" fmla="*/ 152 h 152"/>
                <a:gd name="T10" fmla="*/ 369 w 369"/>
                <a:gd name="T11" fmla="*/ 109 h 152"/>
                <a:gd name="T12" fmla="*/ 369 w 369"/>
                <a:gd name="T13" fmla="*/ 43 h 152"/>
                <a:gd name="T14" fmla="*/ 323 w 369"/>
                <a:gd name="T15" fmla="*/ 0 h 152"/>
                <a:gd name="T16" fmla="*/ 46 w 369"/>
                <a:gd name="T17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9" h="152">
                  <a:moveTo>
                    <a:pt x="46" y="0"/>
                  </a:moveTo>
                  <a:cubicBezTo>
                    <a:pt x="21" y="0"/>
                    <a:pt x="0" y="19"/>
                    <a:pt x="0" y="43"/>
                  </a:cubicBezTo>
                  <a:lnTo>
                    <a:pt x="0" y="109"/>
                  </a:lnTo>
                  <a:cubicBezTo>
                    <a:pt x="0" y="133"/>
                    <a:pt x="21" y="152"/>
                    <a:pt x="46" y="152"/>
                  </a:cubicBezTo>
                  <a:lnTo>
                    <a:pt x="323" y="152"/>
                  </a:lnTo>
                  <a:cubicBezTo>
                    <a:pt x="348" y="152"/>
                    <a:pt x="369" y="133"/>
                    <a:pt x="369" y="109"/>
                  </a:cubicBezTo>
                  <a:lnTo>
                    <a:pt x="369" y="43"/>
                  </a:lnTo>
                  <a:cubicBezTo>
                    <a:pt x="369" y="19"/>
                    <a:pt x="348" y="0"/>
                    <a:pt x="323" y="0"/>
                  </a:cubicBezTo>
                  <a:lnTo>
                    <a:pt x="4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274320" tIns="137160" rIns="274320" bIns="137160" numCol="1" anchor="t" anchorCtr="0" compatLnSpc="1">
              <a:prstTxWarp prst="textNoShape">
                <a:avLst/>
              </a:prstTxWarp>
            </a:bodyPr>
            <a:lstStyle/>
            <a:p>
              <a:endParaRPr lang="en-US" sz="5400"/>
            </a:p>
          </p:txBody>
        </p:sp>
        <p:sp>
          <p:nvSpPr>
            <p:cNvPr id="665" name="Freeform 47">
              <a:extLst>
                <a:ext uri="{FF2B5EF4-FFF2-40B4-BE49-F238E27FC236}">
                  <a16:creationId xmlns:a16="http://schemas.microsoft.com/office/drawing/2014/main" id="{79BF4BC5-E063-536E-3930-0F27BBED96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90608" y="3969829"/>
              <a:ext cx="74081" cy="28622"/>
            </a:xfrm>
            <a:custGeom>
              <a:avLst/>
              <a:gdLst>
                <a:gd name="T0" fmla="*/ 11 w 44"/>
                <a:gd name="T1" fmla="*/ 0 h 17"/>
                <a:gd name="T2" fmla="*/ 0 w 44"/>
                <a:gd name="T3" fmla="*/ 17 h 17"/>
                <a:gd name="T4" fmla="*/ 4 w 44"/>
                <a:gd name="T5" fmla="*/ 17 h 17"/>
                <a:gd name="T6" fmla="*/ 15 w 44"/>
                <a:gd name="T7" fmla="*/ 0 h 17"/>
                <a:gd name="T8" fmla="*/ 11 w 44"/>
                <a:gd name="T9" fmla="*/ 0 h 17"/>
                <a:gd name="T10" fmla="*/ 33 w 44"/>
                <a:gd name="T11" fmla="*/ 0 h 17"/>
                <a:gd name="T12" fmla="*/ 44 w 44"/>
                <a:gd name="T13" fmla="*/ 17 h 17"/>
                <a:gd name="T14" fmla="*/ 40 w 44"/>
                <a:gd name="T15" fmla="*/ 17 h 17"/>
                <a:gd name="T16" fmla="*/ 29 w 44"/>
                <a:gd name="T17" fmla="*/ 0 h 17"/>
                <a:gd name="T18" fmla="*/ 33 w 44"/>
                <a:gd name="T19" fmla="*/ 0 h 17"/>
                <a:gd name="T20" fmla="*/ 13 w 44"/>
                <a:gd name="T21" fmla="*/ 5 h 17"/>
                <a:gd name="T22" fmla="*/ 32 w 44"/>
                <a:gd name="T23" fmla="*/ 5 h 17"/>
                <a:gd name="T24" fmla="*/ 29 w 44"/>
                <a:gd name="T25" fmla="*/ 0 h 17"/>
                <a:gd name="T26" fmla="*/ 15 w 44"/>
                <a:gd name="T27" fmla="*/ 0 h 17"/>
                <a:gd name="T28" fmla="*/ 13 w 44"/>
                <a:gd name="T29" fmla="*/ 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4" h="17">
                  <a:moveTo>
                    <a:pt x="11" y="0"/>
                  </a:moveTo>
                  <a:lnTo>
                    <a:pt x="0" y="17"/>
                  </a:lnTo>
                  <a:lnTo>
                    <a:pt x="4" y="17"/>
                  </a:lnTo>
                  <a:lnTo>
                    <a:pt x="15" y="0"/>
                  </a:lnTo>
                  <a:lnTo>
                    <a:pt x="11" y="0"/>
                  </a:lnTo>
                  <a:close/>
                  <a:moveTo>
                    <a:pt x="33" y="0"/>
                  </a:moveTo>
                  <a:lnTo>
                    <a:pt x="44" y="17"/>
                  </a:lnTo>
                  <a:lnTo>
                    <a:pt x="40" y="17"/>
                  </a:lnTo>
                  <a:lnTo>
                    <a:pt x="29" y="0"/>
                  </a:lnTo>
                  <a:lnTo>
                    <a:pt x="33" y="0"/>
                  </a:lnTo>
                  <a:close/>
                  <a:moveTo>
                    <a:pt x="13" y="5"/>
                  </a:moveTo>
                  <a:lnTo>
                    <a:pt x="32" y="5"/>
                  </a:lnTo>
                  <a:lnTo>
                    <a:pt x="29" y="0"/>
                  </a:lnTo>
                  <a:lnTo>
                    <a:pt x="15" y="0"/>
                  </a:lnTo>
                  <a:lnTo>
                    <a:pt x="13" y="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274320" tIns="137160" rIns="274320" bIns="137160" numCol="1" anchor="t" anchorCtr="0" compatLnSpc="1">
              <a:prstTxWarp prst="textNoShape">
                <a:avLst/>
              </a:prstTxWarp>
            </a:bodyPr>
            <a:lstStyle/>
            <a:p>
              <a:endParaRPr lang="en-US" sz="5400"/>
            </a:p>
          </p:txBody>
        </p:sp>
        <p:sp>
          <p:nvSpPr>
            <p:cNvPr id="666" name="Freeform 48">
              <a:extLst>
                <a:ext uri="{FF2B5EF4-FFF2-40B4-BE49-F238E27FC236}">
                  <a16:creationId xmlns:a16="http://schemas.microsoft.com/office/drawing/2014/main" id="{985645F6-DC8E-494F-B73B-9A53EAFFD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7342" y="3990033"/>
              <a:ext cx="60612" cy="5051"/>
            </a:xfrm>
            <a:custGeom>
              <a:avLst/>
              <a:gdLst>
                <a:gd name="T0" fmla="*/ 3 w 36"/>
                <a:gd name="T1" fmla="*/ 0 h 3"/>
                <a:gd name="T2" fmla="*/ 0 w 36"/>
                <a:gd name="T3" fmla="*/ 3 h 3"/>
                <a:gd name="T4" fmla="*/ 36 w 36"/>
                <a:gd name="T5" fmla="*/ 3 h 3"/>
                <a:gd name="T6" fmla="*/ 34 w 36"/>
                <a:gd name="T7" fmla="*/ 0 h 3"/>
                <a:gd name="T8" fmla="*/ 3 w 36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3">
                  <a:moveTo>
                    <a:pt x="3" y="0"/>
                  </a:moveTo>
                  <a:lnTo>
                    <a:pt x="0" y="3"/>
                  </a:lnTo>
                  <a:lnTo>
                    <a:pt x="36" y="3"/>
                  </a:lnTo>
                  <a:lnTo>
                    <a:pt x="34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274320" tIns="137160" rIns="274320" bIns="137160" numCol="1" anchor="t" anchorCtr="0" compatLnSpc="1">
              <a:prstTxWarp prst="textNoShape">
                <a:avLst/>
              </a:prstTxWarp>
            </a:bodyPr>
            <a:lstStyle/>
            <a:p>
              <a:endParaRPr lang="en-US" sz="5400"/>
            </a:p>
          </p:txBody>
        </p:sp>
        <p:sp>
          <p:nvSpPr>
            <p:cNvPr id="667" name="Freeform 49">
              <a:extLst>
                <a:ext uri="{FF2B5EF4-FFF2-40B4-BE49-F238E27FC236}">
                  <a16:creationId xmlns:a16="http://schemas.microsoft.com/office/drawing/2014/main" id="{633C626F-88E9-0389-B9E4-D6344F7A1A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45149" y="3986666"/>
              <a:ext cx="153213" cy="1684"/>
            </a:xfrm>
            <a:custGeom>
              <a:avLst/>
              <a:gdLst>
                <a:gd name="T0" fmla="*/ 32 w 944"/>
                <a:gd name="T1" fmla="*/ 8 h 16"/>
                <a:gd name="T2" fmla="*/ 0 w 944"/>
                <a:gd name="T3" fmla="*/ 8 h 16"/>
                <a:gd name="T4" fmla="*/ 72 w 944"/>
                <a:gd name="T5" fmla="*/ 0 h 16"/>
                <a:gd name="T6" fmla="*/ 56 w 944"/>
                <a:gd name="T7" fmla="*/ 16 h 16"/>
                <a:gd name="T8" fmla="*/ 104 w 944"/>
                <a:gd name="T9" fmla="*/ 0 h 16"/>
                <a:gd name="T10" fmla="*/ 120 w 944"/>
                <a:gd name="T11" fmla="*/ 16 h 16"/>
                <a:gd name="T12" fmla="*/ 104 w 944"/>
                <a:gd name="T13" fmla="*/ 0 h 16"/>
                <a:gd name="T14" fmla="*/ 176 w 944"/>
                <a:gd name="T15" fmla="*/ 8 h 16"/>
                <a:gd name="T16" fmla="*/ 144 w 944"/>
                <a:gd name="T17" fmla="*/ 8 h 16"/>
                <a:gd name="T18" fmla="*/ 216 w 944"/>
                <a:gd name="T19" fmla="*/ 0 h 16"/>
                <a:gd name="T20" fmla="*/ 200 w 944"/>
                <a:gd name="T21" fmla="*/ 16 h 16"/>
                <a:gd name="T22" fmla="*/ 248 w 944"/>
                <a:gd name="T23" fmla="*/ 0 h 16"/>
                <a:gd name="T24" fmla="*/ 264 w 944"/>
                <a:gd name="T25" fmla="*/ 16 h 16"/>
                <a:gd name="T26" fmla="*/ 248 w 944"/>
                <a:gd name="T27" fmla="*/ 0 h 16"/>
                <a:gd name="T28" fmla="*/ 320 w 944"/>
                <a:gd name="T29" fmla="*/ 8 h 16"/>
                <a:gd name="T30" fmla="*/ 288 w 944"/>
                <a:gd name="T31" fmla="*/ 8 h 16"/>
                <a:gd name="T32" fmla="*/ 360 w 944"/>
                <a:gd name="T33" fmla="*/ 0 h 16"/>
                <a:gd name="T34" fmla="*/ 344 w 944"/>
                <a:gd name="T35" fmla="*/ 16 h 16"/>
                <a:gd name="T36" fmla="*/ 392 w 944"/>
                <a:gd name="T37" fmla="*/ 0 h 16"/>
                <a:gd name="T38" fmla="*/ 408 w 944"/>
                <a:gd name="T39" fmla="*/ 16 h 16"/>
                <a:gd name="T40" fmla="*/ 392 w 944"/>
                <a:gd name="T41" fmla="*/ 0 h 16"/>
                <a:gd name="T42" fmla="*/ 464 w 944"/>
                <a:gd name="T43" fmla="*/ 8 h 16"/>
                <a:gd name="T44" fmla="*/ 432 w 944"/>
                <a:gd name="T45" fmla="*/ 8 h 16"/>
                <a:gd name="T46" fmla="*/ 504 w 944"/>
                <a:gd name="T47" fmla="*/ 0 h 16"/>
                <a:gd name="T48" fmla="*/ 488 w 944"/>
                <a:gd name="T49" fmla="*/ 16 h 16"/>
                <a:gd name="T50" fmla="*/ 536 w 944"/>
                <a:gd name="T51" fmla="*/ 0 h 16"/>
                <a:gd name="T52" fmla="*/ 552 w 944"/>
                <a:gd name="T53" fmla="*/ 16 h 16"/>
                <a:gd name="T54" fmla="*/ 536 w 944"/>
                <a:gd name="T55" fmla="*/ 0 h 16"/>
                <a:gd name="T56" fmla="*/ 608 w 944"/>
                <a:gd name="T57" fmla="*/ 8 h 16"/>
                <a:gd name="T58" fmla="*/ 576 w 944"/>
                <a:gd name="T59" fmla="*/ 8 h 16"/>
                <a:gd name="T60" fmla="*/ 648 w 944"/>
                <a:gd name="T61" fmla="*/ 0 h 16"/>
                <a:gd name="T62" fmla="*/ 632 w 944"/>
                <a:gd name="T63" fmla="*/ 16 h 16"/>
                <a:gd name="T64" fmla="*/ 680 w 944"/>
                <a:gd name="T65" fmla="*/ 0 h 16"/>
                <a:gd name="T66" fmla="*/ 696 w 944"/>
                <a:gd name="T67" fmla="*/ 16 h 16"/>
                <a:gd name="T68" fmla="*/ 680 w 944"/>
                <a:gd name="T69" fmla="*/ 0 h 16"/>
                <a:gd name="T70" fmla="*/ 752 w 944"/>
                <a:gd name="T71" fmla="*/ 8 h 16"/>
                <a:gd name="T72" fmla="*/ 720 w 944"/>
                <a:gd name="T73" fmla="*/ 8 h 16"/>
                <a:gd name="T74" fmla="*/ 792 w 944"/>
                <a:gd name="T75" fmla="*/ 0 h 16"/>
                <a:gd name="T76" fmla="*/ 776 w 944"/>
                <a:gd name="T77" fmla="*/ 16 h 16"/>
                <a:gd name="T78" fmla="*/ 824 w 944"/>
                <a:gd name="T79" fmla="*/ 0 h 16"/>
                <a:gd name="T80" fmla="*/ 840 w 944"/>
                <a:gd name="T81" fmla="*/ 16 h 16"/>
                <a:gd name="T82" fmla="*/ 824 w 944"/>
                <a:gd name="T83" fmla="*/ 0 h 16"/>
                <a:gd name="T84" fmla="*/ 896 w 944"/>
                <a:gd name="T85" fmla="*/ 8 h 16"/>
                <a:gd name="T86" fmla="*/ 864 w 944"/>
                <a:gd name="T87" fmla="*/ 8 h 16"/>
                <a:gd name="T88" fmla="*/ 936 w 944"/>
                <a:gd name="T89" fmla="*/ 0 h 16"/>
                <a:gd name="T90" fmla="*/ 920 w 944"/>
                <a:gd name="T91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44" h="16">
                  <a:moveTo>
                    <a:pt x="8" y="0"/>
                  </a:moveTo>
                  <a:lnTo>
                    <a:pt x="24" y="0"/>
                  </a:lnTo>
                  <a:cubicBezTo>
                    <a:pt x="28" y="0"/>
                    <a:pt x="32" y="4"/>
                    <a:pt x="32" y="8"/>
                  </a:cubicBezTo>
                  <a:cubicBezTo>
                    <a:pt x="32" y="13"/>
                    <a:pt x="28" y="16"/>
                    <a:pt x="24" y="16"/>
                  </a:cubicBezTo>
                  <a:lnTo>
                    <a:pt x="8" y="16"/>
                  </a:lnTo>
                  <a:cubicBezTo>
                    <a:pt x="3" y="16"/>
                    <a:pt x="0" y="13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lose/>
                  <a:moveTo>
                    <a:pt x="56" y="0"/>
                  </a:moveTo>
                  <a:lnTo>
                    <a:pt x="72" y="0"/>
                  </a:lnTo>
                  <a:cubicBezTo>
                    <a:pt x="76" y="0"/>
                    <a:pt x="80" y="4"/>
                    <a:pt x="80" y="8"/>
                  </a:cubicBezTo>
                  <a:cubicBezTo>
                    <a:pt x="80" y="13"/>
                    <a:pt x="76" y="16"/>
                    <a:pt x="72" y="16"/>
                  </a:cubicBezTo>
                  <a:lnTo>
                    <a:pt x="56" y="16"/>
                  </a:lnTo>
                  <a:cubicBezTo>
                    <a:pt x="51" y="16"/>
                    <a:pt x="48" y="13"/>
                    <a:pt x="48" y="8"/>
                  </a:cubicBezTo>
                  <a:cubicBezTo>
                    <a:pt x="48" y="4"/>
                    <a:pt x="51" y="0"/>
                    <a:pt x="56" y="0"/>
                  </a:cubicBezTo>
                  <a:close/>
                  <a:moveTo>
                    <a:pt x="104" y="0"/>
                  </a:moveTo>
                  <a:lnTo>
                    <a:pt x="120" y="0"/>
                  </a:lnTo>
                  <a:cubicBezTo>
                    <a:pt x="124" y="0"/>
                    <a:pt x="128" y="4"/>
                    <a:pt x="128" y="8"/>
                  </a:cubicBezTo>
                  <a:cubicBezTo>
                    <a:pt x="128" y="13"/>
                    <a:pt x="124" y="16"/>
                    <a:pt x="120" y="16"/>
                  </a:cubicBezTo>
                  <a:lnTo>
                    <a:pt x="104" y="16"/>
                  </a:lnTo>
                  <a:cubicBezTo>
                    <a:pt x="99" y="16"/>
                    <a:pt x="96" y="13"/>
                    <a:pt x="96" y="8"/>
                  </a:cubicBezTo>
                  <a:cubicBezTo>
                    <a:pt x="96" y="4"/>
                    <a:pt x="99" y="0"/>
                    <a:pt x="104" y="0"/>
                  </a:cubicBezTo>
                  <a:close/>
                  <a:moveTo>
                    <a:pt x="152" y="0"/>
                  </a:moveTo>
                  <a:lnTo>
                    <a:pt x="168" y="0"/>
                  </a:lnTo>
                  <a:cubicBezTo>
                    <a:pt x="172" y="0"/>
                    <a:pt x="176" y="4"/>
                    <a:pt x="176" y="8"/>
                  </a:cubicBezTo>
                  <a:cubicBezTo>
                    <a:pt x="176" y="13"/>
                    <a:pt x="172" y="16"/>
                    <a:pt x="168" y="16"/>
                  </a:cubicBezTo>
                  <a:lnTo>
                    <a:pt x="152" y="16"/>
                  </a:lnTo>
                  <a:cubicBezTo>
                    <a:pt x="147" y="16"/>
                    <a:pt x="144" y="13"/>
                    <a:pt x="144" y="8"/>
                  </a:cubicBezTo>
                  <a:cubicBezTo>
                    <a:pt x="144" y="4"/>
                    <a:pt x="147" y="0"/>
                    <a:pt x="152" y="0"/>
                  </a:cubicBezTo>
                  <a:close/>
                  <a:moveTo>
                    <a:pt x="200" y="0"/>
                  </a:moveTo>
                  <a:lnTo>
                    <a:pt x="216" y="0"/>
                  </a:lnTo>
                  <a:cubicBezTo>
                    <a:pt x="220" y="0"/>
                    <a:pt x="224" y="4"/>
                    <a:pt x="224" y="8"/>
                  </a:cubicBezTo>
                  <a:cubicBezTo>
                    <a:pt x="224" y="13"/>
                    <a:pt x="220" y="16"/>
                    <a:pt x="216" y="16"/>
                  </a:cubicBezTo>
                  <a:lnTo>
                    <a:pt x="200" y="16"/>
                  </a:lnTo>
                  <a:cubicBezTo>
                    <a:pt x="195" y="16"/>
                    <a:pt x="192" y="13"/>
                    <a:pt x="192" y="8"/>
                  </a:cubicBezTo>
                  <a:cubicBezTo>
                    <a:pt x="192" y="4"/>
                    <a:pt x="195" y="0"/>
                    <a:pt x="200" y="0"/>
                  </a:cubicBezTo>
                  <a:close/>
                  <a:moveTo>
                    <a:pt x="248" y="0"/>
                  </a:moveTo>
                  <a:lnTo>
                    <a:pt x="264" y="0"/>
                  </a:lnTo>
                  <a:cubicBezTo>
                    <a:pt x="268" y="0"/>
                    <a:pt x="272" y="4"/>
                    <a:pt x="272" y="8"/>
                  </a:cubicBezTo>
                  <a:cubicBezTo>
                    <a:pt x="272" y="13"/>
                    <a:pt x="268" y="16"/>
                    <a:pt x="264" y="16"/>
                  </a:cubicBezTo>
                  <a:lnTo>
                    <a:pt x="248" y="16"/>
                  </a:lnTo>
                  <a:cubicBezTo>
                    <a:pt x="243" y="16"/>
                    <a:pt x="240" y="13"/>
                    <a:pt x="240" y="8"/>
                  </a:cubicBezTo>
                  <a:cubicBezTo>
                    <a:pt x="240" y="4"/>
                    <a:pt x="243" y="0"/>
                    <a:pt x="248" y="0"/>
                  </a:cubicBezTo>
                  <a:close/>
                  <a:moveTo>
                    <a:pt x="296" y="0"/>
                  </a:moveTo>
                  <a:lnTo>
                    <a:pt x="312" y="0"/>
                  </a:lnTo>
                  <a:cubicBezTo>
                    <a:pt x="316" y="0"/>
                    <a:pt x="320" y="4"/>
                    <a:pt x="320" y="8"/>
                  </a:cubicBezTo>
                  <a:cubicBezTo>
                    <a:pt x="320" y="13"/>
                    <a:pt x="316" y="16"/>
                    <a:pt x="312" y="16"/>
                  </a:cubicBezTo>
                  <a:lnTo>
                    <a:pt x="296" y="16"/>
                  </a:lnTo>
                  <a:cubicBezTo>
                    <a:pt x="291" y="16"/>
                    <a:pt x="288" y="13"/>
                    <a:pt x="288" y="8"/>
                  </a:cubicBezTo>
                  <a:cubicBezTo>
                    <a:pt x="288" y="4"/>
                    <a:pt x="291" y="0"/>
                    <a:pt x="296" y="0"/>
                  </a:cubicBezTo>
                  <a:close/>
                  <a:moveTo>
                    <a:pt x="344" y="0"/>
                  </a:moveTo>
                  <a:lnTo>
                    <a:pt x="360" y="0"/>
                  </a:lnTo>
                  <a:cubicBezTo>
                    <a:pt x="364" y="0"/>
                    <a:pt x="368" y="4"/>
                    <a:pt x="368" y="8"/>
                  </a:cubicBezTo>
                  <a:cubicBezTo>
                    <a:pt x="368" y="13"/>
                    <a:pt x="364" y="16"/>
                    <a:pt x="360" y="16"/>
                  </a:cubicBezTo>
                  <a:lnTo>
                    <a:pt x="344" y="16"/>
                  </a:lnTo>
                  <a:cubicBezTo>
                    <a:pt x="339" y="16"/>
                    <a:pt x="336" y="13"/>
                    <a:pt x="336" y="8"/>
                  </a:cubicBezTo>
                  <a:cubicBezTo>
                    <a:pt x="336" y="4"/>
                    <a:pt x="339" y="0"/>
                    <a:pt x="344" y="0"/>
                  </a:cubicBezTo>
                  <a:close/>
                  <a:moveTo>
                    <a:pt x="392" y="0"/>
                  </a:moveTo>
                  <a:lnTo>
                    <a:pt x="408" y="0"/>
                  </a:lnTo>
                  <a:cubicBezTo>
                    <a:pt x="412" y="0"/>
                    <a:pt x="416" y="4"/>
                    <a:pt x="416" y="8"/>
                  </a:cubicBezTo>
                  <a:cubicBezTo>
                    <a:pt x="416" y="13"/>
                    <a:pt x="412" y="16"/>
                    <a:pt x="408" y="16"/>
                  </a:cubicBezTo>
                  <a:lnTo>
                    <a:pt x="392" y="16"/>
                  </a:lnTo>
                  <a:cubicBezTo>
                    <a:pt x="387" y="16"/>
                    <a:pt x="384" y="13"/>
                    <a:pt x="384" y="8"/>
                  </a:cubicBezTo>
                  <a:cubicBezTo>
                    <a:pt x="384" y="4"/>
                    <a:pt x="387" y="0"/>
                    <a:pt x="392" y="0"/>
                  </a:cubicBezTo>
                  <a:close/>
                  <a:moveTo>
                    <a:pt x="440" y="0"/>
                  </a:moveTo>
                  <a:lnTo>
                    <a:pt x="456" y="0"/>
                  </a:lnTo>
                  <a:cubicBezTo>
                    <a:pt x="460" y="0"/>
                    <a:pt x="464" y="4"/>
                    <a:pt x="464" y="8"/>
                  </a:cubicBezTo>
                  <a:cubicBezTo>
                    <a:pt x="464" y="13"/>
                    <a:pt x="460" y="16"/>
                    <a:pt x="456" y="16"/>
                  </a:cubicBezTo>
                  <a:lnTo>
                    <a:pt x="440" y="16"/>
                  </a:lnTo>
                  <a:cubicBezTo>
                    <a:pt x="435" y="16"/>
                    <a:pt x="432" y="13"/>
                    <a:pt x="432" y="8"/>
                  </a:cubicBezTo>
                  <a:cubicBezTo>
                    <a:pt x="432" y="4"/>
                    <a:pt x="435" y="0"/>
                    <a:pt x="440" y="0"/>
                  </a:cubicBezTo>
                  <a:close/>
                  <a:moveTo>
                    <a:pt x="488" y="0"/>
                  </a:moveTo>
                  <a:lnTo>
                    <a:pt x="504" y="0"/>
                  </a:lnTo>
                  <a:cubicBezTo>
                    <a:pt x="508" y="0"/>
                    <a:pt x="512" y="4"/>
                    <a:pt x="512" y="8"/>
                  </a:cubicBezTo>
                  <a:cubicBezTo>
                    <a:pt x="512" y="13"/>
                    <a:pt x="508" y="16"/>
                    <a:pt x="504" y="16"/>
                  </a:cubicBezTo>
                  <a:lnTo>
                    <a:pt x="488" y="16"/>
                  </a:lnTo>
                  <a:cubicBezTo>
                    <a:pt x="483" y="16"/>
                    <a:pt x="480" y="13"/>
                    <a:pt x="480" y="8"/>
                  </a:cubicBezTo>
                  <a:cubicBezTo>
                    <a:pt x="480" y="4"/>
                    <a:pt x="483" y="0"/>
                    <a:pt x="488" y="0"/>
                  </a:cubicBezTo>
                  <a:close/>
                  <a:moveTo>
                    <a:pt x="536" y="0"/>
                  </a:moveTo>
                  <a:lnTo>
                    <a:pt x="552" y="0"/>
                  </a:lnTo>
                  <a:cubicBezTo>
                    <a:pt x="556" y="0"/>
                    <a:pt x="560" y="4"/>
                    <a:pt x="560" y="8"/>
                  </a:cubicBezTo>
                  <a:cubicBezTo>
                    <a:pt x="560" y="13"/>
                    <a:pt x="556" y="16"/>
                    <a:pt x="552" y="16"/>
                  </a:cubicBezTo>
                  <a:lnTo>
                    <a:pt x="536" y="16"/>
                  </a:lnTo>
                  <a:cubicBezTo>
                    <a:pt x="531" y="16"/>
                    <a:pt x="528" y="13"/>
                    <a:pt x="528" y="8"/>
                  </a:cubicBezTo>
                  <a:cubicBezTo>
                    <a:pt x="528" y="4"/>
                    <a:pt x="531" y="0"/>
                    <a:pt x="536" y="0"/>
                  </a:cubicBezTo>
                  <a:close/>
                  <a:moveTo>
                    <a:pt x="584" y="0"/>
                  </a:moveTo>
                  <a:lnTo>
                    <a:pt x="600" y="0"/>
                  </a:lnTo>
                  <a:cubicBezTo>
                    <a:pt x="604" y="0"/>
                    <a:pt x="608" y="4"/>
                    <a:pt x="608" y="8"/>
                  </a:cubicBezTo>
                  <a:cubicBezTo>
                    <a:pt x="608" y="13"/>
                    <a:pt x="604" y="16"/>
                    <a:pt x="600" y="16"/>
                  </a:cubicBezTo>
                  <a:lnTo>
                    <a:pt x="584" y="16"/>
                  </a:lnTo>
                  <a:cubicBezTo>
                    <a:pt x="579" y="16"/>
                    <a:pt x="576" y="13"/>
                    <a:pt x="576" y="8"/>
                  </a:cubicBezTo>
                  <a:cubicBezTo>
                    <a:pt x="576" y="4"/>
                    <a:pt x="579" y="0"/>
                    <a:pt x="584" y="0"/>
                  </a:cubicBezTo>
                  <a:close/>
                  <a:moveTo>
                    <a:pt x="632" y="0"/>
                  </a:moveTo>
                  <a:lnTo>
                    <a:pt x="648" y="0"/>
                  </a:lnTo>
                  <a:cubicBezTo>
                    <a:pt x="652" y="0"/>
                    <a:pt x="656" y="4"/>
                    <a:pt x="656" y="8"/>
                  </a:cubicBezTo>
                  <a:cubicBezTo>
                    <a:pt x="656" y="13"/>
                    <a:pt x="652" y="16"/>
                    <a:pt x="648" y="16"/>
                  </a:cubicBezTo>
                  <a:lnTo>
                    <a:pt x="632" y="16"/>
                  </a:lnTo>
                  <a:cubicBezTo>
                    <a:pt x="627" y="16"/>
                    <a:pt x="624" y="13"/>
                    <a:pt x="624" y="8"/>
                  </a:cubicBezTo>
                  <a:cubicBezTo>
                    <a:pt x="624" y="4"/>
                    <a:pt x="627" y="0"/>
                    <a:pt x="632" y="0"/>
                  </a:cubicBezTo>
                  <a:close/>
                  <a:moveTo>
                    <a:pt x="680" y="0"/>
                  </a:moveTo>
                  <a:lnTo>
                    <a:pt x="696" y="0"/>
                  </a:lnTo>
                  <a:cubicBezTo>
                    <a:pt x="700" y="0"/>
                    <a:pt x="704" y="4"/>
                    <a:pt x="704" y="8"/>
                  </a:cubicBezTo>
                  <a:cubicBezTo>
                    <a:pt x="704" y="13"/>
                    <a:pt x="700" y="16"/>
                    <a:pt x="696" y="16"/>
                  </a:cubicBezTo>
                  <a:lnTo>
                    <a:pt x="680" y="16"/>
                  </a:lnTo>
                  <a:cubicBezTo>
                    <a:pt x="675" y="16"/>
                    <a:pt x="672" y="13"/>
                    <a:pt x="672" y="8"/>
                  </a:cubicBezTo>
                  <a:cubicBezTo>
                    <a:pt x="672" y="4"/>
                    <a:pt x="675" y="0"/>
                    <a:pt x="680" y="0"/>
                  </a:cubicBezTo>
                  <a:close/>
                  <a:moveTo>
                    <a:pt x="728" y="0"/>
                  </a:moveTo>
                  <a:lnTo>
                    <a:pt x="744" y="0"/>
                  </a:lnTo>
                  <a:cubicBezTo>
                    <a:pt x="748" y="0"/>
                    <a:pt x="752" y="4"/>
                    <a:pt x="752" y="8"/>
                  </a:cubicBezTo>
                  <a:cubicBezTo>
                    <a:pt x="752" y="13"/>
                    <a:pt x="748" y="16"/>
                    <a:pt x="744" y="16"/>
                  </a:cubicBezTo>
                  <a:lnTo>
                    <a:pt x="728" y="16"/>
                  </a:lnTo>
                  <a:cubicBezTo>
                    <a:pt x="723" y="16"/>
                    <a:pt x="720" y="13"/>
                    <a:pt x="720" y="8"/>
                  </a:cubicBezTo>
                  <a:cubicBezTo>
                    <a:pt x="720" y="4"/>
                    <a:pt x="723" y="0"/>
                    <a:pt x="728" y="0"/>
                  </a:cubicBezTo>
                  <a:close/>
                  <a:moveTo>
                    <a:pt x="776" y="0"/>
                  </a:moveTo>
                  <a:lnTo>
                    <a:pt x="792" y="0"/>
                  </a:lnTo>
                  <a:cubicBezTo>
                    <a:pt x="796" y="0"/>
                    <a:pt x="800" y="4"/>
                    <a:pt x="800" y="8"/>
                  </a:cubicBezTo>
                  <a:cubicBezTo>
                    <a:pt x="800" y="13"/>
                    <a:pt x="796" y="16"/>
                    <a:pt x="792" y="16"/>
                  </a:cubicBezTo>
                  <a:lnTo>
                    <a:pt x="776" y="16"/>
                  </a:lnTo>
                  <a:cubicBezTo>
                    <a:pt x="771" y="16"/>
                    <a:pt x="768" y="13"/>
                    <a:pt x="768" y="8"/>
                  </a:cubicBezTo>
                  <a:cubicBezTo>
                    <a:pt x="768" y="4"/>
                    <a:pt x="771" y="0"/>
                    <a:pt x="776" y="0"/>
                  </a:cubicBezTo>
                  <a:close/>
                  <a:moveTo>
                    <a:pt x="824" y="0"/>
                  </a:moveTo>
                  <a:lnTo>
                    <a:pt x="840" y="0"/>
                  </a:lnTo>
                  <a:cubicBezTo>
                    <a:pt x="844" y="0"/>
                    <a:pt x="848" y="4"/>
                    <a:pt x="848" y="8"/>
                  </a:cubicBezTo>
                  <a:cubicBezTo>
                    <a:pt x="848" y="13"/>
                    <a:pt x="844" y="16"/>
                    <a:pt x="840" y="16"/>
                  </a:cubicBezTo>
                  <a:lnTo>
                    <a:pt x="824" y="16"/>
                  </a:lnTo>
                  <a:cubicBezTo>
                    <a:pt x="819" y="16"/>
                    <a:pt x="816" y="13"/>
                    <a:pt x="816" y="8"/>
                  </a:cubicBezTo>
                  <a:cubicBezTo>
                    <a:pt x="816" y="4"/>
                    <a:pt x="819" y="0"/>
                    <a:pt x="824" y="0"/>
                  </a:cubicBezTo>
                  <a:close/>
                  <a:moveTo>
                    <a:pt x="872" y="0"/>
                  </a:moveTo>
                  <a:lnTo>
                    <a:pt x="888" y="0"/>
                  </a:lnTo>
                  <a:cubicBezTo>
                    <a:pt x="892" y="0"/>
                    <a:pt x="896" y="4"/>
                    <a:pt x="896" y="8"/>
                  </a:cubicBezTo>
                  <a:cubicBezTo>
                    <a:pt x="896" y="13"/>
                    <a:pt x="892" y="16"/>
                    <a:pt x="888" y="16"/>
                  </a:cubicBezTo>
                  <a:lnTo>
                    <a:pt x="872" y="16"/>
                  </a:lnTo>
                  <a:cubicBezTo>
                    <a:pt x="867" y="16"/>
                    <a:pt x="864" y="13"/>
                    <a:pt x="864" y="8"/>
                  </a:cubicBezTo>
                  <a:cubicBezTo>
                    <a:pt x="864" y="4"/>
                    <a:pt x="867" y="0"/>
                    <a:pt x="872" y="0"/>
                  </a:cubicBezTo>
                  <a:close/>
                  <a:moveTo>
                    <a:pt x="920" y="0"/>
                  </a:moveTo>
                  <a:lnTo>
                    <a:pt x="936" y="0"/>
                  </a:lnTo>
                  <a:cubicBezTo>
                    <a:pt x="940" y="0"/>
                    <a:pt x="944" y="4"/>
                    <a:pt x="944" y="8"/>
                  </a:cubicBezTo>
                  <a:cubicBezTo>
                    <a:pt x="944" y="13"/>
                    <a:pt x="940" y="16"/>
                    <a:pt x="936" y="16"/>
                  </a:cubicBezTo>
                  <a:lnTo>
                    <a:pt x="920" y="16"/>
                  </a:lnTo>
                  <a:cubicBezTo>
                    <a:pt x="915" y="16"/>
                    <a:pt x="912" y="13"/>
                    <a:pt x="912" y="8"/>
                  </a:cubicBezTo>
                  <a:cubicBezTo>
                    <a:pt x="912" y="4"/>
                    <a:pt x="915" y="0"/>
                    <a:pt x="920" y="0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274320" tIns="137160" rIns="274320" bIns="137160" numCol="1" anchor="t" anchorCtr="0" compatLnSpc="1">
              <a:prstTxWarp prst="textNoShape">
                <a:avLst/>
              </a:prstTxWarp>
            </a:bodyPr>
            <a:lstStyle/>
            <a:p>
              <a:endParaRPr lang="en-US" sz="5400"/>
            </a:p>
          </p:txBody>
        </p:sp>
        <p:sp>
          <p:nvSpPr>
            <p:cNvPr id="668" name="Freeform 50">
              <a:extLst>
                <a:ext uri="{FF2B5EF4-FFF2-40B4-BE49-F238E27FC236}">
                  <a16:creationId xmlns:a16="http://schemas.microsoft.com/office/drawing/2014/main" id="{E9FFEB47-5AF6-FD5D-44ED-2327FFD23F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45149" y="3936156"/>
              <a:ext cx="153213" cy="3367"/>
            </a:xfrm>
            <a:custGeom>
              <a:avLst/>
              <a:gdLst>
                <a:gd name="T0" fmla="*/ 32 w 944"/>
                <a:gd name="T1" fmla="*/ 8 h 16"/>
                <a:gd name="T2" fmla="*/ 0 w 944"/>
                <a:gd name="T3" fmla="*/ 8 h 16"/>
                <a:gd name="T4" fmla="*/ 72 w 944"/>
                <a:gd name="T5" fmla="*/ 0 h 16"/>
                <a:gd name="T6" fmla="*/ 56 w 944"/>
                <a:gd name="T7" fmla="*/ 16 h 16"/>
                <a:gd name="T8" fmla="*/ 104 w 944"/>
                <a:gd name="T9" fmla="*/ 0 h 16"/>
                <a:gd name="T10" fmla="*/ 120 w 944"/>
                <a:gd name="T11" fmla="*/ 16 h 16"/>
                <a:gd name="T12" fmla="*/ 104 w 944"/>
                <a:gd name="T13" fmla="*/ 0 h 16"/>
                <a:gd name="T14" fmla="*/ 176 w 944"/>
                <a:gd name="T15" fmla="*/ 8 h 16"/>
                <a:gd name="T16" fmla="*/ 144 w 944"/>
                <a:gd name="T17" fmla="*/ 8 h 16"/>
                <a:gd name="T18" fmla="*/ 216 w 944"/>
                <a:gd name="T19" fmla="*/ 0 h 16"/>
                <a:gd name="T20" fmla="*/ 200 w 944"/>
                <a:gd name="T21" fmla="*/ 16 h 16"/>
                <a:gd name="T22" fmla="*/ 248 w 944"/>
                <a:gd name="T23" fmla="*/ 0 h 16"/>
                <a:gd name="T24" fmla="*/ 264 w 944"/>
                <a:gd name="T25" fmla="*/ 16 h 16"/>
                <a:gd name="T26" fmla="*/ 248 w 944"/>
                <a:gd name="T27" fmla="*/ 0 h 16"/>
                <a:gd name="T28" fmla="*/ 320 w 944"/>
                <a:gd name="T29" fmla="*/ 8 h 16"/>
                <a:gd name="T30" fmla="*/ 288 w 944"/>
                <a:gd name="T31" fmla="*/ 8 h 16"/>
                <a:gd name="T32" fmla="*/ 360 w 944"/>
                <a:gd name="T33" fmla="*/ 0 h 16"/>
                <a:gd name="T34" fmla="*/ 344 w 944"/>
                <a:gd name="T35" fmla="*/ 16 h 16"/>
                <a:gd name="T36" fmla="*/ 392 w 944"/>
                <a:gd name="T37" fmla="*/ 0 h 16"/>
                <a:gd name="T38" fmla="*/ 408 w 944"/>
                <a:gd name="T39" fmla="*/ 16 h 16"/>
                <a:gd name="T40" fmla="*/ 392 w 944"/>
                <a:gd name="T41" fmla="*/ 0 h 16"/>
                <a:gd name="T42" fmla="*/ 464 w 944"/>
                <a:gd name="T43" fmla="*/ 8 h 16"/>
                <a:gd name="T44" fmla="*/ 432 w 944"/>
                <a:gd name="T45" fmla="*/ 8 h 16"/>
                <a:gd name="T46" fmla="*/ 504 w 944"/>
                <a:gd name="T47" fmla="*/ 0 h 16"/>
                <a:gd name="T48" fmla="*/ 488 w 944"/>
                <a:gd name="T49" fmla="*/ 16 h 16"/>
                <a:gd name="T50" fmla="*/ 536 w 944"/>
                <a:gd name="T51" fmla="*/ 0 h 16"/>
                <a:gd name="T52" fmla="*/ 552 w 944"/>
                <a:gd name="T53" fmla="*/ 16 h 16"/>
                <a:gd name="T54" fmla="*/ 536 w 944"/>
                <a:gd name="T55" fmla="*/ 0 h 16"/>
                <a:gd name="T56" fmla="*/ 608 w 944"/>
                <a:gd name="T57" fmla="*/ 8 h 16"/>
                <a:gd name="T58" fmla="*/ 576 w 944"/>
                <a:gd name="T59" fmla="*/ 8 h 16"/>
                <a:gd name="T60" fmla="*/ 648 w 944"/>
                <a:gd name="T61" fmla="*/ 0 h 16"/>
                <a:gd name="T62" fmla="*/ 632 w 944"/>
                <a:gd name="T63" fmla="*/ 16 h 16"/>
                <a:gd name="T64" fmla="*/ 680 w 944"/>
                <a:gd name="T65" fmla="*/ 0 h 16"/>
                <a:gd name="T66" fmla="*/ 696 w 944"/>
                <a:gd name="T67" fmla="*/ 16 h 16"/>
                <a:gd name="T68" fmla="*/ 680 w 944"/>
                <a:gd name="T69" fmla="*/ 0 h 16"/>
                <a:gd name="T70" fmla="*/ 752 w 944"/>
                <a:gd name="T71" fmla="*/ 8 h 16"/>
                <a:gd name="T72" fmla="*/ 720 w 944"/>
                <a:gd name="T73" fmla="*/ 8 h 16"/>
                <a:gd name="T74" fmla="*/ 792 w 944"/>
                <a:gd name="T75" fmla="*/ 0 h 16"/>
                <a:gd name="T76" fmla="*/ 776 w 944"/>
                <a:gd name="T77" fmla="*/ 16 h 16"/>
                <a:gd name="T78" fmla="*/ 824 w 944"/>
                <a:gd name="T79" fmla="*/ 0 h 16"/>
                <a:gd name="T80" fmla="*/ 840 w 944"/>
                <a:gd name="T81" fmla="*/ 16 h 16"/>
                <a:gd name="T82" fmla="*/ 824 w 944"/>
                <a:gd name="T83" fmla="*/ 0 h 16"/>
                <a:gd name="T84" fmla="*/ 896 w 944"/>
                <a:gd name="T85" fmla="*/ 8 h 16"/>
                <a:gd name="T86" fmla="*/ 864 w 944"/>
                <a:gd name="T87" fmla="*/ 8 h 16"/>
                <a:gd name="T88" fmla="*/ 936 w 944"/>
                <a:gd name="T89" fmla="*/ 0 h 16"/>
                <a:gd name="T90" fmla="*/ 920 w 944"/>
                <a:gd name="T91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44" h="16">
                  <a:moveTo>
                    <a:pt x="8" y="0"/>
                  </a:moveTo>
                  <a:lnTo>
                    <a:pt x="24" y="0"/>
                  </a:lnTo>
                  <a:cubicBezTo>
                    <a:pt x="28" y="0"/>
                    <a:pt x="32" y="3"/>
                    <a:pt x="32" y="8"/>
                  </a:cubicBezTo>
                  <a:cubicBezTo>
                    <a:pt x="32" y="12"/>
                    <a:pt x="28" y="16"/>
                    <a:pt x="24" y="16"/>
                  </a:cubicBezTo>
                  <a:lnTo>
                    <a:pt x="8" y="16"/>
                  </a:lnTo>
                  <a:cubicBezTo>
                    <a:pt x="3" y="16"/>
                    <a:pt x="0" y="12"/>
                    <a:pt x="0" y="8"/>
                  </a:cubicBezTo>
                  <a:cubicBezTo>
                    <a:pt x="0" y="3"/>
                    <a:pt x="3" y="0"/>
                    <a:pt x="8" y="0"/>
                  </a:cubicBezTo>
                  <a:close/>
                  <a:moveTo>
                    <a:pt x="56" y="0"/>
                  </a:moveTo>
                  <a:lnTo>
                    <a:pt x="72" y="0"/>
                  </a:lnTo>
                  <a:cubicBezTo>
                    <a:pt x="76" y="0"/>
                    <a:pt x="80" y="3"/>
                    <a:pt x="80" y="8"/>
                  </a:cubicBezTo>
                  <a:cubicBezTo>
                    <a:pt x="80" y="12"/>
                    <a:pt x="76" y="16"/>
                    <a:pt x="72" y="16"/>
                  </a:cubicBezTo>
                  <a:lnTo>
                    <a:pt x="56" y="16"/>
                  </a:lnTo>
                  <a:cubicBezTo>
                    <a:pt x="51" y="16"/>
                    <a:pt x="48" y="12"/>
                    <a:pt x="48" y="8"/>
                  </a:cubicBezTo>
                  <a:cubicBezTo>
                    <a:pt x="48" y="3"/>
                    <a:pt x="51" y="0"/>
                    <a:pt x="56" y="0"/>
                  </a:cubicBezTo>
                  <a:close/>
                  <a:moveTo>
                    <a:pt x="104" y="0"/>
                  </a:moveTo>
                  <a:lnTo>
                    <a:pt x="120" y="0"/>
                  </a:lnTo>
                  <a:cubicBezTo>
                    <a:pt x="124" y="0"/>
                    <a:pt x="128" y="3"/>
                    <a:pt x="128" y="8"/>
                  </a:cubicBezTo>
                  <a:cubicBezTo>
                    <a:pt x="128" y="12"/>
                    <a:pt x="124" y="16"/>
                    <a:pt x="120" y="16"/>
                  </a:cubicBezTo>
                  <a:lnTo>
                    <a:pt x="104" y="16"/>
                  </a:lnTo>
                  <a:cubicBezTo>
                    <a:pt x="99" y="16"/>
                    <a:pt x="96" y="12"/>
                    <a:pt x="96" y="8"/>
                  </a:cubicBezTo>
                  <a:cubicBezTo>
                    <a:pt x="96" y="3"/>
                    <a:pt x="99" y="0"/>
                    <a:pt x="104" y="0"/>
                  </a:cubicBezTo>
                  <a:close/>
                  <a:moveTo>
                    <a:pt x="152" y="0"/>
                  </a:moveTo>
                  <a:lnTo>
                    <a:pt x="168" y="0"/>
                  </a:lnTo>
                  <a:cubicBezTo>
                    <a:pt x="172" y="0"/>
                    <a:pt x="176" y="3"/>
                    <a:pt x="176" y="8"/>
                  </a:cubicBezTo>
                  <a:cubicBezTo>
                    <a:pt x="176" y="12"/>
                    <a:pt x="172" y="16"/>
                    <a:pt x="168" y="16"/>
                  </a:cubicBezTo>
                  <a:lnTo>
                    <a:pt x="152" y="16"/>
                  </a:lnTo>
                  <a:cubicBezTo>
                    <a:pt x="147" y="16"/>
                    <a:pt x="144" y="12"/>
                    <a:pt x="144" y="8"/>
                  </a:cubicBezTo>
                  <a:cubicBezTo>
                    <a:pt x="144" y="3"/>
                    <a:pt x="147" y="0"/>
                    <a:pt x="152" y="0"/>
                  </a:cubicBezTo>
                  <a:close/>
                  <a:moveTo>
                    <a:pt x="200" y="0"/>
                  </a:moveTo>
                  <a:lnTo>
                    <a:pt x="216" y="0"/>
                  </a:lnTo>
                  <a:cubicBezTo>
                    <a:pt x="220" y="0"/>
                    <a:pt x="224" y="3"/>
                    <a:pt x="224" y="8"/>
                  </a:cubicBezTo>
                  <a:cubicBezTo>
                    <a:pt x="224" y="12"/>
                    <a:pt x="220" y="16"/>
                    <a:pt x="216" y="16"/>
                  </a:cubicBezTo>
                  <a:lnTo>
                    <a:pt x="200" y="16"/>
                  </a:lnTo>
                  <a:cubicBezTo>
                    <a:pt x="195" y="16"/>
                    <a:pt x="192" y="12"/>
                    <a:pt x="192" y="8"/>
                  </a:cubicBezTo>
                  <a:cubicBezTo>
                    <a:pt x="192" y="3"/>
                    <a:pt x="195" y="0"/>
                    <a:pt x="200" y="0"/>
                  </a:cubicBezTo>
                  <a:close/>
                  <a:moveTo>
                    <a:pt x="248" y="0"/>
                  </a:moveTo>
                  <a:lnTo>
                    <a:pt x="264" y="0"/>
                  </a:lnTo>
                  <a:cubicBezTo>
                    <a:pt x="268" y="0"/>
                    <a:pt x="272" y="3"/>
                    <a:pt x="272" y="8"/>
                  </a:cubicBezTo>
                  <a:cubicBezTo>
                    <a:pt x="272" y="12"/>
                    <a:pt x="268" y="16"/>
                    <a:pt x="264" y="16"/>
                  </a:cubicBezTo>
                  <a:lnTo>
                    <a:pt x="248" y="16"/>
                  </a:lnTo>
                  <a:cubicBezTo>
                    <a:pt x="243" y="16"/>
                    <a:pt x="240" y="12"/>
                    <a:pt x="240" y="8"/>
                  </a:cubicBezTo>
                  <a:cubicBezTo>
                    <a:pt x="240" y="3"/>
                    <a:pt x="243" y="0"/>
                    <a:pt x="248" y="0"/>
                  </a:cubicBezTo>
                  <a:close/>
                  <a:moveTo>
                    <a:pt x="296" y="0"/>
                  </a:moveTo>
                  <a:lnTo>
                    <a:pt x="312" y="0"/>
                  </a:lnTo>
                  <a:cubicBezTo>
                    <a:pt x="316" y="0"/>
                    <a:pt x="320" y="3"/>
                    <a:pt x="320" y="8"/>
                  </a:cubicBezTo>
                  <a:cubicBezTo>
                    <a:pt x="320" y="12"/>
                    <a:pt x="316" y="16"/>
                    <a:pt x="312" y="16"/>
                  </a:cubicBezTo>
                  <a:lnTo>
                    <a:pt x="296" y="16"/>
                  </a:lnTo>
                  <a:cubicBezTo>
                    <a:pt x="291" y="16"/>
                    <a:pt x="288" y="12"/>
                    <a:pt x="288" y="8"/>
                  </a:cubicBezTo>
                  <a:cubicBezTo>
                    <a:pt x="288" y="3"/>
                    <a:pt x="291" y="0"/>
                    <a:pt x="296" y="0"/>
                  </a:cubicBezTo>
                  <a:close/>
                  <a:moveTo>
                    <a:pt x="344" y="0"/>
                  </a:moveTo>
                  <a:lnTo>
                    <a:pt x="360" y="0"/>
                  </a:lnTo>
                  <a:cubicBezTo>
                    <a:pt x="364" y="0"/>
                    <a:pt x="368" y="3"/>
                    <a:pt x="368" y="8"/>
                  </a:cubicBezTo>
                  <a:cubicBezTo>
                    <a:pt x="368" y="12"/>
                    <a:pt x="364" y="16"/>
                    <a:pt x="360" y="16"/>
                  </a:cubicBezTo>
                  <a:lnTo>
                    <a:pt x="344" y="16"/>
                  </a:lnTo>
                  <a:cubicBezTo>
                    <a:pt x="339" y="16"/>
                    <a:pt x="336" y="12"/>
                    <a:pt x="336" y="8"/>
                  </a:cubicBezTo>
                  <a:cubicBezTo>
                    <a:pt x="336" y="3"/>
                    <a:pt x="339" y="0"/>
                    <a:pt x="344" y="0"/>
                  </a:cubicBezTo>
                  <a:close/>
                  <a:moveTo>
                    <a:pt x="392" y="0"/>
                  </a:moveTo>
                  <a:lnTo>
                    <a:pt x="408" y="0"/>
                  </a:lnTo>
                  <a:cubicBezTo>
                    <a:pt x="412" y="0"/>
                    <a:pt x="416" y="3"/>
                    <a:pt x="416" y="8"/>
                  </a:cubicBezTo>
                  <a:cubicBezTo>
                    <a:pt x="416" y="12"/>
                    <a:pt x="412" y="16"/>
                    <a:pt x="408" y="16"/>
                  </a:cubicBezTo>
                  <a:lnTo>
                    <a:pt x="392" y="16"/>
                  </a:lnTo>
                  <a:cubicBezTo>
                    <a:pt x="387" y="16"/>
                    <a:pt x="384" y="12"/>
                    <a:pt x="384" y="8"/>
                  </a:cubicBezTo>
                  <a:cubicBezTo>
                    <a:pt x="384" y="3"/>
                    <a:pt x="387" y="0"/>
                    <a:pt x="392" y="0"/>
                  </a:cubicBezTo>
                  <a:close/>
                  <a:moveTo>
                    <a:pt x="440" y="0"/>
                  </a:moveTo>
                  <a:lnTo>
                    <a:pt x="456" y="0"/>
                  </a:lnTo>
                  <a:cubicBezTo>
                    <a:pt x="460" y="0"/>
                    <a:pt x="464" y="3"/>
                    <a:pt x="464" y="8"/>
                  </a:cubicBezTo>
                  <a:cubicBezTo>
                    <a:pt x="464" y="12"/>
                    <a:pt x="460" y="16"/>
                    <a:pt x="456" y="16"/>
                  </a:cubicBezTo>
                  <a:lnTo>
                    <a:pt x="440" y="16"/>
                  </a:lnTo>
                  <a:cubicBezTo>
                    <a:pt x="435" y="16"/>
                    <a:pt x="432" y="12"/>
                    <a:pt x="432" y="8"/>
                  </a:cubicBezTo>
                  <a:cubicBezTo>
                    <a:pt x="432" y="3"/>
                    <a:pt x="435" y="0"/>
                    <a:pt x="440" y="0"/>
                  </a:cubicBezTo>
                  <a:close/>
                  <a:moveTo>
                    <a:pt x="488" y="0"/>
                  </a:moveTo>
                  <a:lnTo>
                    <a:pt x="504" y="0"/>
                  </a:lnTo>
                  <a:cubicBezTo>
                    <a:pt x="508" y="0"/>
                    <a:pt x="512" y="3"/>
                    <a:pt x="512" y="8"/>
                  </a:cubicBezTo>
                  <a:cubicBezTo>
                    <a:pt x="512" y="12"/>
                    <a:pt x="508" y="16"/>
                    <a:pt x="504" y="16"/>
                  </a:cubicBezTo>
                  <a:lnTo>
                    <a:pt x="488" y="16"/>
                  </a:lnTo>
                  <a:cubicBezTo>
                    <a:pt x="483" y="16"/>
                    <a:pt x="480" y="12"/>
                    <a:pt x="480" y="8"/>
                  </a:cubicBezTo>
                  <a:cubicBezTo>
                    <a:pt x="480" y="3"/>
                    <a:pt x="483" y="0"/>
                    <a:pt x="488" y="0"/>
                  </a:cubicBezTo>
                  <a:close/>
                  <a:moveTo>
                    <a:pt x="536" y="0"/>
                  </a:moveTo>
                  <a:lnTo>
                    <a:pt x="552" y="0"/>
                  </a:lnTo>
                  <a:cubicBezTo>
                    <a:pt x="556" y="0"/>
                    <a:pt x="560" y="3"/>
                    <a:pt x="560" y="8"/>
                  </a:cubicBezTo>
                  <a:cubicBezTo>
                    <a:pt x="560" y="12"/>
                    <a:pt x="556" y="16"/>
                    <a:pt x="552" y="16"/>
                  </a:cubicBezTo>
                  <a:lnTo>
                    <a:pt x="536" y="16"/>
                  </a:lnTo>
                  <a:cubicBezTo>
                    <a:pt x="531" y="16"/>
                    <a:pt x="528" y="12"/>
                    <a:pt x="528" y="8"/>
                  </a:cubicBezTo>
                  <a:cubicBezTo>
                    <a:pt x="528" y="3"/>
                    <a:pt x="531" y="0"/>
                    <a:pt x="536" y="0"/>
                  </a:cubicBezTo>
                  <a:close/>
                  <a:moveTo>
                    <a:pt x="584" y="0"/>
                  </a:moveTo>
                  <a:lnTo>
                    <a:pt x="600" y="0"/>
                  </a:lnTo>
                  <a:cubicBezTo>
                    <a:pt x="604" y="0"/>
                    <a:pt x="608" y="3"/>
                    <a:pt x="608" y="8"/>
                  </a:cubicBezTo>
                  <a:cubicBezTo>
                    <a:pt x="608" y="12"/>
                    <a:pt x="604" y="16"/>
                    <a:pt x="600" y="16"/>
                  </a:cubicBezTo>
                  <a:lnTo>
                    <a:pt x="584" y="16"/>
                  </a:lnTo>
                  <a:cubicBezTo>
                    <a:pt x="579" y="16"/>
                    <a:pt x="576" y="12"/>
                    <a:pt x="576" y="8"/>
                  </a:cubicBezTo>
                  <a:cubicBezTo>
                    <a:pt x="576" y="3"/>
                    <a:pt x="579" y="0"/>
                    <a:pt x="584" y="0"/>
                  </a:cubicBezTo>
                  <a:close/>
                  <a:moveTo>
                    <a:pt x="632" y="0"/>
                  </a:moveTo>
                  <a:lnTo>
                    <a:pt x="648" y="0"/>
                  </a:lnTo>
                  <a:cubicBezTo>
                    <a:pt x="652" y="0"/>
                    <a:pt x="656" y="3"/>
                    <a:pt x="656" y="8"/>
                  </a:cubicBezTo>
                  <a:cubicBezTo>
                    <a:pt x="656" y="12"/>
                    <a:pt x="652" y="16"/>
                    <a:pt x="648" y="16"/>
                  </a:cubicBezTo>
                  <a:lnTo>
                    <a:pt x="632" y="16"/>
                  </a:lnTo>
                  <a:cubicBezTo>
                    <a:pt x="627" y="16"/>
                    <a:pt x="624" y="12"/>
                    <a:pt x="624" y="8"/>
                  </a:cubicBezTo>
                  <a:cubicBezTo>
                    <a:pt x="624" y="3"/>
                    <a:pt x="627" y="0"/>
                    <a:pt x="632" y="0"/>
                  </a:cubicBezTo>
                  <a:close/>
                  <a:moveTo>
                    <a:pt x="680" y="0"/>
                  </a:moveTo>
                  <a:lnTo>
                    <a:pt x="696" y="0"/>
                  </a:lnTo>
                  <a:cubicBezTo>
                    <a:pt x="700" y="0"/>
                    <a:pt x="704" y="3"/>
                    <a:pt x="704" y="8"/>
                  </a:cubicBezTo>
                  <a:cubicBezTo>
                    <a:pt x="704" y="12"/>
                    <a:pt x="700" y="16"/>
                    <a:pt x="696" y="16"/>
                  </a:cubicBezTo>
                  <a:lnTo>
                    <a:pt x="680" y="16"/>
                  </a:lnTo>
                  <a:cubicBezTo>
                    <a:pt x="675" y="16"/>
                    <a:pt x="672" y="12"/>
                    <a:pt x="672" y="8"/>
                  </a:cubicBezTo>
                  <a:cubicBezTo>
                    <a:pt x="672" y="3"/>
                    <a:pt x="675" y="0"/>
                    <a:pt x="680" y="0"/>
                  </a:cubicBezTo>
                  <a:close/>
                  <a:moveTo>
                    <a:pt x="728" y="0"/>
                  </a:moveTo>
                  <a:lnTo>
                    <a:pt x="744" y="0"/>
                  </a:lnTo>
                  <a:cubicBezTo>
                    <a:pt x="748" y="0"/>
                    <a:pt x="752" y="3"/>
                    <a:pt x="752" y="8"/>
                  </a:cubicBezTo>
                  <a:cubicBezTo>
                    <a:pt x="752" y="12"/>
                    <a:pt x="748" y="16"/>
                    <a:pt x="744" y="16"/>
                  </a:cubicBezTo>
                  <a:lnTo>
                    <a:pt x="728" y="16"/>
                  </a:lnTo>
                  <a:cubicBezTo>
                    <a:pt x="723" y="16"/>
                    <a:pt x="720" y="12"/>
                    <a:pt x="720" y="8"/>
                  </a:cubicBezTo>
                  <a:cubicBezTo>
                    <a:pt x="720" y="3"/>
                    <a:pt x="723" y="0"/>
                    <a:pt x="728" y="0"/>
                  </a:cubicBezTo>
                  <a:close/>
                  <a:moveTo>
                    <a:pt x="776" y="0"/>
                  </a:moveTo>
                  <a:lnTo>
                    <a:pt x="792" y="0"/>
                  </a:lnTo>
                  <a:cubicBezTo>
                    <a:pt x="796" y="0"/>
                    <a:pt x="800" y="3"/>
                    <a:pt x="800" y="8"/>
                  </a:cubicBezTo>
                  <a:cubicBezTo>
                    <a:pt x="800" y="12"/>
                    <a:pt x="796" y="16"/>
                    <a:pt x="792" y="16"/>
                  </a:cubicBezTo>
                  <a:lnTo>
                    <a:pt x="776" y="16"/>
                  </a:lnTo>
                  <a:cubicBezTo>
                    <a:pt x="771" y="16"/>
                    <a:pt x="768" y="12"/>
                    <a:pt x="768" y="8"/>
                  </a:cubicBezTo>
                  <a:cubicBezTo>
                    <a:pt x="768" y="3"/>
                    <a:pt x="771" y="0"/>
                    <a:pt x="776" y="0"/>
                  </a:cubicBezTo>
                  <a:close/>
                  <a:moveTo>
                    <a:pt x="824" y="0"/>
                  </a:moveTo>
                  <a:lnTo>
                    <a:pt x="840" y="0"/>
                  </a:lnTo>
                  <a:cubicBezTo>
                    <a:pt x="844" y="0"/>
                    <a:pt x="848" y="3"/>
                    <a:pt x="848" y="8"/>
                  </a:cubicBezTo>
                  <a:cubicBezTo>
                    <a:pt x="848" y="12"/>
                    <a:pt x="844" y="16"/>
                    <a:pt x="840" y="16"/>
                  </a:cubicBezTo>
                  <a:lnTo>
                    <a:pt x="824" y="16"/>
                  </a:lnTo>
                  <a:cubicBezTo>
                    <a:pt x="819" y="16"/>
                    <a:pt x="816" y="12"/>
                    <a:pt x="816" y="8"/>
                  </a:cubicBezTo>
                  <a:cubicBezTo>
                    <a:pt x="816" y="3"/>
                    <a:pt x="819" y="0"/>
                    <a:pt x="824" y="0"/>
                  </a:cubicBezTo>
                  <a:close/>
                  <a:moveTo>
                    <a:pt x="872" y="0"/>
                  </a:moveTo>
                  <a:lnTo>
                    <a:pt x="888" y="0"/>
                  </a:lnTo>
                  <a:cubicBezTo>
                    <a:pt x="892" y="0"/>
                    <a:pt x="896" y="3"/>
                    <a:pt x="896" y="8"/>
                  </a:cubicBezTo>
                  <a:cubicBezTo>
                    <a:pt x="896" y="12"/>
                    <a:pt x="892" y="16"/>
                    <a:pt x="888" y="16"/>
                  </a:cubicBezTo>
                  <a:lnTo>
                    <a:pt x="872" y="16"/>
                  </a:lnTo>
                  <a:cubicBezTo>
                    <a:pt x="867" y="16"/>
                    <a:pt x="864" y="12"/>
                    <a:pt x="864" y="8"/>
                  </a:cubicBezTo>
                  <a:cubicBezTo>
                    <a:pt x="864" y="3"/>
                    <a:pt x="867" y="0"/>
                    <a:pt x="872" y="0"/>
                  </a:cubicBezTo>
                  <a:close/>
                  <a:moveTo>
                    <a:pt x="920" y="0"/>
                  </a:moveTo>
                  <a:lnTo>
                    <a:pt x="936" y="0"/>
                  </a:lnTo>
                  <a:cubicBezTo>
                    <a:pt x="940" y="0"/>
                    <a:pt x="944" y="3"/>
                    <a:pt x="944" y="8"/>
                  </a:cubicBezTo>
                  <a:cubicBezTo>
                    <a:pt x="944" y="12"/>
                    <a:pt x="940" y="16"/>
                    <a:pt x="936" y="16"/>
                  </a:cubicBezTo>
                  <a:lnTo>
                    <a:pt x="920" y="16"/>
                  </a:lnTo>
                  <a:cubicBezTo>
                    <a:pt x="915" y="16"/>
                    <a:pt x="912" y="12"/>
                    <a:pt x="912" y="8"/>
                  </a:cubicBezTo>
                  <a:cubicBezTo>
                    <a:pt x="912" y="3"/>
                    <a:pt x="915" y="0"/>
                    <a:pt x="920" y="0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274320" tIns="137160" rIns="274320" bIns="137160" numCol="1" anchor="t" anchorCtr="0" compatLnSpc="1">
              <a:prstTxWarp prst="textNoShape">
                <a:avLst/>
              </a:prstTxWarp>
            </a:bodyPr>
            <a:lstStyle/>
            <a:p>
              <a:endParaRPr lang="en-US" sz="5400"/>
            </a:p>
          </p:txBody>
        </p:sp>
      </p:grpSp>
      <p:sp>
        <p:nvSpPr>
          <p:cNvPr id="641" name="Rectangle 51">
            <a:extLst>
              <a:ext uri="{FF2B5EF4-FFF2-40B4-BE49-F238E27FC236}">
                <a16:creationId xmlns:a16="http://schemas.microsoft.com/office/drawing/2014/main" id="{A4DB4E2E-6663-0D3F-F149-929640231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22878" y="16317924"/>
            <a:ext cx="278346" cy="315756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74320" tIns="137160" rIns="274320" bIns="137160" numCol="1" anchor="t" anchorCtr="0" compatLnSpc="1">
            <a:prstTxWarp prst="textNoShape">
              <a:avLst/>
            </a:prstTxWarp>
          </a:bodyPr>
          <a:lstStyle/>
          <a:p>
            <a:endParaRPr lang="en-US" sz="5400"/>
          </a:p>
        </p:txBody>
      </p:sp>
      <p:sp>
        <p:nvSpPr>
          <p:cNvPr id="642" name="Rectangle 52">
            <a:extLst>
              <a:ext uri="{FF2B5EF4-FFF2-40B4-BE49-F238E27FC236}">
                <a16:creationId xmlns:a16="http://schemas.microsoft.com/office/drawing/2014/main" id="{F8BA05BD-B967-63EB-006C-C611E1645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06111" y="15445505"/>
            <a:ext cx="186108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2743200"/>
            <a:r>
              <a:rPr lang="pt-BR" altLang="pt-BR" dirty="0">
                <a:solidFill>
                  <a:srgbClr val="00000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Ponto de Encontro</a:t>
            </a:r>
            <a:endParaRPr lang="pt-BR" altLang="pt-BR" sz="5400" dirty="0"/>
          </a:p>
        </p:txBody>
      </p:sp>
      <p:sp>
        <p:nvSpPr>
          <p:cNvPr id="643" name="Freeform 56">
            <a:extLst>
              <a:ext uri="{FF2B5EF4-FFF2-40B4-BE49-F238E27FC236}">
                <a16:creationId xmlns:a16="http://schemas.microsoft.com/office/drawing/2014/main" id="{D8BA607D-97C0-F7AB-C73D-F769EBCB5EA2}"/>
              </a:ext>
            </a:extLst>
          </p:cNvPr>
          <p:cNvSpPr>
            <a:spLocks noEditPoints="1"/>
          </p:cNvSpPr>
          <p:nvPr/>
        </p:nvSpPr>
        <p:spPr bwMode="auto">
          <a:xfrm>
            <a:off x="33356763" y="14851530"/>
            <a:ext cx="268122" cy="311892"/>
          </a:xfrm>
          <a:custGeom>
            <a:avLst/>
            <a:gdLst>
              <a:gd name="T0" fmla="*/ 66 w 545"/>
              <a:gd name="T1" fmla="*/ 168 h 597"/>
              <a:gd name="T2" fmla="*/ 66 w 545"/>
              <a:gd name="T3" fmla="*/ 27 h 597"/>
              <a:gd name="T4" fmla="*/ 297 w 545"/>
              <a:gd name="T5" fmla="*/ 27 h 597"/>
              <a:gd name="T6" fmla="*/ 297 w 545"/>
              <a:gd name="T7" fmla="*/ 168 h 597"/>
              <a:gd name="T8" fmla="*/ 66 w 545"/>
              <a:gd name="T9" fmla="*/ 168 h 597"/>
              <a:gd name="T10" fmla="*/ 397 w 545"/>
              <a:gd name="T11" fmla="*/ 157 h 597"/>
              <a:gd name="T12" fmla="*/ 373 w 545"/>
              <a:gd name="T13" fmla="*/ 157 h 597"/>
              <a:gd name="T14" fmla="*/ 373 w 545"/>
              <a:gd name="T15" fmla="*/ 110 h 597"/>
              <a:gd name="T16" fmla="*/ 397 w 545"/>
              <a:gd name="T17" fmla="*/ 101 h 597"/>
              <a:gd name="T18" fmla="*/ 397 w 545"/>
              <a:gd name="T19" fmla="*/ 157 h 597"/>
              <a:gd name="T20" fmla="*/ 330 w 545"/>
              <a:gd name="T21" fmla="*/ 564 h 597"/>
              <a:gd name="T22" fmla="*/ 330 w 545"/>
              <a:gd name="T23" fmla="*/ 220 h 597"/>
              <a:gd name="T24" fmla="*/ 376 w 545"/>
              <a:gd name="T25" fmla="*/ 220 h 597"/>
              <a:gd name="T26" fmla="*/ 382 w 545"/>
              <a:gd name="T27" fmla="*/ 247 h 597"/>
              <a:gd name="T28" fmla="*/ 344 w 545"/>
              <a:gd name="T29" fmla="*/ 458 h 597"/>
              <a:gd name="T30" fmla="*/ 445 w 545"/>
              <a:gd name="T31" fmla="*/ 563 h 597"/>
              <a:gd name="T32" fmla="*/ 545 w 545"/>
              <a:gd name="T33" fmla="*/ 458 h 597"/>
              <a:gd name="T34" fmla="*/ 508 w 545"/>
              <a:gd name="T35" fmla="*/ 247 h 597"/>
              <a:gd name="T36" fmla="*/ 457 w 545"/>
              <a:gd name="T37" fmla="*/ 194 h 597"/>
              <a:gd name="T38" fmla="*/ 432 w 545"/>
              <a:gd name="T39" fmla="*/ 168 h 597"/>
              <a:gd name="T40" fmla="*/ 446 w 545"/>
              <a:gd name="T41" fmla="*/ 168 h 597"/>
              <a:gd name="T42" fmla="*/ 446 w 545"/>
              <a:gd name="T43" fmla="*/ 85 h 597"/>
              <a:gd name="T44" fmla="*/ 430 w 545"/>
              <a:gd name="T45" fmla="*/ 85 h 597"/>
              <a:gd name="T46" fmla="*/ 397 w 545"/>
              <a:gd name="T47" fmla="*/ 2 h 597"/>
              <a:gd name="T48" fmla="*/ 396 w 545"/>
              <a:gd name="T49" fmla="*/ 7 h 597"/>
              <a:gd name="T50" fmla="*/ 396 w 545"/>
              <a:gd name="T51" fmla="*/ 19 h 597"/>
              <a:gd name="T52" fmla="*/ 397 w 545"/>
              <a:gd name="T53" fmla="*/ 19 h 597"/>
              <a:gd name="T54" fmla="*/ 413 w 545"/>
              <a:gd name="T55" fmla="*/ 85 h 597"/>
              <a:gd name="T56" fmla="*/ 397 w 545"/>
              <a:gd name="T57" fmla="*/ 85 h 597"/>
              <a:gd name="T58" fmla="*/ 363 w 545"/>
              <a:gd name="T59" fmla="*/ 101 h 597"/>
              <a:gd name="T60" fmla="*/ 363 w 545"/>
              <a:gd name="T61" fmla="*/ 168 h 597"/>
              <a:gd name="T62" fmla="*/ 407 w 545"/>
              <a:gd name="T63" fmla="*/ 168 h 597"/>
              <a:gd name="T64" fmla="*/ 457 w 545"/>
              <a:gd name="T65" fmla="*/ 220 h 597"/>
              <a:gd name="T66" fmla="*/ 482 w 545"/>
              <a:gd name="T67" fmla="*/ 247 h 597"/>
              <a:gd name="T68" fmla="*/ 520 w 545"/>
              <a:gd name="T69" fmla="*/ 458 h 597"/>
              <a:gd name="T70" fmla="*/ 445 w 545"/>
              <a:gd name="T71" fmla="*/ 537 h 597"/>
              <a:gd name="T72" fmla="*/ 369 w 545"/>
              <a:gd name="T73" fmla="*/ 458 h 597"/>
              <a:gd name="T74" fmla="*/ 407 w 545"/>
              <a:gd name="T75" fmla="*/ 220 h 597"/>
              <a:gd name="T76" fmla="*/ 392 w 545"/>
              <a:gd name="T77" fmla="*/ 198 h 597"/>
              <a:gd name="T78" fmla="*/ 387 w 545"/>
              <a:gd name="T79" fmla="*/ 198 h 597"/>
              <a:gd name="T80" fmla="*/ 330 w 545"/>
              <a:gd name="T81" fmla="*/ 198 h 597"/>
              <a:gd name="T82" fmla="*/ 330 w 545"/>
              <a:gd name="T83" fmla="*/ 2 h 597"/>
              <a:gd name="T84" fmla="*/ 33 w 545"/>
              <a:gd name="T85" fmla="*/ 2 h 597"/>
              <a:gd name="T86" fmla="*/ 33 w 545"/>
              <a:gd name="T87" fmla="*/ 564 h 597"/>
              <a:gd name="T88" fmla="*/ 0 w 545"/>
              <a:gd name="T89" fmla="*/ 564 h 597"/>
              <a:gd name="T90" fmla="*/ 0 w 545"/>
              <a:gd name="T91" fmla="*/ 597 h 597"/>
              <a:gd name="T92" fmla="*/ 363 w 545"/>
              <a:gd name="T93" fmla="*/ 597 h 597"/>
              <a:gd name="T94" fmla="*/ 363 w 545"/>
              <a:gd name="T95" fmla="*/ 564 h 597"/>
              <a:gd name="T96" fmla="*/ 330 w 545"/>
              <a:gd name="T97" fmla="*/ 564 h 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545" h="597">
                <a:moveTo>
                  <a:pt x="66" y="168"/>
                </a:moveTo>
                <a:lnTo>
                  <a:pt x="66" y="27"/>
                </a:lnTo>
                <a:lnTo>
                  <a:pt x="297" y="27"/>
                </a:lnTo>
                <a:lnTo>
                  <a:pt x="297" y="168"/>
                </a:lnTo>
                <a:lnTo>
                  <a:pt x="66" y="168"/>
                </a:lnTo>
                <a:close/>
                <a:moveTo>
                  <a:pt x="397" y="157"/>
                </a:moveTo>
                <a:lnTo>
                  <a:pt x="373" y="157"/>
                </a:lnTo>
                <a:lnTo>
                  <a:pt x="373" y="110"/>
                </a:lnTo>
                <a:lnTo>
                  <a:pt x="397" y="101"/>
                </a:lnTo>
                <a:lnTo>
                  <a:pt x="397" y="157"/>
                </a:lnTo>
                <a:close/>
                <a:moveTo>
                  <a:pt x="330" y="564"/>
                </a:moveTo>
                <a:lnTo>
                  <a:pt x="330" y="220"/>
                </a:lnTo>
                <a:lnTo>
                  <a:pt x="376" y="220"/>
                </a:lnTo>
                <a:cubicBezTo>
                  <a:pt x="381" y="228"/>
                  <a:pt x="383" y="237"/>
                  <a:pt x="382" y="247"/>
                </a:cubicBezTo>
                <a:lnTo>
                  <a:pt x="344" y="458"/>
                </a:lnTo>
                <a:cubicBezTo>
                  <a:pt x="344" y="516"/>
                  <a:pt x="389" y="563"/>
                  <a:pt x="445" y="563"/>
                </a:cubicBezTo>
                <a:cubicBezTo>
                  <a:pt x="500" y="563"/>
                  <a:pt x="545" y="516"/>
                  <a:pt x="545" y="458"/>
                </a:cubicBezTo>
                <a:lnTo>
                  <a:pt x="508" y="247"/>
                </a:lnTo>
                <a:cubicBezTo>
                  <a:pt x="508" y="218"/>
                  <a:pt x="485" y="194"/>
                  <a:pt x="457" y="194"/>
                </a:cubicBezTo>
                <a:cubicBezTo>
                  <a:pt x="443" y="194"/>
                  <a:pt x="432" y="182"/>
                  <a:pt x="432" y="168"/>
                </a:cubicBezTo>
                <a:lnTo>
                  <a:pt x="446" y="168"/>
                </a:lnTo>
                <a:lnTo>
                  <a:pt x="446" y="85"/>
                </a:lnTo>
                <a:lnTo>
                  <a:pt x="430" y="85"/>
                </a:lnTo>
                <a:cubicBezTo>
                  <a:pt x="430" y="39"/>
                  <a:pt x="415" y="2"/>
                  <a:pt x="397" y="2"/>
                </a:cubicBezTo>
                <a:cubicBezTo>
                  <a:pt x="396" y="0"/>
                  <a:pt x="396" y="3"/>
                  <a:pt x="396" y="7"/>
                </a:cubicBezTo>
                <a:cubicBezTo>
                  <a:pt x="395" y="12"/>
                  <a:pt x="396" y="17"/>
                  <a:pt x="396" y="19"/>
                </a:cubicBezTo>
                <a:cubicBezTo>
                  <a:pt x="396" y="20"/>
                  <a:pt x="396" y="20"/>
                  <a:pt x="397" y="19"/>
                </a:cubicBezTo>
                <a:cubicBezTo>
                  <a:pt x="406" y="19"/>
                  <a:pt x="413" y="48"/>
                  <a:pt x="413" y="85"/>
                </a:cubicBezTo>
                <a:lnTo>
                  <a:pt x="397" y="85"/>
                </a:lnTo>
                <a:lnTo>
                  <a:pt x="363" y="101"/>
                </a:lnTo>
                <a:lnTo>
                  <a:pt x="363" y="168"/>
                </a:lnTo>
                <a:lnTo>
                  <a:pt x="407" y="168"/>
                </a:lnTo>
                <a:cubicBezTo>
                  <a:pt x="407" y="197"/>
                  <a:pt x="429" y="220"/>
                  <a:pt x="457" y="220"/>
                </a:cubicBezTo>
                <a:cubicBezTo>
                  <a:pt x="471" y="220"/>
                  <a:pt x="482" y="232"/>
                  <a:pt x="482" y="247"/>
                </a:cubicBezTo>
                <a:lnTo>
                  <a:pt x="520" y="458"/>
                </a:lnTo>
                <a:cubicBezTo>
                  <a:pt x="520" y="501"/>
                  <a:pt x="486" y="537"/>
                  <a:pt x="445" y="537"/>
                </a:cubicBezTo>
                <a:cubicBezTo>
                  <a:pt x="403" y="537"/>
                  <a:pt x="369" y="501"/>
                  <a:pt x="369" y="458"/>
                </a:cubicBezTo>
                <a:lnTo>
                  <a:pt x="407" y="220"/>
                </a:lnTo>
                <a:cubicBezTo>
                  <a:pt x="409" y="210"/>
                  <a:pt x="402" y="200"/>
                  <a:pt x="392" y="198"/>
                </a:cubicBezTo>
                <a:cubicBezTo>
                  <a:pt x="390" y="198"/>
                  <a:pt x="389" y="198"/>
                  <a:pt x="387" y="198"/>
                </a:cubicBezTo>
                <a:lnTo>
                  <a:pt x="330" y="198"/>
                </a:lnTo>
                <a:lnTo>
                  <a:pt x="330" y="2"/>
                </a:lnTo>
                <a:lnTo>
                  <a:pt x="33" y="2"/>
                </a:lnTo>
                <a:lnTo>
                  <a:pt x="33" y="564"/>
                </a:lnTo>
                <a:lnTo>
                  <a:pt x="0" y="564"/>
                </a:lnTo>
                <a:lnTo>
                  <a:pt x="0" y="597"/>
                </a:lnTo>
                <a:lnTo>
                  <a:pt x="363" y="597"/>
                </a:lnTo>
                <a:lnTo>
                  <a:pt x="363" y="564"/>
                </a:lnTo>
                <a:lnTo>
                  <a:pt x="330" y="564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274320" tIns="137160" rIns="274320" bIns="137160" numCol="1" anchor="t" anchorCtr="0" compatLnSpc="1">
            <a:prstTxWarp prst="textNoShape">
              <a:avLst/>
            </a:prstTxWarp>
          </a:bodyPr>
          <a:lstStyle/>
          <a:p>
            <a:endParaRPr lang="en-US" sz="5400"/>
          </a:p>
        </p:txBody>
      </p:sp>
      <p:sp>
        <p:nvSpPr>
          <p:cNvPr id="644" name="Rectangle 58">
            <a:extLst>
              <a:ext uri="{FF2B5EF4-FFF2-40B4-BE49-F238E27FC236}">
                <a16:creationId xmlns:a16="http://schemas.microsoft.com/office/drawing/2014/main" id="{0653A370-9003-9D8A-7ABD-13FFF2594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06111" y="14860727"/>
            <a:ext cx="248465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2743200"/>
            <a:r>
              <a:rPr lang="pt-BR" altLang="pt-BR" dirty="0">
                <a:solidFill>
                  <a:srgbClr val="00000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Posto de Abastecimento </a:t>
            </a:r>
            <a:endParaRPr lang="pt-BR" altLang="pt-BR" sz="5400" dirty="0"/>
          </a:p>
        </p:txBody>
      </p:sp>
      <p:sp>
        <p:nvSpPr>
          <p:cNvPr id="645" name="Rectangle 142">
            <a:extLst>
              <a:ext uri="{FF2B5EF4-FFF2-40B4-BE49-F238E27FC236}">
                <a16:creationId xmlns:a16="http://schemas.microsoft.com/office/drawing/2014/main" id="{956E627E-12DC-065E-5673-58BCCF5D1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83603" y="15434880"/>
            <a:ext cx="634821" cy="294348"/>
          </a:xfrm>
          <a:prstGeom prst="rect">
            <a:avLst/>
          </a:prstGeom>
          <a:solidFill>
            <a:srgbClr val="F9C4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74320" tIns="137160" rIns="274320" bIns="137160" numCol="1" anchor="t" anchorCtr="0" compatLnSpc="1">
            <a:prstTxWarp prst="textNoShape">
              <a:avLst/>
            </a:prstTxWarp>
          </a:bodyPr>
          <a:lstStyle/>
          <a:p>
            <a:endParaRPr lang="en-US" sz="5400"/>
          </a:p>
        </p:txBody>
      </p:sp>
      <p:sp>
        <p:nvSpPr>
          <p:cNvPr id="646" name="Rectangle 143">
            <a:extLst>
              <a:ext uri="{FF2B5EF4-FFF2-40B4-BE49-F238E27FC236}">
                <a16:creationId xmlns:a16="http://schemas.microsoft.com/office/drawing/2014/main" id="{C1CE5C3D-0572-DDC7-E5CA-3274BECA9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169" y="15381362"/>
            <a:ext cx="232275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2743200"/>
            <a:r>
              <a:rPr lang="pt-BR" altLang="pt-BR" dirty="0" err="1">
                <a:solidFill>
                  <a:srgbClr val="00000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Armazén</a:t>
            </a:r>
            <a:r>
              <a:rPr lang="pt-BR" altLang="pt-BR" dirty="0">
                <a:solidFill>
                  <a:srgbClr val="00000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 de </a:t>
            </a:r>
            <a:r>
              <a:rPr lang="pt-BR" altLang="pt-BR" dirty="0" err="1">
                <a:solidFill>
                  <a:srgbClr val="00000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Impotação</a:t>
            </a:r>
            <a:endParaRPr lang="pt-BR" altLang="pt-BR" sz="5400" dirty="0"/>
          </a:p>
        </p:txBody>
      </p:sp>
      <p:sp>
        <p:nvSpPr>
          <p:cNvPr id="647" name="Rectangle 144">
            <a:extLst>
              <a:ext uri="{FF2B5EF4-FFF2-40B4-BE49-F238E27FC236}">
                <a16:creationId xmlns:a16="http://schemas.microsoft.com/office/drawing/2014/main" id="{12621BFD-875E-4A52-32B3-D53394320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3371" y="15900483"/>
            <a:ext cx="634821" cy="29434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74320" tIns="137160" rIns="274320" bIns="137160" numCol="1" anchor="t" anchorCtr="0" compatLnSpc="1">
            <a:prstTxWarp prst="textNoShape">
              <a:avLst/>
            </a:prstTxWarp>
          </a:bodyPr>
          <a:lstStyle/>
          <a:p>
            <a:endParaRPr lang="en-US" sz="5400"/>
          </a:p>
        </p:txBody>
      </p:sp>
      <p:sp>
        <p:nvSpPr>
          <p:cNvPr id="648" name="Rectangle 145">
            <a:extLst>
              <a:ext uri="{FF2B5EF4-FFF2-40B4-BE49-F238E27FC236}">
                <a16:creationId xmlns:a16="http://schemas.microsoft.com/office/drawing/2014/main" id="{C6992389-E9E6-EED6-164A-C4EEF2F0E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2818" y="15852320"/>
            <a:ext cx="22618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2743200"/>
            <a:r>
              <a:rPr lang="pt-BR" altLang="pt-BR" dirty="0">
                <a:solidFill>
                  <a:srgbClr val="00000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Área de  Carga Projeto</a:t>
            </a:r>
            <a:endParaRPr lang="pt-BR" altLang="pt-BR" sz="5400" dirty="0"/>
          </a:p>
        </p:txBody>
      </p:sp>
      <p:pic>
        <p:nvPicPr>
          <p:cNvPr id="649" name="Imagem 648">
            <a:extLst>
              <a:ext uri="{FF2B5EF4-FFF2-40B4-BE49-F238E27FC236}">
                <a16:creationId xmlns:a16="http://schemas.microsoft.com/office/drawing/2014/main" id="{10F69299-2504-8A8F-EBDF-BA665B05DB1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259554" y="13685849"/>
            <a:ext cx="462540" cy="493035"/>
          </a:xfrm>
          <a:prstGeom prst="rect">
            <a:avLst/>
          </a:prstGeom>
        </p:spPr>
      </p:pic>
      <p:sp>
        <p:nvSpPr>
          <p:cNvPr id="650" name="Star: 6 Points 145">
            <a:extLst>
              <a:ext uri="{FF2B5EF4-FFF2-40B4-BE49-F238E27FC236}">
                <a16:creationId xmlns:a16="http://schemas.microsoft.com/office/drawing/2014/main" id="{0E6DF1FC-72E7-4EDD-083C-3572E37761A8}"/>
              </a:ext>
            </a:extLst>
          </p:cNvPr>
          <p:cNvSpPr/>
          <p:nvPr/>
        </p:nvSpPr>
        <p:spPr>
          <a:xfrm>
            <a:off x="33317703" y="14304623"/>
            <a:ext cx="268122" cy="376677"/>
          </a:xfrm>
          <a:prstGeom prst="star6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651" name="Rectangle 36">
            <a:extLst>
              <a:ext uri="{FF2B5EF4-FFF2-40B4-BE49-F238E27FC236}">
                <a16:creationId xmlns:a16="http://schemas.microsoft.com/office/drawing/2014/main" id="{D77357B6-9EF8-D651-9D72-76D1C57F5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06109" y="14302610"/>
            <a:ext cx="206146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2743200"/>
            <a:r>
              <a:rPr lang="pt-BR" altLang="pt-BR" dirty="0">
                <a:solidFill>
                  <a:srgbClr val="00000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Poste de Iluminação </a:t>
            </a:r>
            <a:endParaRPr lang="pt-BR" altLang="pt-BR" sz="5400" dirty="0"/>
          </a:p>
        </p:txBody>
      </p:sp>
      <p:sp>
        <p:nvSpPr>
          <p:cNvPr id="652" name="Rectangle 459">
            <a:extLst>
              <a:ext uri="{FF2B5EF4-FFF2-40B4-BE49-F238E27FC236}">
                <a16:creationId xmlns:a16="http://schemas.microsoft.com/office/drawing/2014/main" id="{E5E98575-F821-722A-6BF1-6F9C5368FF8E}"/>
              </a:ext>
            </a:extLst>
          </p:cNvPr>
          <p:cNvSpPr/>
          <p:nvPr/>
        </p:nvSpPr>
        <p:spPr>
          <a:xfrm>
            <a:off x="29759181" y="13119861"/>
            <a:ext cx="639708" cy="279024"/>
          </a:xfrm>
          <a:prstGeom prst="rect">
            <a:avLst/>
          </a:prstGeom>
          <a:solidFill>
            <a:srgbClr val="00B050"/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53" name="Rectangle 52">
            <a:extLst>
              <a:ext uri="{FF2B5EF4-FFF2-40B4-BE49-F238E27FC236}">
                <a16:creationId xmlns:a16="http://schemas.microsoft.com/office/drawing/2014/main" id="{0FCF1C3F-F9D5-501E-1115-7A9DA8317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6955" y="13086293"/>
            <a:ext cx="20197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2743200"/>
            <a:r>
              <a:rPr lang="pt-BR" altLang="pt-BR" dirty="0">
                <a:solidFill>
                  <a:srgbClr val="00000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Área de Travamento</a:t>
            </a:r>
            <a:endParaRPr lang="pt-BR" altLang="pt-BR" sz="5400" dirty="0"/>
          </a:p>
        </p:txBody>
      </p:sp>
      <p:sp>
        <p:nvSpPr>
          <p:cNvPr id="654" name="Rectangle 460">
            <a:extLst>
              <a:ext uri="{FF2B5EF4-FFF2-40B4-BE49-F238E27FC236}">
                <a16:creationId xmlns:a16="http://schemas.microsoft.com/office/drawing/2014/main" id="{E750467F-75F3-F67C-5710-B0D5BAB56F4C}"/>
              </a:ext>
            </a:extLst>
          </p:cNvPr>
          <p:cNvSpPr/>
          <p:nvPr/>
        </p:nvSpPr>
        <p:spPr>
          <a:xfrm>
            <a:off x="29764065" y="12678134"/>
            <a:ext cx="634824" cy="268731"/>
          </a:xfrm>
          <a:prstGeom prst="rect">
            <a:avLst/>
          </a:prstGeom>
          <a:solidFill>
            <a:srgbClr val="0070C0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55" name="Rectangle 52">
            <a:extLst>
              <a:ext uri="{FF2B5EF4-FFF2-40B4-BE49-F238E27FC236}">
                <a16:creationId xmlns:a16="http://schemas.microsoft.com/office/drawing/2014/main" id="{DD203F88-6CCC-F879-EBF0-4C909A761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05124" y="12655046"/>
            <a:ext cx="234519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2743200"/>
            <a:r>
              <a:rPr lang="pt-BR" altLang="pt-BR" dirty="0">
                <a:solidFill>
                  <a:srgbClr val="00000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Área de Destravamento</a:t>
            </a:r>
            <a:endParaRPr lang="pt-BR" altLang="pt-BR" sz="5400" dirty="0"/>
          </a:p>
        </p:txBody>
      </p:sp>
      <p:pic>
        <p:nvPicPr>
          <p:cNvPr id="656" name="Imagem 655">
            <a:extLst>
              <a:ext uri="{FF2B5EF4-FFF2-40B4-BE49-F238E27FC236}">
                <a16:creationId xmlns:a16="http://schemas.microsoft.com/office/drawing/2014/main" id="{74D69777-12A3-17E1-6B4F-C28CB81B582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3240026" y="12544236"/>
            <a:ext cx="466725" cy="498390"/>
          </a:xfrm>
          <a:prstGeom prst="rect">
            <a:avLst/>
          </a:prstGeom>
        </p:spPr>
      </p:pic>
      <p:pic>
        <p:nvPicPr>
          <p:cNvPr id="657" name="Imagem 656">
            <a:extLst>
              <a:ext uri="{FF2B5EF4-FFF2-40B4-BE49-F238E27FC236}">
                <a16:creationId xmlns:a16="http://schemas.microsoft.com/office/drawing/2014/main" id="{4639990C-8B30-97F0-80FC-BDD08840138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337532" y="15381341"/>
            <a:ext cx="343959" cy="444279"/>
          </a:xfrm>
          <a:prstGeom prst="rect">
            <a:avLst/>
          </a:prstGeom>
        </p:spPr>
      </p:pic>
      <p:sp>
        <p:nvSpPr>
          <p:cNvPr id="669" name="CaixaDeTexto 668">
            <a:extLst>
              <a:ext uri="{FF2B5EF4-FFF2-40B4-BE49-F238E27FC236}">
                <a16:creationId xmlns:a16="http://schemas.microsoft.com/office/drawing/2014/main" id="{9DA10675-5B06-C7F1-E45C-6668FB811A5D}"/>
              </a:ext>
            </a:extLst>
          </p:cNvPr>
          <p:cNvSpPr txBox="1"/>
          <p:nvPr/>
        </p:nvSpPr>
        <p:spPr>
          <a:xfrm>
            <a:off x="-55740" y="2"/>
            <a:ext cx="36631740" cy="1200329"/>
          </a:xfrm>
          <a:prstGeom prst="rect">
            <a:avLst/>
          </a:prstGeom>
          <a:solidFill>
            <a:srgbClr val="07103B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</a:rPr>
              <a:t>TCP - Layout</a:t>
            </a:r>
          </a:p>
        </p:txBody>
      </p:sp>
      <p:sp>
        <p:nvSpPr>
          <p:cNvPr id="4" name="Rectangle 460">
            <a:extLst>
              <a:ext uri="{FF2B5EF4-FFF2-40B4-BE49-F238E27FC236}">
                <a16:creationId xmlns:a16="http://schemas.microsoft.com/office/drawing/2014/main" id="{451B923B-1E89-E84E-99E4-E8702764F48C}"/>
              </a:ext>
            </a:extLst>
          </p:cNvPr>
          <p:cNvSpPr/>
          <p:nvPr/>
        </p:nvSpPr>
        <p:spPr>
          <a:xfrm>
            <a:off x="5587362" y="12334326"/>
            <a:ext cx="3209460" cy="287430"/>
          </a:xfrm>
          <a:prstGeom prst="rect">
            <a:avLst/>
          </a:prstGeom>
          <a:solidFill>
            <a:srgbClr val="0070C0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A – Área de Destravamento</a:t>
            </a:r>
          </a:p>
        </p:txBody>
      </p:sp>
      <p:sp>
        <p:nvSpPr>
          <p:cNvPr id="59" name="Rectangle 505">
            <a:extLst>
              <a:ext uri="{FF2B5EF4-FFF2-40B4-BE49-F238E27FC236}">
                <a16:creationId xmlns:a16="http://schemas.microsoft.com/office/drawing/2014/main" id="{DA7A1E75-9ABE-2B50-8597-20DAF7D25979}"/>
              </a:ext>
            </a:extLst>
          </p:cNvPr>
          <p:cNvSpPr/>
          <p:nvPr/>
        </p:nvSpPr>
        <p:spPr>
          <a:xfrm>
            <a:off x="6808079" y="6152354"/>
            <a:ext cx="1764405" cy="552999"/>
          </a:xfrm>
          <a:prstGeom prst="rect">
            <a:avLst/>
          </a:prstGeom>
          <a:solidFill>
            <a:srgbClr val="D0CECE"/>
          </a:solidFill>
          <a:ln w="28575">
            <a:solidFill>
              <a:srgbClr val="D600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CPJ</a:t>
            </a:r>
          </a:p>
        </p:txBody>
      </p:sp>
      <p:cxnSp>
        <p:nvCxnSpPr>
          <p:cNvPr id="63" name="Straight Arrow Connector 356">
            <a:extLst>
              <a:ext uri="{FF2B5EF4-FFF2-40B4-BE49-F238E27FC236}">
                <a16:creationId xmlns:a16="http://schemas.microsoft.com/office/drawing/2014/main" id="{3CF26EE3-ABDF-FBBC-F7C8-2F8A684CCF44}"/>
              </a:ext>
            </a:extLst>
          </p:cNvPr>
          <p:cNvCxnSpPr>
            <a:cxnSpLocks/>
          </p:cNvCxnSpPr>
          <p:nvPr/>
        </p:nvCxnSpPr>
        <p:spPr>
          <a:xfrm>
            <a:off x="14133501" y="12014133"/>
            <a:ext cx="366072" cy="0"/>
          </a:xfrm>
          <a:prstGeom prst="straightConnector1">
            <a:avLst/>
          </a:prstGeom>
          <a:ln>
            <a:solidFill>
              <a:srgbClr val="0000FF"/>
            </a:solidFill>
            <a:headEnd type="none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Arrow Connector 356">
            <a:extLst>
              <a:ext uri="{FF2B5EF4-FFF2-40B4-BE49-F238E27FC236}">
                <a16:creationId xmlns:a16="http://schemas.microsoft.com/office/drawing/2014/main" id="{4D7D16AE-4C65-7E08-0700-637F0D995EC8}"/>
              </a:ext>
            </a:extLst>
          </p:cNvPr>
          <p:cNvCxnSpPr>
            <a:cxnSpLocks/>
          </p:cNvCxnSpPr>
          <p:nvPr/>
        </p:nvCxnSpPr>
        <p:spPr>
          <a:xfrm>
            <a:off x="21798732" y="12054969"/>
            <a:ext cx="366072" cy="0"/>
          </a:xfrm>
          <a:prstGeom prst="straightConnector1">
            <a:avLst/>
          </a:prstGeom>
          <a:ln>
            <a:solidFill>
              <a:srgbClr val="0000FF"/>
            </a:solidFill>
            <a:headEnd type="none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Straight Arrow Connector 348">
            <a:extLst>
              <a:ext uri="{FF2B5EF4-FFF2-40B4-BE49-F238E27FC236}">
                <a16:creationId xmlns:a16="http://schemas.microsoft.com/office/drawing/2014/main" id="{3DB9E525-736C-B3A9-7628-D7648FB7BC40}"/>
              </a:ext>
            </a:extLst>
          </p:cNvPr>
          <p:cNvCxnSpPr>
            <a:cxnSpLocks/>
          </p:cNvCxnSpPr>
          <p:nvPr/>
        </p:nvCxnSpPr>
        <p:spPr>
          <a:xfrm flipH="1">
            <a:off x="14533463" y="11383200"/>
            <a:ext cx="511935" cy="0"/>
          </a:xfrm>
          <a:prstGeom prst="straightConnector1">
            <a:avLst/>
          </a:prstGeom>
          <a:ln w="19050">
            <a:solidFill>
              <a:srgbClr val="00B050"/>
            </a:solidFill>
            <a:headEnd type="none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Straight Arrow Connector 348">
            <a:extLst>
              <a:ext uri="{FF2B5EF4-FFF2-40B4-BE49-F238E27FC236}">
                <a16:creationId xmlns:a16="http://schemas.microsoft.com/office/drawing/2014/main" id="{D590BBCC-FF61-90B3-02E5-29A7ABB2230E}"/>
              </a:ext>
            </a:extLst>
          </p:cNvPr>
          <p:cNvCxnSpPr>
            <a:cxnSpLocks/>
          </p:cNvCxnSpPr>
          <p:nvPr/>
        </p:nvCxnSpPr>
        <p:spPr>
          <a:xfrm flipH="1">
            <a:off x="16748690" y="11390520"/>
            <a:ext cx="511935" cy="0"/>
          </a:xfrm>
          <a:prstGeom prst="straightConnector1">
            <a:avLst/>
          </a:prstGeom>
          <a:ln w="19050">
            <a:solidFill>
              <a:srgbClr val="00B050"/>
            </a:solidFill>
            <a:headEnd type="none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Arrow Connector 348">
            <a:extLst>
              <a:ext uri="{FF2B5EF4-FFF2-40B4-BE49-F238E27FC236}">
                <a16:creationId xmlns:a16="http://schemas.microsoft.com/office/drawing/2014/main" id="{D3A1B29E-0EF5-E1FA-E998-9D5DB291CC0E}"/>
              </a:ext>
            </a:extLst>
          </p:cNvPr>
          <p:cNvCxnSpPr>
            <a:cxnSpLocks/>
          </p:cNvCxnSpPr>
          <p:nvPr/>
        </p:nvCxnSpPr>
        <p:spPr>
          <a:xfrm flipH="1">
            <a:off x="19425293" y="11388762"/>
            <a:ext cx="511935" cy="0"/>
          </a:xfrm>
          <a:prstGeom prst="straightConnector1">
            <a:avLst/>
          </a:prstGeom>
          <a:ln w="19050">
            <a:solidFill>
              <a:srgbClr val="00B050"/>
            </a:solidFill>
            <a:headEnd type="none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Straight Arrow Connector 348">
            <a:extLst>
              <a:ext uri="{FF2B5EF4-FFF2-40B4-BE49-F238E27FC236}">
                <a16:creationId xmlns:a16="http://schemas.microsoft.com/office/drawing/2014/main" id="{9DDD6865-29AE-AF76-6F56-234BCD2BA85A}"/>
              </a:ext>
            </a:extLst>
          </p:cNvPr>
          <p:cNvCxnSpPr>
            <a:cxnSpLocks/>
          </p:cNvCxnSpPr>
          <p:nvPr/>
        </p:nvCxnSpPr>
        <p:spPr>
          <a:xfrm flipH="1">
            <a:off x="25318997" y="11405418"/>
            <a:ext cx="511935" cy="0"/>
          </a:xfrm>
          <a:prstGeom prst="straightConnector1">
            <a:avLst/>
          </a:prstGeom>
          <a:ln w="19050">
            <a:solidFill>
              <a:srgbClr val="00B050"/>
            </a:solidFill>
            <a:headEnd type="none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348">
            <a:extLst>
              <a:ext uri="{FF2B5EF4-FFF2-40B4-BE49-F238E27FC236}">
                <a16:creationId xmlns:a16="http://schemas.microsoft.com/office/drawing/2014/main" id="{8AAE9576-108B-3962-4180-1868F9A8BA8D}"/>
              </a:ext>
            </a:extLst>
          </p:cNvPr>
          <p:cNvCxnSpPr>
            <a:cxnSpLocks/>
          </p:cNvCxnSpPr>
          <p:nvPr/>
        </p:nvCxnSpPr>
        <p:spPr>
          <a:xfrm flipH="1">
            <a:off x="27616514" y="11385555"/>
            <a:ext cx="511935" cy="0"/>
          </a:xfrm>
          <a:prstGeom prst="straightConnector1">
            <a:avLst/>
          </a:prstGeom>
          <a:ln w="19050">
            <a:solidFill>
              <a:srgbClr val="00B050"/>
            </a:solidFill>
            <a:headEnd type="none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: Angulado 77">
            <a:extLst>
              <a:ext uri="{FF2B5EF4-FFF2-40B4-BE49-F238E27FC236}">
                <a16:creationId xmlns:a16="http://schemas.microsoft.com/office/drawing/2014/main" id="{840E3004-0419-6FE7-AAB2-8FADBF5DB25D}"/>
              </a:ext>
            </a:extLst>
          </p:cNvPr>
          <p:cNvCxnSpPr>
            <a:cxnSpLocks/>
          </p:cNvCxnSpPr>
          <p:nvPr/>
        </p:nvCxnSpPr>
        <p:spPr>
          <a:xfrm rot="10800000" flipV="1">
            <a:off x="12712899" y="11426235"/>
            <a:ext cx="956592" cy="714588"/>
          </a:xfrm>
          <a:prstGeom prst="bentConnector3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364">
            <a:extLst>
              <a:ext uri="{FF2B5EF4-FFF2-40B4-BE49-F238E27FC236}">
                <a16:creationId xmlns:a16="http://schemas.microsoft.com/office/drawing/2014/main" id="{0E497D5E-D335-77CD-A024-42820BC6BBAD}"/>
              </a:ext>
            </a:extLst>
          </p:cNvPr>
          <p:cNvCxnSpPr>
            <a:cxnSpLocks/>
          </p:cNvCxnSpPr>
          <p:nvPr/>
        </p:nvCxnSpPr>
        <p:spPr>
          <a:xfrm>
            <a:off x="6974847" y="12720714"/>
            <a:ext cx="366072" cy="0"/>
          </a:xfrm>
          <a:prstGeom prst="straightConnector1">
            <a:avLst/>
          </a:prstGeom>
          <a:ln>
            <a:solidFill>
              <a:srgbClr val="0000FF"/>
            </a:solidFill>
            <a:headEnd type="none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348">
            <a:extLst>
              <a:ext uri="{FF2B5EF4-FFF2-40B4-BE49-F238E27FC236}">
                <a16:creationId xmlns:a16="http://schemas.microsoft.com/office/drawing/2014/main" id="{797D9716-E71F-FB6F-F4EB-33CE9E21548C}"/>
              </a:ext>
            </a:extLst>
          </p:cNvPr>
          <p:cNvCxnSpPr>
            <a:cxnSpLocks/>
          </p:cNvCxnSpPr>
          <p:nvPr/>
        </p:nvCxnSpPr>
        <p:spPr>
          <a:xfrm flipH="1">
            <a:off x="23039402" y="11404476"/>
            <a:ext cx="511935" cy="0"/>
          </a:xfrm>
          <a:prstGeom prst="straightConnector1">
            <a:avLst/>
          </a:prstGeom>
          <a:ln w="19050">
            <a:solidFill>
              <a:srgbClr val="00B050"/>
            </a:solidFill>
            <a:headEnd type="none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Star: 6 Points 145">
            <a:extLst>
              <a:ext uri="{FF2B5EF4-FFF2-40B4-BE49-F238E27FC236}">
                <a16:creationId xmlns:a16="http://schemas.microsoft.com/office/drawing/2014/main" id="{0F45D775-4333-F2BC-A372-0C3F5E17BB4C}"/>
              </a:ext>
            </a:extLst>
          </p:cNvPr>
          <p:cNvSpPr/>
          <p:nvPr/>
        </p:nvSpPr>
        <p:spPr>
          <a:xfrm>
            <a:off x="15421640" y="15070172"/>
            <a:ext cx="210105" cy="234855"/>
          </a:xfrm>
          <a:prstGeom prst="star6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100" name="Star: 6 Points 146">
            <a:extLst>
              <a:ext uri="{FF2B5EF4-FFF2-40B4-BE49-F238E27FC236}">
                <a16:creationId xmlns:a16="http://schemas.microsoft.com/office/drawing/2014/main" id="{16053A47-47B0-1CAD-F8B3-1276B7EC0F0A}"/>
              </a:ext>
            </a:extLst>
          </p:cNvPr>
          <p:cNvSpPr/>
          <p:nvPr/>
        </p:nvSpPr>
        <p:spPr>
          <a:xfrm>
            <a:off x="18402185" y="15070172"/>
            <a:ext cx="210105" cy="234855"/>
          </a:xfrm>
          <a:prstGeom prst="star6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103" name="Rectangle 463">
            <a:extLst>
              <a:ext uri="{FF2B5EF4-FFF2-40B4-BE49-F238E27FC236}">
                <a16:creationId xmlns:a16="http://schemas.microsoft.com/office/drawing/2014/main" id="{A81EBE3A-BFE9-5711-6EA0-B0E75441FE1B}"/>
              </a:ext>
            </a:extLst>
          </p:cNvPr>
          <p:cNvSpPr/>
          <p:nvPr/>
        </p:nvSpPr>
        <p:spPr>
          <a:xfrm>
            <a:off x="30009695" y="16077740"/>
            <a:ext cx="332127" cy="391443"/>
          </a:xfrm>
          <a:prstGeom prst="rect">
            <a:avLst/>
          </a:prstGeom>
          <a:pattFill prst="pct5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sp>
        <p:nvSpPr>
          <p:cNvPr id="104" name="Rectangle 522">
            <a:extLst>
              <a:ext uri="{FF2B5EF4-FFF2-40B4-BE49-F238E27FC236}">
                <a16:creationId xmlns:a16="http://schemas.microsoft.com/office/drawing/2014/main" id="{82596547-8262-37AB-9DC5-55FB36E26928}"/>
              </a:ext>
            </a:extLst>
          </p:cNvPr>
          <p:cNvSpPr/>
          <p:nvPr/>
        </p:nvSpPr>
        <p:spPr>
          <a:xfrm>
            <a:off x="2307521" y="9188651"/>
            <a:ext cx="2309313" cy="6397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ctr" hangingPunct="0"/>
            <a:r>
              <a:rPr lang="en-US" b="1" dirty="0" err="1">
                <a:solidFill>
                  <a:srgbClr val="0000FF"/>
                </a:solidFill>
                <a:latin typeface="Arial Black" panose="020B0A04020102020204" pitchFamily="34" charset="0"/>
              </a:rPr>
              <a:t>Almoxarifado</a:t>
            </a:r>
            <a:endParaRPr lang="en-US" b="1" dirty="0">
              <a:solidFill>
                <a:srgbClr val="0000FF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105" name="Straight Arrow Connector 335">
            <a:extLst>
              <a:ext uri="{FF2B5EF4-FFF2-40B4-BE49-F238E27FC236}">
                <a16:creationId xmlns:a16="http://schemas.microsoft.com/office/drawing/2014/main" id="{1942446F-0F07-0D1C-4E47-668513CAFFA5}"/>
              </a:ext>
            </a:extLst>
          </p:cNvPr>
          <p:cNvCxnSpPr>
            <a:cxnSpLocks/>
          </p:cNvCxnSpPr>
          <p:nvPr/>
        </p:nvCxnSpPr>
        <p:spPr>
          <a:xfrm>
            <a:off x="33331886" y="16029957"/>
            <a:ext cx="366075" cy="0"/>
          </a:xfrm>
          <a:prstGeom prst="straightConnector1">
            <a:avLst/>
          </a:prstGeom>
          <a:ln w="38100">
            <a:solidFill>
              <a:srgbClr val="0000FF"/>
            </a:solidFill>
            <a:headEnd type="none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52">
            <a:extLst>
              <a:ext uri="{FF2B5EF4-FFF2-40B4-BE49-F238E27FC236}">
                <a16:creationId xmlns:a16="http://schemas.microsoft.com/office/drawing/2014/main" id="{12260DB9-3D14-7E47-335C-5CD3D4311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61848" y="15897449"/>
            <a:ext cx="165750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2743200"/>
            <a:r>
              <a:rPr lang="pt-BR" altLang="pt-BR" dirty="0">
                <a:solidFill>
                  <a:srgbClr val="00000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Fluxo de Entrada</a:t>
            </a:r>
            <a:endParaRPr lang="pt-BR" altLang="pt-BR" sz="5400" dirty="0"/>
          </a:p>
        </p:txBody>
      </p:sp>
      <p:cxnSp>
        <p:nvCxnSpPr>
          <p:cNvPr id="512" name="Straight Arrow Connector 335">
            <a:extLst>
              <a:ext uri="{FF2B5EF4-FFF2-40B4-BE49-F238E27FC236}">
                <a16:creationId xmlns:a16="http://schemas.microsoft.com/office/drawing/2014/main" id="{D359AE46-9609-FE12-D00F-A3D1FE60E1D5}"/>
              </a:ext>
            </a:extLst>
          </p:cNvPr>
          <p:cNvCxnSpPr>
            <a:cxnSpLocks/>
          </p:cNvCxnSpPr>
          <p:nvPr/>
        </p:nvCxnSpPr>
        <p:spPr>
          <a:xfrm>
            <a:off x="33329864" y="16482714"/>
            <a:ext cx="366075" cy="0"/>
          </a:xfrm>
          <a:prstGeom prst="straightConnector1">
            <a:avLst/>
          </a:prstGeom>
          <a:ln w="38100">
            <a:solidFill>
              <a:srgbClr val="00B050"/>
            </a:solidFill>
            <a:headEnd type="none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3" name="Rectangle 52">
            <a:extLst>
              <a:ext uri="{FF2B5EF4-FFF2-40B4-BE49-F238E27FC236}">
                <a16:creationId xmlns:a16="http://schemas.microsoft.com/office/drawing/2014/main" id="{4A682C5A-08CB-2F5C-D69D-6A6D15A82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99873" y="16315979"/>
            <a:ext cx="14330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2743200"/>
            <a:r>
              <a:rPr lang="pt-BR" altLang="pt-BR" dirty="0">
                <a:solidFill>
                  <a:srgbClr val="00000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Fluxo de Saída</a:t>
            </a:r>
            <a:endParaRPr lang="pt-BR" altLang="pt-BR" sz="5400" dirty="0"/>
          </a:p>
        </p:txBody>
      </p:sp>
      <p:pic>
        <p:nvPicPr>
          <p:cNvPr id="461" name="Gráfico 460" descr="Policial homem com preenchimento sólido">
            <a:extLst>
              <a:ext uri="{FF2B5EF4-FFF2-40B4-BE49-F238E27FC236}">
                <a16:creationId xmlns:a16="http://schemas.microsoft.com/office/drawing/2014/main" id="{DC1C532C-7CA6-00AE-78E5-04EEED82DC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202043" y="12790163"/>
            <a:ext cx="1136613" cy="1136613"/>
          </a:xfrm>
          <a:prstGeom prst="rect">
            <a:avLst/>
          </a:prstGeom>
        </p:spPr>
      </p:pic>
      <p:sp>
        <p:nvSpPr>
          <p:cNvPr id="2" name="Rectangle 209">
            <a:extLst>
              <a:ext uri="{FF2B5EF4-FFF2-40B4-BE49-F238E27FC236}">
                <a16:creationId xmlns:a16="http://schemas.microsoft.com/office/drawing/2014/main" id="{F416A820-EB2D-93D3-841B-4645EE1855A5}"/>
              </a:ext>
            </a:extLst>
          </p:cNvPr>
          <p:cNvSpPr/>
          <p:nvPr/>
        </p:nvSpPr>
        <p:spPr>
          <a:xfrm>
            <a:off x="15009020" y="12337776"/>
            <a:ext cx="5074515" cy="291930"/>
          </a:xfrm>
          <a:prstGeom prst="rect">
            <a:avLst/>
          </a:prstGeom>
          <a:pattFill prst="ltHorz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93"/>
          </a:p>
        </p:txBody>
      </p:sp>
      <p:pic>
        <p:nvPicPr>
          <p:cNvPr id="72" name="Picture 210">
            <a:extLst>
              <a:ext uri="{FF2B5EF4-FFF2-40B4-BE49-F238E27FC236}">
                <a16:creationId xmlns:a16="http://schemas.microsoft.com/office/drawing/2014/main" id="{3FA5B470-D0B7-1E3D-05A5-4ED5D543F8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61077" y="12208557"/>
            <a:ext cx="1218714" cy="467280"/>
          </a:xfrm>
          <a:prstGeom prst="rect">
            <a:avLst/>
          </a:prstGeom>
        </p:spPr>
      </p:pic>
      <p:sp>
        <p:nvSpPr>
          <p:cNvPr id="77" name="Retângulo 76">
            <a:extLst>
              <a:ext uri="{FF2B5EF4-FFF2-40B4-BE49-F238E27FC236}">
                <a16:creationId xmlns:a16="http://schemas.microsoft.com/office/drawing/2014/main" id="{89FCEE2D-2E75-C4D3-AED1-DE975EA5065A}"/>
              </a:ext>
            </a:extLst>
          </p:cNvPr>
          <p:cNvSpPr/>
          <p:nvPr/>
        </p:nvSpPr>
        <p:spPr>
          <a:xfrm>
            <a:off x="14801850" y="12044366"/>
            <a:ext cx="214314" cy="30033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517" name="Retângulo 516">
            <a:extLst>
              <a:ext uri="{FF2B5EF4-FFF2-40B4-BE49-F238E27FC236}">
                <a16:creationId xmlns:a16="http://schemas.microsoft.com/office/drawing/2014/main" id="{C44BE084-A72B-00AC-E000-41561C11E0DA}"/>
              </a:ext>
            </a:extLst>
          </p:cNvPr>
          <p:cNvSpPr/>
          <p:nvPr/>
        </p:nvSpPr>
        <p:spPr>
          <a:xfrm>
            <a:off x="15026261" y="12094368"/>
            <a:ext cx="1414461" cy="2047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518" name="Retângulo 517">
            <a:extLst>
              <a:ext uri="{FF2B5EF4-FFF2-40B4-BE49-F238E27FC236}">
                <a16:creationId xmlns:a16="http://schemas.microsoft.com/office/drawing/2014/main" id="{AE6F01A2-ACC4-08A8-BC35-A2A4BB192C83}"/>
              </a:ext>
            </a:extLst>
          </p:cNvPr>
          <p:cNvSpPr/>
          <p:nvPr/>
        </p:nvSpPr>
        <p:spPr>
          <a:xfrm>
            <a:off x="13973175" y="12090384"/>
            <a:ext cx="828672" cy="2047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522" name="Retângulo 521">
            <a:extLst>
              <a:ext uri="{FF2B5EF4-FFF2-40B4-BE49-F238E27FC236}">
                <a16:creationId xmlns:a16="http://schemas.microsoft.com/office/drawing/2014/main" id="{E4E434A1-DB38-4641-6522-AE8E545052A5}"/>
              </a:ext>
            </a:extLst>
          </p:cNvPr>
          <p:cNvSpPr/>
          <p:nvPr/>
        </p:nvSpPr>
        <p:spPr>
          <a:xfrm>
            <a:off x="29775150" y="16845569"/>
            <a:ext cx="800100" cy="190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524" name="Rectangle 36">
            <a:extLst>
              <a:ext uri="{FF2B5EF4-FFF2-40B4-BE49-F238E27FC236}">
                <a16:creationId xmlns:a16="http://schemas.microsoft.com/office/drawing/2014/main" id="{A40C40D9-B025-5933-4799-7563DD5A3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5935" y="16807565"/>
            <a:ext cx="81913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2743200"/>
            <a:r>
              <a:rPr lang="pt-BR" altLang="pt-BR" dirty="0">
                <a:solidFill>
                  <a:srgbClr val="00000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Balança </a:t>
            </a:r>
            <a:endParaRPr lang="pt-BR" altLang="pt-BR" sz="5400" dirty="0"/>
          </a:p>
        </p:txBody>
      </p:sp>
      <p:cxnSp>
        <p:nvCxnSpPr>
          <p:cNvPr id="530" name="Straight Arrow Connector 338">
            <a:extLst>
              <a:ext uri="{FF2B5EF4-FFF2-40B4-BE49-F238E27FC236}">
                <a16:creationId xmlns:a16="http://schemas.microsoft.com/office/drawing/2014/main" id="{2E338E0D-61C8-BE80-8989-3EEEC44F0E69}"/>
              </a:ext>
            </a:extLst>
          </p:cNvPr>
          <p:cNvCxnSpPr>
            <a:cxnSpLocks/>
          </p:cNvCxnSpPr>
          <p:nvPr/>
        </p:nvCxnSpPr>
        <p:spPr>
          <a:xfrm flipH="1">
            <a:off x="16715394" y="12202041"/>
            <a:ext cx="435810" cy="0"/>
          </a:xfrm>
          <a:prstGeom prst="straightConnector1">
            <a:avLst/>
          </a:prstGeom>
          <a:ln>
            <a:solidFill>
              <a:srgbClr val="0000FF"/>
            </a:solidFill>
            <a:headEnd type="none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8">
            <a:extLst>
              <a:ext uri="{FF2B5EF4-FFF2-40B4-BE49-F238E27FC236}">
                <a16:creationId xmlns:a16="http://schemas.microsoft.com/office/drawing/2014/main" id="{FE6DDFB7-CF2C-719D-825B-B9C802FA50B7}"/>
              </a:ext>
            </a:extLst>
          </p:cNvPr>
          <p:cNvGrpSpPr/>
          <p:nvPr/>
        </p:nvGrpSpPr>
        <p:grpSpPr>
          <a:xfrm>
            <a:off x="32153636" y="-794549"/>
            <a:ext cx="4860170" cy="2453270"/>
            <a:chOff x="0" y="62062"/>
            <a:chExt cx="2507310" cy="1179076"/>
          </a:xfrm>
        </p:grpSpPr>
        <p:sp>
          <p:nvSpPr>
            <p:cNvPr id="66" name="Freeform 9">
              <a:extLst>
                <a:ext uri="{FF2B5EF4-FFF2-40B4-BE49-F238E27FC236}">
                  <a16:creationId xmlns:a16="http://schemas.microsoft.com/office/drawing/2014/main" id="{D692E3AB-9D6D-1DB2-DE18-BFE41C6B1BB0}"/>
                </a:ext>
              </a:extLst>
            </p:cNvPr>
            <p:cNvSpPr/>
            <p:nvPr/>
          </p:nvSpPr>
          <p:spPr>
            <a:xfrm>
              <a:off x="0" y="62062"/>
              <a:ext cx="2507310" cy="1179076"/>
            </a:xfrm>
            <a:custGeom>
              <a:avLst/>
              <a:gdLst/>
              <a:ahLst/>
              <a:cxnLst/>
              <a:rect l="l" t="t" r="r" b="b"/>
              <a:pathLst>
                <a:path w="2671572" h="1348232">
                  <a:moveTo>
                    <a:pt x="0" y="0"/>
                  </a:moveTo>
                  <a:lnTo>
                    <a:pt x="2671572" y="0"/>
                  </a:lnTo>
                  <a:lnTo>
                    <a:pt x="2671572" y="1348232"/>
                  </a:lnTo>
                  <a:lnTo>
                    <a:pt x="0" y="1348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t="-20131" r="-1" b="-20130"/>
              </a:stretch>
            </a:blipFill>
          </p:spPr>
          <p:txBody>
            <a:bodyPr/>
            <a:lstStyle/>
            <a:p>
              <a:endParaRPr lang="pt-BR" sz="3600"/>
            </a:p>
          </p:txBody>
        </p:sp>
      </p:grpSp>
    </p:spTree>
    <p:extLst>
      <p:ext uri="{BB962C8B-B14F-4D97-AF65-F5344CB8AC3E}">
        <p14:creationId xmlns:p14="http://schemas.microsoft.com/office/powerpoint/2010/main" val="3998231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64ED3-732A-8B27-4E02-1F34C55C7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62C22C1-EA9D-5477-5CC0-B64FD92A84BB}"/>
              </a:ext>
            </a:extLst>
          </p:cNvPr>
          <p:cNvSpPr/>
          <p:nvPr/>
        </p:nvSpPr>
        <p:spPr>
          <a:xfrm>
            <a:off x="-106397" y="0"/>
            <a:ext cx="37048157" cy="20667701"/>
          </a:xfrm>
          <a:prstGeom prst="rect">
            <a:avLst/>
          </a:prstGeom>
          <a:solidFill>
            <a:srgbClr val="0710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60" name="Rectangle: Single Corner Rounded 59">
            <a:extLst>
              <a:ext uri="{FF2B5EF4-FFF2-40B4-BE49-F238E27FC236}">
                <a16:creationId xmlns:a16="http://schemas.microsoft.com/office/drawing/2014/main" id="{E5F7A156-F2BA-71FC-E6D1-CC2495CB89CC}"/>
              </a:ext>
            </a:extLst>
          </p:cNvPr>
          <p:cNvSpPr/>
          <p:nvPr/>
        </p:nvSpPr>
        <p:spPr>
          <a:xfrm flipH="1">
            <a:off x="-8" y="9404198"/>
            <a:ext cx="36575997" cy="11221707"/>
          </a:xfrm>
          <a:prstGeom prst="round1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0A9D78-6D22-7EAC-2FE7-3675738C376A}"/>
              </a:ext>
            </a:extLst>
          </p:cNvPr>
          <p:cNvSpPr txBox="1"/>
          <p:nvPr/>
        </p:nvSpPr>
        <p:spPr>
          <a:xfrm>
            <a:off x="1772049" y="1108730"/>
            <a:ext cx="134671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solidFill>
                  <a:srgbClr val="FFFFFF"/>
                </a:solidFill>
                <a:latin typeface="Maven Pro Bold"/>
              </a:rPr>
              <a:t>TCP</a:t>
            </a:r>
            <a:endParaRPr lang="pt-BR" sz="8800" b="1" dirty="0">
              <a:solidFill>
                <a:srgbClr val="FFFFFF"/>
              </a:solidFill>
              <a:latin typeface="Maven Pro 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3D4B2C-B166-1B98-42D6-9EDE87D2D4E4}"/>
              </a:ext>
            </a:extLst>
          </p:cNvPr>
          <p:cNvSpPr txBox="1"/>
          <p:nvPr/>
        </p:nvSpPr>
        <p:spPr>
          <a:xfrm>
            <a:off x="1772049" y="2339379"/>
            <a:ext cx="10718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>
                <a:solidFill>
                  <a:srgbClr val="E8C58C"/>
                </a:solidFill>
                <a:latin typeface="Maven Pro" pitchFamily="2" charset="0"/>
              </a:rPr>
              <a:t>Linha do tempo - Principais marcos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84E925C9-38E4-5F29-509B-51E93307B5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5224" y="487822"/>
            <a:ext cx="34964913" cy="19491468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CDABC90-7ECC-DBD7-443E-7554E5381E5E}"/>
              </a:ext>
            </a:extLst>
          </p:cNvPr>
          <p:cNvCxnSpPr>
            <a:cxnSpLocks/>
          </p:cNvCxnSpPr>
          <p:nvPr/>
        </p:nvCxnSpPr>
        <p:spPr>
          <a:xfrm>
            <a:off x="2233440" y="6643127"/>
            <a:ext cx="0" cy="3912645"/>
          </a:xfrm>
          <a:prstGeom prst="line">
            <a:avLst/>
          </a:prstGeom>
          <a:ln>
            <a:solidFill>
              <a:srgbClr val="E8C5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B23830B1-26F5-53C2-51BC-BF7FDC84CE68}"/>
              </a:ext>
            </a:extLst>
          </p:cNvPr>
          <p:cNvSpPr/>
          <p:nvPr/>
        </p:nvSpPr>
        <p:spPr>
          <a:xfrm>
            <a:off x="2039657" y="10361987"/>
            <a:ext cx="387567" cy="387567"/>
          </a:xfrm>
          <a:prstGeom prst="ellipse">
            <a:avLst/>
          </a:prstGeom>
          <a:gradFill flip="none" rotWithShape="1">
            <a:gsLst>
              <a:gs pos="0">
                <a:srgbClr val="E8C58C">
                  <a:tint val="66000"/>
                  <a:satMod val="160000"/>
                </a:srgbClr>
              </a:gs>
              <a:gs pos="50000">
                <a:srgbClr val="E8C58C">
                  <a:tint val="44500"/>
                  <a:satMod val="160000"/>
                </a:srgbClr>
              </a:gs>
              <a:gs pos="100000">
                <a:srgbClr val="E8C58C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232B03-D0DA-4E75-0AA8-9D5A20D1A555}"/>
              </a:ext>
            </a:extLst>
          </p:cNvPr>
          <p:cNvSpPr txBox="1"/>
          <p:nvPr/>
        </p:nvSpPr>
        <p:spPr>
          <a:xfrm>
            <a:off x="2487875" y="6613728"/>
            <a:ext cx="3764599" cy="1510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spc="111" dirty="0">
                <a:solidFill>
                  <a:schemeClr val="bg1"/>
                </a:solidFill>
                <a:latin typeface="Maven Pro Bold"/>
              </a:rPr>
              <a:t>Inauguração TCP</a:t>
            </a:r>
          </a:p>
          <a:p>
            <a:r>
              <a:rPr lang="pt-BR" sz="2800" spc="105" dirty="0">
                <a:solidFill>
                  <a:schemeClr val="bg1"/>
                </a:solidFill>
                <a:latin typeface="Maven Pro"/>
              </a:rPr>
              <a:t>364 m de cais </a:t>
            </a:r>
          </a:p>
          <a:p>
            <a:endParaRPr lang="pt-BR" sz="3297" spc="105" dirty="0">
              <a:solidFill>
                <a:schemeClr val="bg1"/>
              </a:solidFill>
              <a:latin typeface="Maven Pro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363D29-0235-586D-CC25-B9A87EBB60E8}"/>
              </a:ext>
            </a:extLst>
          </p:cNvPr>
          <p:cNvSpPr txBox="1"/>
          <p:nvPr/>
        </p:nvSpPr>
        <p:spPr>
          <a:xfrm>
            <a:off x="5139254" y="11087317"/>
            <a:ext cx="38956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spc="111" dirty="0">
                <a:solidFill>
                  <a:srgbClr val="001642"/>
                </a:solidFill>
                <a:latin typeface="Maven Pro Bold"/>
              </a:rPr>
              <a:t>Expansão do cais </a:t>
            </a:r>
          </a:p>
          <a:p>
            <a:r>
              <a:rPr lang="pt-BR" sz="2800" spc="105" dirty="0">
                <a:solidFill>
                  <a:srgbClr val="001642"/>
                </a:solidFill>
                <a:latin typeface="Maven Pro"/>
              </a:rPr>
              <a:t>564 m de cais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58439A6-8A6D-00F0-EDEE-FE4BAB2E37C5}"/>
              </a:ext>
            </a:extLst>
          </p:cNvPr>
          <p:cNvCxnSpPr>
            <a:cxnSpLocks/>
          </p:cNvCxnSpPr>
          <p:nvPr/>
        </p:nvCxnSpPr>
        <p:spPr>
          <a:xfrm>
            <a:off x="4985307" y="9291301"/>
            <a:ext cx="0" cy="2635368"/>
          </a:xfrm>
          <a:prstGeom prst="line">
            <a:avLst/>
          </a:prstGeom>
          <a:ln>
            <a:solidFill>
              <a:srgbClr val="E8C5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F9FCC79F-C45F-BE63-CC9D-724BE0D7A29E}"/>
              </a:ext>
            </a:extLst>
          </p:cNvPr>
          <p:cNvSpPr/>
          <p:nvPr/>
        </p:nvSpPr>
        <p:spPr>
          <a:xfrm>
            <a:off x="4821021" y="9316109"/>
            <a:ext cx="387567" cy="387567"/>
          </a:xfrm>
          <a:prstGeom prst="ellipse">
            <a:avLst/>
          </a:prstGeom>
          <a:gradFill flip="none" rotWithShape="1">
            <a:gsLst>
              <a:gs pos="0">
                <a:srgbClr val="E8C58C">
                  <a:tint val="66000"/>
                  <a:satMod val="160000"/>
                </a:srgbClr>
              </a:gs>
              <a:gs pos="50000">
                <a:srgbClr val="E8C58C">
                  <a:tint val="44500"/>
                  <a:satMod val="160000"/>
                </a:srgbClr>
              </a:gs>
              <a:gs pos="100000">
                <a:srgbClr val="E8C58C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817C13E-CCD5-8480-E9F4-BFBBB67E4B03}"/>
              </a:ext>
            </a:extLst>
          </p:cNvPr>
          <p:cNvCxnSpPr>
            <a:cxnSpLocks/>
          </p:cNvCxnSpPr>
          <p:nvPr/>
        </p:nvCxnSpPr>
        <p:spPr>
          <a:xfrm>
            <a:off x="9158650" y="6040722"/>
            <a:ext cx="0" cy="3469170"/>
          </a:xfrm>
          <a:prstGeom prst="line">
            <a:avLst/>
          </a:prstGeom>
          <a:ln>
            <a:solidFill>
              <a:srgbClr val="E8C5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7485F6ED-ABD8-CE01-C56B-29D155D0873B}"/>
              </a:ext>
            </a:extLst>
          </p:cNvPr>
          <p:cNvSpPr/>
          <p:nvPr/>
        </p:nvSpPr>
        <p:spPr>
          <a:xfrm>
            <a:off x="8964867" y="9316109"/>
            <a:ext cx="387567" cy="387567"/>
          </a:xfrm>
          <a:prstGeom prst="ellipse">
            <a:avLst/>
          </a:prstGeom>
          <a:gradFill flip="none" rotWithShape="1">
            <a:gsLst>
              <a:gs pos="0">
                <a:srgbClr val="E8C58C">
                  <a:tint val="66000"/>
                  <a:satMod val="160000"/>
                </a:srgbClr>
              </a:gs>
              <a:gs pos="50000">
                <a:srgbClr val="E8C58C">
                  <a:tint val="44500"/>
                  <a:satMod val="160000"/>
                </a:srgbClr>
              </a:gs>
              <a:gs pos="100000">
                <a:srgbClr val="E8C58C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E820151-5468-1185-0784-73EB55B5DE0A}"/>
              </a:ext>
            </a:extLst>
          </p:cNvPr>
          <p:cNvSpPr txBox="1"/>
          <p:nvPr/>
        </p:nvSpPr>
        <p:spPr>
          <a:xfrm>
            <a:off x="9228277" y="6371711"/>
            <a:ext cx="4079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11" dirty="0" err="1">
                <a:solidFill>
                  <a:schemeClr val="bg1"/>
                </a:solidFill>
                <a:latin typeface="Maven Pro Bold"/>
              </a:rPr>
              <a:t>Criação</a:t>
            </a:r>
            <a:r>
              <a:rPr lang="en-US" sz="2800" b="1" spc="111" dirty="0">
                <a:solidFill>
                  <a:schemeClr val="bg1"/>
                </a:solidFill>
                <a:latin typeface="Maven Pro Bold"/>
              </a:rPr>
              <a:t> da TCP log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3764FE8-FBA5-78D6-9F8A-3B8DEE2C03AE}"/>
              </a:ext>
            </a:extLst>
          </p:cNvPr>
          <p:cNvCxnSpPr>
            <a:cxnSpLocks/>
          </p:cNvCxnSpPr>
          <p:nvPr/>
        </p:nvCxnSpPr>
        <p:spPr>
          <a:xfrm>
            <a:off x="10603794" y="9637887"/>
            <a:ext cx="0" cy="4516884"/>
          </a:xfrm>
          <a:prstGeom prst="line">
            <a:avLst/>
          </a:prstGeom>
          <a:ln>
            <a:solidFill>
              <a:srgbClr val="E8C5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E4CF6506-77F8-5804-5F96-8850E0ED5333}"/>
              </a:ext>
            </a:extLst>
          </p:cNvPr>
          <p:cNvSpPr/>
          <p:nvPr/>
        </p:nvSpPr>
        <p:spPr>
          <a:xfrm>
            <a:off x="10410011" y="9346040"/>
            <a:ext cx="387567" cy="387567"/>
          </a:xfrm>
          <a:prstGeom prst="ellipse">
            <a:avLst/>
          </a:prstGeom>
          <a:gradFill flip="none" rotWithShape="1">
            <a:gsLst>
              <a:gs pos="0">
                <a:srgbClr val="E8C58C">
                  <a:tint val="66000"/>
                  <a:satMod val="160000"/>
                </a:srgbClr>
              </a:gs>
              <a:gs pos="50000">
                <a:srgbClr val="E8C58C">
                  <a:tint val="44500"/>
                  <a:satMod val="160000"/>
                </a:srgbClr>
              </a:gs>
              <a:gs pos="100000">
                <a:srgbClr val="E8C58C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849BE9F-7247-BF75-15E7-BF91268D9A23}"/>
              </a:ext>
            </a:extLst>
          </p:cNvPr>
          <p:cNvSpPr txBox="1"/>
          <p:nvPr/>
        </p:nvSpPr>
        <p:spPr>
          <a:xfrm>
            <a:off x="10895953" y="13292697"/>
            <a:ext cx="37378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spc="111" dirty="0">
                <a:solidFill>
                  <a:srgbClr val="002060"/>
                </a:solidFill>
                <a:latin typeface="Maven Pro Bold"/>
              </a:rPr>
              <a:t>Expansão do cais </a:t>
            </a:r>
          </a:p>
          <a:p>
            <a:r>
              <a:rPr lang="pt-BR" sz="2800" spc="105" dirty="0">
                <a:solidFill>
                  <a:srgbClr val="002060"/>
                </a:solidFill>
                <a:latin typeface="Maven Pro"/>
              </a:rPr>
              <a:t>879 m de cais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867C374-69F9-0D6F-BBC5-C07115668A85}"/>
              </a:ext>
            </a:extLst>
          </p:cNvPr>
          <p:cNvCxnSpPr>
            <a:cxnSpLocks/>
          </p:cNvCxnSpPr>
          <p:nvPr/>
        </p:nvCxnSpPr>
        <p:spPr>
          <a:xfrm>
            <a:off x="13192314" y="6040722"/>
            <a:ext cx="0" cy="3469170"/>
          </a:xfrm>
          <a:prstGeom prst="line">
            <a:avLst/>
          </a:prstGeom>
          <a:ln>
            <a:solidFill>
              <a:srgbClr val="E8C5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B66A2DDB-5595-C4FF-02A5-24B5959620C1}"/>
              </a:ext>
            </a:extLst>
          </p:cNvPr>
          <p:cNvSpPr/>
          <p:nvPr/>
        </p:nvSpPr>
        <p:spPr>
          <a:xfrm>
            <a:off x="12998531" y="9316109"/>
            <a:ext cx="387567" cy="387567"/>
          </a:xfrm>
          <a:prstGeom prst="ellipse">
            <a:avLst/>
          </a:prstGeom>
          <a:gradFill flip="none" rotWithShape="1">
            <a:gsLst>
              <a:gs pos="0">
                <a:srgbClr val="E8C58C">
                  <a:tint val="66000"/>
                  <a:satMod val="160000"/>
                </a:srgbClr>
              </a:gs>
              <a:gs pos="50000">
                <a:srgbClr val="E8C58C">
                  <a:tint val="44500"/>
                  <a:satMod val="160000"/>
                </a:srgbClr>
              </a:gs>
              <a:gs pos="100000">
                <a:srgbClr val="E8C58C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07B4CA8-8F69-27AB-98F6-C7219F89AFB7}"/>
              </a:ext>
            </a:extLst>
          </p:cNvPr>
          <p:cNvSpPr txBox="1"/>
          <p:nvPr/>
        </p:nvSpPr>
        <p:spPr>
          <a:xfrm>
            <a:off x="13336322" y="5967882"/>
            <a:ext cx="40793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11" dirty="0" err="1">
                <a:solidFill>
                  <a:schemeClr val="bg1"/>
                </a:solidFill>
                <a:latin typeface="Maven Pro Bold"/>
              </a:rPr>
              <a:t>Duplicação</a:t>
            </a:r>
            <a:r>
              <a:rPr lang="en-US" sz="2800" b="1" spc="111" dirty="0">
                <a:solidFill>
                  <a:schemeClr val="bg1"/>
                </a:solidFill>
                <a:latin typeface="Maven Pro Bold"/>
              </a:rPr>
              <a:t> da </a:t>
            </a:r>
            <a:r>
              <a:rPr lang="en-US" sz="2800" b="1" spc="111" dirty="0" err="1">
                <a:solidFill>
                  <a:schemeClr val="bg1"/>
                </a:solidFill>
                <a:latin typeface="Maven Pro Bold"/>
              </a:rPr>
              <a:t>ferrovia</a:t>
            </a:r>
            <a:endParaRPr lang="en-US" sz="2800" b="1" spc="111" dirty="0">
              <a:solidFill>
                <a:schemeClr val="bg1"/>
              </a:solidFill>
              <a:latin typeface="Maven Pro Bold"/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8CE87E2-9DEC-D9F9-C457-7FBAA56197BD}"/>
              </a:ext>
            </a:extLst>
          </p:cNvPr>
          <p:cNvCxnSpPr>
            <a:cxnSpLocks/>
          </p:cNvCxnSpPr>
          <p:nvPr/>
        </p:nvCxnSpPr>
        <p:spPr>
          <a:xfrm>
            <a:off x="16027512" y="9522203"/>
            <a:ext cx="0" cy="6260541"/>
          </a:xfrm>
          <a:prstGeom prst="line">
            <a:avLst/>
          </a:prstGeom>
          <a:ln>
            <a:solidFill>
              <a:srgbClr val="E8C5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8D80076E-E852-48D0-AED3-59A16EABB547}"/>
              </a:ext>
            </a:extLst>
          </p:cNvPr>
          <p:cNvSpPr/>
          <p:nvPr/>
        </p:nvSpPr>
        <p:spPr>
          <a:xfrm>
            <a:off x="15833729" y="9230354"/>
            <a:ext cx="387567" cy="387567"/>
          </a:xfrm>
          <a:prstGeom prst="ellipse">
            <a:avLst/>
          </a:prstGeom>
          <a:gradFill flip="none" rotWithShape="1">
            <a:gsLst>
              <a:gs pos="0">
                <a:srgbClr val="E8C58C">
                  <a:tint val="66000"/>
                  <a:satMod val="160000"/>
                </a:srgbClr>
              </a:gs>
              <a:gs pos="50000">
                <a:srgbClr val="E8C58C">
                  <a:tint val="44500"/>
                  <a:satMod val="160000"/>
                </a:srgbClr>
              </a:gs>
              <a:gs pos="100000">
                <a:srgbClr val="E8C58C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C481AF0-A7BB-B86D-6F48-D956F3122D17}"/>
              </a:ext>
            </a:extLst>
          </p:cNvPr>
          <p:cNvSpPr txBox="1"/>
          <p:nvPr/>
        </p:nvSpPr>
        <p:spPr>
          <a:xfrm>
            <a:off x="16247453" y="14929176"/>
            <a:ext cx="29656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11" dirty="0">
                <a:solidFill>
                  <a:srgbClr val="002060"/>
                </a:solidFill>
                <a:latin typeface="Maven Pro Bold"/>
              </a:rPr>
              <a:t>Entrada da</a:t>
            </a:r>
          </a:p>
          <a:p>
            <a:r>
              <a:rPr lang="en-US" sz="2800" b="1" spc="111" dirty="0" err="1">
                <a:solidFill>
                  <a:srgbClr val="002060"/>
                </a:solidFill>
                <a:latin typeface="Maven Pro Bold"/>
              </a:rPr>
              <a:t>CMPort</a:t>
            </a:r>
            <a:endParaRPr lang="en-US" sz="2800" b="1" spc="111" dirty="0">
              <a:solidFill>
                <a:srgbClr val="002060"/>
              </a:solidFill>
              <a:latin typeface="Maven Pro Bold"/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BDA47DF4-2E35-7C96-E27C-59113E9F2702}"/>
              </a:ext>
            </a:extLst>
          </p:cNvPr>
          <p:cNvCxnSpPr>
            <a:cxnSpLocks/>
          </p:cNvCxnSpPr>
          <p:nvPr/>
        </p:nvCxnSpPr>
        <p:spPr>
          <a:xfrm>
            <a:off x="18024342" y="4847870"/>
            <a:ext cx="0" cy="4725363"/>
          </a:xfrm>
          <a:prstGeom prst="line">
            <a:avLst/>
          </a:prstGeom>
          <a:ln>
            <a:solidFill>
              <a:srgbClr val="E8C5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0BE372FD-E7C2-7C76-60FD-90CC24F43787}"/>
              </a:ext>
            </a:extLst>
          </p:cNvPr>
          <p:cNvSpPr/>
          <p:nvPr/>
        </p:nvSpPr>
        <p:spPr>
          <a:xfrm>
            <a:off x="17830559" y="9279368"/>
            <a:ext cx="387567" cy="387567"/>
          </a:xfrm>
          <a:prstGeom prst="ellipse">
            <a:avLst/>
          </a:prstGeom>
          <a:gradFill flip="none" rotWithShape="1">
            <a:gsLst>
              <a:gs pos="0">
                <a:srgbClr val="E8C58C">
                  <a:tint val="66000"/>
                  <a:satMod val="160000"/>
                </a:srgbClr>
              </a:gs>
              <a:gs pos="50000">
                <a:srgbClr val="E8C58C">
                  <a:tint val="44500"/>
                  <a:satMod val="160000"/>
                </a:srgbClr>
              </a:gs>
              <a:gs pos="100000">
                <a:srgbClr val="E8C58C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7F2A657-156E-0E4B-E34F-827E563C007C}"/>
              </a:ext>
            </a:extLst>
          </p:cNvPr>
          <p:cNvSpPr txBox="1"/>
          <p:nvPr/>
        </p:nvSpPr>
        <p:spPr>
          <a:xfrm>
            <a:off x="18116878" y="4993673"/>
            <a:ext cx="443074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spc="111" dirty="0">
                <a:solidFill>
                  <a:schemeClr val="bg1"/>
                </a:solidFill>
                <a:latin typeface="Maven Pro Bold"/>
              </a:rPr>
              <a:t>Conclusão dos investimentos: Expansão de cais</a:t>
            </a:r>
          </a:p>
          <a:p>
            <a:r>
              <a:rPr lang="pt-BR" sz="2800" b="1" spc="111" dirty="0">
                <a:solidFill>
                  <a:schemeClr val="bg1"/>
                </a:solidFill>
                <a:latin typeface="Maven Pro Bold"/>
              </a:rPr>
              <a:t>e pátio </a:t>
            </a:r>
          </a:p>
          <a:p>
            <a:r>
              <a:rPr lang="pt-BR" sz="2800" spc="105" dirty="0">
                <a:solidFill>
                  <a:schemeClr val="bg1"/>
                </a:solidFill>
                <a:latin typeface="Maven Pro"/>
              </a:rPr>
              <a:t>1.099 m de cais</a:t>
            </a:r>
          </a:p>
          <a:p>
            <a:r>
              <a:rPr lang="pt-BR" sz="2800" spc="105" dirty="0">
                <a:solidFill>
                  <a:schemeClr val="bg1"/>
                </a:solidFill>
                <a:latin typeface="Maven Pro"/>
              </a:rPr>
              <a:t>487 mil m² de pátio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F56A1F6-4145-FAA8-E13F-B5583E8D5B41}"/>
              </a:ext>
            </a:extLst>
          </p:cNvPr>
          <p:cNvCxnSpPr>
            <a:cxnSpLocks/>
          </p:cNvCxnSpPr>
          <p:nvPr/>
        </p:nvCxnSpPr>
        <p:spPr>
          <a:xfrm>
            <a:off x="19609440" y="9564459"/>
            <a:ext cx="0" cy="2716392"/>
          </a:xfrm>
          <a:prstGeom prst="line">
            <a:avLst/>
          </a:prstGeom>
          <a:ln>
            <a:solidFill>
              <a:srgbClr val="E8C5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B674D0F0-437F-5567-DEEB-69925599F0C8}"/>
              </a:ext>
            </a:extLst>
          </p:cNvPr>
          <p:cNvSpPr/>
          <p:nvPr/>
        </p:nvSpPr>
        <p:spPr>
          <a:xfrm>
            <a:off x="19415657" y="9272612"/>
            <a:ext cx="387567" cy="387567"/>
          </a:xfrm>
          <a:prstGeom prst="ellipse">
            <a:avLst/>
          </a:prstGeom>
          <a:gradFill flip="none" rotWithShape="1">
            <a:gsLst>
              <a:gs pos="0">
                <a:srgbClr val="E8C58C">
                  <a:tint val="66000"/>
                  <a:satMod val="160000"/>
                </a:srgbClr>
              </a:gs>
              <a:gs pos="50000">
                <a:srgbClr val="E8C58C">
                  <a:tint val="44500"/>
                  <a:satMod val="160000"/>
                </a:srgbClr>
              </a:gs>
              <a:gs pos="100000">
                <a:srgbClr val="E8C58C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62422D4-2EE9-0C22-B431-44FE554BCB1D}"/>
              </a:ext>
            </a:extLst>
          </p:cNvPr>
          <p:cNvSpPr txBox="1"/>
          <p:nvPr/>
        </p:nvSpPr>
        <p:spPr>
          <a:xfrm>
            <a:off x="19929776" y="9799269"/>
            <a:ext cx="3500685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spc="111" dirty="0">
                <a:solidFill>
                  <a:srgbClr val="002060"/>
                </a:solidFill>
                <a:latin typeface="Maven Pro Bold"/>
              </a:rPr>
              <a:t>1 milhão de </a:t>
            </a:r>
            <a:r>
              <a:rPr lang="pt-BR" sz="2800" b="1" spc="111" dirty="0" err="1">
                <a:solidFill>
                  <a:srgbClr val="002060"/>
                </a:solidFill>
                <a:latin typeface="Maven Pro Bold"/>
              </a:rPr>
              <a:t>TEUs</a:t>
            </a:r>
            <a:endParaRPr lang="pt-BR" sz="2800" b="1" spc="111" dirty="0">
              <a:solidFill>
                <a:srgbClr val="002060"/>
              </a:solidFill>
              <a:latin typeface="Maven Pro Bold"/>
            </a:endParaRPr>
          </a:p>
          <a:p>
            <a:r>
              <a:rPr lang="pt-BR" sz="2800" spc="105" dirty="0">
                <a:solidFill>
                  <a:srgbClr val="002060"/>
                </a:solidFill>
                <a:latin typeface="Maven Pro"/>
              </a:rPr>
              <a:t>Movimentação anual;</a:t>
            </a:r>
          </a:p>
          <a:p>
            <a:endParaRPr lang="pt-BR" sz="3300" dirty="0">
              <a:solidFill>
                <a:srgbClr val="032465"/>
              </a:solidFill>
              <a:latin typeface="Maven Pro" pitchFamily="2" charset="0"/>
            </a:endParaRPr>
          </a:p>
          <a:p>
            <a:r>
              <a:rPr lang="pt-BR" sz="2800" b="1" spc="111" dirty="0">
                <a:solidFill>
                  <a:srgbClr val="002060"/>
                </a:solidFill>
                <a:latin typeface="Maven Pro Bold"/>
              </a:rPr>
              <a:t>Inauguração do KBT</a:t>
            </a:r>
          </a:p>
          <a:p>
            <a:endParaRPr lang="pt-BR" sz="3300" dirty="0">
              <a:solidFill>
                <a:srgbClr val="032465"/>
              </a:solidFill>
              <a:latin typeface="Maven Pro" pitchFamily="2" charset="0"/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14C2B14-7322-74E2-23D2-049B0F5789A5}"/>
              </a:ext>
            </a:extLst>
          </p:cNvPr>
          <p:cNvCxnSpPr>
            <a:cxnSpLocks/>
          </p:cNvCxnSpPr>
          <p:nvPr/>
        </p:nvCxnSpPr>
        <p:spPr>
          <a:xfrm>
            <a:off x="22552473" y="4296579"/>
            <a:ext cx="0" cy="5213313"/>
          </a:xfrm>
          <a:prstGeom prst="line">
            <a:avLst/>
          </a:prstGeom>
          <a:ln>
            <a:solidFill>
              <a:srgbClr val="E8C5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6F44CC62-7FBD-1E1D-E836-F3212AC0488C}"/>
              </a:ext>
            </a:extLst>
          </p:cNvPr>
          <p:cNvSpPr/>
          <p:nvPr/>
        </p:nvSpPr>
        <p:spPr>
          <a:xfrm>
            <a:off x="22358690" y="9316109"/>
            <a:ext cx="387567" cy="387567"/>
          </a:xfrm>
          <a:prstGeom prst="ellipse">
            <a:avLst/>
          </a:prstGeom>
          <a:gradFill flip="none" rotWithShape="1">
            <a:gsLst>
              <a:gs pos="0">
                <a:srgbClr val="E8C58C">
                  <a:tint val="66000"/>
                  <a:satMod val="160000"/>
                </a:srgbClr>
              </a:gs>
              <a:gs pos="50000">
                <a:srgbClr val="E8C58C">
                  <a:tint val="44500"/>
                  <a:satMod val="160000"/>
                </a:srgbClr>
              </a:gs>
              <a:gs pos="100000">
                <a:srgbClr val="E8C58C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6484FEA-1225-FA60-B8D4-905820C27C2B}"/>
              </a:ext>
            </a:extLst>
          </p:cNvPr>
          <p:cNvSpPr txBox="1"/>
          <p:nvPr/>
        </p:nvSpPr>
        <p:spPr>
          <a:xfrm>
            <a:off x="22783277" y="4150665"/>
            <a:ext cx="462059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spc="111" dirty="0">
                <a:solidFill>
                  <a:schemeClr val="bg1"/>
                </a:solidFill>
                <a:latin typeface="Maven Pro Bold"/>
              </a:rPr>
              <a:t>Investimento em tecnologia e infraestrutura: </a:t>
            </a:r>
          </a:p>
          <a:p>
            <a:r>
              <a:rPr lang="pt-BR" sz="2800" spc="105" dirty="0">
                <a:solidFill>
                  <a:schemeClr val="bg1"/>
                </a:solidFill>
                <a:latin typeface="Maven Pro"/>
              </a:rPr>
              <a:t>11 novos RTGs e 17 novos </a:t>
            </a:r>
            <a:r>
              <a:rPr lang="pt-BR" sz="2800" spc="105" dirty="0" err="1">
                <a:solidFill>
                  <a:schemeClr val="bg1"/>
                </a:solidFill>
                <a:latin typeface="Maven Pro"/>
              </a:rPr>
              <a:t>TTs</a:t>
            </a:r>
            <a:r>
              <a:rPr lang="pt-BR" sz="2800" spc="105" dirty="0">
                <a:solidFill>
                  <a:schemeClr val="bg1"/>
                </a:solidFill>
                <a:latin typeface="Maven Pro"/>
              </a:rPr>
              <a:t>; Nova subestação de energia; Inauguração </a:t>
            </a:r>
            <a:r>
              <a:rPr lang="pt-BR" sz="2800" spc="105" dirty="0" err="1">
                <a:solidFill>
                  <a:schemeClr val="bg1"/>
                </a:solidFill>
                <a:latin typeface="Maven Pro"/>
              </a:rPr>
              <a:t>Operations</a:t>
            </a:r>
            <a:r>
              <a:rPr lang="pt-BR" sz="2800" spc="105" dirty="0">
                <a:solidFill>
                  <a:schemeClr val="bg1"/>
                </a:solidFill>
                <a:latin typeface="Maven Pro"/>
              </a:rPr>
              <a:t> Tower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A83B815-2FE4-3093-D066-2BFCA267F75A}"/>
              </a:ext>
            </a:extLst>
          </p:cNvPr>
          <p:cNvCxnSpPr>
            <a:cxnSpLocks/>
          </p:cNvCxnSpPr>
          <p:nvPr/>
        </p:nvCxnSpPr>
        <p:spPr>
          <a:xfrm>
            <a:off x="24087510" y="9607956"/>
            <a:ext cx="0" cy="4516884"/>
          </a:xfrm>
          <a:prstGeom prst="line">
            <a:avLst/>
          </a:prstGeom>
          <a:ln>
            <a:solidFill>
              <a:srgbClr val="E8C5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B230A994-2DA9-5B43-A6E9-57611CFD8EA4}"/>
              </a:ext>
            </a:extLst>
          </p:cNvPr>
          <p:cNvSpPr/>
          <p:nvPr/>
        </p:nvSpPr>
        <p:spPr>
          <a:xfrm>
            <a:off x="23893727" y="9316109"/>
            <a:ext cx="387567" cy="387567"/>
          </a:xfrm>
          <a:prstGeom prst="ellipse">
            <a:avLst/>
          </a:prstGeom>
          <a:gradFill flip="none" rotWithShape="1">
            <a:gsLst>
              <a:gs pos="0">
                <a:srgbClr val="E8C58C">
                  <a:tint val="66000"/>
                  <a:satMod val="160000"/>
                </a:srgbClr>
              </a:gs>
              <a:gs pos="50000">
                <a:srgbClr val="E8C58C">
                  <a:tint val="44500"/>
                  <a:satMod val="160000"/>
                </a:srgbClr>
              </a:gs>
              <a:gs pos="100000">
                <a:srgbClr val="E8C58C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E1B5B1-25FD-8DFC-A476-D9426C09DDEA}"/>
              </a:ext>
            </a:extLst>
          </p:cNvPr>
          <p:cNvSpPr txBox="1"/>
          <p:nvPr/>
        </p:nvSpPr>
        <p:spPr>
          <a:xfrm>
            <a:off x="24408536" y="11474002"/>
            <a:ext cx="4803997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spc="111" dirty="0">
                <a:solidFill>
                  <a:srgbClr val="002060"/>
                </a:solidFill>
                <a:latin typeface="Maven Pro Bold"/>
              </a:rPr>
              <a:t>Ampliação do pátio de contêineres refrigerados: </a:t>
            </a:r>
            <a:r>
              <a:rPr lang="pt-BR" sz="2800" spc="105" dirty="0">
                <a:solidFill>
                  <a:srgbClr val="002060"/>
                </a:solidFill>
                <a:latin typeface="Maven Pro"/>
              </a:rPr>
              <a:t>de 3.572 para 5.268 tomadas;</a:t>
            </a:r>
          </a:p>
          <a:p>
            <a:endParaRPr lang="pt-BR" sz="3300" dirty="0">
              <a:solidFill>
                <a:srgbClr val="032465"/>
              </a:solidFill>
              <a:latin typeface="Maven Pro" pitchFamily="2" charset="0"/>
            </a:endParaRPr>
          </a:p>
          <a:p>
            <a:r>
              <a:rPr lang="pt-BR" sz="2800" b="1" spc="111" dirty="0">
                <a:solidFill>
                  <a:srgbClr val="002060"/>
                </a:solidFill>
                <a:latin typeface="Maven Pro Bold"/>
              </a:rPr>
              <a:t>Modernização do GATE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D57B4C1-DB04-CCD3-EFA6-E69784351F71}"/>
              </a:ext>
            </a:extLst>
          </p:cNvPr>
          <p:cNvCxnSpPr>
            <a:cxnSpLocks/>
          </p:cNvCxnSpPr>
          <p:nvPr/>
        </p:nvCxnSpPr>
        <p:spPr>
          <a:xfrm>
            <a:off x="27597650" y="5496207"/>
            <a:ext cx="3" cy="3986658"/>
          </a:xfrm>
          <a:prstGeom prst="line">
            <a:avLst/>
          </a:prstGeom>
          <a:ln>
            <a:solidFill>
              <a:srgbClr val="E8C5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881F2AEC-2BBC-A299-DA80-786A707DF220}"/>
              </a:ext>
            </a:extLst>
          </p:cNvPr>
          <p:cNvSpPr/>
          <p:nvPr/>
        </p:nvSpPr>
        <p:spPr>
          <a:xfrm>
            <a:off x="27403868" y="9289082"/>
            <a:ext cx="387567" cy="387567"/>
          </a:xfrm>
          <a:prstGeom prst="ellipse">
            <a:avLst/>
          </a:prstGeom>
          <a:gradFill flip="none" rotWithShape="1">
            <a:gsLst>
              <a:gs pos="0">
                <a:srgbClr val="E8C58C">
                  <a:tint val="66000"/>
                  <a:satMod val="160000"/>
                </a:srgbClr>
              </a:gs>
              <a:gs pos="50000">
                <a:srgbClr val="E8C58C">
                  <a:tint val="44500"/>
                  <a:satMod val="160000"/>
                </a:srgbClr>
              </a:gs>
              <a:gs pos="100000">
                <a:srgbClr val="E8C58C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9EBB01-B7D1-DD89-1016-2EE422D992A2}"/>
              </a:ext>
            </a:extLst>
          </p:cNvPr>
          <p:cNvSpPr txBox="1"/>
          <p:nvPr/>
        </p:nvSpPr>
        <p:spPr>
          <a:xfrm>
            <a:off x="27944753" y="5674160"/>
            <a:ext cx="5888044" cy="146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spc="111" dirty="0">
                <a:solidFill>
                  <a:schemeClr val="bg1"/>
                </a:solidFill>
                <a:latin typeface="Maven Pro Bold"/>
              </a:rPr>
              <a:t>Aumento do calado operacional:</a:t>
            </a:r>
            <a:r>
              <a:rPr lang="pt-BR" sz="3297" spc="105" dirty="0">
                <a:solidFill>
                  <a:schemeClr val="bg1"/>
                </a:solidFill>
                <a:latin typeface="Maven Pro"/>
              </a:rPr>
              <a:t> </a:t>
            </a:r>
            <a:r>
              <a:rPr lang="pt-BR" sz="2800" spc="105" dirty="0">
                <a:solidFill>
                  <a:schemeClr val="bg1"/>
                </a:solidFill>
                <a:latin typeface="Maven Pro"/>
              </a:rPr>
              <a:t>13,3 metros</a:t>
            </a:r>
          </a:p>
          <a:p>
            <a:r>
              <a:rPr lang="pt-BR" sz="2800" b="1" spc="111" dirty="0">
                <a:solidFill>
                  <a:schemeClr val="bg1"/>
                </a:solidFill>
                <a:latin typeface="Maven Pro Bold"/>
              </a:rPr>
              <a:t>Modernização do </a:t>
            </a:r>
            <a:r>
              <a:rPr lang="en-US" sz="2800" b="1" spc="111" dirty="0">
                <a:solidFill>
                  <a:schemeClr val="bg1"/>
                </a:solidFill>
                <a:latin typeface="Maven Pro Bold"/>
              </a:rPr>
              <a:t>pre-gate</a:t>
            </a:r>
            <a:endParaRPr lang="pt-BR" sz="2800" b="1" spc="111" dirty="0">
              <a:solidFill>
                <a:schemeClr val="bg1"/>
              </a:solidFill>
              <a:latin typeface="Maven Pro Bold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BD45FBD-48FB-A270-2AB8-D8933B1EDD51}"/>
              </a:ext>
            </a:extLst>
          </p:cNvPr>
          <p:cNvCxnSpPr>
            <a:cxnSpLocks/>
          </p:cNvCxnSpPr>
          <p:nvPr/>
        </p:nvCxnSpPr>
        <p:spPr>
          <a:xfrm>
            <a:off x="29691225" y="9525416"/>
            <a:ext cx="0" cy="7099101"/>
          </a:xfrm>
          <a:prstGeom prst="line">
            <a:avLst/>
          </a:prstGeom>
          <a:ln>
            <a:solidFill>
              <a:srgbClr val="E8C5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5D24FEA4-FF7B-6692-2980-40BCD7E1E84D}"/>
              </a:ext>
            </a:extLst>
          </p:cNvPr>
          <p:cNvSpPr/>
          <p:nvPr/>
        </p:nvSpPr>
        <p:spPr>
          <a:xfrm>
            <a:off x="29497442" y="9233567"/>
            <a:ext cx="387567" cy="387567"/>
          </a:xfrm>
          <a:prstGeom prst="ellipse">
            <a:avLst/>
          </a:prstGeom>
          <a:gradFill flip="none" rotWithShape="1">
            <a:gsLst>
              <a:gs pos="0">
                <a:srgbClr val="E8C58C">
                  <a:tint val="66000"/>
                  <a:satMod val="160000"/>
                </a:srgbClr>
              </a:gs>
              <a:gs pos="50000">
                <a:srgbClr val="E8C58C">
                  <a:tint val="44500"/>
                  <a:satMod val="160000"/>
                </a:srgbClr>
              </a:gs>
              <a:gs pos="100000">
                <a:srgbClr val="E8C58C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C461E8-623A-A75C-9A02-76BEDD7171E9}"/>
              </a:ext>
            </a:extLst>
          </p:cNvPr>
          <p:cNvSpPr txBox="1"/>
          <p:nvPr/>
        </p:nvSpPr>
        <p:spPr>
          <a:xfrm>
            <a:off x="29903712" y="14228602"/>
            <a:ext cx="4521498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spc="111" dirty="0">
                <a:solidFill>
                  <a:srgbClr val="002060"/>
                </a:solidFill>
                <a:latin typeface="Maven Pro Bold"/>
              </a:rPr>
              <a:t>Marco histórico de 20 milhões de </a:t>
            </a:r>
            <a:r>
              <a:rPr lang="pt-BR" sz="2800" b="1" spc="111" dirty="0" err="1">
                <a:solidFill>
                  <a:srgbClr val="002060"/>
                </a:solidFill>
                <a:latin typeface="Maven Pro Bold"/>
              </a:rPr>
              <a:t>TEUs</a:t>
            </a:r>
            <a:r>
              <a:rPr lang="pt-BR" sz="2800" b="1" spc="111" dirty="0">
                <a:solidFill>
                  <a:srgbClr val="002060"/>
                </a:solidFill>
                <a:latin typeface="Maven Pro Bold"/>
              </a:rPr>
              <a:t> </a:t>
            </a:r>
            <a:r>
              <a:rPr lang="pt-BR" sz="2800" spc="105" dirty="0">
                <a:solidFill>
                  <a:srgbClr val="002060"/>
                </a:solidFill>
                <a:latin typeface="Maven Pro"/>
              </a:rPr>
              <a:t>movimentados;</a:t>
            </a:r>
          </a:p>
          <a:p>
            <a:endParaRPr lang="pt-BR" sz="3300" dirty="0">
              <a:solidFill>
                <a:srgbClr val="032465"/>
              </a:solidFill>
              <a:latin typeface="Maven Pro" pitchFamily="2" charset="0"/>
            </a:endParaRPr>
          </a:p>
          <a:p>
            <a:r>
              <a:rPr lang="pt-BR" sz="2800" b="1" spc="111" dirty="0">
                <a:solidFill>
                  <a:srgbClr val="002060"/>
                </a:solidFill>
                <a:latin typeface="Maven Pro Bold"/>
              </a:rPr>
              <a:t>Expansão da ferrovia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BBECFD3-03CE-B2D3-4BAC-34C207E1CCEA}"/>
              </a:ext>
            </a:extLst>
          </p:cNvPr>
          <p:cNvSpPr/>
          <p:nvPr/>
        </p:nvSpPr>
        <p:spPr>
          <a:xfrm>
            <a:off x="1852904" y="5406623"/>
            <a:ext cx="2277339" cy="66810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7000">
                <a:schemeClr val="accent1">
                  <a:lumMod val="5000"/>
                  <a:lumOff val="95000"/>
                </a:schemeClr>
              </a:gs>
              <a:gs pos="100000">
                <a:srgbClr val="DDEDFB"/>
              </a:gs>
              <a:gs pos="100000">
                <a:srgbClr val="DDEDFB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3E51B9-7EF6-C79D-74ED-6E4EB1CF3B40}"/>
              </a:ext>
            </a:extLst>
          </p:cNvPr>
          <p:cNvSpPr txBox="1"/>
          <p:nvPr/>
        </p:nvSpPr>
        <p:spPr>
          <a:xfrm>
            <a:off x="1685798" y="5389430"/>
            <a:ext cx="2515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Maven Pro Bold" panose="020B0604020202020204" charset="0"/>
              </a:rPr>
              <a:t>1998</a:t>
            </a:r>
            <a:endParaRPr lang="pt-BR" sz="3600" b="1" dirty="0">
              <a:solidFill>
                <a:schemeClr val="tx2">
                  <a:lumMod val="75000"/>
                </a:schemeClr>
              </a:solidFill>
              <a:latin typeface="Maven Pro Bold" panose="020B060402020202020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22A12D8-2D78-4753-6E24-E4ECFC52BB06}"/>
              </a:ext>
            </a:extLst>
          </p:cNvPr>
          <p:cNvSpPr/>
          <p:nvPr/>
        </p:nvSpPr>
        <p:spPr>
          <a:xfrm>
            <a:off x="4849021" y="12435745"/>
            <a:ext cx="2277339" cy="668103"/>
          </a:xfrm>
          <a:prstGeom prst="roundRect">
            <a:avLst>
              <a:gd name="adj" fmla="val 50000"/>
            </a:avLst>
          </a:prstGeom>
          <a:solidFill>
            <a:srgbClr val="0016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90D765-45A4-19ED-7003-D507E07E55C1}"/>
              </a:ext>
            </a:extLst>
          </p:cNvPr>
          <p:cNvSpPr txBox="1"/>
          <p:nvPr/>
        </p:nvSpPr>
        <p:spPr>
          <a:xfrm>
            <a:off x="5812051" y="8026656"/>
            <a:ext cx="2515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1642"/>
                </a:solidFill>
                <a:latin typeface="Maven Pro Bold" panose="020B0604020202020204" charset="0"/>
              </a:rPr>
              <a:t>2004</a:t>
            </a:r>
            <a:endParaRPr lang="pt-BR" sz="3600" b="1" dirty="0">
              <a:solidFill>
                <a:srgbClr val="001642"/>
              </a:solidFill>
              <a:latin typeface="Maven Pro Bold" panose="020B060402020202020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14FC496-5DBE-AC78-C9A7-9B4E6E23B45E}"/>
              </a:ext>
            </a:extLst>
          </p:cNvPr>
          <p:cNvSpPr/>
          <p:nvPr/>
        </p:nvSpPr>
        <p:spPr>
          <a:xfrm>
            <a:off x="8183615" y="4891673"/>
            <a:ext cx="2277339" cy="66810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7000">
                <a:schemeClr val="accent1">
                  <a:lumMod val="5000"/>
                  <a:lumOff val="95000"/>
                </a:schemeClr>
              </a:gs>
              <a:gs pos="100000">
                <a:srgbClr val="DDEDFB"/>
              </a:gs>
              <a:gs pos="100000">
                <a:srgbClr val="DDEDFB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7D5F93-C2D6-62C2-6670-FAC250F2AC04}"/>
              </a:ext>
            </a:extLst>
          </p:cNvPr>
          <p:cNvSpPr txBox="1"/>
          <p:nvPr/>
        </p:nvSpPr>
        <p:spPr>
          <a:xfrm>
            <a:off x="8064345" y="4876023"/>
            <a:ext cx="2515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Maven Pro Bold" panose="020B0604020202020204" charset="0"/>
              </a:rPr>
              <a:t>2012</a:t>
            </a:r>
            <a:endParaRPr lang="pt-BR" sz="3600" b="1" dirty="0">
              <a:solidFill>
                <a:schemeClr val="tx2">
                  <a:lumMod val="75000"/>
                </a:schemeClr>
              </a:solidFill>
              <a:latin typeface="Maven Pro Bold" panose="020B060402020202020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9065057-091C-7AB1-B613-8FF7EF082C33}"/>
              </a:ext>
            </a:extLst>
          </p:cNvPr>
          <p:cNvSpPr/>
          <p:nvPr/>
        </p:nvSpPr>
        <p:spPr>
          <a:xfrm>
            <a:off x="12705899" y="4921967"/>
            <a:ext cx="2277339" cy="66810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7000">
                <a:schemeClr val="accent1">
                  <a:lumMod val="5000"/>
                  <a:lumOff val="95000"/>
                </a:schemeClr>
              </a:gs>
              <a:gs pos="100000">
                <a:srgbClr val="DDEDFB"/>
              </a:gs>
              <a:gs pos="100000">
                <a:srgbClr val="DDEDFB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686F2C-8600-5088-74AA-05E95717C98F}"/>
              </a:ext>
            </a:extLst>
          </p:cNvPr>
          <p:cNvSpPr txBox="1"/>
          <p:nvPr/>
        </p:nvSpPr>
        <p:spPr>
          <a:xfrm>
            <a:off x="12616164" y="4936412"/>
            <a:ext cx="2515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Maven Pro Bold" panose="020B0604020202020204" charset="0"/>
              </a:rPr>
              <a:t>2014</a:t>
            </a:r>
            <a:endParaRPr lang="pt-BR" sz="3600" b="1" dirty="0">
              <a:solidFill>
                <a:schemeClr val="tx2">
                  <a:lumMod val="75000"/>
                </a:schemeClr>
              </a:solidFill>
              <a:latin typeface="Maven Pro Bold" panose="020B0604020202020204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0557D73-99F5-A4A7-6409-FF6CC1C26FFA}"/>
              </a:ext>
            </a:extLst>
          </p:cNvPr>
          <p:cNvSpPr/>
          <p:nvPr/>
        </p:nvSpPr>
        <p:spPr>
          <a:xfrm>
            <a:off x="17659625" y="3784073"/>
            <a:ext cx="2277339" cy="66810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7000">
                <a:schemeClr val="accent1">
                  <a:lumMod val="5000"/>
                  <a:lumOff val="95000"/>
                </a:schemeClr>
              </a:gs>
              <a:gs pos="100000">
                <a:srgbClr val="DDEDFB"/>
              </a:gs>
              <a:gs pos="100000">
                <a:srgbClr val="DDEDFB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B8643B-8455-2B07-B6BC-7D6BC2B99458}"/>
              </a:ext>
            </a:extLst>
          </p:cNvPr>
          <p:cNvSpPr txBox="1"/>
          <p:nvPr/>
        </p:nvSpPr>
        <p:spPr>
          <a:xfrm>
            <a:off x="17568045" y="3798243"/>
            <a:ext cx="2515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Maven Pro Bold" panose="020B0604020202020204" charset="0"/>
              </a:rPr>
              <a:t>2019</a:t>
            </a:r>
            <a:endParaRPr lang="pt-BR" sz="3600" b="1" dirty="0">
              <a:solidFill>
                <a:schemeClr val="tx2">
                  <a:lumMod val="75000"/>
                </a:schemeClr>
              </a:solidFill>
              <a:latin typeface="Maven Pro Bold" panose="020B0604020202020204" charset="0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E063C9A5-1580-E6D8-2722-C57DAE1D1380}"/>
              </a:ext>
            </a:extLst>
          </p:cNvPr>
          <p:cNvSpPr/>
          <p:nvPr/>
        </p:nvSpPr>
        <p:spPr>
          <a:xfrm>
            <a:off x="22066730" y="3215132"/>
            <a:ext cx="2277339" cy="66810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7000">
                <a:schemeClr val="accent1">
                  <a:lumMod val="5000"/>
                  <a:lumOff val="95000"/>
                </a:schemeClr>
              </a:gs>
              <a:gs pos="100000">
                <a:srgbClr val="DDEDFB"/>
              </a:gs>
              <a:gs pos="100000">
                <a:srgbClr val="DDEDFB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F4CD30C-8A88-7117-D188-74BF2A2CA2CE}"/>
              </a:ext>
            </a:extLst>
          </p:cNvPr>
          <p:cNvSpPr txBox="1"/>
          <p:nvPr/>
        </p:nvSpPr>
        <p:spPr>
          <a:xfrm>
            <a:off x="21947460" y="3199746"/>
            <a:ext cx="2515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Maven Pro Bold" panose="020B0604020202020204" charset="0"/>
              </a:rPr>
              <a:t>2023</a:t>
            </a:r>
            <a:endParaRPr lang="pt-BR" sz="3600" b="1" dirty="0">
              <a:solidFill>
                <a:schemeClr val="tx2">
                  <a:lumMod val="75000"/>
                </a:schemeClr>
              </a:solidFill>
              <a:latin typeface="Maven Pro Bold" panose="020B0604020202020204" charset="0"/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5A2D5634-5A0E-0A00-4A7A-FA0DFCF3EDA0}"/>
              </a:ext>
            </a:extLst>
          </p:cNvPr>
          <p:cNvSpPr/>
          <p:nvPr/>
        </p:nvSpPr>
        <p:spPr>
          <a:xfrm>
            <a:off x="27313007" y="4497803"/>
            <a:ext cx="2277339" cy="66810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7000">
                <a:schemeClr val="accent1">
                  <a:lumMod val="5000"/>
                  <a:lumOff val="95000"/>
                </a:schemeClr>
              </a:gs>
              <a:gs pos="100000">
                <a:srgbClr val="DDEDFB"/>
              </a:gs>
              <a:gs pos="100000">
                <a:srgbClr val="DDEDFB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204C552-DFF0-4BA1-8476-1CDC64C331C1}"/>
              </a:ext>
            </a:extLst>
          </p:cNvPr>
          <p:cNvSpPr txBox="1"/>
          <p:nvPr/>
        </p:nvSpPr>
        <p:spPr>
          <a:xfrm>
            <a:off x="27193737" y="4509183"/>
            <a:ext cx="2515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Maven Pro Bold" panose="020B0604020202020204" charset="0"/>
              </a:rPr>
              <a:t>2025</a:t>
            </a:r>
            <a:endParaRPr lang="pt-BR" sz="3600" b="1" dirty="0">
              <a:solidFill>
                <a:schemeClr val="tx2">
                  <a:lumMod val="75000"/>
                </a:schemeClr>
              </a:solidFill>
              <a:latin typeface="Maven Pro Bold" panose="020B060402020202020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40E46BE-DB75-006C-A3CF-F71BE047482F}"/>
              </a:ext>
            </a:extLst>
          </p:cNvPr>
          <p:cNvSpPr txBox="1"/>
          <p:nvPr/>
        </p:nvSpPr>
        <p:spPr>
          <a:xfrm>
            <a:off x="4709737" y="12428102"/>
            <a:ext cx="2416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Maven Pro Bold" panose="020B0604020202020204" charset="0"/>
              </a:rPr>
              <a:t>2007</a:t>
            </a:r>
            <a:endParaRPr lang="pt-BR" sz="3600" b="1" dirty="0">
              <a:solidFill>
                <a:schemeClr val="bg1"/>
              </a:solidFill>
              <a:latin typeface="Maven Pro Bold" panose="020B0604020202020204" charset="0"/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280859BE-329A-2A10-4304-1102DD76D922}"/>
              </a:ext>
            </a:extLst>
          </p:cNvPr>
          <p:cNvSpPr/>
          <p:nvPr/>
        </p:nvSpPr>
        <p:spPr>
          <a:xfrm>
            <a:off x="10210274" y="14515355"/>
            <a:ext cx="2277339" cy="72095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B2D70">
                  <a:shade val="30000"/>
                  <a:satMod val="115000"/>
                </a:srgbClr>
              </a:gs>
              <a:gs pos="50000">
                <a:srgbClr val="1B2D70">
                  <a:shade val="67500"/>
                  <a:satMod val="115000"/>
                </a:srgbClr>
              </a:gs>
              <a:gs pos="100000">
                <a:srgbClr val="1B2D7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F8DB9CD-908E-609C-8C3E-3FD16712EA64}"/>
              </a:ext>
            </a:extLst>
          </p:cNvPr>
          <p:cNvSpPr txBox="1"/>
          <p:nvPr/>
        </p:nvSpPr>
        <p:spPr>
          <a:xfrm>
            <a:off x="10135650" y="14531187"/>
            <a:ext cx="2416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Maven Pro Bold" panose="020B0604020202020204" charset="0"/>
              </a:rPr>
              <a:t>2013</a:t>
            </a:r>
            <a:endParaRPr lang="pt-BR" sz="3600" b="1" dirty="0">
              <a:solidFill>
                <a:schemeClr val="bg1"/>
              </a:solidFill>
              <a:latin typeface="Maven Pro Bold" panose="020B0604020202020204" charset="0"/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1F0B5752-146E-99B3-9EA0-75E17C70B32B}"/>
              </a:ext>
            </a:extLst>
          </p:cNvPr>
          <p:cNvSpPr/>
          <p:nvPr/>
        </p:nvSpPr>
        <p:spPr>
          <a:xfrm>
            <a:off x="15410291" y="16068976"/>
            <a:ext cx="2277339" cy="72095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B2D70">
                  <a:shade val="30000"/>
                  <a:satMod val="115000"/>
                </a:srgbClr>
              </a:gs>
              <a:gs pos="50000">
                <a:srgbClr val="1B2D70">
                  <a:shade val="67500"/>
                  <a:satMod val="115000"/>
                </a:srgbClr>
              </a:gs>
              <a:gs pos="100000">
                <a:srgbClr val="1B2D7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5626C7C-0DDA-1AC8-70B4-630CC9FD808E}"/>
              </a:ext>
            </a:extLst>
          </p:cNvPr>
          <p:cNvSpPr txBox="1"/>
          <p:nvPr/>
        </p:nvSpPr>
        <p:spPr>
          <a:xfrm>
            <a:off x="15332335" y="16097723"/>
            <a:ext cx="2416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Maven Pro Bold" panose="020B0604020202020204" charset="0"/>
              </a:rPr>
              <a:t>2018</a:t>
            </a:r>
            <a:endParaRPr lang="pt-BR" sz="3600" b="1" dirty="0">
              <a:solidFill>
                <a:schemeClr val="bg1"/>
              </a:solidFill>
              <a:latin typeface="Maven Pro Bold" panose="020B0604020202020204" charset="0"/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5F2F0586-AC9E-C7FC-C3CA-308C689538AB}"/>
              </a:ext>
            </a:extLst>
          </p:cNvPr>
          <p:cNvSpPr/>
          <p:nvPr/>
        </p:nvSpPr>
        <p:spPr>
          <a:xfrm>
            <a:off x="19173137" y="12772952"/>
            <a:ext cx="2277339" cy="72095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B2D70">
                  <a:shade val="30000"/>
                  <a:satMod val="115000"/>
                </a:srgbClr>
              </a:gs>
              <a:gs pos="50000">
                <a:srgbClr val="1B2D70">
                  <a:shade val="67500"/>
                  <a:satMod val="115000"/>
                </a:srgbClr>
              </a:gs>
              <a:gs pos="100000">
                <a:srgbClr val="1B2D7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9649DBD-B662-17DA-58D6-479A7C5B55E8}"/>
              </a:ext>
            </a:extLst>
          </p:cNvPr>
          <p:cNvSpPr txBox="1"/>
          <p:nvPr/>
        </p:nvSpPr>
        <p:spPr>
          <a:xfrm>
            <a:off x="19103494" y="12780683"/>
            <a:ext cx="2416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Maven Pro Bold" panose="020B0604020202020204" charset="0"/>
              </a:rPr>
              <a:t>2021</a:t>
            </a:r>
            <a:endParaRPr lang="pt-BR" sz="3600" b="1" dirty="0">
              <a:solidFill>
                <a:schemeClr val="bg1"/>
              </a:solidFill>
              <a:latin typeface="Maven Pro Bold" panose="020B0604020202020204" charset="0"/>
            </a:endParaRP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666B9821-B113-81B7-C19D-E17D336092AA}"/>
              </a:ext>
            </a:extLst>
          </p:cNvPr>
          <p:cNvSpPr/>
          <p:nvPr/>
        </p:nvSpPr>
        <p:spPr>
          <a:xfrm>
            <a:off x="23746958" y="14547191"/>
            <a:ext cx="2277339" cy="72095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B2D70">
                  <a:shade val="30000"/>
                  <a:satMod val="115000"/>
                </a:srgbClr>
              </a:gs>
              <a:gs pos="50000">
                <a:srgbClr val="1B2D70">
                  <a:shade val="67500"/>
                  <a:satMod val="115000"/>
                </a:srgbClr>
              </a:gs>
              <a:gs pos="100000">
                <a:srgbClr val="1B2D7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835F9F7-F08A-C718-66F7-9493F6169DB7}"/>
              </a:ext>
            </a:extLst>
          </p:cNvPr>
          <p:cNvSpPr txBox="1"/>
          <p:nvPr/>
        </p:nvSpPr>
        <p:spPr>
          <a:xfrm>
            <a:off x="23677315" y="14518488"/>
            <a:ext cx="2416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Maven Pro Bold" panose="020B0604020202020204" charset="0"/>
              </a:rPr>
              <a:t>2024</a:t>
            </a:r>
            <a:endParaRPr lang="pt-BR" sz="3600" b="1" dirty="0">
              <a:solidFill>
                <a:schemeClr val="bg1"/>
              </a:solidFill>
              <a:latin typeface="Maven Pro Bold" panose="020B0604020202020204" charset="0"/>
            </a:endParaRP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2C869A86-1EA7-52AA-14C4-06501E92C72E}"/>
              </a:ext>
            </a:extLst>
          </p:cNvPr>
          <p:cNvSpPr/>
          <p:nvPr/>
        </p:nvSpPr>
        <p:spPr>
          <a:xfrm>
            <a:off x="29021582" y="16837123"/>
            <a:ext cx="2277339" cy="72095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B2D70">
                  <a:shade val="30000"/>
                  <a:satMod val="115000"/>
                </a:srgbClr>
              </a:gs>
              <a:gs pos="50000">
                <a:srgbClr val="1B2D70">
                  <a:shade val="67500"/>
                  <a:satMod val="115000"/>
                </a:srgbClr>
              </a:gs>
              <a:gs pos="100000">
                <a:srgbClr val="1B2D7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472DCFE-1984-9605-BEB9-D2279D763382}"/>
              </a:ext>
            </a:extLst>
          </p:cNvPr>
          <p:cNvSpPr txBox="1"/>
          <p:nvPr/>
        </p:nvSpPr>
        <p:spPr>
          <a:xfrm>
            <a:off x="28951941" y="16838598"/>
            <a:ext cx="2416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Maven Pro Bold" panose="020B0604020202020204" charset="0"/>
              </a:rPr>
              <a:t>2026</a:t>
            </a:r>
            <a:endParaRPr lang="pt-BR" sz="3600" b="1" dirty="0">
              <a:solidFill>
                <a:schemeClr val="bg1"/>
              </a:solidFill>
              <a:latin typeface="Maven Pro Bold" panose="020B0604020202020204" charset="0"/>
            </a:endParaRPr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6E886BBB-FB5B-FFBF-1B7C-C4E3A019966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091" t="37444" r="6221" b="23255"/>
          <a:stretch>
            <a:fillRect/>
          </a:stretch>
        </p:blipFill>
        <p:spPr>
          <a:xfrm>
            <a:off x="870860" y="18637484"/>
            <a:ext cx="2865963" cy="134868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6FB703A-A73D-5421-BF59-32C78996638A}"/>
              </a:ext>
            </a:extLst>
          </p:cNvPr>
          <p:cNvGrpSpPr/>
          <p:nvPr/>
        </p:nvGrpSpPr>
        <p:grpSpPr>
          <a:xfrm>
            <a:off x="5059724" y="16086866"/>
            <a:ext cx="10028427" cy="3417609"/>
            <a:chOff x="1436334" y="5471528"/>
            <a:chExt cx="3613327" cy="1207767"/>
          </a:xfrm>
        </p:grpSpPr>
        <p:pic>
          <p:nvPicPr>
            <p:cNvPr id="7" name="Picture 6" descr="CERTIFICAÇÕES ISO MANTIDAS NA COOPERCARGA - Coopercarga">
              <a:extLst>
                <a:ext uri="{FF2B5EF4-FFF2-40B4-BE49-F238E27FC236}">
                  <a16:creationId xmlns:a16="http://schemas.microsoft.com/office/drawing/2014/main" id="{D509FC0D-4CBC-CC69-43D5-98D681BB48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6334" y="5471528"/>
              <a:ext cx="1860321" cy="12077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8" descr="Quais as principais mudanças da ISO 45001 | ISC Treinamentos">
              <a:extLst>
                <a:ext uri="{FF2B5EF4-FFF2-40B4-BE49-F238E27FC236}">
                  <a16:creationId xmlns:a16="http://schemas.microsoft.com/office/drawing/2014/main" id="{E35440F6-FE73-55C8-3DF0-B00C56FA65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882" y="5630883"/>
              <a:ext cx="1141064" cy="8132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0" descr="ISO 50001:2018 - Silvertrand Solutions">
              <a:extLst>
                <a:ext uri="{FF2B5EF4-FFF2-40B4-BE49-F238E27FC236}">
                  <a16:creationId xmlns:a16="http://schemas.microsoft.com/office/drawing/2014/main" id="{3B82E7E9-04A2-5992-17D1-4D9552F00C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8913" y="5547027"/>
              <a:ext cx="1200748" cy="9605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" name="Picture 2" descr="CMPort (China Merchants Group) | LinkedIn">
            <a:extLst>
              <a:ext uri="{FF2B5EF4-FFF2-40B4-BE49-F238E27FC236}">
                <a16:creationId xmlns:a16="http://schemas.microsoft.com/office/drawing/2014/main" id="{187FC11D-6FF8-AF7F-4709-14C4FEE24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025996" y="15562753"/>
            <a:ext cx="1138532" cy="113853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8">
            <a:extLst>
              <a:ext uri="{FF2B5EF4-FFF2-40B4-BE49-F238E27FC236}">
                <a16:creationId xmlns:a16="http://schemas.microsoft.com/office/drawing/2014/main" id="{DEE78C2B-9DD3-AD83-2025-3AE228021CEA}"/>
              </a:ext>
            </a:extLst>
          </p:cNvPr>
          <p:cNvGrpSpPr/>
          <p:nvPr/>
        </p:nvGrpSpPr>
        <p:grpSpPr>
          <a:xfrm>
            <a:off x="32153636" y="-794549"/>
            <a:ext cx="4860170" cy="2453270"/>
            <a:chOff x="0" y="62062"/>
            <a:chExt cx="2507310" cy="1179076"/>
          </a:xfrm>
        </p:grpSpPr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F3749CE5-C63E-D3BD-F089-B96D8805D2F6}"/>
                </a:ext>
              </a:extLst>
            </p:cNvPr>
            <p:cNvSpPr/>
            <p:nvPr/>
          </p:nvSpPr>
          <p:spPr>
            <a:xfrm>
              <a:off x="0" y="62062"/>
              <a:ext cx="2507310" cy="1179076"/>
            </a:xfrm>
            <a:custGeom>
              <a:avLst/>
              <a:gdLst/>
              <a:ahLst/>
              <a:cxnLst/>
              <a:rect l="l" t="t" r="r" b="b"/>
              <a:pathLst>
                <a:path w="2671572" h="1348232">
                  <a:moveTo>
                    <a:pt x="0" y="0"/>
                  </a:moveTo>
                  <a:lnTo>
                    <a:pt x="2671572" y="0"/>
                  </a:lnTo>
                  <a:lnTo>
                    <a:pt x="2671572" y="1348232"/>
                  </a:lnTo>
                  <a:lnTo>
                    <a:pt x="0" y="1348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t="-20131" r="-1" b="-20130"/>
              </a:stretch>
            </a:blipFill>
          </p:spPr>
          <p:txBody>
            <a:bodyPr/>
            <a:lstStyle/>
            <a:p>
              <a:endParaRPr lang="pt-BR" sz="3600"/>
            </a:p>
          </p:txBody>
        </p:sp>
      </p:grpSp>
      <p:sp>
        <p:nvSpPr>
          <p:cNvPr id="18" name="TextBox 32">
            <a:extLst>
              <a:ext uri="{FF2B5EF4-FFF2-40B4-BE49-F238E27FC236}">
                <a16:creationId xmlns:a16="http://schemas.microsoft.com/office/drawing/2014/main" id="{E9009913-5260-DA36-0DA0-00BDC72C5A38}"/>
              </a:ext>
            </a:extLst>
          </p:cNvPr>
          <p:cNvSpPr txBox="1"/>
          <p:nvPr/>
        </p:nvSpPr>
        <p:spPr>
          <a:xfrm>
            <a:off x="10964038" y="11005669"/>
            <a:ext cx="38956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spc="111" dirty="0">
                <a:solidFill>
                  <a:srgbClr val="001642"/>
                </a:solidFill>
                <a:latin typeface="Maven Pro Bold"/>
              </a:rPr>
              <a:t>Assinatura 10TA</a:t>
            </a:r>
          </a:p>
          <a:p>
            <a:r>
              <a:rPr lang="pt-BR" sz="2800" spc="105" dirty="0" err="1">
                <a:solidFill>
                  <a:srgbClr val="001642"/>
                </a:solidFill>
                <a:latin typeface="Maven Pro"/>
              </a:rPr>
              <a:t>Renov</a:t>
            </a:r>
            <a:r>
              <a:rPr lang="pt-BR" sz="2800" spc="105" dirty="0">
                <a:solidFill>
                  <a:srgbClr val="001642"/>
                </a:solidFill>
                <a:latin typeface="Maven Pro"/>
              </a:rPr>
              <a:t>. Antecipada</a:t>
            </a:r>
          </a:p>
        </p:txBody>
      </p:sp>
      <p:cxnSp>
        <p:nvCxnSpPr>
          <p:cNvPr id="23" name="Straight Connector 41">
            <a:extLst>
              <a:ext uri="{FF2B5EF4-FFF2-40B4-BE49-F238E27FC236}">
                <a16:creationId xmlns:a16="http://schemas.microsoft.com/office/drawing/2014/main" id="{79DD29B6-36CD-A45A-64FA-AAF84E19EAAC}"/>
              </a:ext>
            </a:extLst>
          </p:cNvPr>
          <p:cNvCxnSpPr>
            <a:cxnSpLocks/>
          </p:cNvCxnSpPr>
          <p:nvPr/>
        </p:nvCxnSpPr>
        <p:spPr>
          <a:xfrm>
            <a:off x="14441118" y="9251914"/>
            <a:ext cx="0" cy="2635368"/>
          </a:xfrm>
          <a:prstGeom prst="line">
            <a:avLst/>
          </a:prstGeom>
          <a:ln>
            <a:solidFill>
              <a:srgbClr val="E8C5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42">
            <a:extLst>
              <a:ext uri="{FF2B5EF4-FFF2-40B4-BE49-F238E27FC236}">
                <a16:creationId xmlns:a16="http://schemas.microsoft.com/office/drawing/2014/main" id="{19CA79C5-DED1-BF27-D880-70F9C556ADBF}"/>
              </a:ext>
            </a:extLst>
          </p:cNvPr>
          <p:cNvSpPr/>
          <p:nvPr/>
        </p:nvSpPr>
        <p:spPr>
          <a:xfrm>
            <a:off x="14276832" y="9276722"/>
            <a:ext cx="387567" cy="387567"/>
          </a:xfrm>
          <a:prstGeom prst="ellipse">
            <a:avLst/>
          </a:prstGeom>
          <a:gradFill flip="none" rotWithShape="1">
            <a:gsLst>
              <a:gs pos="0">
                <a:srgbClr val="E8C58C">
                  <a:tint val="66000"/>
                  <a:satMod val="160000"/>
                </a:srgbClr>
              </a:gs>
              <a:gs pos="50000">
                <a:srgbClr val="E8C58C">
                  <a:tint val="44500"/>
                  <a:satMod val="160000"/>
                </a:srgbClr>
              </a:gs>
              <a:gs pos="100000">
                <a:srgbClr val="E8C58C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39" name="Rectangle: Rounded Corners 94">
            <a:extLst>
              <a:ext uri="{FF2B5EF4-FFF2-40B4-BE49-F238E27FC236}">
                <a16:creationId xmlns:a16="http://schemas.microsoft.com/office/drawing/2014/main" id="{3E43072C-515E-785C-9025-E3AC9995110F}"/>
              </a:ext>
            </a:extLst>
          </p:cNvPr>
          <p:cNvSpPr/>
          <p:nvPr/>
        </p:nvSpPr>
        <p:spPr>
          <a:xfrm>
            <a:off x="13380266" y="12133623"/>
            <a:ext cx="2277339" cy="72095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B2D70">
                  <a:shade val="30000"/>
                  <a:satMod val="115000"/>
                </a:srgbClr>
              </a:gs>
              <a:gs pos="50000">
                <a:srgbClr val="1B2D70">
                  <a:shade val="67500"/>
                  <a:satMod val="115000"/>
                </a:srgbClr>
              </a:gs>
              <a:gs pos="100000">
                <a:srgbClr val="1B2D7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36" name="TextBox 86">
            <a:extLst>
              <a:ext uri="{FF2B5EF4-FFF2-40B4-BE49-F238E27FC236}">
                <a16:creationId xmlns:a16="http://schemas.microsoft.com/office/drawing/2014/main" id="{2940E9DD-E83F-F7B1-4B6F-970E070D6260}"/>
              </a:ext>
            </a:extLst>
          </p:cNvPr>
          <p:cNvSpPr txBox="1"/>
          <p:nvPr/>
        </p:nvSpPr>
        <p:spPr>
          <a:xfrm>
            <a:off x="13307614" y="12153510"/>
            <a:ext cx="2416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Maven Pro Bold" panose="020B0604020202020204" charset="0"/>
              </a:rPr>
              <a:t>2007</a:t>
            </a:r>
            <a:endParaRPr lang="pt-BR" sz="3600" b="1" dirty="0">
              <a:solidFill>
                <a:schemeClr val="bg1"/>
              </a:solidFill>
              <a:latin typeface="Maven Pro Bol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347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E1F3F-92E3-CE73-1AA8-9DB4F2FDF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3415451-C4C5-EFA1-F1B3-D602C990C582}"/>
              </a:ext>
            </a:extLst>
          </p:cNvPr>
          <p:cNvSpPr/>
          <p:nvPr/>
        </p:nvSpPr>
        <p:spPr>
          <a:xfrm>
            <a:off x="0" y="0"/>
            <a:ext cx="36576000" cy="20574000"/>
          </a:xfrm>
          <a:custGeom>
            <a:avLst/>
            <a:gdLst/>
            <a:ahLst/>
            <a:cxnLst/>
            <a:rect l="l" t="t" r="r" b="b"/>
            <a:pathLst>
              <a:path w="36576000" h="20574000">
                <a:moveTo>
                  <a:pt x="0" y="0"/>
                </a:moveTo>
                <a:lnTo>
                  <a:pt x="36576000" y="0"/>
                </a:lnTo>
                <a:lnTo>
                  <a:pt x="36576000" y="20574000"/>
                </a:lnTo>
                <a:lnTo>
                  <a:pt x="0" y="205740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3169" t="-15782" b="-6416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9" name="Group 16">
            <a:extLst>
              <a:ext uri="{FF2B5EF4-FFF2-40B4-BE49-F238E27FC236}">
                <a16:creationId xmlns:a16="http://schemas.microsoft.com/office/drawing/2014/main" id="{B86C5B93-9EBB-87F1-BE2E-B657E4A8914B}"/>
              </a:ext>
            </a:extLst>
          </p:cNvPr>
          <p:cNvGrpSpPr/>
          <p:nvPr/>
        </p:nvGrpSpPr>
        <p:grpSpPr>
          <a:xfrm rot="-10800000">
            <a:off x="1322650" y="998471"/>
            <a:ext cx="33930701" cy="18577059"/>
            <a:chOff x="0" y="0"/>
            <a:chExt cx="45240935" cy="24769411"/>
          </a:xfrm>
        </p:grpSpPr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334C4E8F-FDF9-13F8-73A0-8EE78F9EA9C1}"/>
                </a:ext>
              </a:extLst>
            </p:cNvPr>
            <p:cNvSpPr/>
            <p:nvPr/>
          </p:nvSpPr>
          <p:spPr>
            <a:xfrm>
              <a:off x="0" y="0"/>
              <a:ext cx="45240935" cy="24769411"/>
            </a:xfrm>
            <a:custGeom>
              <a:avLst/>
              <a:gdLst/>
              <a:ahLst/>
              <a:cxnLst/>
              <a:rect l="l" t="t" r="r" b="b"/>
              <a:pathLst>
                <a:path w="45240935" h="24769412">
                  <a:moveTo>
                    <a:pt x="0" y="0"/>
                  </a:moveTo>
                  <a:lnTo>
                    <a:pt x="45240935" y="0"/>
                  </a:lnTo>
                  <a:lnTo>
                    <a:pt x="45240935" y="24769412"/>
                  </a:lnTo>
                  <a:lnTo>
                    <a:pt x="0" y="24769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pt-BR" dirty="0">
                <a:latin typeface="Maven Pro" panose="020B0604020202020204" charset="0"/>
              </a:endParaRPr>
            </a:p>
          </p:txBody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6E5CEE39-86C6-3ED1-9AA6-8C419BB3D3AE}"/>
                </a:ext>
              </a:extLst>
            </p:cNvPr>
            <p:cNvSpPr/>
            <p:nvPr/>
          </p:nvSpPr>
          <p:spPr>
            <a:xfrm>
              <a:off x="6411916" y="0"/>
              <a:ext cx="2654619" cy="2366235"/>
            </a:xfrm>
            <a:custGeom>
              <a:avLst/>
              <a:gdLst/>
              <a:ahLst/>
              <a:cxnLst/>
              <a:rect l="l" t="t" r="r" b="b"/>
              <a:pathLst>
                <a:path w="2654619" h="2366235">
                  <a:moveTo>
                    <a:pt x="0" y="0"/>
                  </a:moveTo>
                  <a:lnTo>
                    <a:pt x="2654618" y="0"/>
                  </a:lnTo>
                  <a:lnTo>
                    <a:pt x="2654618" y="2366235"/>
                  </a:lnTo>
                  <a:lnTo>
                    <a:pt x="0" y="2366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31256" r="-1272978" b="-946785"/>
              </a:stretch>
            </a:blipFill>
          </p:spPr>
          <p:txBody>
            <a:bodyPr/>
            <a:lstStyle/>
            <a:p>
              <a:endParaRPr lang="pt-BR">
                <a:latin typeface="Maven Pro" panose="020B0604020202020204" charset="0"/>
              </a:endParaRPr>
            </a:p>
          </p:txBody>
        </p:sp>
      </p:grpSp>
      <p:sp>
        <p:nvSpPr>
          <p:cNvPr id="54" name="Freeform 2">
            <a:extLst>
              <a:ext uri="{FF2B5EF4-FFF2-40B4-BE49-F238E27FC236}">
                <a16:creationId xmlns:a16="http://schemas.microsoft.com/office/drawing/2014/main" id="{B77DEBE8-5188-C4DF-216A-3F67FF9EAA43}"/>
              </a:ext>
            </a:extLst>
          </p:cNvPr>
          <p:cNvSpPr/>
          <p:nvPr/>
        </p:nvSpPr>
        <p:spPr>
          <a:xfrm>
            <a:off x="0" y="0"/>
            <a:ext cx="36576000" cy="20574000"/>
          </a:xfrm>
          <a:custGeom>
            <a:avLst/>
            <a:gdLst/>
            <a:ahLst/>
            <a:cxnLst/>
            <a:rect l="l" t="t" r="r" b="b"/>
            <a:pathLst>
              <a:path w="36576000" h="20574000">
                <a:moveTo>
                  <a:pt x="0" y="0"/>
                </a:moveTo>
                <a:lnTo>
                  <a:pt x="36576000" y="0"/>
                </a:lnTo>
                <a:lnTo>
                  <a:pt x="36576000" y="20574000"/>
                </a:lnTo>
                <a:lnTo>
                  <a:pt x="0" y="20574000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7740" b="-1070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5" name="Freeform 4">
            <a:extLst>
              <a:ext uri="{FF2B5EF4-FFF2-40B4-BE49-F238E27FC236}">
                <a16:creationId xmlns:a16="http://schemas.microsoft.com/office/drawing/2014/main" id="{05FCF0B4-B074-2609-0FF6-A26E83B198B7}"/>
              </a:ext>
            </a:extLst>
          </p:cNvPr>
          <p:cNvSpPr/>
          <p:nvPr/>
        </p:nvSpPr>
        <p:spPr>
          <a:xfrm>
            <a:off x="31983662" y="116806"/>
            <a:ext cx="3941518" cy="1853888"/>
          </a:xfrm>
          <a:custGeom>
            <a:avLst/>
            <a:gdLst/>
            <a:ahLst/>
            <a:cxnLst/>
            <a:rect l="l" t="t" r="r" b="b"/>
            <a:pathLst>
              <a:path w="3941518" h="1853888">
                <a:moveTo>
                  <a:pt x="0" y="0"/>
                </a:moveTo>
                <a:lnTo>
                  <a:pt x="3941518" y="0"/>
                </a:lnTo>
                <a:lnTo>
                  <a:pt x="3941518" y="1853888"/>
                </a:lnTo>
                <a:lnTo>
                  <a:pt x="0" y="1853888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80150" b="-43157"/>
            </a:stretch>
          </a:blipFill>
        </p:spPr>
        <p:txBody>
          <a:bodyPr/>
          <a:lstStyle/>
          <a:p>
            <a:endParaRPr lang="pt-BR">
              <a:latin typeface="Maven Pro" panose="020B0604020202020204" charset="0"/>
            </a:endParaRPr>
          </a:p>
        </p:txBody>
      </p:sp>
      <p:grpSp>
        <p:nvGrpSpPr>
          <p:cNvPr id="59" name="Group 7">
            <a:extLst>
              <a:ext uri="{FF2B5EF4-FFF2-40B4-BE49-F238E27FC236}">
                <a16:creationId xmlns:a16="http://schemas.microsoft.com/office/drawing/2014/main" id="{60E65970-535A-3948-D2C8-BBCAA4B14C20}"/>
              </a:ext>
            </a:extLst>
          </p:cNvPr>
          <p:cNvGrpSpPr/>
          <p:nvPr/>
        </p:nvGrpSpPr>
        <p:grpSpPr>
          <a:xfrm>
            <a:off x="23319416" y="2622044"/>
            <a:ext cx="10843082" cy="1853888"/>
            <a:chOff x="-39951" y="-85725"/>
            <a:chExt cx="2179148" cy="530744"/>
          </a:xfrm>
        </p:grpSpPr>
        <p:sp>
          <p:nvSpPr>
            <p:cNvPr id="60" name="Freeform 8">
              <a:extLst>
                <a:ext uri="{FF2B5EF4-FFF2-40B4-BE49-F238E27FC236}">
                  <a16:creationId xmlns:a16="http://schemas.microsoft.com/office/drawing/2014/main" id="{F0E6A870-25E2-4DFD-AB63-CE5327F1398D}"/>
                </a:ext>
              </a:extLst>
            </p:cNvPr>
            <p:cNvSpPr/>
            <p:nvPr/>
          </p:nvSpPr>
          <p:spPr>
            <a:xfrm>
              <a:off x="-39951" y="0"/>
              <a:ext cx="2179148" cy="445019"/>
            </a:xfrm>
            <a:prstGeom prst="roundRect">
              <a:avLst/>
            </a:prstGeom>
            <a:gradFill flip="none" rotWithShape="1">
              <a:gsLst>
                <a:gs pos="0">
                  <a:srgbClr val="C11D0E">
                    <a:shade val="30000"/>
                    <a:satMod val="115000"/>
                  </a:srgbClr>
                </a:gs>
                <a:gs pos="50000">
                  <a:srgbClr val="C11D0E">
                    <a:shade val="67500"/>
                    <a:satMod val="115000"/>
                  </a:srgbClr>
                </a:gs>
                <a:gs pos="100000">
                  <a:srgbClr val="C11D0E">
                    <a:shade val="100000"/>
                    <a:satMod val="115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</p:spPr>
          <p:txBody>
            <a:bodyPr/>
            <a:lstStyle/>
            <a:p>
              <a:endParaRPr lang="pt-BR">
                <a:latin typeface="Maven Pro" panose="020B0604020202020204" charset="0"/>
              </a:endParaRPr>
            </a:p>
          </p:txBody>
        </p:sp>
        <p:sp>
          <p:nvSpPr>
            <p:cNvPr id="61" name="TextBox 9">
              <a:extLst>
                <a:ext uri="{FF2B5EF4-FFF2-40B4-BE49-F238E27FC236}">
                  <a16:creationId xmlns:a16="http://schemas.microsoft.com/office/drawing/2014/main" id="{FCFBB8E2-1181-5AB0-EA85-B5D17C8B79A8}"/>
                </a:ext>
              </a:extLst>
            </p:cNvPr>
            <p:cNvSpPr txBox="1"/>
            <p:nvPr/>
          </p:nvSpPr>
          <p:spPr>
            <a:xfrm>
              <a:off x="0" y="-85725"/>
              <a:ext cx="2139197" cy="530744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226"/>
                </a:lnSpc>
              </a:pPr>
              <a:endParaRPr>
                <a:latin typeface="Maven Pro" panose="020B0604020202020204" charset="0"/>
              </a:endParaRPr>
            </a:p>
          </p:txBody>
        </p:sp>
      </p:grpSp>
      <p:sp>
        <p:nvSpPr>
          <p:cNvPr id="62" name="Freeform 10">
            <a:extLst>
              <a:ext uri="{FF2B5EF4-FFF2-40B4-BE49-F238E27FC236}">
                <a16:creationId xmlns:a16="http://schemas.microsoft.com/office/drawing/2014/main" id="{9796776B-5959-525F-C3AC-A6D5F9865FF8}"/>
              </a:ext>
            </a:extLst>
          </p:cNvPr>
          <p:cNvSpPr/>
          <p:nvPr/>
        </p:nvSpPr>
        <p:spPr>
          <a:xfrm>
            <a:off x="23706176" y="3045587"/>
            <a:ext cx="1449941" cy="1193018"/>
          </a:xfrm>
          <a:custGeom>
            <a:avLst/>
            <a:gdLst/>
            <a:ahLst/>
            <a:cxnLst/>
            <a:rect l="l" t="t" r="r" b="b"/>
            <a:pathLst>
              <a:path w="2541786" h="2408342">
                <a:moveTo>
                  <a:pt x="0" y="0"/>
                </a:moveTo>
                <a:lnTo>
                  <a:pt x="2541786" y="0"/>
                </a:lnTo>
                <a:lnTo>
                  <a:pt x="2541786" y="2408343"/>
                </a:lnTo>
                <a:lnTo>
                  <a:pt x="0" y="2408343"/>
                </a:lnTo>
                <a:lnTo>
                  <a:pt x="0" y="0"/>
                </a:lnTo>
                <a:close/>
              </a:path>
            </a:pathLst>
          </a:custGeom>
          <a:blipFill>
            <a:blip r:embed="rId8" cstate="email">
              <a:alphaModFix/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dirty="0">
              <a:latin typeface="Maven Pro" panose="020B0604020202020204" charset="0"/>
            </a:endParaRPr>
          </a:p>
        </p:txBody>
      </p:sp>
      <p:sp>
        <p:nvSpPr>
          <p:cNvPr id="63" name="TextBox 13">
            <a:extLst>
              <a:ext uri="{FF2B5EF4-FFF2-40B4-BE49-F238E27FC236}">
                <a16:creationId xmlns:a16="http://schemas.microsoft.com/office/drawing/2014/main" id="{4871F6F1-A487-C581-B8F8-D2C64F1C138B}"/>
              </a:ext>
            </a:extLst>
          </p:cNvPr>
          <p:cNvSpPr txBox="1"/>
          <p:nvPr/>
        </p:nvSpPr>
        <p:spPr>
          <a:xfrm>
            <a:off x="899677" y="4582642"/>
            <a:ext cx="15971804" cy="7023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55"/>
              </a:lnSpc>
            </a:pPr>
            <a:r>
              <a:rPr lang="pt-BR" sz="3600" noProof="0" dirty="0">
                <a:solidFill>
                  <a:srgbClr val="002060"/>
                </a:solidFill>
                <a:latin typeface="Maven Pro" panose="020B0604020202020204" charset="0"/>
                <a:ea typeface="Open Sans"/>
                <a:cs typeface="Open Sans"/>
                <a:sym typeface="Open Sans"/>
              </a:rPr>
              <a:t>A empresa movimentou, em 2025, um total de </a:t>
            </a:r>
          </a:p>
          <a:p>
            <a:pPr algn="l">
              <a:lnSpc>
                <a:spcPts val="7955"/>
              </a:lnSpc>
            </a:pPr>
            <a:endParaRPr lang="pt-BR" sz="3200" noProof="0" dirty="0">
              <a:solidFill>
                <a:srgbClr val="002060"/>
              </a:solidFill>
              <a:latin typeface="Maven Pro" panose="020B0604020202020204" charset="0"/>
              <a:ea typeface="Open Sans"/>
              <a:cs typeface="Open Sans"/>
              <a:sym typeface="Open Sans"/>
            </a:endParaRPr>
          </a:p>
          <a:p>
            <a:pPr algn="l">
              <a:lnSpc>
                <a:spcPts val="7955"/>
              </a:lnSpc>
            </a:pPr>
            <a:endParaRPr lang="pt-BR" sz="3200" dirty="0">
              <a:solidFill>
                <a:srgbClr val="002060"/>
              </a:solidFill>
              <a:latin typeface="Maven Pro" panose="020B0604020202020204" charset="0"/>
              <a:ea typeface="Open Sans"/>
              <a:cs typeface="Open Sans"/>
              <a:sym typeface="Open Sans"/>
            </a:endParaRPr>
          </a:p>
          <a:p>
            <a:pPr algn="l">
              <a:lnSpc>
                <a:spcPts val="7955"/>
              </a:lnSpc>
            </a:pPr>
            <a:endParaRPr lang="pt-BR" sz="3200" noProof="0" dirty="0">
              <a:solidFill>
                <a:srgbClr val="002060"/>
              </a:solidFill>
              <a:latin typeface="Maven Pro" panose="020B0604020202020204" charset="0"/>
              <a:ea typeface="Open Sans"/>
              <a:cs typeface="Open Sans"/>
              <a:sym typeface="Open Sans"/>
            </a:endParaRPr>
          </a:p>
          <a:p>
            <a:pPr>
              <a:lnSpc>
                <a:spcPts val="7955"/>
              </a:lnSpc>
            </a:pPr>
            <a:r>
              <a:rPr lang="pt-BR" sz="3600" noProof="0" dirty="0">
                <a:solidFill>
                  <a:srgbClr val="002060"/>
                </a:solidFill>
                <a:latin typeface="Maven Pro" panose="020B0604020202020204" charset="0"/>
                <a:ea typeface="Open Sans"/>
                <a:cs typeface="Open Sans"/>
                <a:sym typeface="Open Sans"/>
              </a:rPr>
              <a:t>em carga conteinerizada e fez uma movimentação total de carga em granel de </a:t>
            </a:r>
            <a:r>
              <a:rPr lang="pt-BR" sz="3600" b="1" dirty="0">
                <a:solidFill>
                  <a:srgbClr val="002060"/>
                </a:solidFill>
                <a:latin typeface="Maven Pro Bold" panose="020B0604020202020204" charset="0"/>
                <a:ea typeface="Open Sans"/>
                <a:cs typeface="Open Sans"/>
                <a:sym typeface="Open Sans"/>
              </a:rPr>
              <a:t>1,27 bilhão de toneladas</a:t>
            </a:r>
            <a:r>
              <a:rPr lang="pt-BR" sz="3600" noProof="0" dirty="0">
                <a:solidFill>
                  <a:srgbClr val="002060"/>
                </a:solidFill>
                <a:latin typeface="Maven Pro" panose="020B0604020202020204" charset="0"/>
                <a:ea typeface="Open Sans"/>
                <a:cs typeface="Open Sans"/>
                <a:sym typeface="Open Sans"/>
              </a:rPr>
              <a:t>.</a:t>
            </a:r>
          </a:p>
          <a:p>
            <a:pPr>
              <a:lnSpc>
                <a:spcPts val="7955"/>
              </a:lnSpc>
            </a:pPr>
            <a:r>
              <a:rPr lang="pt-BR" sz="3200" dirty="0">
                <a:solidFill>
                  <a:srgbClr val="002060"/>
                </a:solidFill>
                <a:latin typeface="Maven Pro" panose="020B0604020202020204" charset="0"/>
                <a:ea typeface="Open Sans"/>
                <a:cs typeface="Open Sans"/>
                <a:sym typeface="Open Sans"/>
              </a:rPr>
              <a:t>(*) considerando movimentação total dos terminais que possui participação.</a:t>
            </a:r>
            <a:endParaRPr lang="pt-BR" sz="3200" noProof="0" dirty="0">
              <a:solidFill>
                <a:srgbClr val="002060"/>
              </a:solidFill>
              <a:latin typeface="Maven Pro" panose="020B060402020202020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64" name="TextBox 14">
            <a:extLst>
              <a:ext uri="{FF2B5EF4-FFF2-40B4-BE49-F238E27FC236}">
                <a16:creationId xmlns:a16="http://schemas.microsoft.com/office/drawing/2014/main" id="{4E87BAA8-8B2F-CC65-8127-E32DCA9D8F0D}"/>
              </a:ext>
            </a:extLst>
          </p:cNvPr>
          <p:cNvSpPr txBox="1"/>
          <p:nvPr/>
        </p:nvSpPr>
        <p:spPr>
          <a:xfrm>
            <a:off x="25481246" y="3179120"/>
            <a:ext cx="7975112" cy="765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67"/>
              </a:lnSpc>
            </a:pPr>
            <a:r>
              <a:rPr lang="en-US" sz="4400" b="1" dirty="0">
                <a:solidFill>
                  <a:schemeClr val="bg1"/>
                </a:solidFill>
                <a:latin typeface="Maven Pro" panose="020B0604020202020204" charset="0"/>
                <a:ea typeface="Open Sans"/>
                <a:cs typeface="Open Sans"/>
                <a:sym typeface="Open Sans"/>
              </a:rPr>
              <a:t>A CMPORT ESTÁ PRESENTE EM </a:t>
            </a:r>
          </a:p>
        </p:txBody>
      </p:sp>
      <p:sp>
        <p:nvSpPr>
          <p:cNvPr id="66" name="Freeform 4">
            <a:extLst>
              <a:ext uri="{FF2B5EF4-FFF2-40B4-BE49-F238E27FC236}">
                <a16:creationId xmlns:a16="http://schemas.microsoft.com/office/drawing/2014/main" id="{AE282B26-7F74-5B21-08CF-AFACECA33B8B}"/>
              </a:ext>
            </a:extLst>
          </p:cNvPr>
          <p:cNvSpPr/>
          <p:nvPr/>
        </p:nvSpPr>
        <p:spPr>
          <a:xfrm>
            <a:off x="17526090" y="5440801"/>
            <a:ext cx="19049910" cy="10871479"/>
          </a:xfrm>
          <a:prstGeom prst="rect">
            <a:avLst/>
          </a:prstGeom>
          <a:blipFill>
            <a:blip r:embed="rId9"/>
            <a:stretch>
              <a:fillRect l="-2583" t="-8730" b="-5834"/>
            </a:stretch>
          </a:blip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pt-BR" dirty="0"/>
          </a:p>
        </p:txBody>
      </p:sp>
      <p:sp>
        <p:nvSpPr>
          <p:cNvPr id="67" name="TextBox 13">
            <a:extLst>
              <a:ext uri="{FF2B5EF4-FFF2-40B4-BE49-F238E27FC236}">
                <a16:creationId xmlns:a16="http://schemas.microsoft.com/office/drawing/2014/main" id="{6BEB4973-E238-E7A9-B831-6212B9EA7C20}"/>
              </a:ext>
            </a:extLst>
          </p:cNvPr>
          <p:cNvSpPr txBox="1"/>
          <p:nvPr/>
        </p:nvSpPr>
        <p:spPr>
          <a:xfrm>
            <a:off x="1202168" y="6419795"/>
            <a:ext cx="11706588" cy="2059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55"/>
              </a:lnSpc>
            </a:pPr>
            <a:r>
              <a:rPr lang="pt-BR" sz="9600" b="1" noProof="0" dirty="0">
                <a:solidFill>
                  <a:srgbClr val="002060"/>
                </a:solidFill>
                <a:latin typeface="Maven Pro Bold" panose="020B0604020202020204" charset="0"/>
                <a:ea typeface="Open Sans"/>
                <a:cs typeface="Open Sans"/>
                <a:sym typeface="Open Sans"/>
              </a:rPr>
              <a:t>210 milhões de </a:t>
            </a:r>
            <a:r>
              <a:rPr lang="pt-BR" sz="9600" b="1" noProof="0" dirty="0" err="1">
                <a:solidFill>
                  <a:srgbClr val="002060"/>
                </a:solidFill>
                <a:latin typeface="Maven Pro Bold" panose="020B0604020202020204" charset="0"/>
                <a:ea typeface="Open Sans"/>
                <a:cs typeface="Open Sans"/>
                <a:sym typeface="Open Sans"/>
              </a:rPr>
              <a:t>TEUs</a:t>
            </a:r>
            <a:r>
              <a:rPr lang="pt-BR" sz="9600" b="1" noProof="0" dirty="0">
                <a:solidFill>
                  <a:srgbClr val="002060"/>
                </a:solidFill>
                <a:latin typeface="Maven Pro Bold" panose="020B0604020202020204" charset="0"/>
                <a:ea typeface="Open Sans"/>
                <a:cs typeface="Open Sans"/>
                <a:sym typeface="Open Sans"/>
              </a:rPr>
              <a:t> </a:t>
            </a:r>
          </a:p>
        </p:txBody>
      </p:sp>
      <p:cxnSp>
        <p:nvCxnSpPr>
          <p:cNvPr id="69" name="Conector reto 68">
            <a:extLst>
              <a:ext uri="{FF2B5EF4-FFF2-40B4-BE49-F238E27FC236}">
                <a16:creationId xmlns:a16="http://schemas.microsoft.com/office/drawing/2014/main" id="{B5E34340-A49C-381E-99F3-7AE9738CCDB5}"/>
              </a:ext>
            </a:extLst>
          </p:cNvPr>
          <p:cNvCxnSpPr>
            <a:cxnSpLocks/>
          </p:cNvCxnSpPr>
          <p:nvPr/>
        </p:nvCxnSpPr>
        <p:spPr>
          <a:xfrm>
            <a:off x="25239711" y="4689044"/>
            <a:ext cx="0" cy="578942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15">
            <a:extLst>
              <a:ext uri="{FF2B5EF4-FFF2-40B4-BE49-F238E27FC236}">
                <a16:creationId xmlns:a16="http://schemas.microsoft.com/office/drawing/2014/main" id="{EB90B71A-6E77-2184-A60B-03DDE71C6E77}"/>
              </a:ext>
            </a:extLst>
          </p:cNvPr>
          <p:cNvSpPr txBox="1"/>
          <p:nvPr/>
        </p:nvSpPr>
        <p:spPr>
          <a:xfrm>
            <a:off x="1876539" y="14737055"/>
            <a:ext cx="11277702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pt-BR" sz="3600" dirty="0">
                <a:solidFill>
                  <a:srgbClr val="002060"/>
                </a:solidFill>
                <a:latin typeface="Maven Pro Bold" panose="020B0604020202020204" charset="0"/>
                <a:ea typeface="Open Sans"/>
                <a:cs typeface="Open Sans"/>
              </a:rPr>
              <a:t>O grupo </a:t>
            </a:r>
            <a:r>
              <a:rPr lang="pt-BR" sz="3600" dirty="0">
                <a:solidFill>
                  <a:srgbClr val="002060"/>
                </a:solidFill>
                <a:latin typeface="Maven Pro" panose="020B0604020202020204" charset="0"/>
                <a:ea typeface="Open Sans"/>
                <a:cs typeface="Open Sans"/>
              </a:rPr>
              <a:t>evoluiu do quarto lugar entre as maiores operadoras em 2021 </a:t>
            </a:r>
            <a:r>
              <a:rPr lang="pt-BR" sz="3600" b="1" dirty="0">
                <a:solidFill>
                  <a:srgbClr val="002060"/>
                </a:solidFill>
                <a:latin typeface="Maven Pro Bold" panose="020B0604020202020204" charset="0"/>
                <a:ea typeface="Open Sans"/>
                <a:cs typeface="Open Sans"/>
              </a:rPr>
              <a:t>para a segunda posição em 2024.</a:t>
            </a:r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4BE39060-B8E1-1D8F-3C78-6974A81AB2A5}"/>
              </a:ext>
            </a:extLst>
          </p:cNvPr>
          <p:cNvSpPr/>
          <p:nvPr/>
        </p:nvSpPr>
        <p:spPr>
          <a:xfrm>
            <a:off x="145705" y="4646036"/>
            <a:ext cx="16846257" cy="7463464"/>
          </a:xfrm>
          <a:prstGeom prst="round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TextBox 15">
            <a:extLst>
              <a:ext uri="{FF2B5EF4-FFF2-40B4-BE49-F238E27FC236}">
                <a16:creationId xmlns:a16="http://schemas.microsoft.com/office/drawing/2014/main" id="{5CF9A298-ED77-EB9B-2F16-E1154B2D5C26}"/>
              </a:ext>
            </a:extLst>
          </p:cNvPr>
          <p:cNvSpPr txBox="1"/>
          <p:nvPr/>
        </p:nvSpPr>
        <p:spPr>
          <a:xfrm>
            <a:off x="1936554" y="12605087"/>
            <a:ext cx="10993955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pt-BR" sz="3600" b="1" dirty="0">
                <a:solidFill>
                  <a:srgbClr val="002060"/>
                </a:solidFill>
                <a:latin typeface="Maven Pro Bold" panose="020B0604020202020204" charset="0"/>
                <a:ea typeface="Open Sans"/>
                <a:cs typeface="Open Sans"/>
              </a:rPr>
              <a:t>Brasil </a:t>
            </a:r>
            <a:r>
              <a:rPr lang="pt-BR" sz="3600" dirty="0">
                <a:solidFill>
                  <a:srgbClr val="002060"/>
                </a:solidFill>
                <a:latin typeface="Maven Pro" panose="020B0604020202020204" charset="0"/>
                <a:ea typeface="Open Sans"/>
                <a:cs typeface="Open Sans"/>
              </a:rPr>
              <a:t>inteiro em 2025 movimentou 15,3 M </a:t>
            </a:r>
            <a:r>
              <a:rPr lang="pt-BR" sz="3600" dirty="0" err="1">
                <a:solidFill>
                  <a:srgbClr val="002060"/>
                </a:solidFill>
                <a:latin typeface="Maven Pro" panose="020B0604020202020204" charset="0"/>
                <a:ea typeface="Open Sans"/>
                <a:cs typeface="Open Sans"/>
              </a:rPr>
              <a:t>TEUs</a:t>
            </a:r>
            <a:r>
              <a:rPr lang="pt-BR" sz="3600" b="1" dirty="0">
                <a:solidFill>
                  <a:srgbClr val="002060"/>
                </a:solidFill>
                <a:latin typeface="Maven Pro Bold" panose="020B0604020202020204" charset="0"/>
                <a:ea typeface="Open Sans"/>
                <a:cs typeface="Open Sans"/>
              </a:rPr>
              <a:t>, 7% em relação a movimentação total do grupo.</a:t>
            </a:r>
          </a:p>
        </p:txBody>
      </p: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E949E598-5E69-04A1-0754-E169F6DA975B}"/>
              </a:ext>
            </a:extLst>
          </p:cNvPr>
          <p:cNvCxnSpPr>
            <a:cxnSpLocks/>
          </p:cNvCxnSpPr>
          <p:nvPr/>
        </p:nvCxnSpPr>
        <p:spPr>
          <a:xfrm>
            <a:off x="31749368" y="4646036"/>
            <a:ext cx="0" cy="578942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Fluxograma: Operação Manual 76">
            <a:extLst>
              <a:ext uri="{FF2B5EF4-FFF2-40B4-BE49-F238E27FC236}">
                <a16:creationId xmlns:a16="http://schemas.microsoft.com/office/drawing/2014/main" id="{770E8733-342D-4EFE-14FC-6B882E90ADFE}"/>
              </a:ext>
            </a:extLst>
          </p:cNvPr>
          <p:cNvSpPr/>
          <p:nvPr/>
        </p:nvSpPr>
        <p:spPr>
          <a:xfrm>
            <a:off x="-2984957" y="-24558"/>
            <a:ext cx="10843082" cy="3070145"/>
          </a:xfrm>
          <a:prstGeom prst="flowChartManualOperation">
            <a:avLst/>
          </a:prstGeom>
          <a:solidFill>
            <a:srgbClr val="0710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Freeform 12">
            <a:extLst>
              <a:ext uri="{FF2B5EF4-FFF2-40B4-BE49-F238E27FC236}">
                <a16:creationId xmlns:a16="http://schemas.microsoft.com/office/drawing/2014/main" id="{97CB6AC1-D3E5-AC9E-BB5B-BE97CE385E3E}"/>
              </a:ext>
            </a:extLst>
          </p:cNvPr>
          <p:cNvSpPr/>
          <p:nvPr/>
        </p:nvSpPr>
        <p:spPr>
          <a:xfrm>
            <a:off x="626731" y="474437"/>
            <a:ext cx="4957521" cy="4344909"/>
          </a:xfrm>
          <a:custGeom>
            <a:avLst/>
            <a:gdLst/>
            <a:ahLst/>
            <a:cxnLst/>
            <a:rect l="l" t="t" r="r" b="b"/>
            <a:pathLst>
              <a:path w="5705150" h="5637509">
                <a:moveTo>
                  <a:pt x="0" y="0"/>
                </a:moveTo>
                <a:lnTo>
                  <a:pt x="5705150" y="0"/>
                </a:lnTo>
                <a:lnTo>
                  <a:pt x="5705150" y="5637509"/>
                </a:lnTo>
                <a:lnTo>
                  <a:pt x="0" y="56375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20457" t="-116325" r="-44743"/>
            </a:stretch>
          </a:blipFill>
        </p:spPr>
        <p:txBody>
          <a:bodyPr/>
          <a:lstStyle/>
          <a:p>
            <a:endParaRPr lang="pt-BR" dirty="0">
              <a:latin typeface="Maven Pro" panose="020B0604020202020204" charset="0"/>
            </a:endParaRPr>
          </a:p>
        </p:txBody>
      </p:sp>
      <p:pic>
        <p:nvPicPr>
          <p:cNvPr id="79" name="Gráfico 78" descr="Gráfico de barras com tendência ascendente com preenchimento sólido">
            <a:extLst>
              <a:ext uri="{FF2B5EF4-FFF2-40B4-BE49-F238E27FC236}">
                <a16:creationId xmlns:a16="http://schemas.microsoft.com/office/drawing/2014/main" id="{38D43946-BC4C-283A-820D-9258C2CC85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0308" y="12605087"/>
            <a:ext cx="1140168" cy="1140168"/>
          </a:xfrm>
          <a:prstGeom prst="rect">
            <a:avLst/>
          </a:prstGeom>
        </p:spPr>
      </p:pic>
      <p:pic>
        <p:nvPicPr>
          <p:cNvPr id="80" name="Gráfico 79" descr="Reunião com preenchimento sólido">
            <a:extLst>
              <a:ext uri="{FF2B5EF4-FFF2-40B4-BE49-F238E27FC236}">
                <a16:creationId xmlns:a16="http://schemas.microsoft.com/office/drawing/2014/main" id="{B4EDF03C-456B-54BE-7EA9-F6677BD501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3890" y="14648707"/>
            <a:ext cx="1140168" cy="1140168"/>
          </a:xfrm>
          <a:prstGeom prst="rect">
            <a:avLst/>
          </a:prstGeom>
        </p:spPr>
      </p:pic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C88D4DFE-051A-A22E-1E32-4903F079C46F}"/>
              </a:ext>
            </a:extLst>
          </p:cNvPr>
          <p:cNvSpPr/>
          <p:nvPr/>
        </p:nvSpPr>
        <p:spPr>
          <a:xfrm>
            <a:off x="21789262" y="4265951"/>
            <a:ext cx="13887061" cy="1091647"/>
          </a:xfrm>
          <a:prstGeom prst="roundRect">
            <a:avLst/>
          </a:prstGeom>
          <a:solidFill>
            <a:schemeClr val="bg1">
              <a:alpha val="50000"/>
            </a:schemeClr>
          </a:solidFill>
          <a:ln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2" name="TextBox 14">
            <a:extLst>
              <a:ext uri="{FF2B5EF4-FFF2-40B4-BE49-F238E27FC236}">
                <a16:creationId xmlns:a16="http://schemas.microsoft.com/office/drawing/2014/main" id="{1164C98D-EF26-8509-030B-39A008475F0B}"/>
              </a:ext>
            </a:extLst>
          </p:cNvPr>
          <p:cNvSpPr txBox="1"/>
          <p:nvPr/>
        </p:nvSpPr>
        <p:spPr>
          <a:xfrm>
            <a:off x="17466650" y="4452908"/>
            <a:ext cx="17786700" cy="765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667"/>
              </a:lnSpc>
            </a:pPr>
            <a:r>
              <a:rPr lang="en-US" sz="3600" b="1" dirty="0">
                <a:solidFill>
                  <a:srgbClr val="002060"/>
                </a:solidFill>
                <a:latin typeface="Maven Pro Bold" panose="020B0604020202020204" charset="0"/>
                <a:ea typeface="Open Sans"/>
                <a:cs typeface="Open Sans"/>
                <a:sym typeface="Open Sans"/>
              </a:rPr>
              <a:t>46 PORTOS        26 PAÍSES | REGIÕES         6  CONTINENTES</a:t>
            </a:r>
          </a:p>
        </p:txBody>
      </p:sp>
      <p:sp>
        <p:nvSpPr>
          <p:cNvPr id="83" name="Freeform 11">
            <a:extLst>
              <a:ext uri="{FF2B5EF4-FFF2-40B4-BE49-F238E27FC236}">
                <a16:creationId xmlns:a16="http://schemas.microsoft.com/office/drawing/2014/main" id="{6D092A7B-D0C6-A0AB-42B4-B12B5973F866}"/>
              </a:ext>
            </a:extLst>
          </p:cNvPr>
          <p:cNvSpPr/>
          <p:nvPr/>
        </p:nvSpPr>
        <p:spPr>
          <a:xfrm rot="10800000">
            <a:off x="-394826" y="17127506"/>
            <a:ext cx="37365652" cy="3606280"/>
          </a:xfrm>
          <a:prstGeom prst="roundRect">
            <a:avLst/>
          </a:prstGeom>
          <a:solidFill>
            <a:srgbClr val="07103B"/>
          </a:solidFill>
        </p:spPr>
        <p:txBody>
          <a:bodyPr/>
          <a:lstStyle/>
          <a:p>
            <a:endParaRPr lang="pt-BR" dirty="0">
              <a:latin typeface="Maven Pro" panose="020B0604020202020204" charset="0"/>
            </a:endParaRPr>
          </a:p>
        </p:txBody>
      </p:sp>
      <p:sp>
        <p:nvSpPr>
          <p:cNvPr id="65" name="TextBox 15">
            <a:extLst>
              <a:ext uri="{FF2B5EF4-FFF2-40B4-BE49-F238E27FC236}">
                <a16:creationId xmlns:a16="http://schemas.microsoft.com/office/drawing/2014/main" id="{A215F41D-97FB-4A82-F219-82F032370034}"/>
              </a:ext>
            </a:extLst>
          </p:cNvPr>
          <p:cNvSpPr txBox="1"/>
          <p:nvPr/>
        </p:nvSpPr>
        <p:spPr>
          <a:xfrm>
            <a:off x="22630307" y="18051500"/>
            <a:ext cx="13485386" cy="1882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840"/>
              </a:lnSpc>
            </a:pPr>
            <a:r>
              <a:rPr lang="pt-BR" sz="3200" b="1" dirty="0">
                <a:solidFill>
                  <a:srgbClr val="FFFFFF"/>
                </a:solidFill>
                <a:latin typeface="Maven Pro" panose="020B0604020202020204" charset="0"/>
                <a:ea typeface="Open Sans"/>
                <a:cs typeface="Open Sans"/>
                <a:sym typeface="Open Sans"/>
              </a:rPr>
              <a:t>A </a:t>
            </a:r>
            <a:r>
              <a:rPr lang="pt-BR" sz="3200" b="1" dirty="0" err="1">
                <a:solidFill>
                  <a:srgbClr val="FFFFFF"/>
                </a:solidFill>
                <a:latin typeface="Maven Pro" panose="020B0604020202020204" charset="0"/>
                <a:ea typeface="Open Sans"/>
                <a:cs typeface="Open Sans"/>
                <a:sym typeface="Open Sans"/>
              </a:rPr>
              <a:t>CMPort</a:t>
            </a:r>
            <a:r>
              <a:rPr lang="pt-BR" sz="3200" b="1" dirty="0">
                <a:solidFill>
                  <a:srgbClr val="FFFFFF"/>
                </a:solidFill>
                <a:latin typeface="Maven Pro" panose="020B0604020202020204" charset="0"/>
                <a:ea typeface="Open Sans"/>
                <a:cs typeface="Open Sans"/>
                <a:sym typeface="Open Sans"/>
              </a:rPr>
              <a:t> faz parte do China Merchants Group (CMG)</a:t>
            </a:r>
            <a:r>
              <a:rPr lang="pt-BR" sz="3200" dirty="0">
                <a:solidFill>
                  <a:srgbClr val="FFFFFF"/>
                </a:solidFill>
                <a:latin typeface="Maven Pro" panose="020B0604020202020204" charset="0"/>
                <a:ea typeface="Open Sans"/>
                <a:cs typeface="Open Sans"/>
                <a:sym typeface="Open Sans"/>
              </a:rPr>
              <a:t>, enorme conglomerado chinês fundado em 1872.</a:t>
            </a:r>
          </a:p>
        </p:txBody>
      </p:sp>
      <p:pic>
        <p:nvPicPr>
          <p:cNvPr id="68" name="Picture 2" descr="CMPort (China Merchants Group) | LinkedIn">
            <a:extLst>
              <a:ext uri="{FF2B5EF4-FFF2-40B4-BE49-F238E27FC236}">
                <a16:creationId xmlns:a16="http://schemas.microsoft.com/office/drawing/2014/main" id="{EA2C41F1-D98E-1AF5-83B1-CD47A3D0A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906759" y="17803576"/>
            <a:ext cx="1882503" cy="188250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55F28574-02E7-BFDA-29E9-D882393571D3}"/>
              </a:ext>
            </a:extLst>
          </p:cNvPr>
          <p:cNvCxnSpPr>
            <a:cxnSpLocks/>
          </p:cNvCxnSpPr>
          <p:nvPr/>
        </p:nvCxnSpPr>
        <p:spPr>
          <a:xfrm>
            <a:off x="18492491" y="17507514"/>
            <a:ext cx="6575" cy="2970473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15">
            <a:extLst>
              <a:ext uri="{FF2B5EF4-FFF2-40B4-BE49-F238E27FC236}">
                <a16:creationId xmlns:a16="http://schemas.microsoft.com/office/drawing/2014/main" id="{2EC1D6ED-1938-1582-0FF0-29C0A327286F}"/>
              </a:ext>
            </a:extLst>
          </p:cNvPr>
          <p:cNvSpPr txBox="1"/>
          <p:nvPr/>
        </p:nvSpPr>
        <p:spPr>
          <a:xfrm>
            <a:off x="2811341" y="18058443"/>
            <a:ext cx="15605794" cy="18385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840"/>
              </a:lnSpc>
            </a:pPr>
            <a:r>
              <a:rPr lang="pt-BR" sz="3200" b="1" dirty="0">
                <a:solidFill>
                  <a:srgbClr val="FFFFFF"/>
                </a:solidFill>
                <a:latin typeface="Maven Pro" panose="020B0604020202020204" charset="0"/>
                <a:ea typeface="Open Sans"/>
                <a:cs typeface="Open Sans"/>
                <a:sym typeface="Open Sans"/>
              </a:rPr>
              <a:t>Desde março de 2018, a TCP possui investimentos da </a:t>
            </a:r>
            <a:r>
              <a:rPr lang="pt-BR" sz="3200" b="1" dirty="0" err="1">
                <a:solidFill>
                  <a:srgbClr val="FFFFFF"/>
                </a:solidFill>
                <a:latin typeface="Maven Pro" panose="020B0604020202020204" charset="0"/>
                <a:ea typeface="Open Sans"/>
                <a:cs typeface="Open Sans"/>
                <a:sym typeface="Open Sans"/>
              </a:rPr>
              <a:t>CMPort</a:t>
            </a:r>
            <a:r>
              <a:rPr lang="pt-BR" sz="3200" b="1" dirty="0">
                <a:solidFill>
                  <a:srgbClr val="FFFFFF"/>
                </a:solidFill>
                <a:latin typeface="Maven Pro" panose="020B0604020202020204" charset="0"/>
                <a:ea typeface="Open Sans"/>
                <a:cs typeface="Open Sans"/>
                <a:sym typeface="Open Sans"/>
              </a:rPr>
              <a:t>, </a:t>
            </a:r>
            <a:r>
              <a:rPr lang="pt-BR" sz="3200" dirty="0">
                <a:solidFill>
                  <a:srgbClr val="FFFFFF"/>
                </a:solidFill>
                <a:latin typeface="Maven Pro" panose="020B0604020202020204" charset="0"/>
                <a:ea typeface="Open Sans"/>
                <a:cs typeface="Open Sans"/>
                <a:sym typeface="Open Sans"/>
              </a:rPr>
              <a:t>o maior e mais competitivo desenvolvedor, investidor e operador de portos públicos da China.</a:t>
            </a:r>
          </a:p>
        </p:txBody>
      </p:sp>
      <p:sp>
        <p:nvSpPr>
          <p:cNvPr id="72" name="Freeform 4">
            <a:extLst>
              <a:ext uri="{FF2B5EF4-FFF2-40B4-BE49-F238E27FC236}">
                <a16:creationId xmlns:a16="http://schemas.microsoft.com/office/drawing/2014/main" id="{CD93C27F-0A4B-11D1-86B1-CE9EC0D51753}"/>
              </a:ext>
            </a:extLst>
          </p:cNvPr>
          <p:cNvSpPr/>
          <p:nvPr/>
        </p:nvSpPr>
        <p:spPr>
          <a:xfrm>
            <a:off x="335994" y="17630390"/>
            <a:ext cx="2280950" cy="2126698"/>
          </a:xfrm>
          <a:custGeom>
            <a:avLst/>
            <a:gdLst/>
            <a:ahLst/>
            <a:cxnLst/>
            <a:rect l="l" t="t" r="r" b="b"/>
            <a:pathLst>
              <a:path w="3941518" h="1853888">
                <a:moveTo>
                  <a:pt x="0" y="0"/>
                </a:moveTo>
                <a:lnTo>
                  <a:pt x="3941518" y="0"/>
                </a:lnTo>
                <a:lnTo>
                  <a:pt x="3941518" y="1853888"/>
                </a:lnTo>
                <a:lnTo>
                  <a:pt x="0" y="185388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125345" r="-227254" b="-123881"/>
            </a:stretch>
          </a:blipFill>
        </p:spPr>
        <p:txBody>
          <a:bodyPr/>
          <a:lstStyle/>
          <a:p>
            <a:endParaRPr lang="pt-BR" dirty="0">
              <a:latin typeface="Maven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50892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36576000" cy="20574000"/>
          </a:xfrm>
          <a:custGeom>
            <a:avLst/>
            <a:gdLst/>
            <a:ahLst/>
            <a:cxnLst/>
            <a:rect l="l" t="t" r="r" b="b"/>
            <a:pathLst>
              <a:path w="36576000" h="20574000">
                <a:moveTo>
                  <a:pt x="0" y="0"/>
                </a:moveTo>
                <a:lnTo>
                  <a:pt x="36576000" y="0"/>
                </a:lnTo>
                <a:lnTo>
                  <a:pt x="36576000" y="20574000"/>
                </a:lnTo>
                <a:lnTo>
                  <a:pt x="0" y="2057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3169" t="-15782" b="-6416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84" name="Group 184"/>
          <p:cNvGrpSpPr/>
          <p:nvPr/>
        </p:nvGrpSpPr>
        <p:grpSpPr>
          <a:xfrm>
            <a:off x="1322649" y="1186674"/>
            <a:ext cx="33930701" cy="18577059"/>
            <a:chOff x="0" y="0"/>
            <a:chExt cx="45240935" cy="24769412"/>
          </a:xfrm>
        </p:grpSpPr>
        <p:sp>
          <p:nvSpPr>
            <p:cNvPr id="185" name="Freeform 185"/>
            <p:cNvSpPr/>
            <p:nvPr/>
          </p:nvSpPr>
          <p:spPr>
            <a:xfrm rot="10800000" flipH="1">
              <a:off x="0" y="0"/>
              <a:ext cx="45240935" cy="24769412"/>
            </a:xfrm>
            <a:custGeom>
              <a:avLst/>
              <a:gdLst/>
              <a:ahLst/>
              <a:cxnLst/>
              <a:rect l="l" t="t" r="r" b="b"/>
              <a:pathLst>
                <a:path w="45240935" h="24769412">
                  <a:moveTo>
                    <a:pt x="45240935" y="0"/>
                  </a:moveTo>
                  <a:lnTo>
                    <a:pt x="0" y="0"/>
                  </a:lnTo>
                  <a:lnTo>
                    <a:pt x="0" y="24769412"/>
                  </a:lnTo>
                  <a:lnTo>
                    <a:pt x="45240935" y="24769412"/>
                  </a:lnTo>
                  <a:lnTo>
                    <a:pt x="45240935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86" name="Freeform 186"/>
            <p:cNvSpPr/>
            <p:nvPr/>
          </p:nvSpPr>
          <p:spPr>
            <a:xfrm rot="-10800000">
              <a:off x="6672145" y="22403177"/>
              <a:ext cx="2654619" cy="2366235"/>
            </a:xfrm>
            <a:custGeom>
              <a:avLst/>
              <a:gdLst/>
              <a:ahLst/>
              <a:cxnLst/>
              <a:rect l="l" t="t" r="r" b="b"/>
              <a:pathLst>
                <a:path w="2654619" h="2366235">
                  <a:moveTo>
                    <a:pt x="0" y="0"/>
                  </a:moveTo>
                  <a:lnTo>
                    <a:pt x="2654619" y="0"/>
                  </a:lnTo>
                  <a:lnTo>
                    <a:pt x="2654619" y="2366235"/>
                  </a:lnTo>
                  <a:lnTo>
                    <a:pt x="0" y="2366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31256" r="-1272978" b="-946785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" name="Group 3"/>
          <p:cNvGrpSpPr/>
          <p:nvPr/>
        </p:nvGrpSpPr>
        <p:grpSpPr>
          <a:xfrm>
            <a:off x="4324286" y="6460288"/>
            <a:ext cx="28110949" cy="9834229"/>
            <a:chOff x="0" y="0"/>
            <a:chExt cx="37481265" cy="13112305"/>
          </a:xfrm>
        </p:grpSpPr>
        <p:sp>
          <p:nvSpPr>
            <p:cNvPr id="4" name="AutoShape 4"/>
            <p:cNvSpPr/>
            <p:nvPr/>
          </p:nvSpPr>
          <p:spPr>
            <a:xfrm>
              <a:off x="0" y="3947507"/>
              <a:ext cx="37469202" cy="13603"/>
            </a:xfrm>
            <a:prstGeom prst="rect">
              <a:avLst/>
            </a:prstGeom>
            <a:solidFill>
              <a:srgbClr val="191919">
                <a:alpha val="7843"/>
              </a:srgbClr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4993419"/>
              <a:ext cx="37469202" cy="13603"/>
            </a:xfrm>
            <a:prstGeom prst="rect">
              <a:avLst/>
            </a:prstGeom>
            <a:solidFill>
              <a:srgbClr val="191919">
                <a:alpha val="7843"/>
              </a:srgbClr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AutoShape 6"/>
            <p:cNvSpPr/>
            <p:nvPr/>
          </p:nvSpPr>
          <p:spPr>
            <a:xfrm>
              <a:off x="0" y="1851060"/>
              <a:ext cx="37469202" cy="13603"/>
            </a:xfrm>
            <a:prstGeom prst="rect">
              <a:avLst/>
            </a:prstGeom>
            <a:solidFill>
              <a:srgbClr val="191919">
                <a:alpha val="7843"/>
              </a:srgbClr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2899284"/>
              <a:ext cx="37469202" cy="13603"/>
            </a:xfrm>
            <a:prstGeom prst="rect">
              <a:avLst/>
            </a:prstGeom>
            <a:solidFill>
              <a:srgbClr val="191919">
                <a:alpha val="7843"/>
              </a:srgbClr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AutoShape 8"/>
            <p:cNvSpPr/>
            <p:nvPr/>
          </p:nvSpPr>
          <p:spPr>
            <a:xfrm>
              <a:off x="0" y="8000148"/>
              <a:ext cx="37469202" cy="13603"/>
            </a:xfrm>
            <a:prstGeom prst="rect">
              <a:avLst/>
            </a:prstGeom>
            <a:solidFill>
              <a:srgbClr val="191919">
                <a:alpha val="1569"/>
              </a:srgbClr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AutoShape 9"/>
            <p:cNvSpPr/>
            <p:nvPr/>
          </p:nvSpPr>
          <p:spPr>
            <a:xfrm>
              <a:off x="0" y="9046060"/>
              <a:ext cx="37469202" cy="13603"/>
            </a:xfrm>
            <a:prstGeom prst="rect">
              <a:avLst/>
            </a:prstGeom>
            <a:solidFill>
              <a:srgbClr val="191919">
                <a:alpha val="1569"/>
              </a:srgbClr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0" y="5903702"/>
              <a:ext cx="37469202" cy="13603"/>
            </a:xfrm>
            <a:prstGeom prst="rect">
              <a:avLst/>
            </a:prstGeom>
            <a:solidFill>
              <a:srgbClr val="191919">
                <a:alpha val="1569"/>
              </a:srgbClr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0" y="6951925"/>
              <a:ext cx="37469202" cy="13603"/>
            </a:xfrm>
            <a:prstGeom prst="rect">
              <a:avLst/>
            </a:prstGeom>
            <a:solidFill>
              <a:srgbClr val="191919">
                <a:alpha val="1569"/>
              </a:srgbClr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0" y="12052790"/>
              <a:ext cx="37481265" cy="13603"/>
            </a:xfrm>
            <a:prstGeom prst="rect">
              <a:avLst/>
            </a:prstGeom>
            <a:solidFill>
              <a:srgbClr val="191919">
                <a:alpha val="1569"/>
              </a:srgbClr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0" y="13098702"/>
              <a:ext cx="37481265" cy="13603"/>
            </a:xfrm>
            <a:prstGeom prst="rect">
              <a:avLst/>
            </a:prstGeom>
            <a:solidFill>
              <a:srgbClr val="191919">
                <a:alpha val="1569"/>
              </a:srgbClr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0" y="9956343"/>
              <a:ext cx="37481265" cy="13603"/>
            </a:xfrm>
            <a:prstGeom prst="rect">
              <a:avLst/>
            </a:prstGeom>
            <a:solidFill>
              <a:srgbClr val="191919">
                <a:alpha val="1569"/>
              </a:srgbClr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0" y="11004567"/>
              <a:ext cx="37481265" cy="13603"/>
            </a:xfrm>
            <a:prstGeom prst="rect">
              <a:avLst/>
            </a:prstGeom>
            <a:solidFill>
              <a:srgbClr val="191919">
                <a:alpha val="1569"/>
              </a:srgbClr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0" y="987428"/>
              <a:ext cx="37364415" cy="11886"/>
            </a:xfrm>
            <a:prstGeom prst="rect">
              <a:avLst/>
            </a:prstGeom>
            <a:solidFill>
              <a:srgbClr val="191919">
                <a:alpha val="1569"/>
              </a:srgbClr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0" y="0"/>
              <a:ext cx="37481265" cy="11885"/>
            </a:xfrm>
            <a:prstGeom prst="rect">
              <a:avLst/>
            </a:prstGeom>
            <a:solidFill>
              <a:srgbClr val="191919">
                <a:alpha val="1569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8" name="AutoShape 18"/>
          <p:cNvSpPr/>
          <p:nvPr/>
        </p:nvSpPr>
        <p:spPr>
          <a:xfrm>
            <a:off x="21672273" y="14299723"/>
            <a:ext cx="0" cy="108004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9" name="Freeform 19"/>
          <p:cNvSpPr/>
          <p:nvPr/>
        </p:nvSpPr>
        <p:spPr>
          <a:xfrm>
            <a:off x="-2607962" y="1622187"/>
            <a:ext cx="11942907" cy="2239932"/>
          </a:xfrm>
          <a:prstGeom prst="roundRect">
            <a:avLst/>
          </a:prstGeom>
          <a:solidFill>
            <a:srgbClr val="07103B"/>
          </a:solidFill>
        </p:spPr>
        <p:txBody>
          <a:bodyPr/>
          <a:lstStyle/>
          <a:p>
            <a:endParaRPr lang="pt-BR"/>
          </a:p>
        </p:txBody>
      </p:sp>
      <p:sp>
        <p:nvSpPr>
          <p:cNvPr id="20" name="Freeform 20"/>
          <p:cNvSpPr/>
          <p:nvPr/>
        </p:nvSpPr>
        <p:spPr>
          <a:xfrm>
            <a:off x="394318" y="17868056"/>
            <a:ext cx="3941518" cy="1853888"/>
          </a:xfrm>
          <a:custGeom>
            <a:avLst/>
            <a:gdLst/>
            <a:ahLst/>
            <a:cxnLst/>
            <a:rect l="l" t="t" r="r" b="b"/>
            <a:pathLst>
              <a:path w="3941518" h="1853888">
                <a:moveTo>
                  <a:pt x="0" y="0"/>
                </a:moveTo>
                <a:lnTo>
                  <a:pt x="3941518" y="0"/>
                </a:lnTo>
                <a:lnTo>
                  <a:pt x="3941518" y="1853888"/>
                </a:lnTo>
                <a:lnTo>
                  <a:pt x="0" y="1853888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80150" b="-43157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21" name="Group 21"/>
          <p:cNvGrpSpPr/>
          <p:nvPr/>
        </p:nvGrpSpPr>
        <p:grpSpPr>
          <a:xfrm>
            <a:off x="5360111" y="16007766"/>
            <a:ext cx="547170" cy="1090834"/>
            <a:chOff x="0" y="0"/>
            <a:chExt cx="28306" cy="5643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8306" cy="56431"/>
            </a:xfrm>
            <a:custGeom>
              <a:avLst/>
              <a:gdLst/>
              <a:ahLst/>
              <a:cxnLst/>
              <a:rect l="l" t="t" r="r" b="b"/>
              <a:pathLst>
                <a:path w="28306" h="56431">
                  <a:moveTo>
                    <a:pt x="14153" y="0"/>
                  </a:moveTo>
                  <a:lnTo>
                    <a:pt x="14153" y="0"/>
                  </a:lnTo>
                  <a:cubicBezTo>
                    <a:pt x="17907" y="0"/>
                    <a:pt x="21507" y="1491"/>
                    <a:pt x="24161" y="4145"/>
                  </a:cubicBezTo>
                  <a:cubicBezTo>
                    <a:pt x="26815" y="6800"/>
                    <a:pt x="28306" y="10400"/>
                    <a:pt x="28306" y="14153"/>
                  </a:cubicBezTo>
                  <a:lnTo>
                    <a:pt x="28306" y="42278"/>
                  </a:lnTo>
                  <a:cubicBezTo>
                    <a:pt x="28306" y="46032"/>
                    <a:pt x="26815" y="49632"/>
                    <a:pt x="24161" y="52286"/>
                  </a:cubicBezTo>
                  <a:cubicBezTo>
                    <a:pt x="21507" y="54940"/>
                    <a:pt x="17907" y="56431"/>
                    <a:pt x="14153" y="56431"/>
                  </a:cubicBezTo>
                  <a:lnTo>
                    <a:pt x="14153" y="56431"/>
                  </a:lnTo>
                  <a:cubicBezTo>
                    <a:pt x="6337" y="56431"/>
                    <a:pt x="0" y="50095"/>
                    <a:pt x="0" y="42278"/>
                  </a:cubicBezTo>
                  <a:lnTo>
                    <a:pt x="0" y="14153"/>
                  </a:lnTo>
                  <a:cubicBezTo>
                    <a:pt x="0" y="6337"/>
                    <a:pt x="6337" y="0"/>
                    <a:pt x="14153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28306" cy="123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8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396616" y="15637133"/>
            <a:ext cx="547170" cy="1461467"/>
            <a:chOff x="0" y="0"/>
            <a:chExt cx="28306" cy="7560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8306" cy="75605"/>
            </a:xfrm>
            <a:custGeom>
              <a:avLst/>
              <a:gdLst/>
              <a:ahLst/>
              <a:cxnLst/>
              <a:rect l="l" t="t" r="r" b="b"/>
              <a:pathLst>
                <a:path w="28306" h="75605">
                  <a:moveTo>
                    <a:pt x="14153" y="0"/>
                  </a:moveTo>
                  <a:lnTo>
                    <a:pt x="14153" y="0"/>
                  </a:lnTo>
                  <a:cubicBezTo>
                    <a:pt x="17907" y="0"/>
                    <a:pt x="21507" y="1491"/>
                    <a:pt x="24161" y="4145"/>
                  </a:cubicBezTo>
                  <a:cubicBezTo>
                    <a:pt x="26815" y="6800"/>
                    <a:pt x="28306" y="10400"/>
                    <a:pt x="28306" y="14153"/>
                  </a:cubicBezTo>
                  <a:lnTo>
                    <a:pt x="28306" y="61452"/>
                  </a:lnTo>
                  <a:cubicBezTo>
                    <a:pt x="28306" y="69268"/>
                    <a:pt x="21970" y="75605"/>
                    <a:pt x="14153" y="75605"/>
                  </a:cubicBezTo>
                  <a:lnTo>
                    <a:pt x="14153" y="75605"/>
                  </a:lnTo>
                  <a:cubicBezTo>
                    <a:pt x="10400" y="75605"/>
                    <a:pt x="6800" y="74114"/>
                    <a:pt x="4145" y="71460"/>
                  </a:cubicBezTo>
                  <a:cubicBezTo>
                    <a:pt x="1491" y="68805"/>
                    <a:pt x="0" y="65205"/>
                    <a:pt x="0" y="61452"/>
                  </a:cubicBezTo>
                  <a:lnTo>
                    <a:pt x="0" y="14153"/>
                  </a:lnTo>
                  <a:cubicBezTo>
                    <a:pt x="0" y="6337"/>
                    <a:pt x="6337" y="0"/>
                    <a:pt x="14153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66675"/>
              <a:ext cx="28306" cy="142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8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428713" y="15290944"/>
            <a:ext cx="547170" cy="1782020"/>
            <a:chOff x="0" y="0"/>
            <a:chExt cx="28306" cy="9218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8306" cy="92188"/>
            </a:xfrm>
            <a:custGeom>
              <a:avLst/>
              <a:gdLst/>
              <a:ahLst/>
              <a:cxnLst/>
              <a:rect l="l" t="t" r="r" b="b"/>
              <a:pathLst>
                <a:path w="28306" h="92188">
                  <a:moveTo>
                    <a:pt x="14153" y="0"/>
                  </a:moveTo>
                  <a:lnTo>
                    <a:pt x="14153" y="0"/>
                  </a:lnTo>
                  <a:cubicBezTo>
                    <a:pt x="17907" y="0"/>
                    <a:pt x="21507" y="1491"/>
                    <a:pt x="24161" y="4145"/>
                  </a:cubicBezTo>
                  <a:cubicBezTo>
                    <a:pt x="26815" y="6800"/>
                    <a:pt x="28306" y="10400"/>
                    <a:pt x="28306" y="14153"/>
                  </a:cubicBezTo>
                  <a:lnTo>
                    <a:pt x="28306" y="78035"/>
                  </a:lnTo>
                  <a:cubicBezTo>
                    <a:pt x="28306" y="85851"/>
                    <a:pt x="21970" y="92188"/>
                    <a:pt x="14153" y="92188"/>
                  </a:cubicBezTo>
                  <a:lnTo>
                    <a:pt x="14153" y="92188"/>
                  </a:lnTo>
                  <a:cubicBezTo>
                    <a:pt x="6337" y="92188"/>
                    <a:pt x="0" y="85851"/>
                    <a:pt x="0" y="78035"/>
                  </a:cubicBezTo>
                  <a:lnTo>
                    <a:pt x="0" y="14153"/>
                  </a:lnTo>
                  <a:cubicBezTo>
                    <a:pt x="0" y="6337"/>
                    <a:pt x="6337" y="0"/>
                    <a:pt x="14153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66675"/>
              <a:ext cx="28306" cy="1588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8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464868" y="15474619"/>
            <a:ext cx="543462" cy="1598345"/>
            <a:chOff x="0" y="0"/>
            <a:chExt cx="28115" cy="8268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8115" cy="82686"/>
            </a:xfrm>
            <a:custGeom>
              <a:avLst/>
              <a:gdLst/>
              <a:ahLst/>
              <a:cxnLst/>
              <a:rect l="l" t="t" r="r" b="b"/>
              <a:pathLst>
                <a:path w="28115" h="82686">
                  <a:moveTo>
                    <a:pt x="14057" y="0"/>
                  </a:moveTo>
                  <a:lnTo>
                    <a:pt x="14057" y="0"/>
                  </a:lnTo>
                  <a:cubicBezTo>
                    <a:pt x="21821" y="0"/>
                    <a:pt x="28115" y="6294"/>
                    <a:pt x="28115" y="14057"/>
                  </a:cubicBezTo>
                  <a:lnTo>
                    <a:pt x="28115" y="68629"/>
                  </a:lnTo>
                  <a:cubicBezTo>
                    <a:pt x="28115" y="72357"/>
                    <a:pt x="26633" y="75932"/>
                    <a:pt x="23997" y="78569"/>
                  </a:cubicBezTo>
                  <a:cubicBezTo>
                    <a:pt x="21361" y="81205"/>
                    <a:pt x="17785" y="82686"/>
                    <a:pt x="14057" y="82686"/>
                  </a:cubicBezTo>
                  <a:lnTo>
                    <a:pt x="14057" y="82686"/>
                  </a:lnTo>
                  <a:cubicBezTo>
                    <a:pt x="10329" y="82686"/>
                    <a:pt x="6754" y="81205"/>
                    <a:pt x="4117" y="78569"/>
                  </a:cubicBezTo>
                  <a:cubicBezTo>
                    <a:pt x="1481" y="75932"/>
                    <a:pt x="0" y="72357"/>
                    <a:pt x="0" y="68629"/>
                  </a:cubicBezTo>
                  <a:lnTo>
                    <a:pt x="0" y="14057"/>
                  </a:lnTo>
                  <a:cubicBezTo>
                    <a:pt x="0" y="10329"/>
                    <a:pt x="1481" y="6754"/>
                    <a:pt x="4117" y="4117"/>
                  </a:cubicBezTo>
                  <a:cubicBezTo>
                    <a:pt x="6754" y="1481"/>
                    <a:pt x="10329" y="0"/>
                    <a:pt x="14057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66675"/>
              <a:ext cx="28115" cy="149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8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497316" y="15218402"/>
            <a:ext cx="547170" cy="1854562"/>
            <a:chOff x="0" y="0"/>
            <a:chExt cx="28306" cy="9594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8306" cy="95941"/>
            </a:xfrm>
            <a:custGeom>
              <a:avLst/>
              <a:gdLst/>
              <a:ahLst/>
              <a:cxnLst/>
              <a:rect l="l" t="t" r="r" b="b"/>
              <a:pathLst>
                <a:path w="28306" h="95941">
                  <a:moveTo>
                    <a:pt x="14153" y="0"/>
                  </a:moveTo>
                  <a:lnTo>
                    <a:pt x="14153" y="0"/>
                  </a:lnTo>
                  <a:cubicBezTo>
                    <a:pt x="17907" y="0"/>
                    <a:pt x="21507" y="1491"/>
                    <a:pt x="24161" y="4145"/>
                  </a:cubicBezTo>
                  <a:cubicBezTo>
                    <a:pt x="26815" y="6800"/>
                    <a:pt x="28306" y="10400"/>
                    <a:pt x="28306" y="14153"/>
                  </a:cubicBezTo>
                  <a:lnTo>
                    <a:pt x="28306" y="81788"/>
                  </a:lnTo>
                  <a:cubicBezTo>
                    <a:pt x="28306" y="89604"/>
                    <a:pt x="21970" y="95941"/>
                    <a:pt x="14153" y="95941"/>
                  </a:cubicBezTo>
                  <a:lnTo>
                    <a:pt x="14153" y="95941"/>
                  </a:lnTo>
                  <a:cubicBezTo>
                    <a:pt x="6337" y="95941"/>
                    <a:pt x="0" y="89604"/>
                    <a:pt x="0" y="81788"/>
                  </a:cubicBezTo>
                  <a:lnTo>
                    <a:pt x="0" y="14153"/>
                  </a:lnTo>
                  <a:cubicBezTo>
                    <a:pt x="0" y="6337"/>
                    <a:pt x="6337" y="0"/>
                    <a:pt x="14153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66675"/>
              <a:ext cx="28306" cy="162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8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533821" y="14968204"/>
            <a:ext cx="547170" cy="2104760"/>
            <a:chOff x="0" y="0"/>
            <a:chExt cx="28306" cy="10888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8306" cy="108884"/>
            </a:xfrm>
            <a:custGeom>
              <a:avLst/>
              <a:gdLst/>
              <a:ahLst/>
              <a:cxnLst/>
              <a:rect l="l" t="t" r="r" b="b"/>
              <a:pathLst>
                <a:path w="28306" h="108884">
                  <a:moveTo>
                    <a:pt x="14153" y="0"/>
                  </a:moveTo>
                  <a:lnTo>
                    <a:pt x="14153" y="0"/>
                  </a:lnTo>
                  <a:cubicBezTo>
                    <a:pt x="17907" y="0"/>
                    <a:pt x="21507" y="1491"/>
                    <a:pt x="24161" y="4145"/>
                  </a:cubicBezTo>
                  <a:cubicBezTo>
                    <a:pt x="26815" y="6800"/>
                    <a:pt x="28306" y="10400"/>
                    <a:pt x="28306" y="14153"/>
                  </a:cubicBezTo>
                  <a:lnTo>
                    <a:pt x="28306" y="94731"/>
                  </a:lnTo>
                  <a:cubicBezTo>
                    <a:pt x="28306" y="102547"/>
                    <a:pt x="21970" y="108884"/>
                    <a:pt x="14153" y="108884"/>
                  </a:cubicBezTo>
                  <a:lnTo>
                    <a:pt x="14153" y="108884"/>
                  </a:lnTo>
                  <a:cubicBezTo>
                    <a:pt x="6337" y="108884"/>
                    <a:pt x="0" y="102547"/>
                    <a:pt x="0" y="94731"/>
                  </a:cubicBezTo>
                  <a:lnTo>
                    <a:pt x="0" y="14153"/>
                  </a:lnTo>
                  <a:cubicBezTo>
                    <a:pt x="0" y="6337"/>
                    <a:pt x="6337" y="0"/>
                    <a:pt x="14153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66675"/>
              <a:ext cx="28306" cy="1755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8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565918" y="14503163"/>
            <a:ext cx="547170" cy="2544164"/>
            <a:chOff x="0" y="0"/>
            <a:chExt cx="28306" cy="13161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8306" cy="131615"/>
            </a:xfrm>
            <a:custGeom>
              <a:avLst/>
              <a:gdLst/>
              <a:ahLst/>
              <a:cxnLst/>
              <a:rect l="l" t="t" r="r" b="b"/>
              <a:pathLst>
                <a:path w="28306" h="131615">
                  <a:moveTo>
                    <a:pt x="14153" y="0"/>
                  </a:moveTo>
                  <a:lnTo>
                    <a:pt x="14153" y="0"/>
                  </a:lnTo>
                  <a:cubicBezTo>
                    <a:pt x="17907" y="0"/>
                    <a:pt x="21507" y="1491"/>
                    <a:pt x="24161" y="4145"/>
                  </a:cubicBezTo>
                  <a:cubicBezTo>
                    <a:pt x="26815" y="6800"/>
                    <a:pt x="28306" y="10400"/>
                    <a:pt x="28306" y="14153"/>
                  </a:cubicBezTo>
                  <a:lnTo>
                    <a:pt x="28306" y="117462"/>
                  </a:lnTo>
                  <a:cubicBezTo>
                    <a:pt x="28306" y="121216"/>
                    <a:pt x="26815" y="124816"/>
                    <a:pt x="24161" y="127470"/>
                  </a:cubicBezTo>
                  <a:cubicBezTo>
                    <a:pt x="21507" y="130124"/>
                    <a:pt x="17907" y="131615"/>
                    <a:pt x="14153" y="131615"/>
                  </a:cubicBezTo>
                  <a:lnTo>
                    <a:pt x="14153" y="131615"/>
                  </a:lnTo>
                  <a:cubicBezTo>
                    <a:pt x="6337" y="131615"/>
                    <a:pt x="0" y="125279"/>
                    <a:pt x="0" y="117462"/>
                  </a:cubicBezTo>
                  <a:lnTo>
                    <a:pt x="0" y="14153"/>
                  </a:lnTo>
                  <a:cubicBezTo>
                    <a:pt x="0" y="6337"/>
                    <a:pt x="6337" y="0"/>
                    <a:pt x="14153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66675"/>
              <a:ext cx="28306" cy="1982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8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2602423" y="14299723"/>
            <a:ext cx="547170" cy="2747605"/>
            <a:chOff x="0" y="0"/>
            <a:chExt cx="28306" cy="1421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8306" cy="142140"/>
            </a:xfrm>
            <a:custGeom>
              <a:avLst/>
              <a:gdLst/>
              <a:ahLst/>
              <a:cxnLst/>
              <a:rect l="l" t="t" r="r" b="b"/>
              <a:pathLst>
                <a:path w="28306" h="142140">
                  <a:moveTo>
                    <a:pt x="14153" y="0"/>
                  </a:moveTo>
                  <a:lnTo>
                    <a:pt x="14153" y="0"/>
                  </a:lnTo>
                  <a:cubicBezTo>
                    <a:pt x="17907" y="0"/>
                    <a:pt x="21507" y="1491"/>
                    <a:pt x="24161" y="4145"/>
                  </a:cubicBezTo>
                  <a:cubicBezTo>
                    <a:pt x="26815" y="6800"/>
                    <a:pt x="28306" y="10400"/>
                    <a:pt x="28306" y="14153"/>
                  </a:cubicBezTo>
                  <a:lnTo>
                    <a:pt x="28306" y="127987"/>
                  </a:lnTo>
                  <a:cubicBezTo>
                    <a:pt x="28306" y="135803"/>
                    <a:pt x="21970" y="142140"/>
                    <a:pt x="14153" y="142140"/>
                  </a:cubicBezTo>
                  <a:lnTo>
                    <a:pt x="14153" y="142140"/>
                  </a:lnTo>
                  <a:cubicBezTo>
                    <a:pt x="6337" y="142140"/>
                    <a:pt x="0" y="135803"/>
                    <a:pt x="0" y="127987"/>
                  </a:cubicBezTo>
                  <a:lnTo>
                    <a:pt x="0" y="14153"/>
                  </a:lnTo>
                  <a:cubicBezTo>
                    <a:pt x="0" y="6337"/>
                    <a:pt x="6337" y="0"/>
                    <a:pt x="14153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66675"/>
              <a:ext cx="28306" cy="208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8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3634521" y="13561442"/>
            <a:ext cx="547170" cy="3485885"/>
            <a:chOff x="0" y="0"/>
            <a:chExt cx="28306" cy="180333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8306" cy="180333"/>
            </a:xfrm>
            <a:custGeom>
              <a:avLst/>
              <a:gdLst/>
              <a:ahLst/>
              <a:cxnLst/>
              <a:rect l="l" t="t" r="r" b="b"/>
              <a:pathLst>
                <a:path w="28306" h="180333">
                  <a:moveTo>
                    <a:pt x="14153" y="0"/>
                  </a:moveTo>
                  <a:lnTo>
                    <a:pt x="14153" y="0"/>
                  </a:lnTo>
                  <a:cubicBezTo>
                    <a:pt x="17907" y="0"/>
                    <a:pt x="21507" y="1491"/>
                    <a:pt x="24161" y="4145"/>
                  </a:cubicBezTo>
                  <a:cubicBezTo>
                    <a:pt x="26815" y="6800"/>
                    <a:pt x="28306" y="10400"/>
                    <a:pt x="28306" y="14153"/>
                  </a:cubicBezTo>
                  <a:lnTo>
                    <a:pt x="28306" y="166180"/>
                  </a:lnTo>
                  <a:cubicBezTo>
                    <a:pt x="28306" y="173996"/>
                    <a:pt x="21970" y="180333"/>
                    <a:pt x="14153" y="180333"/>
                  </a:cubicBezTo>
                  <a:lnTo>
                    <a:pt x="14153" y="180333"/>
                  </a:lnTo>
                  <a:cubicBezTo>
                    <a:pt x="10400" y="180333"/>
                    <a:pt x="6800" y="178842"/>
                    <a:pt x="4145" y="176187"/>
                  </a:cubicBezTo>
                  <a:cubicBezTo>
                    <a:pt x="1491" y="173533"/>
                    <a:pt x="0" y="169933"/>
                    <a:pt x="0" y="166180"/>
                  </a:cubicBezTo>
                  <a:lnTo>
                    <a:pt x="0" y="14153"/>
                  </a:lnTo>
                  <a:cubicBezTo>
                    <a:pt x="0" y="6337"/>
                    <a:pt x="6337" y="0"/>
                    <a:pt x="14153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66675"/>
              <a:ext cx="28306" cy="247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8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4671026" y="13001245"/>
            <a:ext cx="547170" cy="4046083"/>
            <a:chOff x="0" y="0"/>
            <a:chExt cx="28306" cy="209313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8306" cy="209313"/>
            </a:xfrm>
            <a:custGeom>
              <a:avLst/>
              <a:gdLst/>
              <a:ahLst/>
              <a:cxnLst/>
              <a:rect l="l" t="t" r="r" b="b"/>
              <a:pathLst>
                <a:path w="28306" h="209313">
                  <a:moveTo>
                    <a:pt x="14153" y="0"/>
                  </a:moveTo>
                  <a:lnTo>
                    <a:pt x="14153" y="0"/>
                  </a:lnTo>
                  <a:cubicBezTo>
                    <a:pt x="17907" y="0"/>
                    <a:pt x="21507" y="1491"/>
                    <a:pt x="24161" y="4145"/>
                  </a:cubicBezTo>
                  <a:cubicBezTo>
                    <a:pt x="26815" y="6800"/>
                    <a:pt x="28306" y="10400"/>
                    <a:pt x="28306" y="14153"/>
                  </a:cubicBezTo>
                  <a:lnTo>
                    <a:pt x="28306" y="195160"/>
                  </a:lnTo>
                  <a:cubicBezTo>
                    <a:pt x="28306" y="202977"/>
                    <a:pt x="21970" y="209313"/>
                    <a:pt x="14153" y="209313"/>
                  </a:cubicBezTo>
                  <a:lnTo>
                    <a:pt x="14153" y="209313"/>
                  </a:lnTo>
                  <a:cubicBezTo>
                    <a:pt x="6337" y="209313"/>
                    <a:pt x="0" y="202977"/>
                    <a:pt x="0" y="195160"/>
                  </a:cubicBezTo>
                  <a:lnTo>
                    <a:pt x="0" y="14153"/>
                  </a:lnTo>
                  <a:cubicBezTo>
                    <a:pt x="0" y="6337"/>
                    <a:pt x="6337" y="0"/>
                    <a:pt x="14153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66675"/>
              <a:ext cx="28306" cy="2759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8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5703123" y="12617530"/>
            <a:ext cx="547170" cy="4404162"/>
            <a:chOff x="0" y="0"/>
            <a:chExt cx="28306" cy="227837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8306" cy="227837"/>
            </a:xfrm>
            <a:custGeom>
              <a:avLst/>
              <a:gdLst/>
              <a:ahLst/>
              <a:cxnLst/>
              <a:rect l="l" t="t" r="r" b="b"/>
              <a:pathLst>
                <a:path w="28306" h="227837">
                  <a:moveTo>
                    <a:pt x="14153" y="0"/>
                  </a:moveTo>
                  <a:lnTo>
                    <a:pt x="14153" y="0"/>
                  </a:lnTo>
                  <a:cubicBezTo>
                    <a:pt x="17907" y="0"/>
                    <a:pt x="21507" y="1491"/>
                    <a:pt x="24161" y="4145"/>
                  </a:cubicBezTo>
                  <a:cubicBezTo>
                    <a:pt x="26815" y="6800"/>
                    <a:pt x="28306" y="10400"/>
                    <a:pt x="28306" y="14153"/>
                  </a:cubicBezTo>
                  <a:lnTo>
                    <a:pt x="28306" y="213684"/>
                  </a:lnTo>
                  <a:cubicBezTo>
                    <a:pt x="28306" y="221501"/>
                    <a:pt x="21970" y="227837"/>
                    <a:pt x="14153" y="227837"/>
                  </a:cubicBezTo>
                  <a:lnTo>
                    <a:pt x="14153" y="227837"/>
                  </a:lnTo>
                  <a:cubicBezTo>
                    <a:pt x="6337" y="227837"/>
                    <a:pt x="0" y="221501"/>
                    <a:pt x="0" y="213684"/>
                  </a:cubicBezTo>
                  <a:lnTo>
                    <a:pt x="0" y="14153"/>
                  </a:lnTo>
                  <a:cubicBezTo>
                    <a:pt x="0" y="6337"/>
                    <a:pt x="6337" y="0"/>
                    <a:pt x="14153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66675"/>
              <a:ext cx="28306" cy="2945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8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6739628" y="12071550"/>
            <a:ext cx="547170" cy="4950142"/>
            <a:chOff x="0" y="0"/>
            <a:chExt cx="28306" cy="25608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8306" cy="256082"/>
            </a:xfrm>
            <a:custGeom>
              <a:avLst/>
              <a:gdLst/>
              <a:ahLst/>
              <a:cxnLst/>
              <a:rect l="l" t="t" r="r" b="b"/>
              <a:pathLst>
                <a:path w="28306" h="256082">
                  <a:moveTo>
                    <a:pt x="14153" y="0"/>
                  </a:moveTo>
                  <a:lnTo>
                    <a:pt x="14153" y="0"/>
                  </a:lnTo>
                  <a:cubicBezTo>
                    <a:pt x="17907" y="0"/>
                    <a:pt x="21507" y="1491"/>
                    <a:pt x="24161" y="4145"/>
                  </a:cubicBezTo>
                  <a:cubicBezTo>
                    <a:pt x="26815" y="6800"/>
                    <a:pt x="28306" y="10400"/>
                    <a:pt x="28306" y="14153"/>
                  </a:cubicBezTo>
                  <a:lnTo>
                    <a:pt x="28306" y="241929"/>
                  </a:lnTo>
                  <a:cubicBezTo>
                    <a:pt x="28306" y="249746"/>
                    <a:pt x="21970" y="256082"/>
                    <a:pt x="14153" y="256082"/>
                  </a:cubicBezTo>
                  <a:lnTo>
                    <a:pt x="14153" y="256082"/>
                  </a:lnTo>
                  <a:cubicBezTo>
                    <a:pt x="6337" y="256082"/>
                    <a:pt x="0" y="249746"/>
                    <a:pt x="0" y="241929"/>
                  </a:cubicBezTo>
                  <a:lnTo>
                    <a:pt x="0" y="14153"/>
                  </a:lnTo>
                  <a:cubicBezTo>
                    <a:pt x="0" y="6337"/>
                    <a:pt x="6337" y="0"/>
                    <a:pt x="14153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66675"/>
              <a:ext cx="28306" cy="3227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8"/>
                </a:lnSpc>
              </a:pPr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7771726" y="11971006"/>
            <a:ext cx="547170" cy="5050686"/>
            <a:chOff x="0" y="0"/>
            <a:chExt cx="28306" cy="261283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8306" cy="261283"/>
            </a:xfrm>
            <a:custGeom>
              <a:avLst/>
              <a:gdLst/>
              <a:ahLst/>
              <a:cxnLst/>
              <a:rect l="l" t="t" r="r" b="b"/>
              <a:pathLst>
                <a:path w="28306" h="261283">
                  <a:moveTo>
                    <a:pt x="14153" y="0"/>
                  </a:moveTo>
                  <a:lnTo>
                    <a:pt x="14153" y="0"/>
                  </a:lnTo>
                  <a:cubicBezTo>
                    <a:pt x="17907" y="0"/>
                    <a:pt x="21507" y="1491"/>
                    <a:pt x="24161" y="4145"/>
                  </a:cubicBezTo>
                  <a:cubicBezTo>
                    <a:pt x="26815" y="6800"/>
                    <a:pt x="28306" y="10400"/>
                    <a:pt x="28306" y="14153"/>
                  </a:cubicBezTo>
                  <a:lnTo>
                    <a:pt x="28306" y="247130"/>
                  </a:lnTo>
                  <a:cubicBezTo>
                    <a:pt x="28306" y="254947"/>
                    <a:pt x="21970" y="261283"/>
                    <a:pt x="14153" y="261283"/>
                  </a:cubicBezTo>
                  <a:lnTo>
                    <a:pt x="14153" y="261283"/>
                  </a:lnTo>
                  <a:cubicBezTo>
                    <a:pt x="6337" y="261283"/>
                    <a:pt x="0" y="254947"/>
                    <a:pt x="0" y="247130"/>
                  </a:cubicBezTo>
                  <a:lnTo>
                    <a:pt x="0" y="14153"/>
                  </a:lnTo>
                  <a:cubicBezTo>
                    <a:pt x="0" y="6337"/>
                    <a:pt x="6337" y="0"/>
                    <a:pt x="14153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66675"/>
              <a:ext cx="28306" cy="327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8"/>
                </a:lnSpc>
              </a:pPr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8808231" y="11592675"/>
            <a:ext cx="547170" cy="5429017"/>
            <a:chOff x="0" y="0"/>
            <a:chExt cx="28306" cy="280855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8306" cy="280855"/>
            </a:xfrm>
            <a:custGeom>
              <a:avLst/>
              <a:gdLst/>
              <a:ahLst/>
              <a:cxnLst/>
              <a:rect l="l" t="t" r="r" b="b"/>
              <a:pathLst>
                <a:path w="28306" h="280855">
                  <a:moveTo>
                    <a:pt x="14153" y="0"/>
                  </a:moveTo>
                  <a:lnTo>
                    <a:pt x="14153" y="0"/>
                  </a:lnTo>
                  <a:cubicBezTo>
                    <a:pt x="17907" y="0"/>
                    <a:pt x="21507" y="1491"/>
                    <a:pt x="24161" y="4145"/>
                  </a:cubicBezTo>
                  <a:cubicBezTo>
                    <a:pt x="26815" y="6800"/>
                    <a:pt x="28306" y="10400"/>
                    <a:pt x="28306" y="14153"/>
                  </a:cubicBezTo>
                  <a:lnTo>
                    <a:pt x="28306" y="266702"/>
                  </a:lnTo>
                  <a:cubicBezTo>
                    <a:pt x="28306" y="274519"/>
                    <a:pt x="21970" y="280855"/>
                    <a:pt x="14153" y="280855"/>
                  </a:cubicBezTo>
                  <a:lnTo>
                    <a:pt x="14153" y="280855"/>
                  </a:lnTo>
                  <a:cubicBezTo>
                    <a:pt x="6337" y="280855"/>
                    <a:pt x="0" y="274519"/>
                    <a:pt x="0" y="266702"/>
                  </a:cubicBezTo>
                  <a:lnTo>
                    <a:pt x="0" y="14153"/>
                  </a:lnTo>
                  <a:cubicBezTo>
                    <a:pt x="0" y="6337"/>
                    <a:pt x="6337" y="0"/>
                    <a:pt x="14153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66675"/>
              <a:ext cx="28306" cy="347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8"/>
                </a:lnSpc>
              </a:pPr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9840328" y="11615156"/>
            <a:ext cx="547170" cy="5380900"/>
            <a:chOff x="0" y="0"/>
            <a:chExt cx="28306" cy="278366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8306" cy="278366"/>
            </a:xfrm>
            <a:custGeom>
              <a:avLst/>
              <a:gdLst/>
              <a:ahLst/>
              <a:cxnLst/>
              <a:rect l="l" t="t" r="r" b="b"/>
              <a:pathLst>
                <a:path w="28306" h="278366">
                  <a:moveTo>
                    <a:pt x="14153" y="0"/>
                  </a:moveTo>
                  <a:lnTo>
                    <a:pt x="14153" y="0"/>
                  </a:lnTo>
                  <a:cubicBezTo>
                    <a:pt x="17907" y="0"/>
                    <a:pt x="21507" y="1491"/>
                    <a:pt x="24161" y="4145"/>
                  </a:cubicBezTo>
                  <a:cubicBezTo>
                    <a:pt x="26815" y="6800"/>
                    <a:pt x="28306" y="10400"/>
                    <a:pt x="28306" y="14153"/>
                  </a:cubicBezTo>
                  <a:lnTo>
                    <a:pt x="28306" y="264213"/>
                  </a:lnTo>
                  <a:cubicBezTo>
                    <a:pt x="28306" y="272030"/>
                    <a:pt x="21970" y="278366"/>
                    <a:pt x="14153" y="278366"/>
                  </a:cubicBezTo>
                  <a:lnTo>
                    <a:pt x="14153" y="278366"/>
                  </a:lnTo>
                  <a:cubicBezTo>
                    <a:pt x="10400" y="278366"/>
                    <a:pt x="6800" y="276875"/>
                    <a:pt x="4145" y="274221"/>
                  </a:cubicBezTo>
                  <a:cubicBezTo>
                    <a:pt x="1491" y="271567"/>
                    <a:pt x="0" y="267967"/>
                    <a:pt x="0" y="264213"/>
                  </a:cubicBezTo>
                  <a:lnTo>
                    <a:pt x="0" y="14153"/>
                  </a:lnTo>
                  <a:cubicBezTo>
                    <a:pt x="0" y="6337"/>
                    <a:pt x="6337" y="0"/>
                    <a:pt x="14153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66675"/>
              <a:ext cx="28306" cy="345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8"/>
                </a:lnSpc>
              </a:pPr>
              <a:endParaRPr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20876833" y="11269935"/>
            <a:ext cx="547170" cy="5726121"/>
            <a:chOff x="0" y="0"/>
            <a:chExt cx="28306" cy="296225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8306" cy="296225"/>
            </a:xfrm>
            <a:custGeom>
              <a:avLst/>
              <a:gdLst/>
              <a:ahLst/>
              <a:cxnLst/>
              <a:rect l="l" t="t" r="r" b="b"/>
              <a:pathLst>
                <a:path w="28306" h="296225">
                  <a:moveTo>
                    <a:pt x="14153" y="0"/>
                  </a:moveTo>
                  <a:lnTo>
                    <a:pt x="14153" y="0"/>
                  </a:lnTo>
                  <a:cubicBezTo>
                    <a:pt x="17907" y="0"/>
                    <a:pt x="21507" y="1491"/>
                    <a:pt x="24161" y="4145"/>
                  </a:cubicBezTo>
                  <a:cubicBezTo>
                    <a:pt x="26815" y="6800"/>
                    <a:pt x="28306" y="10400"/>
                    <a:pt x="28306" y="14153"/>
                  </a:cubicBezTo>
                  <a:lnTo>
                    <a:pt x="28306" y="282072"/>
                  </a:lnTo>
                  <a:cubicBezTo>
                    <a:pt x="28306" y="289889"/>
                    <a:pt x="21970" y="296225"/>
                    <a:pt x="14153" y="296225"/>
                  </a:cubicBezTo>
                  <a:lnTo>
                    <a:pt x="14153" y="296225"/>
                  </a:lnTo>
                  <a:cubicBezTo>
                    <a:pt x="6337" y="296225"/>
                    <a:pt x="0" y="289889"/>
                    <a:pt x="0" y="282072"/>
                  </a:cubicBezTo>
                  <a:lnTo>
                    <a:pt x="0" y="14153"/>
                  </a:lnTo>
                  <a:cubicBezTo>
                    <a:pt x="0" y="6337"/>
                    <a:pt x="6337" y="0"/>
                    <a:pt x="14153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66675"/>
              <a:ext cx="28306" cy="362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8"/>
                </a:lnSpc>
              </a:pPr>
              <a:endParaRPr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21908931" y="11009845"/>
            <a:ext cx="547170" cy="5986211"/>
            <a:chOff x="0" y="0"/>
            <a:chExt cx="28306" cy="30968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28306" cy="309680"/>
            </a:xfrm>
            <a:custGeom>
              <a:avLst/>
              <a:gdLst/>
              <a:ahLst/>
              <a:cxnLst/>
              <a:rect l="l" t="t" r="r" b="b"/>
              <a:pathLst>
                <a:path w="28306" h="309680">
                  <a:moveTo>
                    <a:pt x="14153" y="0"/>
                  </a:moveTo>
                  <a:lnTo>
                    <a:pt x="14153" y="0"/>
                  </a:lnTo>
                  <a:cubicBezTo>
                    <a:pt x="17907" y="0"/>
                    <a:pt x="21507" y="1491"/>
                    <a:pt x="24161" y="4145"/>
                  </a:cubicBezTo>
                  <a:cubicBezTo>
                    <a:pt x="26815" y="6800"/>
                    <a:pt x="28306" y="10400"/>
                    <a:pt x="28306" y="14153"/>
                  </a:cubicBezTo>
                  <a:lnTo>
                    <a:pt x="28306" y="295527"/>
                  </a:lnTo>
                  <a:cubicBezTo>
                    <a:pt x="28306" y="303344"/>
                    <a:pt x="21970" y="309680"/>
                    <a:pt x="14153" y="309680"/>
                  </a:cubicBezTo>
                  <a:lnTo>
                    <a:pt x="14153" y="309680"/>
                  </a:lnTo>
                  <a:cubicBezTo>
                    <a:pt x="10400" y="309680"/>
                    <a:pt x="6800" y="308189"/>
                    <a:pt x="4145" y="305535"/>
                  </a:cubicBezTo>
                  <a:cubicBezTo>
                    <a:pt x="1491" y="302881"/>
                    <a:pt x="0" y="299281"/>
                    <a:pt x="0" y="295527"/>
                  </a:cubicBezTo>
                  <a:lnTo>
                    <a:pt x="0" y="14153"/>
                  </a:lnTo>
                  <a:cubicBezTo>
                    <a:pt x="0" y="6337"/>
                    <a:pt x="6337" y="0"/>
                    <a:pt x="14153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66675"/>
              <a:ext cx="28306" cy="3763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8"/>
                </a:lnSpc>
              </a:pPr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22945436" y="11431305"/>
            <a:ext cx="547170" cy="5564751"/>
            <a:chOff x="0" y="0"/>
            <a:chExt cx="28306" cy="287877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28306" cy="287877"/>
            </a:xfrm>
            <a:custGeom>
              <a:avLst/>
              <a:gdLst/>
              <a:ahLst/>
              <a:cxnLst/>
              <a:rect l="l" t="t" r="r" b="b"/>
              <a:pathLst>
                <a:path w="28306" h="287877">
                  <a:moveTo>
                    <a:pt x="14153" y="0"/>
                  </a:moveTo>
                  <a:lnTo>
                    <a:pt x="14153" y="0"/>
                  </a:lnTo>
                  <a:cubicBezTo>
                    <a:pt x="17907" y="0"/>
                    <a:pt x="21507" y="1491"/>
                    <a:pt x="24161" y="4145"/>
                  </a:cubicBezTo>
                  <a:cubicBezTo>
                    <a:pt x="26815" y="6800"/>
                    <a:pt x="28306" y="10400"/>
                    <a:pt x="28306" y="14153"/>
                  </a:cubicBezTo>
                  <a:lnTo>
                    <a:pt x="28306" y="273724"/>
                  </a:lnTo>
                  <a:cubicBezTo>
                    <a:pt x="28306" y="281541"/>
                    <a:pt x="21970" y="287877"/>
                    <a:pt x="14153" y="287877"/>
                  </a:cubicBezTo>
                  <a:lnTo>
                    <a:pt x="14153" y="287877"/>
                  </a:lnTo>
                  <a:cubicBezTo>
                    <a:pt x="10400" y="287877"/>
                    <a:pt x="6800" y="286386"/>
                    <a:pt x="4145" y="283732"/>
                  </a:cubicBezTo>
                  <a:cubicBezTo>
                    <a:pt x="1491" y="281078"/>
                    <a:pt x="0" y="277478"/>
                    <a:pt x="0" y="273724"/>
                  </a:cubicBezTo>
                  <a:lnTo>
                    <a:pt x="0" y="14153"/>
                  </a:lnTo>
                  <a:cubicBezTo>
                    <a:pt x="0" y="6337"/>
                    <a:pt x="6337" y="0"/>
                    <a:pt x="14153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66675"/>
              <a:ext cx="28306" cy="3545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8"/>
                </a:lnSpc>
              </a:pPr>
              <a:endParaRPr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23977533" y="11087215"/>
            <a:ext cx="547170" cy="5908841"/>
            <a:chOff x="0" y="0"/>
            <a:chExt cx="28306" cy="305678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28306" cy="305678"/>
            </a:xfrm>
            <a:custGeom>
              <a:avLst/>
              <a:gdLst/>
              <a:ahLst/>
              <a:cxnLst/>
              <a:rect l="l" t="t" r="r" b="b"/>
              <a:pathLst>
                <a:path w="28306" h="305678">
                  <a:moveTo>
                    <a:pt x="14153" y="0"/>
                  </a:moveTo>
                  <a:lnTo>
                    <a:pt x="14153" y="0"/>
                  </a:lnTo>
                  <a:cubicBezTo>
                    <a:pt x="17907" y="0"/>
                    <a:pt x="21507" y="1491"/>
                    <a:pt x="24161" y="4145"/>
                  </a:cubicBezTo>
                  <a:cubicBezTo>
                    <a:pt x="26815" y="6800"/>
                    <a:pt x="28306" y="10400"/>
                    <a:pt x="28306" y="14153"/>
                  </a:cubicBezTo>
                  <a:lnTo>
                    <a:pt x="28306" y="291525"/>
                  </a:lnTo>
                  <a:cubicBezTo>
                    <a:pt x="28306" y="299341"/>
                    <a:pt x="21970" y="305678"/>
                    <a:pt x="14153" y="305678"/>
                  </a:cubicBezTo>
                  <a:lnTo>
                    <a:pt x="14153" y="305678"/>
                  </a:lnTo>
                  <a:cubicBezTo>
                    <a:pt x="10400" y="305678"/>
                    <a:pt x="6800" y="304187"/>
                    <a:pt x="4145" y="301532"/>
                  </a:cubicBezTo>
                  <a:cubicBezTo>
                    <a:pt x="1491" y="298878"/>
                    <a:pt x="0" y="295278"/>
                    <a:pt x="0" y="291525"/>
                  </a:cubicBezTo>
                  <a:lnTo>
                    <a:pt x="0" y="14153"/>
                  </a:lnTo>
                  <a:cubicBezTo>
                    <a:pt x="0" y="6337"/>
                    <a:pt x="6337" y="0"/>
                    <a:pt x="14153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66675"/>
              <a:ext cx="28306" cy="3723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8"/>
                </a:lnSpc>
              </a:pPr>
              <a:endParaRPr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25014038" y="10669761"/>
            <a:ext cx="547170" cy="6326294"/>
            <a:chOff x="0" y="0"/>
            <a:chExt cx="28306" cy="327274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28306" cy="327274"/>
            </a:xfrm>
            <a:custGeom>
              <a:avLst/>
              <a:gdLst/>
              <a:ahLst/>
              <a:cxnLst/>
              <a:rect l="l" t="t" r="r" b="b"/>
              <a:pathLst>
                <a:path w="28306" h="327274">
                  <a:moveTo>
                    <a:pt x="14153" y="0"/>
                  </a:moveTo>
                  <a:lnTo>
                    <a:pt x="14153" y="0"/>
                  </a:lnTo>
                  <a:cubicBezTo>
                    <a:pt x="17907" y="0"/>
                    <a:pt x="21507" y="1491"/>
                    <a:pt x="24161" y="4145"/>
                  </a:cubicBezTo>
                  <a:cubicBezTo>
                    <a:pt x="26815" y="6800"/>
                    <a:pt x="28306" y="10400"/>
                    <a:pt x="28306" y="14153"/>
                  </a:cubicBezTo>
                  <a:lnTo>
                    <a:pt x="28306" y="313120"/>
                  </a:lnTo>
                  <a:cubicBezTo>
                    <a:pt x="28306" y="320937"/>
                    <a:pt x="21970" y="327274"/>
                    <a:pt x="14153" y="327274"/>
                  </a:cubicBezTo>
                  <a:lnTo>
                    <a:pt x="14153" y="327274"/>
                  </a:lnTo>
                  <a:cubicBezTo>
                    <a:pt x="6337" y="327274"/>
                    <a:pt x="0" y="320937"/>
                    <a:pt x="0" y="313120"/>
                  </a:cubicBezTo>
                  <a:lnTo>
                    <a:pt x="0" y="14153"/>
                  </a:lnTo>
                  <a:cubicBezTo>
                    <a:pt x="0" y="6337"/>
                    <a:pt x="6337" y="0"/>
                    <a:pt x="14153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-66675"/>
              <a:ext cx="28306" cy="393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8"/>
                </a:lnSpc>
              </a:pPr>
              <a:endParaRPr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26046136" y="10481126"/>
            <a:ext cx="547170" cy="6489294"/>
            <a:chOff x="0" y="0"/>
            <a:chExt cx="28306" cy="335706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28306" cy="335706"/>
            </a:xfrm>
            <a:custGeom>
              <a:avLst/>
              <a:gdLst/>
              <a:ahLst/>
              <a:cxnLst/>
              <a:rect l="l" t="t" r="r" b="b"/>
              <a:pathLst>
                <a:path w="28306" h="335706">
                  <a:moveTo>
                    <a:pt x="14153" y="0"/>
                  </a:moveTo>
                  <a:lnTo>
                    <a:pt x="14153" y="0"/>
                  </a:lnTo>
                  <a:cubicBezTo>
                    <a:pt x="17907" y="0"/>
                    <a:pt x="21507" y="1491"/>
                    <a:pt x="24161" y="4145"/>
                  </a:cubicBezTo>
                  <a:cubicBezTo>
                    <a:pt x="26815" y="6800"/>
                    <a:pt x="28306" y="10400"/>
                    <a:pt x="28306" y="14153"/>
                  </a:cubicBezTo>
                  <a:lnTo>
                    <a:pt x="28306" y="321553"/>
                  </a:lnTo>
                  <a:cubicBezTo>
                    <a:pt x="28306" y="329369"/>
                    <a:pt x="21970" y="335706"/>
                    <a:pt x="14153" y="335706"/>
                  </a:cubicBezTo>
                  <a:lnTo>
                    <a:pt x="14153" y="335706"/>
                  </a:lnTo>
                  <a:cubicBezTo>
                    <a:pt x="6337" y="335706"/>
                    <a:pt x="0" y="329369"/>
                    <a:pt x="0" y="321553"/>
                  </a:cubicBezTo>
                  <a:lnTo>
                    <a:pt x="0" y="14153"/>
                  </a:lnTo>
                  <a:cubicBezTo>
                    <a:pt x="0" y="6337"/>
                    <a:pt x="6337" y="0"/>
                    <a:pt x="14153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0" y="-66675"/>
              <a:ext cx="28306" cy="402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8"/>
                </a:lnSpc>
              </a:pPr>
              <a:endParaRPr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27082641" y="10152464"/>
            <a:ext cx="547170" cy="6817956"/>
            <a:chOff x="0" y="0"/>
            <a:chExt cx="28306" cy="352708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28306" cy="352708"/>
            </a:xfrm>
            <a:custGeom>
              <a:avLst/>
              <a:gdLst/>
              <a:ahLst/>
              <a:cxnLst/>
              <a:rect l="l" t="t" r="r" b="b"/>
              <a:pathLst>
                <a:path w="28306" h="352708">
                  <a:moveTo>
                    <a:pt x="14153" y="0"/>
                  </a:moveTo>
                  <a:lnTo>
                    <a:pt x="14153" y="0"/>
                  </a:lnTo>
                  <a:cubicBezTo>
                    <a:pt x="17907" y="0"/>
                    <a:pt x="21507" y="1491"/>
                    <a:pt x="24161" y="4145"/>
                  </a:cubicBezTo>
                  <a:cubicBezTo>
                    <a:pt x="26815" y="6800"/>
                    <a:pt x="28306" y="10400"/>
                    <a:pt x="28306" y="14153"/>
                  </a:cubicBezTo>
                  <a:lnTo>
                    <a:pt x="28306" y="338555"/>
                  </a:lnTo>
                  <a:cubicBezTo>
                    <a:pt x="28306" y="346372"/>
                    <a:pt x="21970" y="352708"/>
                    <a:pt x="14153" y="352708"/>
                  </a:cubicBezTo>
                  <a:lnTo>
                    <a:pt x="14153" y="352708"/>
                  </a:lnTo>
                  <a:cubicBezTo>
                    <a:pt x="6337" y="352708"/>
                    <a:pt x="0" y="346372"/>
                    <a:pt x="0" y="338555"/>
                  </a:cubicBezTo>
                  <a:lnTo>
                    <a:pt x="0" y="14153"/>
                  </a:lnTo>
                  <a:cubicBezTo>
                    <a:pt x="0" y="6337"/>
                    <a:pt x="6337" y="0"/>
                    <a:pt x="14153" y="0"/>
                  </a:cubicBezTo>
                  <a:close/>
                </a:path>
              </a:pathLst>
            </a:custGeom>
            <a:solidFill>
              <a:srgbClr val="182D7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66675"/>
              <a:ext cx="28306" cy="4193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8"/>
                </a:lnSpc>
              </a:pPr>
              <a:endParaRPr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28114738" y="9820784"/>
            <a:ext cx="547170" cy="7149636"/>
            <a:chOff x="0" y="0"/>
            <a:chExt cx="28306" cy="369867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28306" cy="369867"/>
            </a:xfrm>
            <a:custGeom>
              <a:avLst/>
              <a:gdLst/>
              <a:ahLst/>
              <a:cxnLst/>
              <a:rect l="l" t="t" r="r" b="b"/>
              <a:pathLst>
                <a:path w="28306" h="369867">
                  <a:moveTo>
                    <a:pt x="14153" y="0"/>
                  </a:moveTo>
                  <a:lnTo>
                    <a:pt x="14153" y="0"/>
                  </a:lnTo>
                  <a:cubicBezTo>
                    <a:pt x="17907" y="0"/>
                    <a:pt x="21507" y="1491"/>
                    <a:pt x="24161" y="4145"/>
                  </a:cubicBezTo>
                  <a:cubicBezTo>
                    <a:pt x="26815" y="6800"/>
                    <a:pt x="28306" y="10400"/>
                    <a:pt x="28306" y="14153"/>
                  </a:cubicBezTo>
                  <a:lnTo>
                    <a:pt x="28306" y="355714"/>
                  </a:lnTo>
                  <a:cubicBezTo>
                    <a:pt x="28306" y="363530"/>
                    <a:pt x="21970" y="369867"/>
                    <a:pt x="14153" y="369867"/>
                  </a:cubicBezTo>
                  <a:lnTo>
                    <a:pt x="14153" y="369867"/>
                  </a:lnTo>
                  <a:cubicBezTo>
                    <a:pt x="6337" y="369867"/>
                    <a:pt x="0" y="363530"/>
                    <a:pt x="0" y="355714"/>
                  </a:cubicBezTo>
                  <a:lnTo>
                    <a:pt x="0" y="14153"/>
                  </a:lnTo>
                  <a:cubicBezTo>
                    <a:pt x="0" y="6337"/>
                    <a:pt x="6337" y="0"/>
                    <a:pt x="14153" y="0"/>
                  </a:cubicBezTo>
                  <a:close/>
                </a:path>
              </a:pathLst>
            </a:custGeom>
            <a:solidFill>
              <a:srgbClr val="182D7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66675"/>
              <a:ext cx="28306" cy="436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8"/>
                </a:lnSpc>
              </a:pPr>
              <a:endParaRPr/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29151243" y="9032069"/>
            <a:ext cx="547170" cy="7938351"/>
            <a:chOff x="0" y="0"/>
            <a:chExt cx="28306" cy="410669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28306" cy="410669"/>
            </a:xfrm>
            <a:custGeom>
              <a:avLst/>
              <a:gdLst/>
              <a:ahLst/>
              <a:cxnLst/>
              <a:rect l="l" t="t" r="r" b="b"/>
              <a:pathLst>
                <a:path w="28306" h="410669">
                  <a:moveTo>
                    <a:pt x="14153" y="0"/>
                  </a:moveTo>
                  <a:lnTo>
                    <a:pt x="14153" y="0"/>
                  </a:lnTo>
                  <a:cubicBezTo>
                    <a:pt x="17907" y="0"/>
                    <a:pt x="21507" y="1491"/>
                    <a:pt x="24161" y="4145"/>
                  </a:cubicBezTo>
                  <a:cubicBezTo>
                    <a:pt x="26815" y="6800"/>
                    <a:pt x="28306" y="10400"/>
                    <a:pt x="28306" y="14153"/>
                  </a:cubicBezTo>
                  <a:lnTo>
                    <a:pt x="28306" y="396516"/>
                  </a:lnTo>
                  <a:cubicBezTo>
                    <a:pt x="28306" y="404332"/>
                    <a:pt x="21970" y="410669"/>
                    <a:pt x="14153" y="410669"/>
                  </a:cubicBezTo>
                  <a:lnTo>
                    <a:pt x="14153" y="410669"/>
                  </a:lnTo>
                  <a:cubicBezTo>
                    <a:pt x="6337" y="410669"/>
                    <a:pt x="0" y="404332"/>
                    <a:pt x="0" y="396516"/>
                  </a:cubicBezTo>
                  <a:lnTo>
                    <a:pt x="0" y="14153"/>
                  </a:lnTo>
                  <a:cubicBezTo>
                    <a:pt x="0" y="6337"/>
                    <a:pt x="6337" y="0"/>
                    <a:pt x="14153" y="0"/>
                  </a:cubicBezTo>
                  <a:close/>
                </a:path>
              </a:pathLst>
            </a:custGeom>
            <a:solidFill>
              <a:srgbClr val="182D7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0" y="-66675"/>
              <a:ext cx="28306" cy="477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8"/>
                </a:lnSpc>
              </a:pPr>
              <a:endParaRPr/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30183341" y="8290275"/>
            <a:ext cx="547170" cy="8654509"/>
            <a:chOff x="0" y="0"/>
            <a:chExt cx="28306" cy="447717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28306" cy="447717"/>
            </a:xfrm>
            <a:custGeom>
              <a:avLst/>
              <a:gdLst/>
              <a:ahLst/>
              <a:cxnLst/>
              <a:rect l="l" t="t" r="r" b="b"/>
              <a:pathLst>
                <a:path w="28306" h="447717">
                  <a:moveTo>
                    <a:pt x="14153" y="0"/>
                  </a:moveTo>
                  <a:lnTo>
                    <a:pt x="14153" y="0"/>
                  </a:lnTo>
                  <a:cubicBezTo>
                    <a:pt x="17907" y="0"/>
                    <a:pt x="21507" y="1491"/>
                    <a:pt x="24161" y="4145"/>
                  </a:cubicBezTo>
                  <a:cubicBezTo>
                    <a:pt x="26815" y="6800"/>
                    <a:pt x="28306" y="10400"/>
                    <a:pt x="28306" y="14153"/>
                  </a:cubicBezTo>
                  <a:lnTo>
                    <a:pt x="28306" y="433564"/>
                  </a:lnTo>
                  <a:cubicBezTo>
                    <a:pt x="28306" y="441381"/>
                    <a:pt x="21970" y="447717"/>
                    <a:pt x="14153" y="447717"/>
                  </a:cubicBezTo>
                  <a:lnTo>
                    <a:pt x="14153" y="447717"/>
                  </a:lnTo>
                  <a:cubicBezTo>
                    <a:pt x="6337" y="447717"/>
                    <a:pt x="0" y="441381"/>
                    <a:pt x="0" y="433564"/>
                  </a:cubicBezTo>
                  <a:lnTo>
                    <a:pt x="0" y="14153"/>
                  </a:lnTo>
                  <a:cubicBezTo>
                    <a:pt x="0" y="6337"/>
                    <a:pt x="6337" y="0"/>
                    <a:pt x="14153" y="0"/>
                  </a:cubicBezTo>
                  <a:close/>
                </a:path>
              </a:pathLst>
            </a:custGeom>
            <a:solidFill>
              <a:srgbClr val="182D7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66675"/>
              <a:ext cx="28306" cy="5143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8"/>
                </a:lnSpc>
              </a:pPr>
              <a:endParaRPr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31219846" y="5743090"/>
            <a:ext cx="531759" cy="11201694"/>
            <a:chOff x="0" y="0"/>
            <a:chExt cx="27509" cy="579489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27509" cy="579489"/>
            </a:xfrm>
            <a:custGeom>
              <a:avLst/>
              <a:gdLst/>
              <a:ahLst/>
              <a:cxnLst/>
              <a:rect l="l" t="t" r="r" b="b"/>
              <a:pathLst>
                <a:path w="27509" h="579489">
                  <a:moveTo>
                    <a:pt x="13755" y="0"/>
                  </a:moveTo>
                  <a:lnTo>
                    <a:pt x="13755" y="0"/>
                  </a:lnTo>
                  <a:cubicBezTo>
                    <a:pt x="21351" y="0"/>
                    <a:pt x="27509" y="6158"/>
                    <a:pt x="27509" y="13755"/>
                  </a:cubicBezTo>
                  <a:lnTo>
                    <a:pt x="27509" y="565735"/>
                  </a:lnTo>
                  <a:cubicBezTo>
                    <a:pt x="27509" y="573331"/>
                    <a:pt x="21351" y="579489"/>
                    <a:pt x="13755" y="579489"/>
                  </a:cubicBezTo>
                  <a:lnTo>
                    <a:pt x="13755" y="579489"/>
                  </a:lnTo>
                  <a:cubicBezTo>
                    <a:pt x="6158" y="579489"/>
                    <a:pt x="0" y="573331"/>
                    <a:pt x="0" y="565735"/>
                  </a:cubicBezTo>
                  <a:lnTo>
                    <a:pt x="0" y="13755"/>
                  </a:lnTo>
                  <a:cubicBezTo>
                    <a:pt x="0" y="6158"/>
                    <a:pt x="6158" y="0"/>
                    <a:pt x="13755" y="0"/>
                  </a:cubicBezTo>
                  <a:close/>
                </a:path>
              </a:pathLst>
            </a:custGeom>
            <a:solidFill>
              <a:srgbClr val="182D7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0" y="-66675"/>
              <a:ext cx="27509" cy="646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8"/>
                </a:lnSpc>
              </a:pPr>
              <a:endParaRPr/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4324286" y="16091997"/>
            <a:ext cx="547170" cy="987757"/>
            <a:chOff x="0" y="0"/>
            <a:chExt cx="28306" cy="51099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28306" cy="51099"/>
            </a:xfrm>
            <a:custGeom>
              <a:avLst/>
              <a:gdLst/>
              <a:ahLst/>
              <a:cxnLst/>
              <a:rect l="l" t="t" r="r" b="b"/>
              <a:pathLst>
                <a:path w="28306" h="51099">
                  <a:moveTo>
                    <a:pt x="14153" y="0"/>
                  </a:moveTo>
                  <a:lnTo>
                    <a:pt x="14153" y="0"/>
                  </a:lnTo>
                  <a:cubicBezTo>
                    <a:pt x="17907" y="0"/>
                    <a:pt x="21507" y="1491"/>
                    <a:pt x="24161" y="4145"/>
                  </a:cubicBezTo>
                  <a:cubicBezTo>
                    <a:pt x="26815" y="6800"/>
                    <a:pt x="28306" y="10400"/>
                    <a:pt x="28306" y="14153"/>
                  </a:cubicBezTo>
                  <a:lnTo>
                    <a:pt x="28306" y="36946"/>
                  </a:lnTo>
                  <a:cubicBezTo>
                    <a:pt x="28306" y="44762"/>
                    <a:pt x="21970" y="51099"/>
                    <a:pt x="14153" y="51099"/>
                  </a:cubicBezTo>
                  <a:lnTo>
                    <a:pt x="14153" y="51099"/>
                  </a:lnTo>
                  <a:cubicBezTo>
                    <a:pt x="6337" y="51099"/>
                    <a:pt x="0" y="44762"/>
                    <a:pt x="0" y="36946"/>
                  </a:cubicBezTo>
                  <a:lnTo>
                    <a:pt x="0" y="14153"/>
                  </a:lnTo>
                  <a:cubicBezTo>
                    <a:pt x="0" y="6337"/>
                    <a:pt x="6337" y="0"/>
                    <a:pt x="14153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0" y="-66675"/>
              <a:ext cx="28306" cy="1177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8"/>
                </a:lnSpc>
              </a:pPr>
              <a:endParaRPr/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26812381" y="3341547"/>
            <a:ext cx="6930764" cy="13854587"/>
            <a:chOff x="0" y="0"/>
            <a:chExt cx="978475" cy="1955970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978475" cy="1955970"/>
            </a:xfrm>
            <a:custGeom>
              <a:avLst/>
              <a:gdLst/>
              <a:ahLst/>
              <a:cxnLst/>
              <a:rect l="l" t="t" r="r" b="b"/>
              <a:pathLst>
                <a:path w="978475" h="1955970">
                  <a:moveTo>
                    <a:pt x="112821" y="0"/>
                  </a:moveTo>
                  <a:lnTo>
                    <a:pt x="865654" y="0"/>
                  </a:lnTo>
                  <a:cubicBezTo>
                    <a:pt x="927963" y="0"/>
                    <a:pt x="978475" y="50512"/>
                    <a:pt x="978475" y="112821"/>
                  </a:cubicBezTo>
                  <a:lnTo>
                    <a:pt x="978475" y="1843149"/>
                  </a:lnTo>
                  <a:cubicBezTo>
                    <a:pt x="978475" y="1905458"/>
                    <a:pt x="927963" y="1955970"/>
                    <a:pt x="865654" y="1955970"/>
                  </a:cubicBezTo>
                  <a:lnTo>
                    <a:pt x="112821" y="1955970"/>
                  </a:lnTo>
                  <a:cubicBezTo>
                    <a:pt x="50512" y="1955970"/>
                    <a:pt x="0" y="1905458"/>
                    <a:pt x="0" y="1843149"/>
                  </a:cubicBezTo>
                  <a:lnTo>
                    <a:pt x="0" y="112821"/>
                  </a:lnTo>
                  <a:cubicBezTo>
                    <a:pt x="0" y="50512"/>
                    <a:pt x="50512" y="0"/>
                    <a:pt x="112821" y="0"/>
                  </a:cubicBezTo>
                  <a:close/>
                </a:path>
              </a:pathLst>
            </a:custGeom>
            <a:ln w="114300" cap="rnd">
              <a:solidFill>
                <a:srgbClr val="8FE5F4"/>
              </a:solidFill>
              <a:prstDash val="sysDot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0" y="-66675"/>
              <a:ext cx="978475" cy="2022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8"/>
                </a:lnSpc>
              </a:pPr>
              <a:endParaRPr/>
            </a:p>
          </p:txBody>
        </p:sp>
      </p:grpSp>
      <p:sp>
        <p:nvSpPr>
          <p:cNvPr id="105" name="Freeform 105"/>
          <p:cNvSpPr/>
          <p:nvPr/>
        </p:nvSpPr>
        <p:spPr>
          <a:xfrm>
            <a:off x="26349970" y="6292553"/>
            <a:ext cx="2249832" cy="961803"/>
          </a:xfrm>
          <a:custGeom>
            <a:avLst/>
            <a:gdLst/>
            <a:ahLst/>
            <a:cxnLst/>
            <a:rect l="l" t="t" r="r" b="b"/>
            <a:pathLst>
              <a:path w="2249832" h="961803">
                <a:moveTo>
                  <a:pt x="0" y="0"/>
                </a:moveTo>
                <a:lnTo>
                  <a:pt x="2249832" y="0"/>
                </a:lnTo>
                <a:lnTo>
                  <a:pt x="2249832" y="961803"/>
                </a:lnTo>
                <a:lnTo>
                  <a:pt x="0" y="9618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6" name="TextBox 106"/>
          <p:cNvSpPr txBox="1"/>
          <p:nvPr/>
        </p:nvSpPr>
        <p:spPr>
          <a:xfrm>
            <a:off x="3363492" y="2275718"/>
            <a:ext cx="6789702" cy="837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6"/>
              </a:lnSpc>
              <a:spcBef>
                <a:spcPct val="0"/>
              </a:spcBef>
            </a:pPr>
            <a:r>
              <a:rPr lang="en-US" sz="4897" b="1" dirty="0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Volume histórico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3913541" y="15656625"/>
            <a:ext cx="1368659" cy="37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6"/>
              </a:lnSpc>
            </a:pPr>
            <a:r>
              <a:rPr lang="en-US" sz="215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161.569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154738" y="17148510"/>
            <a:ext cx="957914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1999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6191243" y="17148510"/>
            <a:ext cx="957914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2000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7226366" y="17148510"/>
            <a:ext cx="957914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2001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8262871" y="17148510"/>
            <a:ext cx="957914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2002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9297993" y="17148510"/>
            <a:ext cx="957914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2003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0334498" y="17148510"/>
            <a:ext cx="957914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2004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1369621" y="17148510"/>
            <a:ext cx="957914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2005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2406126" y="17148510"/>
            <a:ext cx="957914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2006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3441248" y="17148510"/>
            <a:ext cx="957914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2007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4477753" y="17148510"/>
            <a:ext cx="957914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2008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5512876" y="17148510"/>
            <a:ext cx="957914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2009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6549381" y="17148510"/>
            <a:ext cx="957914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2010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7584503" y="17148510"/>
            <a:ext cx="957914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2011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8621008" y="17148510"/>
            <a:ext cx="957914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2012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9656131" y="17148510"/>
            <a:ext cx="957914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2013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20692636" y="17148510"/>
            <a:ext cx="957914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2014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21727758" y="17148510"/>
            <a:ext cx="957914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2015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22762881" y="17148510"/>
            <a:ext cx="957914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2016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23799386" y="17148510"/>
            <a:ext cx="957914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2017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24834508" y="17148510"/>
            <a:ext cx="957914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2018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25871013" y="17148510"/>
            <a:ext cx="957914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2019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26906136" y="17148510"/>
            <a:ext cx="957914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2020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27941258" y="17148510"/>
            <a:ext cx="957914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2021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28977763" y="17148510"/>
            <a:ext cx="957914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2022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30012886" y="17148510"/>
            <a:ext cx="957914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2023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31049391" y="17148510"/>
            <a:ext cx="957914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2024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30569893" y="5279278"/>
            <a:ext cx="1560695" cy="437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5"/>
              </a:lnSpc>
            </a:pPr>
            <a:r>
              <a:rPr lang="en-US" sz="2511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1.558.453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29548108" y="7471587"/>
            <a:ext cx="1506951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1.253.397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2365077" y="16063217"/>
            <a:ext cx="1506951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150.000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2365077" y="15243319"/>
            <a:ext cx="1506951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250.000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2365077" y="14455538"/>
            <a:ext cx="1506951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350.000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2365077" y="13700752"/>
            <a:ext cx="1506951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450.000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2365077" y="12990255"/>
            <a:ext cx="1506951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550.000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2365077" y="12236864"/>
            <a:ext cx="1506951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650.000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2365077" y="11416966"/>
            <a:ext cx="1506951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750.000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2365077" y="10594871"/>
            <a:ext cx="1506951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850.000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2365077" y="9921165"/>
            <a:ext cx="1506951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950.000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2365077" y="9198216"/>
            <a:ext cx="1506951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1.150.000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2365077" y="8427668"/>
            <a:ext cx="1506951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1.250.000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2365077" y="7471587"/>
            <a:ext cx="1506951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1.350.000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2365077" y="6820096"/>
            <a:ext cx="1506951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1.450.000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2379936" y="6052369"/>
            <a:ext cx="1506951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1.550.000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4985590" y="15579983"/>
            <a:ext cx="1506951" cy="37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6"/>
              </a:lnSpc>
            </a:pPr>
            <a:r>
              <a:rPr lang="en-US" sz="215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194.939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5931196" y="15161252"/>
            <a:ext cx="1506951" cy="37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6"/>
              </a:lnSpc>
            </a:pPr>
            <a:r>
              <a:rPr lang="en-US" sz="215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241.132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6951848" y="14838512"/>
            <a:ext cx="1506951" cy="37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6"/>
              </a:lnSpc>
            </a:pPr>
            <a:r>
              <a:rPr lang="en-US" sz="215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257.748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28794633" y="8617095"/>
            <a:ext cx="1506951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1.161.791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27714644" y="9381891"/>
            <a:ext cx="1506951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1.101.413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26721411" y="9737490"/>
            <a:ext cx="1506951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983.384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7999799" y="15085865"/>
            <a:ext cx="1506951" cy="37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6"/>
              </a:lnSpc>
            </a:pPr>
            <a:r>
              <a:rPr lang="en-US" sz="215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250.340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9008330" y="14763125"/>
            <a:ext cx="1506951" cy="37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6"/>
              </a:lnSpc>
            </a:pPr>
            <a:r>
              <a:rPr lang="en-US" sz="215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288.978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10068401" y="14588314"/>
            <a:ext cx="1506951" cy="37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6"/>
              </a:lnSpc>
            </a:pPr>
            <a:r>
              <a:rPr lang="en-US" sz="215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329.199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11095473" y="14081203"/>
            <a:ext cx="1506951" cy="37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6"/>
              </a:lnSpc>
            </a:pPr>
            <a:r>
              <a:rPr lang="en-US" sz="215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372.673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12113088" y="13852626"/>
            <a:ext cx="1506951" cy="37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6"/>
              </a:lnSpc>
            </a:pPr>
            <a:r>
              <a:rPr lang="en-US" sz="215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 405.783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13166730" y="13137751"/>
            <a:ext cx="1506951" cy="37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6"/>
              </a:lnSpc>
            </a:pPr>
            <a:r>
              <a:rPr lang="en-US" sz="215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 533.654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14181690" y="12560380"/>
            <a:ext cx="1506951" cy="37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6"/>
              </a:lnSpc>
            </a:pPr>
            <a:r>
              <a:rPr lang="en-US" sz="215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569.832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15238358" y="12088274"/>
            <a:ext cx="1506951" cy="37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6"/>
              </a:lnSpc>
            </a:pPr>
            <a:r>
              <a:rPr lang="en-US" sz="215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631.859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16250293" y="11691660"/>
            <a:ext cx="1506951" cy="37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6"/>
              </a:lnSpc>
            </a:pPr>
            <a:r>
              <a:rPr lang="en-US" sz="215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679.758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4116862" y="17148510"/>
            <a:ext cx="957914" cy="41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1998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17286798" y="11452050"/>
            <a:ext cx="1506951" cy="37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6"/>
              </a:lnSpc>
            </a:pPr>
            <a:r>
              <a:rPr lang="en-US" sz="215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701.069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18318896" y="11129310"/>
            <a:ext cx="1506951" cy="37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6"/>
              </a:lnSpc>
            </a:pPr>
            <a:r>
              <a:rPr lang="en-US" sz="215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755.014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19355400" y="11212785"/>
            <a:ext cx="1506951" cy="37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6"/>
              </a:lnSpc>
            </a:pPr>
            <a:r>
              <a:rPr lang="en-US" sz="215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 752.929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20387498" y="10868695"/>
            <a:ext cx="1506951" cy="37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6"/>
              </a:lnSpc>
            </a:pPr>
            <a:r>
              <a:rPr lang="en-US" sz="215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774.683</a:t>
            </a:r>
          </a:p>
        </p:txBody>
      </p:sp>
      <p:sp>
        <p:nvSpPr>
          <p:cNvPr id="170" name="TextBox 170"/>
          <p:cNvSpPr txBox="1"/>
          <p:nvPr/>
        </p:nvSpPr>
        <p:spPr>
          <a:xfrm>
            <a:off x="21424003" y="10568188"/>
            <a:ext cx="1506951" cy="37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6"/>
              </a:lnSpc>
            </a:pPr>
            <a:r>
              <a:rPr lang="en-US" sz="215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815.581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22454181" y="11030065"/>
            <a:ext cx="1506951" cy="37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6"/>
              </a:lnSpc>
            </a:pPr>
            <a:r>
              <a:rPr lang="en-US" sz="215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759.297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23492606" y="10669545"/>
            <a:ext cx="1506951" cy="37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6"/>
              </a:lnSpc>
            </a:pPr>
            <a:r>
              <a:rPr lang="en-US" sz="215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788.783</a:t>
            </a:r>
          </a:p>
        </p:txBody>
      </p:sp>
      <p:sp>
        <p:nvSpPr>
          <p:cNvPr id="173" name="TextBox 173"/>
          <p:cNvSpPr txBox="1"/>
          <p:nvPr/>
        </p:nvSpPr>
        <p:spPr>
          <a:xfrm>
            <a:off x="24524703" y="10262606"/>
            <a:ext cx="1506951" cy="37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6"/>
              </a:lnSpc>
            </a:pPr>
            <a:r>
              <a:rPr lang="en-US" sz="215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813.256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25483666" y="10095314"/>
            <a:ext cx="1506951" cy="37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6"/>
              </a:lnSpc>
            </a:pPr>
            <a:r>
              <a:rPr lang="en-US" sz="2154">
                <a:solidFill>
                  <a:srgbClr val="182D70"/>
                </a:solidFill>
                <a:latin typeface="Maven Pro"/>
                <a:ea typeface="Maven Pro"/>
                <a:cs typeface="Maven Pro"/>
                <a:sym typeface="Maven Pro"/>
              </a:rPr>
              <a:t>915.242</a:t>
            </a:r>
          </a:p>
        </p:txBody>
      </p:sp>
      <p:sp>
        <p:nvSpPr>
          <p:cNvPr id="175" name="TextBox 175"/>
          <p:cNvSpPr txBox="1"/>
          <p:nvPr/>
        </p:nvSpPr>
        <p:spPr>
          <a:xfrm>
            <a:off x="20492530" y="4693216"/>
            <a:ext cx="5553606" cy="131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116"/>
              </a:lnSpc>
            </a:pPr>
            <a:r>
              <a:rPr lang="en-US" sz="4568" b="1" dirty="0">
                <a:solidFill>
                  <a:srgbClr val="2C92D5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Mais de R$ 500 </a:t>
            </a:r>
            <a:r>
              <a:rPr lang="en-US" sz="4568" b="1" dirty="0" err="1">
                <a:solidFill>
                  <a:srgbClr val="2C92D5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milhões</a:t>
            </a:r>
            <a:r>
              <a:rPr lang="en-US" sz="4568" b="1" dirty="0">
                <a:solidFill>
                  <a:srgbClr val="2C92D5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 </a:t>
            </a:r>
            <a:r>
              <a:rPr lang="en-US" sz="4568" b="1" dirty="0" err="1">
                <a:solidFill>
                  <a:srgbClr val="2C92D5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investidos</a:t>
            </a:r>
            <a:endParaRPr lang="en-US" sz="4568" b="1" dirty="0">
              <a:solidFill>
                <a:srgbClr val="2C92D5"/>
              </a:solidFill>
              <a:latin typeface="Maven Pro Bold"/>
              <a:ea typeface="Maven Pro Bold"/>
              <a:cs typeface="Maven Pro Bold"/>
              <a:sym typeface="Maven Pro Bold"/>
            </a:endParaRPr>
          </a:p>
        </p:txBody>
      </p:sp>
      <p:sp>
        <p:nvSpPr>
          <p:cNvPr id="176" name="TextBox 176"/>
          <p:cNvSpPr txBox="1"/>
          <p:nvPr/>
        </p:nvSpPr>
        <p:spPr>
          <a:xfrm>
            <a:off x="15252840" y="6497137"/>
            <a:ext cx="10793296" cy="2663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0"/>
              </a:lnSpc>
            </a:pPr>
            <a:r>
              <a:rPr lang="en-US" sz="3116" dirty="0" err="1">
                <a:solidFill>
                  <a:srgbClr val="2C92D5"/>
                </a:solidFill>
                <a:latin typeface="Maven Pro"/>
                <a:ea typeface="Maven Pro"/>
                <a:cs typeface="Maven Pro"/>
                <a:sym typeface="Maven Pro"/>
              </a:rPr>
              <a:t>Novos</a:t>
            </a:r>
            <a:r>
              <a:rPr lang="en-US" sz="3116" dirty="0">
                <a:solidFill>
                  <a:srgbClr val="2C92D5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lang="en-US" sz="3116" dirty="0" err="1">
                <a:solidFill>
                  <a:srgbClr val="2C92D5"/>
                </a:solidFill>
                <a:latin typeface="Maven Pro"/>
                <a:ea typeface="Maven Pro"/>
                <a:cs typeface="Maven Pro"/>
                <a:sym typeface="Maven Pro"/>
              </a:rPr>
              <a:t>equipamentos</a:t>
            </a:r>
            <a:r>
              <a:rPr lang="en-US" sz="3116" dirty="0">
                <a:solidFill>
                  <a:srgbClr val="2C92D5"/>
                </a:solidFill>
                <a:latin typeface="Maven Pro"/>
                <a:ea typeface="Maven Pro"/>
                <a:cs typeface="Maven Pro"/>
                <a:sym typeface="Maven Pro"/>
              </a:rPr>
              <a:t> ( RTGs e TTs)</a:t>
            </a:r>
          </a:p>
          <a:p>
            <a:pPr algn="r">
              <a:lnSpc>
                <a:spcPts val="3490"/>
              </a:lnSpc>
            </a:pPr>
            <a:r>
              <a:rPr lang="en-US" sz="3116" dirty="0" err="1">
                <a:solidFill>
                  <a:srgbClr val="2C92D5"/>
                </a:solidFill>
                <a:latin typeface="Maven Pro"/>
                <a:ea typeface="Maven Pro"/>
                <a:cs typeface="Maven Pro"/>
                <a:sym typeface="Maven Pro"/>
              </a:rPr>
              <a:t>Ampliação</a:t>
            </a:r>
            <a:r>
              <a:rPr lang="en-US" sz="3116" dirty="0">
                <a:solidFill>
                  <a:srgbClr val="2C92D5"/>
                </a:solidFill>
                <a:latin typeface="Maven Pro"/>
                <a:ea typeface="Maven Pro"/>
                <a:cs typeface="Maven Pro"/>
                <a:sym typeface="Maven Pro"/>
              </a:rPr>
              <a:t> de </a:t>
            </a:r>
            <a:r>
              <a:rPr lang="en-US" sz="3116" dirty="0" err="1">
                <a:solidFill>
                  <a:srgbClr val="2C92D5"/>
                </a:solidFill>
                <a:latin typeface="Maven Pro"/>
                <a:ea typeface="Maven Pro"/>
                <a:cs typeface="Maven Pro"/>
                <a:sym typeface="Maven Pro"/>
              </a:rPr>
              <a:t>tomadas</a:t>
            </a:r>
            <a:r>
              <a:rPr lang="en-US" sz="3116" dirty="0">
                <a:solidFill>
                  <a:srgbClr val="2C92D5"/>
                </a:solidFill>
                <a:latin typeface="Maven Pro"/>
                <a:ea typeface="Maven Pro"/>
                <a:cs typeface="Maven Pro"/>
                <a:sym typeface="Maven Pro"/>
              </a:rPr>
              <a:t> reefer (5.268 plugs)</a:t>
            </a:r>
          </a:p>
          <a:p>
            <a:pPr algn="r">
              <a:lnSpc>
                <a:spcPts val="3490"/>
              </a:lnSpc>
            </a:pPr>
            <a:r>
              <a:rPr lang="en-US" sz="3116" dirty="0" err="1">
                <a:solidFill>
                  <a:srgbClr val="2C92D5"/>
                </a:solidFill>
                <a:latin typeface="Maven Pro"/>
                <a:ea typeface="Maven Pro"/>
                <a:cs typeface="Maven Pro"/>
                <a:sym typeface="Maven Pro"/>
              </a:rPr>
              <a:t>Modernização</a:t>
            </a:r>
            <a:r>
              <a:rPr lang="en-US" sz="3116" dirty="0">
                <a:solidFill>
                  <a:srgbClr val="2C92D5"/>
                </a:solidFill>
                <a:latin typeface="Maven Pro"/>
                <a:ea typeface="Maven Pro"/>
                <a:cs typeface="Maven Pro"/>
                <a:sym typeface="Maven Pro"/>
              </a:rPr>
              <a:t> do Gate</a:t>
            </a:r>
          </a:p>
          <a:p>
            <a:pPr algn="r">
              <a:lnSpc>
                <a:spcPts val="3490"/>
              </a:lnSpc>
            </a:pPr>
            <a:r>
              <a:rPr lang="en-US" sz="3116" dirty="0">
                <a:solidFill>
                  <a:srgbClr val="2C92D5"/>
                </a:solidFill>
                <a:latin typeface="Maven Pro"/>
                <a:ea typeface="Maven Pro"/>
                <a:cs typeface="Maven Pro"/>
                <a:sym typeface="Maven Pro"/>
              </a:rPr>
              <a:t>Investimento </a:t>
            </a:r>
            <a:r>
              <a:rPr lang="en-US" sz="3116" dirty="0" err="1">
                <a:solidFill>
                  <a:srgbClr val="2C92D5"/>
                </a:solidFill>
                <a:latin typeface="Maven Pro"/>
                <a:ea typeface="Maven Pro"/>
                <a:cs typeface="Maven Pro"/>
                <a:sym typeface="Maven Pro"/>
              </a:rPr>
              <a:t>em</a:t>
            </a:r>
            <a:r>
              <a:rPr lang="en-US" sz="3116" dirty="0">
                <a:solidFill>
                  <a:srgbClr val="2C92D5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lang="en-US" sz="3116" dirty="0" err="1">
                <a:solidFill>
                  <a:srgbClr val="2C92D5"/>
                </a:solidFill>
                <a:latin typeface="Maven Pro"/>
                <a:ea typeface="Maven Pro"/>
                <a:cs typeface="Maven Pro"/>
                <a:sym typeface="Maven Pro"/>
              </a:rPr>
              <a:t>novos</a:t>
            </a:r>
            <a:r>
              <a:rPr lang="en-US" sz="3116" dirty="0">
                <a:solidFill>
                  <a:srgbClr val="2C92D5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lang="en-US" sz="3116" dirty="0" err="1">
                <a:solidFill>
                  <a:srgbClr val="2C92D5"/>
                </a:solidFill>
                <a:latin typeface="Maven Pro"/>
                <a:ea typeface="Maven Pro"/>
                <a:cs typeface="Maven Pro"/>
                <a:sym typeface="Maven Pro"/>
              </a:rPr>
              <a:t>sistemas</a:t>
            </a:r>
            <a:r>
              <a:rPr lang="en-US" sz="3116" dirty="0">
                <a:solidFill>
                  <a:srgbClr val="2C92D5"/>
                </a:solidFill>
                <a:latin typeface="Maven Pro"/>
                <a:ea typeface="Maven Pro"/>
                <a:cs typeface="Maven Pro"/>
                <a:sym typeface="Maven Pro"/>
              </a:rPr>
              <a:t> de </a:t>
            </a:r>
            <a:r>
              <a:rPr lang="en-US" sz="3116" dirty="0" err="1">
                <a:solidFill>
                  <a:srgbClr val="2C92D5"/>
                </a:solidFill>
                <a:latin typeface="Maven Pro"/>
                <a:ea typeface="Maven Pro"/>
                <a:cs typeface="Maven Pro"/>
                <a:sym typeface="Maven Pro"/>
              </a:rPr>
              <a:t>tecnologia</a:t>
            </a:r>
            <a:endParaRPr lang="en-US" sz="3116" dirty="0">
              <a:solidFill>
                <a:srgbClr val="2C92D5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algn="r">
              <a:lnSpc>
                <a:spcPts val="3490"/>
              </a:lnSpc>
            </a:pPr>
            <a:r>
              <a:rPr lang="en-US" sz="3116" dirty="0">
                <a:solidFill>
                  <a:srgbClr val="2C92D5"/>
                </a:solidFill>
                <a:latin typeface="Maven Pro"/>
                <a:ea typeface="Maven Pro"/>
                <a:cs typeface="Maven Pro"/>
                <a:sym typeface="Maven Pro"/>
              </a:rPr>
              <a:t>Nova </a:t>
            </a:r>
            <a:r>
              <a:rPr lang="en-US" sz="3116" dirty="0" err="1">
                <a:solidFill>
                  <a:srgbClr val="2C92D5"/>
                </a:solidFill>
                <a:latin typeface="Maven Pro"/>
                <a:ea typeface="Maven Pro"/>
                <a:cs typeface="Maven Pro"/>
                <a:sym typeface="Maven Pro"/>
              </a:rPr>
              <a:t>substação</a:t>
            </a:r>
            <a:r>
              <a:rPr lang="en-US" sz="3116" dirty="0">
                <a:solidFill>
                  <a:srgbClr val="2C92D5"/>
                </a:solidFill>
                <a:latin typeface="Maven Pro"/>
                <a:ea typeface="Maven Pro"/>
                <a:cs typeface="Maven Pro"/>
                <a:sym typeface="Maven Pro"/>
              </a:rPr>
              <a:t> de </a:t>
            </a:r>
            <a:r>
              <a:rPr lang="en-US" sz="3116" dirty="0" err="1">
                <a:solidFill>
                  <a:srgbClr val="2C92D5"/>
                </a:solidFill>
                <a:latin typeface="Maven Pro"/>
                <a:ea typeface="Maven Pro"/>
                <a:cs typeface="Maven Pro"/>
                <a:sym typeface="Maven Pro"/>
              </a:rPr>
              <a:t>energia</a:t>
            </a:r>
            <a:r>
              <a:rPr lang="en-US" sz="3116" dirty="0">
                <a:solidFill>
                  <a:srgbClr val="2C92D5"/>
                </a:solidFill>
                <a:latin typeface="Maven Pro"/>
                <a:ea typeface="Maven Pro"/>
                <a:cs typeface="Maven Pro"/>
                <a:sym typeface="Maven Pro"/>
              </a:rPr>
              <a:t>, e entre outros.</a:t>
            </a:r>
          </a:p>
          <a:p>
            <a:pPr algn="r">
              <a:lnSpc>
                <a:spcPts val="3490"/>
              </a:lnSpc>
            </a:pPr>
            <a:r>
              <a:rPr lang="en-US" sz="3116" dirty="0">
                <a:solidFill>
                  <a:srgbClr val="2C92D5"/>
                </a:solidFill>
                <a:latin typeface="Maven Pro"/>
                <a:ea typeface="Maven Pro"/>
                <a:cs typeface="Maven Pro"/>
                <a:sym typeface="Maven Pro"/>
              </a:rPr>
              <a:t>  </a:t>
            </a:r>
          </a:p>
        </p:txBody>
      </p:sp>
      <p:grpSp>
        <p:nvGrpSpPr>
          <p:cNvPr id="177" name="Group 177"/>
          <p:cNvGrpSpPr/>
          <p:nvPr/>
        </p:nvGrpSpPr>
        <p:grpSpPr>
          <a:xfrm>
            <a:off x="32439717" y="5104985"/>
            <a:ext cx="580833" cy="11781487"/>
            <a:chOff x="0" y="0"/>
            <a:chExt cx="30048" cy="609483"/>
          </a:xfrm>
        </p:grpSpPr>
        <p:sp>
          <p:nvSpPr>
            <p:cNvPr id="178" name="Freeform 178"/>
            <p:cNvSpPr/>
            <p:nvPr/>
          </p:nvSpPr>
          <p:spPr>
            <a:xfrm>
              <a:off x="0" y="0"/>
              <a:ext cx="30048" cy="609483"/>
            </a:xfrm>
            <a:custGeom>
              <a:avLst/>
              <a:gdLst/>
              <a:ahLst/>
              <a:cxnLst/>
              <a:rect l="l" t="t" r="r" b="b"/>
              <a:pathLst>
                <a:path w="30048" h="609483">
                  <a:moveTo>
                    <a:pt x="15024" y="0"/>
                  </a:moveTo>
                  <a:lnTo>
                    <a:pt x="15024" y="0"/>
                  </a:lnTo>
                  <a:cubicBezTo>
                    <a:pt x="19008" y="0"/>
                    <a:pt x="22830" y="1583"/>
                    <a:pt x="25647" y="4400"/>
                  </a:cubicBezTo>
                  <a:cubicBezTo>
                    <a:pt x="28465" y="7218"/>
                    <a:pt x="30048" y="11039"/>
                    <a:pt x="30048" y="15024"/>
                  </a:cubicBezTo>
                  <a:lnTo>
                    <a:pt x="30048" y="594459"/>
                  </a:lnTo>
                  <a:cubicBezTo>
                    <a:pt x="30048" y="602757"/>
                    <a:pt x="23321" y="609483"/>
                    <a:pt x="15024" y="609483"/>
                  </a:cubicBezTo>
                  <a:lnTo>
                    <a:pt x="15024" y="609483"/>
                  </a:lnTo>
                  <a:cubicBezTo>
                    <a:pt x="6726" y="609483"/>
                    <a:pt x="0" y="602757"/>
                    <a:pt x="0" y="594459"/>
                  </a:cubicBezTo>
                  <a:lnTo>
                    <a:pt x="0" y="15024"/>
                  </a:lnTo>
                  <a:cubicBezTo>
                    <a:pt x="0" y="6726"/>
                    <a:pt x="6726" y="0"/>
                    <a:pt x="15024" y="0"/>
                  </a:cubicBezTo>
                  <a:close/>
                </a:path>
              </a:pathLst>
            </a:custGeom>
            <a:solidFill>
              <a:srgbClr val="182D7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9" name="TextBox 179"/>
            <p:cNvSpPr txBox="1"/>
            <p:nvPr/>
          </p:nvSpPr>
          <p:spPr>
            <a:xfrm>
              <a:off x="0" y="-66675"/>
              <a:ext cx="30048" cy="676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8"/>
                </a:lnSpc>
              </a:pPr>
              <a:endParaRPr/>
            </a:p>
          </p:txBody>
        </p:sp>
      </p:grpSp>
      <p:sp>
        <p:nvSpPr>
          <p:cNvPr id="180" name="TextBox 180"/>
          <p:cNvSpPr txBox="1"/>
          <p:nvPr/>
        </p:nvSpPr>
        <p:spPr>
          <a:xfrm>
            <a:off x="32307682" y="17139780"/>
            <a:ext cx="957914" cy="414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 b="1">
                <a:solidFill>
                  <a:srgbClr val="182D7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2025</a:t>
            </a:r>
          </a:p>
        </p:txBody>
      </p:sp>
      <p:sp>
        <p:nvSpPr>
          <p:cNvPr id="181" name="TextBox 181"/>
          <p:cNvSpPr txBox="1"/>
          <p:nvPr/>
        </p:nvSpPr>
        <p:spPr>
          <a:xfrm>
            <a:off x="31296046" y="4347125"/>
            <a:ext cx="2447099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3"/>
              </a:lnSpc>
            </a:pPr>
            <a:r>
              <a:rPr lang="en-US" sz="3600" b="1">
                <a:solidFill>
                  <a:srgbClr val="182D7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1.662.549</a:t>
            </a:r>
          </a:p>
        </p:txBody>
      </p:sp>
      <p:sp>
        <p:nvSpPr>
          <p:cNvPr id="182" name="Freeform 182"/>
          <p:cNvSpPr/>
          <p:nvPr/>
        </p:nvSpPr>
        <p:spPr>
          <a:xfrm rot="7527449">
            <a:off x="30224217" y="4614703"/>
            <a:ext cx="1123277" cy="480201"/>
          </a:xfrm>
          <a:custGeom>
            <a:avLst/>
            <a:gdLst/>
            <a:ahLst/>
            <a:cxnLst/>
            <a:rect l="l" t="t" r="r" b="b"/>
            <a:pathLst>
              <a:path w="1123277" h="480201">
                <a:moveTo>
                  <a:pt x="0" y="0"/>
                </a:moveTo>
                <a:lnTo>
                  <a:pt x="1123277" y="0"/>
                </a:lnTo>
                <a:lnTo>
                  <a:pt x="1123277" y="480201"/>
                </a:lnTo>
                <a:lnTo>
                  <a:pt x="0" y="4802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83" name="TextBox 183"/>
          <p:cNvSpPr txBox="1"/>
          <p:nvPr/>
        </p:nvSpPr>
        <p:spPr>
          <a:xfrm>
            <a:off x="29144386" y="4334926"/>
            <a:ext cx="1582582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3"/>
              </a:lnSpc>
            </a:pPr>
            <a:r>
              <a:rPr lang="en-US" sz="3600" b="1">
                <a:solidFill>
                  <a:srgbClr val="182D7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+7%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36576000" cy="20574000"/>
          </a:xfrm>
          <a:custGeom>
            <a:avLst/>
            <a:gdLst/>
            <a:ahLst/>
            <a:cxnLst/>
            <a:rect l="l" t="t" r="r" b="b"/>
            <a:pathLst>
              <a:path w="36576000" h="20574000">
                <a:moveTo>
                  <a:pt x="0" y="0"/>
                </a:moveTo>
                <a:lnTo>
                  <a:pt x="36576000" y="0"/>
                </a:lnTo>
                <a:lnTo>
                  <a:pt x="36576000" y="20574000"/>
                </a:lnTo>
                <a:lnTo>
                  <a:pt x="0" y="20574000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3169" t="-15782" b="-6416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3363492" y="2275718"/>
            <a:ext cx="6789702" cy="798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6"/>
              </a:lnSpc>
              <a:spcBef>
                <a:spcPct val="0"/>
              </a:spcBef>
            </a:pPr>
            <a:r>
              <a:rPr lang="en-US" sz="4897" b="1" err="1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Recordes</a:t>
            </a:r>
            <a:r>
              <a:rPr lang="en-US" sz="4897" b="1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 2025</a:t>
            </a:r>
          </a:p>
        </p:txBody>
      </p:sp>
      <p:sp>
        <p:nvSpPr>
          <p:cNvPr id="52" name="Freeform 52"/>
          <p:cNvSpPr/>
          <p:nvPr/>
        </p:nvSpPr>
        <p:spPr>
          <a:xfrm>
            <a:off x="394318" y="17868056"/>
            <a:ext cx="3941518" cy="1853888"/>
          </a:xfrm>
          <a:custGeom>
            <a:avLst/>
            <a:gdLst/>
            <a:ahLst/>
            <a:cxnLst/>
            <a:rect l="l" t="t" r="r" b="b"/>
            <a:pathLst>
              <a:path w="3941518" h="1853888">
                <a:moveTo>
                  <a:pt x="0" y="0"/>
                </a:moveTo>
                <a:lnTo>
                  <a:pt x="3941518" y="0"/>
                </a:lnTo>
                <a:lnTo>
                  <a:pt x="3941518" y="1853888"/>
                </a:lnTo>
                <a:lnTo>
                  <a:pt x="0" y="1853888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80150" b="-43157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56" name="Group 49"/>
          <p:cNvGrpSpPr/>
          <p:nvPr/>
        </p:nvGrpSpPr>
        <p:grpSpPr>
          <a:xfrm>
            <a:off x="587899" y="1144885"/>
            <a:ext cx="33930701" cy="18577059"/>
            <a:chOff x="-350743" y="0"/>
            <a:chExt cx="45240935" cy="24769412"/>
          </a:xfrm>
        </p:grpSpPr>
        <p:sp>
          <p:nvSpPr>
            <p:cNvPr id="57" name="Freeform 50"/>
            <p:cNvSpPr/>
            <p:nvPr/>
          </p:nvSpPr>
          <p:spPr>
            <a:xfrm rot="10800000" flipH="1">
              <a:off x="-350743" y="0"/>
              <a:ext cx="45240935" cy="24769412"/>
            </a:xfrm>
            <a:custGeom>
              <a:avLst/>
              <a:gdLst/>
              <a:ahLst/>
              <a:cxnLst/>
              <a:rect l="l" t="t" r="r" b="b"/>
              <a:pathLst>
                <a:path w="45240935" h="24769412">
                  <a:moveTo>
                    <a:pt x="45240935" y="0"/>
                  </a:moveTo>
                  <a:lnTo>
                    <a:pt x="0" y="0"/>
                  </a:lnTo>
                  <a:lnTo>
                    <a:pt x="0" y="24769412"/>
                  </a:lnTo>
                  <a:lnTo>
                    <a:pt x="45240935" y="24769412"/>
                  </a:lnTo>
                  <a:lnTo>
                    <a:pt x="45240935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58" name="Freeform 51"/>
            <p:cNvSpPr/>
            <p:nvPr/>
          </p:nvSpPr>
          <p:spPr>
            <a:xfrm rot="-10800000">
              <a:off x="6672145" y="22403177"/>
              <a:ext cx="2654619" cy="2366235"/>
            </a:xfrm>
            <a:custGeom>
              <a:avLst/>
              <a:gdLst/>
              <a:ahLst/>
              <a:cxnLst/>
              <a:rect l="l" t="t" r="r" b="b"/>
              <a:pathLst>
                <a:path w="2654619" h="2366235">
                  <a:moveTo>
                    <a:pt x="0" y="0"/>
                  </a:moveTo>
                  <a:lnTo>
                    <a:pt x="2654619" y="0"/>
                  </a:lnTo>
                  <a:lnTo>
                    <a:pt x="2654619" y="2366235"/>
                  </a:lnTo>
                  <a:lnTo>
                    <a:pt x="0" y="2366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31256" r="-1272978" b="-946785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" name="Freeform 3"/>
          <p:cNvSpPr/>
          <p:nvPr/>
        </p:nvSpPr>
        <p:spPr>
          <a:xfrm>
            <a:off x="-2607962" y="1622187"/>
            <a:ext cx="11942907" cy="2239932"/>
          </a:xfrm>
          <a:prstGeom prst="roundRect">
            <a:avLst/>
          </a:prstGeom>
          <a:solidFill>
            <a:srgbClr val="07103B"/>
          </a:solidFill>
        </p:spPr>
        <p:txBody>
          <a:bodyPr/>
          <a:lstStyle/>
          <a:p>
            <a:endParaRPr lang="pt-BR"/>
          </a:p>
        </p:txBody>
      </p:sp>
      <p:sp>
        <p:nvSpPr>
          <p:cNvPr id="50" name="TextBox 106">
            <a:extLst>
              <a:ext uri="{FF2B5EF4-FFF2-40B4-BE49-F238E27FC236}">
                <a16:creationId xmlns:a16="http://schemas.microsoft.com/office/drawing/2014/main" id="{45BBEB09-E618-1766-7994-C175CD9F4696}"/>
              </a:ext>
            </a:extLst>
          </p:cNvPr>
          <p:cNvSpPr txBox="1"/>
          <p:nvPr/>
        </p:nvSpPr>
        <p:spPr>
          <a:xfrm>
            <a:off x="2567075" y="2275718"/>
            <a:ext cx="6789702" cy="798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6"/>
              </a:lnSpc>
              <a:spcBef>
                <a:spcPct val="0"/>
              </a:spcBef>
            </a:pPr>
            <a:r>
              <a:rPr lang="en-US" sz="4897" b="1" dirty="0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TCP Volume Mensal</a:t>
            </a:r>
          </a:p>
        </p:txBody>
      </p:sp>
      <p:graphicFrame>
        <p:nvGraphicFramePr>
          <p:cNvPr id="49" name="Gráfico 48">
            <a:extLst>
              <a:ext uri="{FF2B5EF4-FFF2-40B4-BE49-F238E27FC236}">
                <a16:creationId xmlns:a16="http://schemas.microsoft.com/office/drawing/2014/main" id="{FE7820D9-B450-CF9B-E275-686BB29DBD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4316066"/>
              </p:ext>
            </p:extLst>
          </p:nvPr>
        </p:nvGraphicFramePr>
        <p:xfrm>
          <a:off x="1523747" y="4992952"/>
          <a:ext cx="26660488" cy="126807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3" name="Gráfico 52">
            <a:extLst>
              <a:ext uri="{FF2B5EF4-FFF2-40B4-BE49-F238E27FC236}">
                <a16:creationId xmlns:a16="http://schemas.microsoft.com/office/drawing/2014/main" id="{E75E89FB-EEDC-FD41-CAC5-64765896C3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8390031"/>
              </p:ext>
            </p:extLst>
          </p:nvPr>
        </p:nvGraphicFramePr>
        <p:xfrm>
          <a:off x="28968700" y="9220200"/>
          <a:ext cx="4406899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4" name="TextBox 106">
            <a:extLst>
              <a:ext uri="{FF2B5EF4-FFF2-40B4-BE49-F238E27FC236}">
                <a16:creationId xmlns:a16="http://schemas.microsoft.com/office/drawing/2014/main" id="{600A3356-7C5B-776F-DF6B-C8402B6E6D19}"/>
              </a:ext>
            </a:extLst>
          </p:cNvPr>
          <p:cNvSpPr txBox="1"/>
          <p:nvPr/>
        </p:nvSpPr>
        <p:spPr>
          <a:xfrm>
            <a:off x="28504526" y="7231546"/>
            <a:ext cx="5335246" cy="16831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56"/>
              </a:lnSpc>
              <a:spcBef>
                <a:spcPct val="0"/>
              </a:spcBef>
            </a:pPr>
            <a:r>
              <a:rPr lang="en-US" sz="4897" b="1" dirty="0">
                <a:solidFill>
                  <a:srgbClr val="00206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Volume YOY (TEUs)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6EB886B1-819C-E5D6-6184-1C2434F264AD}"/>
              </a:ext>
            </a:extLst>
          </p:cNvPr>
          <p:cNvSpPr txBox="1"/>
          <p:nvPr/>
        </p:nvSpPr>
        <p:spPr>
          <a:xfrm>
            <a:off x="10377433" y="2456845"/>
            <a:ext cx="23098679" cy="1498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914210">
              <a:defRPr/>
            </a:pPr>
            <a:r>
              <a:rPr lang="pt-BR" sz="4568" b="1" dirty="0">
                <a:solidFill>
                  <a:schemeClr val="accent1">
                    <a:lumMod val="75000"/>
                  </a:schemeClr>
                </a:solidFill>
                <a:latin typeface="Maven Pro Bold"/>
                <a:cs typeface="Maven Pro Bold"/>
                <a:sym typeface="Maven Pro"/>
              </a:rPr>
              <a:t>2026 encerra o primeiro semestre com crescimento de 4,1% em relação a 2025</a:t>
            </a:r>
          </a:p>
          <a:p>
            <a:pPr lvl="0" algn="ctr" defTabSz="914210">
              <a:defRPr/>
            </a:pPr>
            <a:r>
              <a:rPr lang="pt-BR" sz="4568" b="1" dirty="0">
                <a:solidFill>
                  <a:schemeClr val="accent1">
                    <a:lumMod val="75000"/>
                  </a:schemeClr>
                </a:solidFill>
                <a:latin typeface="Maven Pro Bold"/>
                <a:cs typeface="Maven Pro Bold"/>
                <a:sym typeface="Maven Pro"/>
              </a:rPr>
              <a:t>+ 32.751 </a:t>
            </a:r>
            <a:r>
              <a:rPr lang="pt-BR" sz="4568" b="1" dirty="0" err="1">
                <a:solidFill>
                  <a:schemeClr val="accent1">
                    <a:lumMod val="75000"/>
                  </a:schemeClr>
                </a:solidFill>
                <a:latin typeface="Maven Pro Bold"/>
                <a:cs typeface="Maven Pro Bold"/>
                <a:sym typeface="Maven Pro"/>
              </a:rPr>
              <a:t>TEUs</a:t>
            </a:r>
            <a:r>
              <a:rPr lang="pt-BR" sz="4568" b="1" dirty="0">
                <a:solidFill>
                  <a:schemeClr val="accent1">
                    <a:lumMod val="75000"/>
                  </a:schemeClr>
                </a:solidFill>
                <a:latin typeface="Maven Pro Bold"/>
                <a:cs typeface="Maven Pro Bold"/>
                <a:sym typeface="Maven Pro"/>
              </a:rPr>
              <a:t> ano x ano</a:t>
            </a:r>
            <a:endParaRPr lang="en-US" sz="4568" b="1" dirty="0">
              <a:solidFill>
                <a:schemeClr val="accent1">
                  <a:lumMod val="75000"/>
                </a:schemeClr>
              </a:solidFill>
              <a:latin typeface="Maven Pro Bold"/>
              <a:cs typeface="Maven Pro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6A98E-6ADA-7AE2-559F-8B21A3C9A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: Single Corner Rounded 80">
            <a:extLst>
              <a:ext uri="{FF2B5EF4-FFF2-40B4-BE49-F238E27FC236}">
                <a16:creationId xmlns:a16="http://schemas.microsoft.com/office/drawing/2014/main" id="{778502C6-E683-FC35-5B14-20B0B4556E23}"/>
              </a:ext>
            </a:extLst>
          </p:cNvPr>
          <p:cNvSpPr/>
          <p:nvPr/>
        </p:nvSpPr>
        <p:spPr>
          <a:xfrm flipV="1">
            <a:off x="2" y="-6"/>
            <a:ext cx="36620043" cy="8138988"/>
          </a:xfrm>
          <a:prstGeom prst="round1Rect">
            <a:avLst>
              <a:gd name="adj" fmla="val 50000"/>
            </a:avLst>
          </a:prstGeom>
          <a:solidFill>
            <a:srgbClr val="0710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0DC84E1-0922-B305-020F-40A00A2CADE9}"/>
              </a:ext>
            </a:extLst>
          </p:cNvPr>
          <p:cNvGrpSpPr/>
          <p:nvPr/>
        </p:nvGrpSpPr>
        <p:grpSpPr>
          <a:xfrm>
            <a:off x="12529467" y="-1616120"/>
            <a:ext cx="12102261" cy="12750660"/>
            <a:chOff x="6370532" y="4792672"/>
            <a:chExt cx="1340202" cy="1405458"/>
          </a:xfrm>
        </p:grpSpPr>
        <p:sp>
          <p:nvSpPr>
            <p:cNvPr id="3" name="Freeform 52">
              <a:extLst>
                <a:ext uri="{FF2B5EF4-FFF2-40B4-BE49-F238E27FC236}">
                  <a16:creationId xmlns:a16="http://schemas.microsoft.com/office/drawing/2014/main" id="{10C44C25-E4BC-CA65-2CCC-72C2A9E80E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0339" y="5088832"/>
              <a:ext cx="667727" cy="469468"/>
            </a:xfrm>
            <a:custGeom>
              <a:avLst/>
              <a:gdLst>
                <a:gd name="T0" fmla="*/ 274 w 297"/>
                <a:gd name="T1" fmla="*/ 184 h 214"/>
                <a:gd name="T2" fmla="*/ 257 w 297"/>
                <a:gd name="T3" fmla="*/ 182 h 214"/>
                <a:gd name="T4" fmla="*/ 228 w 297"/>
                <a:gd name="T5" fmla="*/ 190 h 214"/>
                <a:gd name="T6" fmla="*/ 216 w 297"/>
                <a:gd name="T7" fmla="*/ 184 h 214"/>
                <a:gd name="T8" fmla="*/ 204 w 297"/>
                <a:gd name="T9" fmla="*/ 181 h 214"/>
                <a:gd name="T10" fmla="*/ 191 w 297"/>
                <a:gd name="T11" fmla="*/ 183 h 214"/>
                <a:gd name="T12" fmla="*/ 181 w 297"/>
                <a:gd name="T13" fmla="*/ 182 h 214"/>
                <a:gd name="T14" fmla="*/ 169 w 297"/>
                <a:gd name="T15" fmla="*/ 195 h 214"/>
                <a:gd name="T16" fmla="*/ 152 w 297"/>
                <a:gd name="T17" fmla="*/ 196 h 214"/>
                <a:gd name="T18" fmla="*/ 148 w 297"/>
                <a:gd name="T19" fmla="*/ 202 h 214"/>
                <a:gd name="T20" fmla="*/ 148 w 297"/>
                <a:gd name="T21" fmla="*/ 211 h 214"/>
                <a:gd name="T22" fmla="*/ 141 w 297"/>
                <a:gd name="T23" fmla="*/ 214 h 214"/>
                <a:gd name="T24" fmla="*/ 111 w 297"/>
                <a:gd name="T25" fmla="*/ 208 h 214"/>
                <a:gd name="T26" fmla="*/ 91 w 297"/>
                <a:gd name="T27" fmla="*/ 201 h 214"/>
                <a:gd name="T28" fmla="*/ 57 w 297"/>
                <a:gd name="T29" fmla="*/ 196 h 214"/>
                <a:gd name="T30" fmla="*/ 40 w 297"/>
                <a:gd name="T31" fmla="*/ 195 h 214"/>
                <a:gd name="T32" fmla="*/ 31 w 297"/>
                <a:gd name="T33" fmla="*/ 169 h 214"/>
                <a:gd name="T34" fmla="*/ 20 w 297"/>
                <a:gd name="T35" fmla="*/ 164 h 214"/>
                <a:gd name="T36" fmla="*/ 5 w 297"/>
                <a:gd name="T37" fmla="*/ 166 h 214"/>
                <a:gd name="T38" fmla="*/ 0 w 297"/>
                <a:gd name="T39" fmla="*/ 161 h 214"/>
                <a:gd name="T40" fmla="*/ 7 w 297"/>
                <a:gd name="T41" fmla="*/ 128 h 214"/>
                <a:gd name="T42" fmla="*/ 13 w 297"/>
                <a:gd name="T43" fmla="*/ 107 h 214"/>
                <a:gd name="T44" fmla="*/ 12 w 297"/>
                <a:gd name="T45" fmla="*/ 98 h 214"/>
                <a:gd name="T46" fmla="*/ 12 w 297"/>
                <a:gd name="T47" fmla="*/ 80 h 214"/>
                <a:gd name="T48" fmla="*/ 20 w 297"/>
                <a:gd name="T49" fmla="*/ 75 h 214"/>
                <a:gd name="T50" fmla="*/ 27 w 297"/>
                <a:gd name="T51" fmla="*/ 50 h 214"/>
                <a:gd name="T52" fmla="*/ 40 w 297"/>
                <a:gd name="T53" fmla="*/ 36 h 214"/>
                <a:gd name="T54" fmla="*/ 42 w 297"/>
                <a:gd name="T55" fmla="*/ 22 h 214"/>
                <a:gd name="T56" fmla="*/ 76 w 297"/>
                <a:gd name="T57" fmla="*/ 0 h 214"/>
                <a:gd name="T58" fmla="*/ 85 w 297"/>
                <a:gd name="T59" fmla="*/ 6 h 214"/>
                <a:gd name="T60" fmla="*/ 109 w 297"/>
                <a:gd name="T61" fmla="*/ 7 h 214"/>
                <a:gd name="T62" fmla="*/ 127 w 297"/>
                <a:gd name="T63" fmla="*/ 7 h 214"/>
                <a:gd name="T64" fmla="*/ 154 w 297"/>
                <a:gd name="T65" fmla="*/ 9 h 214"/>
                <a:gd name="T66" fmla="*/ 184 w 297"/>
                <a:gd name="T67" fmla="*/ 25 h 214"/>
                <a:gd name="T68" fmla="*/ 210 w 297"/>
                <a:gd name="T69" fmla="*/ 25 h 214"/>
                <a:gd name="T70" fmla="*/ 228 w 297"/>
                <a:gd name="T71" fmla="*/ 48 h 214"/>
                <a:gd name="T72" fmla="*/ 231 w 297"/>
                <a:gd name="T73" fmla="*/ 75 h 214"/>
                <a:gd name="T74" fmla="*/ 246 w 297"/>
                <a:gd name="T75" fmla="*/ 98 h 214"/>
                <a:gd name="T76" fmla="*/ 241 w 297"/>
                <a:gd name="T77" fmla="*/ 107 h 214"/>
                <a:gd name="T78" fmla="*/ 246 w 297"/>
                <a:gd name="T79" fmla="*/ 113 h 214"/>
                <a:gd name="T80" fmla="*/ 274 w 297"/>
                <a:gd name="T81" fmla="*/ 114 h 214"/>
                <a:gd name="T82" fmla="*/ 276 w 297"/>
                <a:gd name="T83" fmla="*/ 134 h 214"/>
                <a:gd name="T84" fmla="*/ 284 w 297"/>
                <a:gd name="T85" fmla="*/ 128 h 214"/>
                <a:gd name="T86" fmla="*/ 292 w 297"/>
                <a:gd name="T87" fmla="*/ 137 h 214"/>
                <a:gd name="T88" fmla="*/ 292 w 297"/>
                <a:gd name="T89" fmla="*/ 141 h 214"/>
                <a:gd name="T90" fmla="*/ 297 w 297"/>
                <a:gd name="T91" fmla="*/ 143 h 214"/>
                <a:gd name="T92" fmla="*/ 291 w 297"/>
                <a:gd name="T93" fmla="*/ 154 h 214"/>
                <a:gd name="T94" fmla="*/ 276 w 297"/>
                <a:gd name="T95" fmla="*/ 154 h 214"/>
                <a:gd name="T96" fmla="*/ 269 w 297"/>
                <a:gd name="T97" fmla="*/ 157 h 214"/>
                <a:gd name="T98" fmla="*/ 266 w 297"/>
                <a:gd name="T99" fmla="*/ 158 h 214"/>
                <a:gd name="T100" fmla="*/ 276 w 297"/>
                <a:gd name="T101" fmla="*/ 167 h 214"/>
                <a:gd name="T102" fmla="*/ 274 w 297"/>
                <a:gd name="T103" fmla="*/ 184 h 21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297" h="214">
                  <a:moveTo>
                    <a:pt x="274" y="184"/>
                  </a:moveTo>
                  <a:lnTo>
                    <a:pt x="257" y="182"/>
                  </a:lnTo>
                  <a:lnTo>
                    <a:pt x="228" y="190"/>
                  </a:lnTo>
                  <a:lnTo>
                    <a:pt x="216" y="184"/>
                  </a:lnTo>
                  <a:lnTo>
                    <a:pt x="204" y="181"/>
                  </a:lnTo>
                  <a:lnTo>
                    <a:pt x="191" y="183"/>
                  </a:lnTo>
                  <a:lnTo>
                    <a:pt x="181" y="182"/>
                  </a:lnTo>
                  <a:lnTo>
                    <a:pt x="169" y="195"/>
                  </a:lnTo>
                  <a:lnTo>
                    <a:pt x="152" y="196"/>
                  </a:lnTo>
                  <a:lnTo>
                    <a:pt x="148" y="202"/>
                  </a:lnTo>
                  <a:lnTo>
                    <a:pt x="148" y="211"/>
                  </a:lnTo>
                  <a:lnTo>
                    <a:pt x="141" y="214"/>
                  </a:lnTo>
                  <a:lnTo>
                    <a:pt x="111" y="208"/>
                  </a:lnTo>
                  <a:lnTo>
                    <a:pt x="91" y="201"/>
                  </a:lnTo>
                  <a:lnTo>
                    <a:pt x="57" y="196"/>
                  </a:lnTo>
                  <a:lnTo>
                    <a:pt x="40" y="195"/>
                  </a:lnTo>
                  <a:lnTo>
                    <a:pt x="31" y="169"/>
                  </a:lnTo>
                  <a:lnTo>
                    <a:pt x="20" y="164"/>
                  </a:lnTo>
                  <a:lnTo>
                    <a:pt x="5" y="166"/>
                  </a:lnTo>
                  <a:lnTo>
                    <a:pt x="0" y="161"/>
                  </a:lnTo>
                  <a:lnTo>
                    <a:pt x="7" y="128"/>
                  </a:lnTo>
                  <a:lnTo>
                    <a:pt x="13" y="107"/>
                  </a:lnTo>
                  <a:lnTo>
                    <a:pt x="12" y="98"/>
                  </a:lnTo>
                  <a:lnTo>
                    <a:pt x="12" y="80"/>
                  </a:lnTo>
                  <a:lnTo>
                    <a:pt x="20" y="75"/>
                  </a:lnTo>
                  <a:lnTo>
                    <a:pt x="27" y="50"/>
                  </a:lnTo>
                  <a:lnTo>
                    <a:pt x="40" y="36"/>
                  </a:lnTo>
                  <a:lnTo>
                    <a:pt x="42" y="22"/>
                  </a:lnTo>
                  <a:lnTo>
                    <a:pt x="76" y="0"/>
                  </a:lnTo>
                  <a:lnTo>
                    <a:pt x="85" y="6"/>
                  </a:lnTo>
                  <a:lnTo>
                    <a:pt x="109" y="7"/>
                  </a:lnTo>
                  <a:lnTo>
                    <a:pt x="127" y="7"/>
                  </a:lnTo>
                  <a:lnTo>
                    <a:pt x="154" y="9"/>
                  </a:lnTo>
                  <a:lnTo>
                    <a:pt x="184" y="25"/>
                  </a:lnTo>
                  <a:lnTo>
                    <a:pt x="210" y="25"/>
                  </a:lnTo>
                  <a:lnTo>
                    <a:pt x="228" y="48"/>
                  </a:lnTo>
                  <a:lnTo>
                    <a:pt x="231" y="75"/>
                  </a:lnTo>
                  <a:lnTo>
                    <a:pt x="246" y="98"/>
                  </a:lnTo>
                  <a:lnTo>
                    <a:pt x="241" y="107"/>
                  </a:lnTo>
                  <a:lnTo>
                    <a:pt x="246" y="113"/>
                  </a:lnTo>
                  <a:lnTo>
                    <a:pt x="274" y="114"/>
                  </a:lnTo>
                  <a:lnTo>
                    <a:pt x="276" y="134"/>
                  </a:lnTo>
                  <a:lnTo>
                    <a:pt x="284" y="128"/>
                  </a:lnTo>
                  <a:lnTo>
                    <a:pt x="292" y="137"/>
                  </a:lnTo>
                  <a:lnTo>
                    <a:pt x="292" y="141"/>
                  </a:lnTo>
                  <a:lnTo>
                    <a:pt x="297" y="143"/>
                  </a:lnTo>
                  <a:lnTo>
                    <a:pt x="291" y="154"/>
                  </a:lnTo>
                  <a:lnTo>
                    <a:pt x="276" y="154"/>
                  </a:lnTo>
                  <a:lnTo>
                    <a:pt x="269" y="157"/>
                  </a:lnTo>
                  <a:lnTo>
                    <a:pt x="266" y="158"/>
                  </a:lnTo>
                  <a:lnTo>
                    <a:pt x="276" y="167"/>
                  </a:lnTo>
                  <a:lnTo>
                    <a:pt x="274" y="184"/>
                  </a:lnTo>
                  <a:close/>
                </a:path>
              </a:pathLst>
            </a:custGeom>
            <a:solidFill>
              <a:srgbClr val="0070C0"/>
            </a:solidFill>
            <a:ln w="3175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4400"/>
            </a:p>
          </p:txBody>
        </p:sp>
        <p:sp>
          <p:nvSpPr>
            <p:cNvPr id="4" name="Freeform 53">
              <a:extLst>
                <a:ext uri="{FF2B5EF4-FFF2-40B4-BE49-F238E27FC236}">
                  <a16:creationId xmlns:a16="http://schemas.microsoft.com/office/drawing/2014/main" id="{F3BD4BF0-E476-12D8-38CB-AB72990A4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9028" y="5485905"/>
              <a:ext cx="537329" cy="370748"/>
            </a:xfrm>
            <a:custGeom>
              <a:avLst/>
              <a:gdLst>
                <a:gd name="T0" fmla="*/ 0 w 239"/>
                <a:gd name="T1" fmla="*/ 59 h 169"/>
                <a:gd name="T2" fmla="*/ 5 w 239"/>
                <a:gd name="T3" fmla="*/ 42 h 169"/>
                <a:gd name="T4" fmla="*/ 5 w 239"/>
                <a:gd name="T5" fmla="*/ 14 h 169"/>
                <a:gd name="T6" fmla="*/ 22 w 239"/>
                <a:gd name="T7" fmla="*/ 15 h 169"/>
                <a:gd name="T8" fmla="*/ 56 w 239"/>
                <a:gd name="T9" fmla="*/ 20 h 169"/>
                <a:gd name="T10" fmla="*/ 76 w 239"/>
                <a:gd name="T11" fmla="*/ 27 h 169"/>
                <a:gd name="T12" fmla="*/ 106 w 239"/>
                <a:gd name="T13" fmla="*/ 33 h 169"/>
                <a:gd name="T14" fmla="*/ 113 w 239"/>
                <a:gd name="T15" fmla="*/ 30 h 169"/>
                <a:gd name="T16" fmla="*/ 113 w 239"/>
                <a:gd name="T17" fmla="*/ 21 h 169"/>
                <a:gd name="T18" fmla="*/ 117 w 239"/>
                <a:gd name="T19" fmla="*/ 15 h 169"/>
                <a:gd name="T20" fmla="*/ 134 w 239"/>
                <a:gd name="T21" fmla="*/ 14 h 169"/>
                <a:gd name="T22" fmla="*/ 146 w 239"/>
                <a:gd name="T23" fmla="*/ 1 h 169"/>
                <a:gd name="T24" fmla="*/ 156 w 239"/>
                <a:gd name="T25" fmla="*/ 2 h 169"/>
                <a:gd name="T26" fmla="*/ 169 w 239"/>
                <a:gd name="T27" fmla="*/ 0 h 169"/>
                <a:gd name="T28" fmla="*/ 181 w 239"/>
                <a:gd name="T29" fmla="*/ 3 h 169"/>
                <a:gd name="T30" fmla="*/ 193 w 239"/>
                <a:gd name="T31" fmla="*/ 9 h 169"/>
                <a:gd name="T32" fmla="*/ 222 w 239"/>
                <a:gd name="T33" fmla="*/ 1 h 169"/>
                <a:gd name="T34" fmla="*/ 239 w 239"/>
                <a:gd name="T35" fmla="*/ 3 h 169"/>
                <a:gd name="T36" fmla="*/ 235 w 239"/>
                <a:gd name="T37" fmla="*/ 9 h 169"/>
                <a:gd name="T38" fmla="*/ 227 w 239"/>
                <a:gd name="T39" fmla="*/ 21 h 169"/>
                <a:gd name="T40" fmla="*/ 231 w 239"/>
                <a:gd name="T41" fmla="*/ 32 h 169"/>
                <a:gd name="T42" fmla="*/ 231 w 239"/>
                <a:gd name="T43" fmla="*/ 52 h 169"/>
                <a:gd name="T44" fmla="*/ 231 w 239"/>
                <a:gd name="T45" fmla="*/ 73 h 169"/>
                <a:gd name="T46" fmla="*/ 227 w 239"/>
                <a:gd name="T47" fmla="*/ 89 h 169"/>
                <a:gd name="T48" fmla="*/ 225 w 239"/>
                <a:gd name="T49" fmla="*/ 124 h 169"/>
                <a:gd name="T50" fmla="*/ 219 w 239"/>
                <a:gd name="T51" fmla="*/ 133 h 169"/>
                <a:gd name="T52" fmla="*/ 219 w 239"/>
                <a:gd name="T53" fmla="*/ 136 h 169"/>
                <a:gd name="T54" fmla="*/ 180 w 239"/>
                <a:gd name="T55" fmla="*/ 169 h 169"/>
                <a:gd name="T56" fmla="*/ 174 w 239"/>
                <a:gd name="T57" fmla="*/ 165 h 169"/>
                <a:gd name="T58" fmla="*/ 163 w 239"/>
                <a:gd name="T59" fmla="*/ 169 h 169"/>
                <a:gd name="T60" fmla="*/ 160 w 239"/>
                <a:gd name="T61" fmla="*/ 165 h 169"/>
                <a:gd name="T62" fmla="*/ 169 w 239"/>
                <a:gd name="T63" fmla="*/ 155 h 169"/>
                <a:gd name="T64" fmla="*/ 169 w 239"/>
                <a:gd name="T65" fmla="*/ 149 h 169"/>
                <a:gd name="T66" fmla="*/ 180 w 239"/>
                <a:gd name="T67" fmla="*/ 134 h 169"/>
                <a:gd name="T68" fmla="*/ 180 w 239"/>
                <a:gd name="T69" fmla="*/ 130 h 169"/>
                <a:gd name="T70" fmla="*/ 152 w 239"/>
                <a:gd name="T71" fmla="*/ 126 h 169"/>
                <a:gd name="T72" fmla="*/ 134 w 239"/>
                <a:gd name="T73" fmla="*/ 110 h 169"/>
                <a:gd name="T74" fmla="*/ 111 w 239"/>
                <a:gd name="T75" fmla="*/ 86 h 169"/>
                <a:gd name="T76" fmla="*/ 85 w 239"/>
                <a:gd name="T77" fmla="*/ 70 h 169"/>
                <a:gd name="T78" fmla="*/ 74 w 239"/>
                <a:gd name="T79" fmla="*/ 66 h 169"/>
                <a:gd name="T80" fmla="*/ 13 w 239"/>
                <a:gd name="T81" fmla="*/ 59 h 169"/>
                <a:gd name="T82" fmla="*/ 0 w 239"/>
                <a:gd name="T83" fmla="*/ 59 h 16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239" h="169">
                  <a:moveTo>
                    <a:pt x="0" y="59"/>
                  </a:moveTo>
                  <a:lnTo>
                    <a:pt x="5" y="42"/>
                  </a:lnTo>
                  <a:lnTo>
                    <a:pt x="5" y="14"/>
                  </a:lnTo>
                  <a:lnTo>
                    <a:pt x="22" y="15"/>
                  </a:lnTo>
                  <a:lnTo>
                    <a:pt x="56" y="20"/>
                  </a:lnTo>
                  <a:lnTo>
                    <a:pt x="76" y="27"/>
                  </a:lnTo>
                  <a:lnTo>
                    <a:pt x="106" y="33"/>
                  </a:lnTo>
                  <a:lnTo>
                    <a:pt x="113" y="30"/>
                  </a:lnTo>
                  <a:lnTo>
                    <a:pt x="113" y="21"/>
                  </a:lnTo>
                  <a:lnTo>
                    <a:pt x="117" y="15"/>
                  </a:lnTo>
                  <a:lnTo>
                    <a:pt x="134" y="14"/>
                  </a:lnTo>
                  <a:lnTo>
                    <a:pt x="146" y="1"/>
                  </a:lnTo>
                  <a:lnTo>
                    <a:pt x="156" y="2"/>
                  </a:lnTo>
                  <a:lnTo>
                    <a:pt x="169" y="0"/>
                  </a:lnTo>
                  <a:lnTo>
                    <a:pt x="181" y="3"/>
                  </a:lnTo>
                  <a:lnTo>
                    <a:pt x="193" y="9"/>
                  </a:lnTo>
                  <a:lnTo>
                    <a:pt x="222" y="1"/>
                  </a:lnTo>
                  <a:lnTo>
                    <a:pt x="239" y="3"/>
                  </a:lnTo>
                  <a:lnTo>
                    <a:pt x="235" y="9"/>
                  </a:lnTo>
                  <a:lnTo>
                    <a:pt x="227" y="21"/>
                  </a:lnTo>
                  <a:lnTo>
                    <a:pt x="231" y="32"/>
                  </a:lnTo>
                  <a:lnTo>
                    <a:pt x="231" y="52"/>
                  </a:lnTo>
                  <a:lnTo>
                    <a:pt x="231" y="73"/>
                  </a:lnTo>
                  <a:lnTo>
                    <a:pt x="227" y="89"/>
                  </a:lnTo>
                  <a:lnTo>
                    <a:pt x="225" y="124"/>
                  </a:lnTo>
                  <a:lnTo>
                    <a:pt x="219" y="133"/>
                  </a:lnTo>
                  <a:lnTo>
                    <a:pt x="219" y="136"/>
                  </a:lnTo>
                  <a:lnTo>
                    <a:pt x="180" y="169"/>
                  </a:lnTo>
                  <a:lnTo>
                    <a:pt x="174" y="165"/>
                  </a:lnTo>
                  <a:lnTo>
                    <a:pt x="163" y="169"/>
                  </a:lnTo>
                  <a:lnTo>
                    <a:pt x="160" y="165"/>
                  </a:lnTo>
                  <a:lnTo>
                    <a:pt x="169" y="155"/>
                  </a:lnTo>
                  <a:lnTo>
                    <a:pt x="169" y="149"/>
                  </a:lnTo>
                  <a:lnTo>
                    <a:pt x="180" y="134"/>
                  </a:lnTo>
                  <a:lnTo>
                    <a:pt x="180" y="130"/>
                  </a:lnTo>
                  <a:lnTo>
                    <a:pt x="152" y="126"/>
                  </a:lnTo>
                  <a:lnTo>
                    <a:pt x="134" y="110"/>
                  </a:lnTo>
                  <a:lnTo>
                    <a:pt x="111" y="86"/>
                  </a:lnTo>
                  <a:lnTo>
                    <a:pt x="85" y="70"/>
                  </a:lnTo>
                  <a:lnTo>
                    <a:pt x="74" y="66"/>
                  </a:lnTo>
                  <a:lnTo>
                    <a:pt x="13" y="59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 w="3175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4400"/>
            </a:p>
          </p:txBody>
        </p:sp>
        <p:sp>
          <p:nvSpPr>
            <p:cNvPr id="5" name="Freeform 54">
              <a:extLst>
                <a:ext uri="{FF2B5EF4-FFF2-40B4-BE49-F238E27FC236}">
                  <a16:creationId xmlns:a16="http://schemas.microsoft.com/office/drawing/2014/main" id="{9552B895-5724-421B-A4D9-EFF9D2B3E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0532" y="5607659"/>
              <a:ext cx="775642" cy="590471"/>
            </a:xfrm>
            <a:custGeom>
              <a:avLst/>
              <a:gdLst>
                <a:gd name="T0" fmla="*/ 345 w 345"/>
                <a:gd name="T1" fmla="*/ 110 h 331"/>
                <a:gd name="T2" fmla="*/ 339 w 345"/>
                <a:gd name="T3" fmla="*/ 106 h 331"/>
                <a:gd name="T4" fmla="*/ 328 w 345"/>
                <a:gd name="T5" fmla="*/ 110 h 331"/>
                <a:gd name="T6" fmla="*/ 325 w 345"/>
                <a:gd name="T7" fmla="*/ 106 h 331"/>
                <a:gd name="T8" fmla="*/ 334 w 345"/>
                <a:gd name="T9" fmla="*/ 96 h 331"/>
                <a:gd name="T10" fmla="*/ 334 w 345"/>
                <a:gd name="T11" fmla="*/ 90 h 331"/>
                <a:gd name="T12" fmla="*/ 345 w 345"/>
                <a:gd name="T13" fmla="*/ 75 h 331"/>
                <a:gd name="T14" fmla="*/ 345 w 345"/>
                <a:gd name="T15" fmla="*/ 71 h 331"/>
                <a:gd name="T16" fmla="*/ 317 w 345"/>
                <a:gd name="T17" fmla="*/ 67 h 331"/>
                <a:gd name="T18" fmla="*/ 299 w 345"/>
                <a:gd name="T19" fmla="*/ 51 h 331"/>
                <a:gd name="T20" fmla="*/ 276 w 345"/>
                <a:gd name="T21" fmla="*/ 27 h 331"/>
                <a:gd name="T22" fmla="*/ 250 w 345"/>
                <a:gd name="T23" fmla="*/ 11 h 331"/>
                <a:gd name="T24" fmla="*/ 239 w 345"/>
                <a:gd name="T25" fmla="*/ 7 h 331"/>
                <a:gd name="T26" fmla="*/ 178 w 345"/>
                <a:gd name="T27" fmla="*/ 0 h 331"/>
                <a:gd name="T28" fmla="*/ 165 w 345"/>
                <a:gd name="T29" fmla="*/ 0 h 331"/>
                <a:gd name="T30" fmla="*/ 139 w 345"/>
                <a:gd name="T31" fmla="*/ 17 h 331"/>
                <a:gd name="T32" fmla="*/ 125 w 345"/>
                <a:gd name="T33" fmla="*/ 24 h 331"/>
                <a:gd name="T34" fmla="*/ 86 w 345"/>
                <a:gd name="T35" fmla="*/ 56 h 331"/>
                <a:gd name="T36" fmla="*/ 81 w 345"/>
                <a:gd name="T37" fmla="*/ 67 h 331"/>
                <a:gd name="T38" fmla="*/ 73 w 345"/>
                <a:gd name="T39" fmla="*/ 67 h 331"/>
                <a:gd name="T40" fmla="*/ 42 w 345"/>
                <a:gd name="T41" fmla="*/ 104 h 331"/>
                <a:gd name="T42" fmla="*/ 41 w 345"/>
                <a:gd name="T43" fmla="*/ 111 h 331"/>
                <a:gd name="T44" fmla="*/ 13 w 345"/>
                <a:gd name="T45" fmla="*/ 145 h 331"/>
                <a:gd name="T46" fmla="*/ 0 w 345"/>
                <a:gd name="T47" fmla="*/ 162 h 331"/>
                <a:gd name="T48" fmla="*/ 14 w 345"/>
                <a:gd name="T49" fmla="*/ 167 h 331"/>
                <a:gd name="T50" fmla="*/ 26 w 345"/>
                <a:gd name="T51" fmla="*/ 155 h 331"/>
                <a:gd name="T52" fmla="*/ 43 w 345"/>
                <a:gd name="T53" fmla="*/ 163 h 331"/>
                <a:gd name="T54" fmla="*/ 52 w 345"/>
                <a:gd name="T55" fmla="*/ 169 h 331"/>
                <a:gd name="T56" fmla="*/ 69 w 345"/>
                <a:gd name="T57" fmla="*/ 191 h 331"/>
                <a:gd name="T58" fmla="*/ 69 w 345"/>
                <a:gd name="T59" fmla="*/ 201 h 331"/>
                <a:gd name="T60" fmla="*/ 74 w 345"/>
                <a:gd name="T61" fmla="*/ 205 h 331"/>
                <a:gd name="T62" fmla="*/ 86 w 345"/>
                <a:gd name="T63" fmla="*/ 194 h 331"/>
                <a:gd name="T64" fmla="*/ 88 w 345"/>
                <a:gd name="T65" fmla="*/ 191 h 331"/>
                <a:gd name="T66" fmla="*/ 111 w 345"/>
                <a:gd name="T67" fmla="*/ 217 h 331"/>
                <a:gd name="T68" fmla="*/ 130 w 345"/>
                <a:gd name="T69" fmla="*/ 223 h 331"/>
                <a:gd name="T70" fmla="*/ 143 w 345"/>
                <a:gd name="T71" fmla="*/ 241 h 331"/>
                <a:gd name="T72" fmla="*/ 163 w 345"/>
                <a:gd name="T73" fmla="*/ 250 h 331"/>
                <a:gd name="T74" fmla="*/ 180 w 345"/>
                <a:gd name="T75" fmla="*/ 276 h 331"/>
                <a:gd name="T76" fmla="*/ 189 w 345"/>
                <a:gd name="T77" fmla="*/ 284 h 331"/>
                <a:gd name="T78" fmla="*/ 186 w 345"/>
                <a:gd name="T79" fmla="*/ 290 h 331"/>
                <a:gd name="T80" fmla="*/ 178 w 345"/>
                <a:gd name="T81" fmla="*/ 299 h 331"/>
                <a:gd name="T82" fmla="*/ 176 w 345"/>
                <a:gd name="T83" fmla="*/ 311 h 331"/>
                <a:gd name="T84" fmla="*/ 180 w 345"/>
                <a:gd name="T85" fmla="*/ 331 h 331"/>
                <a:gd name="T86" fmla="*/ 187 w 345"/>
                <a:gd name="T87" fmla="*/ 329 h 331"/>
                <a:gd name="T88" fmla="*/ 215 w 345"/>
                <a:gd name="T89" fmla="*/ 302 h 331"/>
                <a:gd name="T90" fmla="*/ 226 w 345"/>
                <a:gd name="T91" fmla="*/ 271 h 331"/>
                <a:gd name="T92" fmla="*/ 243 w 345"/>
                <a:gd name="T93" fmla="*/ 249 h 331"/>
                <a:gd name="T94" fmla="*/ 273 w 345"/>
                <a:gd name="T95" fmla="*/ 225 h 331"/>
                <a:gd name="T96" fmla="*/ 308 w 345"/>
                <a:gd name="T97" fmla="*/ 184 h 331"/>
                <a:gd name="T98" fmla="*/ 328 w 345"/>
                <a:gd name="T99" fmla="*/ 142 h 331"/>
                <a:gd name="T100" fmla="*/ 345 w 345"/>
                <a:gd name="T101" fmla="*/ 110 h 33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345" h="331">
                  <a:moveTo>
                    <a:pt x="345" y="110"/>
                  </a:moveTo>
                  <a:lnTo>
                    <a:pt x="339" y="106"/>
                  </a:lnTo>
                  <a:lnTo>
                    <a:pt x="328" y="110"/>
                  </a:lnTo>
                  <a:lnTo>
                    <a:pt x="325" y="106"/>
                  </a:lnTo>
                  <a:lnTo>
                    <a:pt x="334" y="96"/>
                  </a:lnTo>
                  <a:lnTo>
                    <a:pt x="334" y="90"/>
                  </a:lnTo>
                  <a:lnTo>
                    <a:pt x="345" y="75"/>
                  </a:lnTo>
                  <a:lnTo>
                    <a:pt x="345" y="71"/>
                  </a:lnTo>
                  <a:lnTo>
                    <a:pt x="317" y="67"/>
                  </a:lnTo>
                  <a:lnTo>
                    <a:pt x="299" y="51"/>
                  </a:lnTo>
                  <a:lnTo>
                    <a:pt x="276" y="27"/>
                  </a:lnTo>
                  <a:lnTo>
                    <a:pt x="250" y="11"/>
                  </a:lnTo>
                  <a:lnTo>
                    <a:pt x="239" y="7"/>
                  </a:lnTo>
                  <a:lnTo>
                    <a:pt x="178" y="0"/>
                  </a:lnTo>
                  <a:lnTo>
                    <a:pt x="165" y="0"/>
                  </a:lnTo>
                  <a:lnTo>
                    <a:pt x="139" y="17"/>
                  </a:lnTo>
                  <a:lnTo>
                    <a:pt x="125" y="24"/>
                  </a:lnTo>
                  <a:lnTo>
                    <a:pt x="86" y="56"/>
                  </a:lnTo>
                  <a:lnTo>
                    <a:pt x="81" y="67"/>
                  </a:lnTo>
                  <a:lnTo>
                    <a:pt x="73" y="67"/>
                  </a:lnTo>
                  <a:lnTo>
                    <a:pt x="42" y="104"/>
                  </a:lnTo>
                  <a:lnTo>
                    <a:pt x="41" y="111"/>
                  </a:lnTo>
                  <a:lnTo>
                    <a:pt x="13" y="145"/>
                  </a:lnTo>
                  <a:lnTo>
                    <a:pt x="0" y="162"/>
                  </a:lnTo>
                  <a:lnTo>
                    <a:pt x="14" y="167"/>
                  </a:lnTo>
                  <a:lnTo>
                    <a:pt x="26" y="155"/>
                  </a:lnTo>
                  <a:lnTo>
                    <a:pt x="43" y="163"/>
                  </a:lnTo>
                  <a:lnTo>
                    <a:pt x="52" y="169"/>
                  </a:lnTo>
                  <a:lnTo>
                    <a:pt x="69" y="191"/>
                  </a:lnTo>
                  <a:lnTo>
                    <a:pt x="69" y="201"/>
                  </a:lnTo>
                  <a:lnTo>
                    <a:pt x="74" y="205"/>
                  </a:lnTo>
                  <a:lnTo>
                    <a:pt x="86" y="194"/>
                  </a:lnTo>
                  <a:lnTo>
                    <a:pt x="88" y="191"/>
                  </a:lnTo>
                  <a:lnTo>
                    <a:pt x="111" y="217"/>
                  </a:lnTo>
                  <a:lnTo>
                    <a:pt x="130" y="223"/>
                  </a:lnTo>
                  <a:lnTo>
                    <a:pt x="143" y="241"/>
                  </a:lnTo>
                  <a:lnTo>
                    <a:pt x="163" y="250"/>
                  </a:lnTo>
                  <a:lnTo>
                    <a:pt x="180" y="276"/>
                  </a:lnTo>
                  <a:lnTo>
                    <a:pt x="189" y="284"/>
                  </a:lnTo>
                  <a:lnTo>
                    <a:pt x="186" y="290"/>
                  </a:lnTo>
                  <a:lnTo>
                    <a:pt x="178" y="299"/>
                  </a:lnTo>
                  <a:lnTo>
                    <a:pt x="176" y="311"/>
                  </a:lnTo>
                  <a:lnTo>
                    <a:pt x="180" y="331"/>
                  </a:lnTo>
                  <a:lnTo>
                    <a:pt x="187" y="329"/>
                  </a:lnTo>
                  <a:lnTo>
                    <a:pt x="215" y="302"/>
                  </a:lnTo>
                  <a:lnTo>
                    <a:pt x="226" y="271"/>
                  </a:lnTo>
                  <a:lnTo>
                    <a:pt x="243" y="249"/>
                  </a:lnTo>
                  <a:lnTo>
                    <a:pt x="273" y="225"/>
                  </a:lnTo>
                  <a:lnTo>
                    <a:pt x="308" y="184"/>
                  </a:lnTo>
                  <a:lnTo>
                    <a:pt x="328" y="142"/>
                  </a:lnTo>
                  <a:lnTo>
                    <a:pt x="345" y="11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4400" dirty="0">
                <a:solidFill>
                  <a:schemeClr val="bg2"/>
                </a:solidFill>
              </a:endParaRPr>
            </a:p>
          </p:txBody>
        </p:sp>
        <p:sp>
          <p:nvSpPr>
            <p:cNvPr id="6" name="Freeform 55">
              <a:extLst>
                <a:ext uri="{FF2B5EF4-FFF2-40B4-BE49-F238E27FC236}">
                  <a16:creationId xmlns:a16="http://schemas.microsoft.com/office/drawing/2014/main" id="{F6146E50-1512-3CD9-5945-39A12311D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1205" y="4792672"/>
              <a:ext cx="919529" cy="609869"/>
            </a:xfrm>
            <a:custGeom>
              <a:avLst/>
              <a:gdLst>
                <a:gd name="T0" fmla="*/ 216 w 409"/>
                <a:gd name="T1" fmla="*/ 276 h 278"/>
                <a:gd name="T2" fmla="*/ 208 w 409"/>
                <a:gd name="T3" fmla="*/ 263 h 278"/>
                <a:gd name="T4" fmla="*/ 198 w 409"/>
                <a:gd name="T5" fmla="*/ 249 h 278"/>
                <a:gd name="T6" fmla="*/ 165 w 409"/>
                <a:gd name="T7" fmla="*/ 242 h 278"/>
                <a:gd name="T8" fmla="*/ 155 w 409"/>
                <a:gd name="T9" fmla="*/ 210 h 278"/>
                <a:gd name="T10" fmla="*/ 134 w 409"/>
                <a:gd name="T11" fmla="*/ 160 h 278"/>
                <a:gd name="T12" fmla="*/ 78 w 409"/>
                <a:gd name="T13" fmla="*/ 144 h 278"/>
                <a:gd name="T14" fmla="*/ 33 w 409"/>
                <a:gd name="T15" fmla="*/ 142 h 278"/>
                <a:gd name="T16" fmla="*/ 0 w 409"/>
                <a:gd name="T17" fmla="*/ 135 h 278"/>
                <a:gd name="T18" fmla="*/ 39 w 409"/>
                <a:gd name="T19" fmla="*/ 94 h 278"/>
                <a:gd name="T20" fmla="*/ 51 w 409"/>
                <a:gd name="T21" fmla="*/ 74 h 278"/>
                <a:gd name="T22" fmla="*/ 73 w 409"/>
                <a:gd name="T23" fmla="*/ 28 h 278"/>
                <a:gd name="T24" fmla="*/ 92 w 409"/>
                <a:gd name="T25" fmla="*/ 10 h 278"/>
                <a:gd name="T26" fmla="*/ 135 w 409"/>
                <a:gd name="T27" fmla="*/ 7 h 278"/>
                <a:gd name="T28" fmla="*/ 172 w 409"/>
                <a:gd name="T29" fmla="*/ 13 h 278"/>
                <a:gd name="T30" fmla="*/ 189 w 409"/>
                <a:gd name="T31" fmla="*/ 24 h 278"/>
                <a:gd name="T32" fmla="*/ 228 w 409"/>
                <a:gd name="T33" fmla="*/ 20 h 278"/>
                <a:gd name="T34" fmla="*/ 263 w 409"/>
                <a:gd name="T35" fmla="*/ 16 h 278"/>
                <a:gd name="T36" fmla="*/ 266 w 409"/>
                <a:gd name="T37" fmla="*/ 34 h 278"/>
                <a:gd name="T38" fmla="*/ 268 w 409"/>
                <a:gd name="T39" fmla="*/ 57 h 278"/>
                <a:gd name="T40" fmla="*/ 284 w 409"/>
                <a:gd name="T41" fmla="*/ 87 h 278"/>
                <a:gd name="T42" fmla="*/ 300 w 409"/>
                <a:gd name="T43" fmla="*/ 97 h 278"/>
                <a:gd name="T44" fmla="*/ 295 w 409"/>
                <a:gd name="T45" fmla="*/ 135 h 278"/>
                <a:gd name="T46" fmla="*/ 306 w 409"/>
                <a:gd name="T47" fmla="*/ 154 h 278"/>
                <a:gd name="T48" fmla="*/ 331 w 409"/>
                <a:gd name="T49" fmla="*/ 157 h 278"/>
                <a:gd name="T50" fmla="*/ 365 w 409"/>
                <a:gd name="T51" fmla="*/ 146 h 278"/>
                <a:gd name="T52" fmla="*/ 388 w 409"/>
                <a:gd name="T53" fmla="*/ 150 h 278"/>
                <a:gd name="T54" fmla="*/ 409 w 409"/>
                <a:gd name="T55" fmla="*/ 151 h 278"/>
                <a:gd name="T56" fmla="*/ 377 w 409"/>
                <a:gd name="T57" fmla="*/ 167 h 278"/>
                <a:gd name="T58" fmla="*/ 374 w 409"/>
                <a:gd name="T59" fmla="*/ 190 h 278"/>
                <a:gd name="T60" fmla="*/ 340 w 409"/>
                <a:gd name="T61" fmla="*/ 213 h 278"/>
                <a:gd name="T62" fmla="*/ 284 w 409"/>
                <a:gd name="T63" fmla="*/ 229 h 278"/>
                <a:gd name="T64" fmla="*/ 221 w 409"/>
                <a:gd name="T65" fmla="*/ 278 h 27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09" h="278">
                  <a:moveTo>
                    <a:pt x="221" y="278"/>
                  </a:moveTo>
                  <a:lnTo>
                    <a:pt x="216" y="276"/>
                  </a:lnTo>
                  <a:lnTo>
                    <a:pt x="216" y="272"/>
                  </a:lnTo>
                  <a:lnTo>
                    <a:pt x="208" y="263"/>
                  </a:lnTo>
                  <a:lnTo>
                    <a:pt x="200" y="269"/>
                  </a:lnTo>
                  <a:lnTo>
                    <a:pt x="198" y="249"/>
                  </a:lnTo>
                  <a:lnTo>
                    <a:pt x="170" y="248"/>
                  </a:lnTo>
                  <a:lnTo>
                    <a:pt x="165" y="242"/>
                  </a:lnTo>
                  <a:lnTo>
                    <a:pt x="170" y="233"/>
                  </a:lnTo>
                  <a:lnTo>
                    <a:pt x="155" y="210"/>
                  </a:lnTo>
                  <a:lnTo>
                    <a:pt x="152" y="183"/>
                  </a:lnTo>
                  <a:lnTo>
                    <a:pt x="134" y="160"/>
                  </a:lnTo>
                  <a:lnTo>
                    <a:pt x="108" y="160"/>
                  </a:lnTo>
                  <a:lnTo>
                    <a:pt x="78" y="144"/>
                  </a:lnTo>
                  <a:lnTo>
                    <a:pt x="51" y="142"/>
                  </a:lnTo>
                  <a:lnTo>
                    <a:pt x="33" y="142"/>
                  </a:lnTo>
                  <a:lnTo>
                    <a:pt x="9" y="141"/>
                  </a:lnTo>
                  <a:lnTo>
                    <a:pt x="0" y="135"/>
                  </a:lnTo>
                  <a:lnTo>
                    <a:pt x="18" y="121"/>
                  </a:lnTo>
                  <a:lnTo>
                    <a:pt x="39" y="94"/>
                  </a:lnTo>
                  <a:lnTo>
                    <a:pt x="39" y="87"/>
                  </a:lnTo>
                  <a:lnTo>
                    <a:pt x="51" y="74"/>
                  </a:lnTo>
                  <a:lnTo>
                    <a:pt x="58" y="53"/>
                  </a:lnTo>
                  <a:lnTo>
                    <a:pt x="73" y="28"/>
                  </a:lnTo>
                  <a:lnTo>
                    <a:pt x="91" y="15"/>
                  </a:lnTo>
                  <a:lnTo>
                    <a:pt x="92" y="10"/>
                  </a:lnTo>
                  <a:lnTo>
                    <a:pt x="112" y="0"/>
                  </a:lnTo>
                  <a:lnTo>
                    <a:pt x="135" y="7"/>
                  </a:lnTo>
                  <a:lnTo>
                    <a:pt x="168" y="7"/>
                  </a:lnTo>
                  <a:lnTo>
                    <a:pt x="172" y="13"/>
                  </a:lnTo>
                  <a:lnTo>
                    <a:pt x="172" y="20"/>
                  </a:lnTo>
                  <a:lnTo>
                    <a:pt x="189" y="24"/>
                  </a:lnTo>
                  <a:lnTo>
                    <a:pt x="200" y="17"/>
                  </a:lnTo>
                  <a:lnTo>
                    <a:pt x="228" y="20"/>
                  </a:lnTo>
                  <a:lnTo>
                    <a:pt x="243" y="10"/>
                  </a:lnTo>
                  <a:lnTo>
                    <a:pt x="263" y="16"/>
                  </a:lnTo>
                  <a:lnTo>
                    <a:pt x="269" y="25"/>
                  </a:lnTo>
                  <a:lnTo>
                    <a:pt x="266" y="34"/>
                  </a:lnTo>
                  <a:lnTo>
                    <a:pt x="272" y="47"/>
                  </a:lnTo>
                  <a:lnTo>
                    <a:pt x="268" y="57"/>
                  </a:lnTo>
                  <a:lnTo>
                    <a:pt x="276" y="80"/>
                  </a:lnTo>
                  <a:lnTo>
                    <a:pt x="284" y="87"/>
                  </a:lnTo>
                  <a:lnTo>
                    <a:pt x="298" y="88"/>
                  </a:lnTo>
                  <a:lnTo>
                    <a:pt x="300" y="97"/>
                  </a:lnTo>
                  <a:lnTo>
                    <a:pt x="290" y="124"/>
                  </a:lnTo>
                  <a:lnTo>
                    <a:pt x="295" y="135"/>
                  </a:lnTo>
                  <a:lnTo>
                    <a:pt x="306" y="148"/>
                  </a:lnTo>
                  <a:lnTo>
                    <a:pt x="306" y="154"/>
                  </a:lnTo>
                  <a:lnTo>
                    <a:pt x="311" y="162"/>
                  </a:lnTo>
                  <a:lnTo>
                    <a:pt x="331" y="157"/>
                  </a:lnTo>
                  <a:lnTo>
                    <a:pt x="339" y="149"/>
                  </a:lnTo>
                  <a:lnTo>
                    <a:pt x="365" y="146"/>
                  </a:lnTo>
                  <a:lnTo>
                    <a:pt x="379" y="141"/>
                  </a:lnTo>
                  <a:lnTo>
                    <a:pt x="388" y="150"/>
                  </a:lnTo>
                  <a:lnTo>
                    <a:pt x="407" y="150"/>
                  </a:lnTo>
                  <a:lnTo>
                    <a:pt x="409" y="151"/>
                  </a:lnTo>
                  <a:lnTo>
                    <a:pt x="396" y="163"/>
                  </a:lnTo>
                  <a:lnTo>
                    <a:pt x="377" y="167"/>
                  </a:lnTo>
                  <a:lnTo>
                    <a:pt x="373" y="180"/>
                  </a:lnTo>
                  <a:lnTo>
                    <a:pt x="374" y="190"/>
                  </a:lnTo>
                  <a:lnTo>
                    <a:pt x="344" y="207"/>
                  </a:lnTo>
                  <a:lnTo>
                    <a:pt x="340" y="213"/>
                  </a:lnTo>
                  <a:lnTo>
                    <a:pt x="321" y="210"/>
                  </a:lnTo>
                  <a:lnTo>
                    <a:pt x="284" y="229"/>
                  </a:lnTo>
                  <a:lnTo>
                    <a:pt x="228" y="270"/>
                  </a:lnTo>
                  <a:lnTo>
                    <a:pt x="221" y="278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3175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4400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D090603C-1258-A895-F17C-5137C1CF45CE}"/>
              </a:ext>
            </a:extLst>
          </p:cNvPr>
          <p:cNvGrpSpPr/>
          <p:nvPr/>
        </p:nvGrpSpPr>
        <p:grpSpPr>
          <a:xfrm>
            <a:off x="20063791" y="1648701"/>
            <a:ext cx="11198910" cy="5798188"/>
            <a:chOff x="12100184" y="3700583"/>
            <a:chExt cx="7938946" cy="4110354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1A60FF5-394B-FB88-DBB5-AC4ECC6095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08645" y="4053449"/>
              <a:ext cx="1168004" cy="277031"/>
            </a:xfrm>
            <a:prstGeom prst="line">
              <a:avLst/>
            </a:prstGeom>
            <a:noFill/>
            <a:ln w="3175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135F14C9-E1DA-73D6-9213-D9478037B1C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3109" y="5407779"/>
              <a:ext cx="972910" cy="5654"/>
            </a:xfrm>
            <a:prstGeom prst="line">
              <a:avLst/>
            </a:prstGeom>
            <a:noFill/>
            <a:ln w="3175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2538CFA-6EF5-0B72-334F-C9C379513219}"/>
                </a:ext>
              </a:extLst>
            </p:cNvPr>
            <p:cNvSpPr txBox="1"/>
            <p:nvPr/>
          </p:nvSpPr>
          <p:spPr>
            <a:xfrm>
              <a:off x="15094484" y="3700583"/>
              <a:ext cx="4944646" cy="45818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defTabSz="2743200" hangingPunct="0"/>
              <a:r>
                <a:rPr lang="en-US" altLang="zh-CN" sz="4200">
                  <a:solidFill>
                    <a:schemeClr val="bg1"/>
                  </a:solidFill>
                  <a:ea typeface="+mj-ea"/>
                  <a:cs typeface="+mj-cs"/>
                  <a:sym typeface="Helvetica"/>
                </a:rPr>
                <a:t>Santos </a:t>
              </a:r>
              <a:endParaRPr lang="en-US" sz="4200">
                <a:solidFill>
                  <a:schemeClr val="bg1"/>
                </a:solidFill>
                <a:ea typeface="+mj-ea"/>
                <a:cs typeface="+mj-cs"/>
                <a:sym typeface="Helvetica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1B2C2E1-8F0E-A6AB-1CE4-FFCBAA2EA3AD}"/>
                </a:ext>
              </a:extLst>
            </p:cNvPr>
            <p:cNvSpPr txBox="1"/>
            <p:nvPr/>
          </p:nvSpPr>
          <p:spPr>
            <a:xfrm>
              <a:off x="14389273" y="5918766"/>
              <a:ext cx="5581934" cy="45818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defTabSz="2743200" hangingPunct="0"/>
              <a:r>
                <a:rPr lang="en-US" altLang="zh-CN" sz="4200" err="1">
                  <a:solidFill>
                    <a:schemeClr val="bg1"/>
                  </a:solidFill>
                  <a:latin typeface="Maven Pro" pitchFamily="2" charset="0"/>
                </a:rPr>
                <a:t>Itapoá</a:t>
              </a:r>
              <a:r>
                <a:rPr lang="en-US" altLang="zh-CN" sz="4200">
                  <a:solidFill>
                    <a:schemeClr val="bg1"/>
                  </a:solidFill>
                  <a:latin typeface="Maven Pro" pitchFamily="2" charset="0"/>
                  <a:sym typeface="Helvetica"/>
                </a:rPr>
                <a:t> </a:t>
              </a:r>
              <a:endParaRPr lang="en-US" sz="4200">
                <a:solidFill>
                  <a:schemeClr val="bg1"/>
                </a:solidFill>
                <a:latin typeface="Maven Pro" pitchFamily="2" charset="0"/>
                <a:sym typeface="Helvetica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4E22F3B0-A3C6-526E-6B20-51E839A3E01C}"/>
                </a:ext>
              </a:extLst>
            </p:cNvPr>
            <p:cNvSpPr txBox="1"/>
            <p:nvPr/>
          </p:nvSpPr>
          <p:spPr>
            <a:xfrm>
              <a:off x="13664086" y="6709551"/>
              <a:ext cx="6295941" cy="45818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defTabSz="2743200" hangingPunct="0"/>
              <a:r>
                <a:rPr lang="en-US" altLang="zh-CN" sz="4200" err="1">
                  <a:solidFill>
                    <a:schemeClr val="bg1"/>
                  </a:solidFill>
                </a:rPr>
                <a:t>Navegantes</a:t>
              </a:r>
              <a:r>
                <a:rPr lang="en-US" altLang="zh-CN" sz="4200">
                  <a:solidFill>
                    <a:schemeClr val="bg1"/>
                  </a:solidFill>
                  <a:sym typeface="Helvetica"/>
                </a:rPr>
                <a:t> </a:t>
              </a:r>
              <a:endParaRPr lang="en-US" sz="4200">
                <a:solidFill>
                  <a:schemeClr val="bg1"/>
                </a:solidFill>
                <a:sym typeface="Helvetica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B026B32-8624-A531-4A56-3271CAEC432B}"/>
                </a:ext>
              </a:extLst>
            </p:cNvPr>
            <p:cNvSpPr txBox="1"/>
            <p:nvPr/>
          </p:nvSpPr>
          <p:spPr>
            <a:xfrm>
              <a:off x="13107975" y="7352751"/>
              <a:ext cx="4661613" cy="45818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defTabSz="2743200" hangingPunct="0"/>
              <a:r>
                <a:rPr lang="en-US" altLang="zh-CN" sz="4200" dirty="0" err="1">
                  <a:solidFill>
                    <a:schemeClr val="bg1"/>
                  </a:solidFill>
                  <a:latin typeface="Maven Pro" pitchFamily="2" charset="0"/>
                </a:rPr>
                <a:t>Itajaí</a:t>
              </a:r>
              <a:r>
                <a:rPr lang="en-US" altLang="zh-CN" sz="4200" dirty="0">
                  <a:solidFill>
                    <a:schemeClr val="bg1"/>
                  </a:solidFill>
                  <a:latin typeface="Maven Pro" pitchFamily="2" charset="0"/>
                </a:rPr>
                <a:t> </a:t>
              </a:r>
              <a:endParaRPr lang="en-US" sz="4200" dirty="0">
                <a:solidFill>
                  <a:schemeClr val="bg1"/>
                </a:solidFill>
                <a:latin typeface="Maven Pro" pitchFamily="2" charset="0"/>
                <a:sym typeface="Helvetica"/>
              </a:endParaRPr>
            </a:p>
          </p:txBody>
        </p:sp>
        <p:cxnSp>
          <p:nvCxnSpPr>
            <p:cNvPr id="95" name="Connector: Elbow 94">
              <a:extLst>
                <a:ext uri="{FF2B5EF4-FFF2-40B4-BE49-F238E27FC236}">
                  <a16:creationId xmlns:a16="http://schemas.microsoft.com/office/drawing/2014/main" id="{6C4C5FE7-2012-52AC-B68C-9960FB866C9A}"/>
                </a:ext>
              </a:extLst>
            </p:cNvPr>
            <p:cNvCxnSpPr>
              <a:cxnSpLocks/>
              <a:stCxn id="4" idx="24"/>
            </p:cNvCxnSpPr>
            <p:nvPr/>
          </p:nvCxnSpPr>
          <p:spPr>
            <a:xfrm>
              <a:off x="12100184" y="7594067"/>
              <a:ext cx="972553" cy="116101"/>
            </a:xfrm>
            <a:prstGeom prst="bentConnector3">
              <a:avLst>
                <a:gd name="adj1" fmla="val 50000"/>
              </a:avLst>
            </a:prstGeom>
            <a:noFill/>
            <a:ln w="635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cxnSp>
          <p:nvCxnSpPr>
            <p:cNvPr id="96" name="Connector: Elbow 95">
              <a:extLst>
                <a:ext uri="{FF2B5EF4-FFF2-40B4-BE49-F238E27FC236}">
                  <a16:creationId xmlns:a16="http://schemas.microsoft.com/office/drawing/2014/main" id="{E65586DF-2492-6DE1-D95A-91577B69A5E9}"/>
                </a:ext>
              </a:extLst>
            </p:cNvPr>
            <p:cNvCxnSpPr>
              <a:cxnSpLocks/>
            </p:cNvCxnSpPr>
            <p:nvPr/>
          </p:nvCxnSpPr>
          <p:spPr>
            <a:xfrm>
              <a:off x="12190824" y="6527504"/>
              <a:ext cx="1273424" cy="553876"/>
            </a:xfrm>
            <a:prstGeom prst="bentConnector3">
              <a:avLst>
                <a:gd name="adj1" fmla="val 50000"/>
              </a:avLst>
            </a:prstGeom>
            <a:noFill/>
            <a:ln w="3175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cxnSp>
          <p:nvCxnSpPr>
            <p:cNvPr id="97" name="Connector: Elbow 96">
              <a:extLst>
                <a:ext uri="{FF2B5EF4-FFF2-40B4-BE49-F238E27FC236}">
                  <a16:creationId xmlns:a16="http://schemas.microsoft.com/office/drawing/2014/main" id="{07C2D050-DAF7-5AF1-6C45-816A20A4A4F6}"/>
                </a:ext>
              </a:extLst>
            </p:cNvPr>
            <p:cNvCxnSpPr>
              <a:cxnSpLocks/>
            </p:cNvCxnSpPr>
            <p:nvPr/>
          </p:nvCxnSpPr>
          <p:spPr>
            <a:xfrm>
              <a:off x="12167065" y="5977556"/>
              <a:ext cx="1981167" cy="423359"/>
            </a:xfrm>
            <a:prstGeom prst="bentConnector3">
              <a:avLst>
                <a:gd name="adj1" fmla="val 50000"/>
              </a:avLst>
            </a:prstGeom>
            <a:noFill/>
            <a:ln w="3175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9D4FE12C-CABF-E4B7-549C-425094E43E11}"/>
              </a:ext>
            </a:extLst>
          </p:cNvPr>
          <p:cNvSpPr txBox="1"/>
          <p:nvPr/>
        </p:nvSpPr>
        <p:spPr>
          <a:xfrm>
            <a:off x="22086837" y="3588917"/>
            <a:ext cx="7874040" cy="64633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defTabSz="2743200" hangingPunct="0"/>
            <a:r>
              <a:rPr lang="en-US" altLang="zh-CN" sz="4200" dirty="0">
                <a:solidFill>
                  <a:schemeClr val="bg1"/>
                </a:solidFill>
                <a:latin typeface="Maven Pro" pitchFamily="2" charset="0"/>
              </a:rPr>
              <a:t>Paranaguá</a:t>
            </a:r>
            <a:endParaRPr lang="en-US" sz="4200" dirty="0">
              <a:solidFill>
                <a:schemeClr val="bg1"/>
              </a:solidFill>
              <a:latin typeface="Maven Pro" pitchFamily="2" charset="0"/>
              <a:sym typeface="Helvetica"/>
            </a:endParaRPr>
          </a:p>
        </p:txBody>
      </p:sp>
      <p:pic>
        <p:nvPicPr>
          <p:cNvPr id="102" name="Picture 2" descr="Santos Brasil - Contato">
            <a:extLst>
              <a:ext uri="{FF2B5EF4-FFF2-40B4-BE49-F238E27FC236}">
                <a16:creationId xmlns:a16="http://schemas.microsoft.com/office/drawing/2014/main" id="{C3F22D85-8492-9661-E3D0-765735F6C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207100" y="1516380"/>
            <a:ext cx="1387806" cy="1015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6" descr="canal de ética brasil terminal portuário">
            <a:extLst>
              <a:ext uri="{FF2B5EF4-FFF2-40B4-BE49-F238E27FC236}">
                <a16:creationId xmlns:a16="http://schemas.microsoft.com/office/drawing/2014/main" id="{C85AD60B-70BD-F005-DA34-5A40899FF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272"/>
          <a:stretch>
            <a:fillRect/>
          </a:stretch>
        </p:blipFill>
        <p:spPr bwMode="auto">
          <a:xfrm>
            <a:off x="27951828" y="1473624"/>
            <a:ext cx="1599858" cy="1007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14" descr="Paid Program: Global Trade in the Age of the Brain">
            <a:extLst>
              <a:ext uri="{FF2B5EF4-FFF2-40B4-BE49-F238E27FC236}">
                <a16:creationId xmlns:a16="http://schemas.microsoft.com/office/drawing/2014/main" id="{408F09A7-7544-B134-AEDD-1344076C6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794178" y="1553078"/>
            <a:ext cx="2937045" cy="954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" name="Picture 16" descr="Iniciativa: Conhecendo os ODS – NTICS Projetos">
            <a:extLst>
              <a:ext uri="{FF2B5EF4-FFF2-40B4-BE49-F238E27FC236}">
                <a16:creationId xmlns:a16="http://schemas.microsoft.com/office/drawing/2014/main" id="{6467EEBC-65CD-68AC-E4D7-CA9256723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25038060" y="3844455"/>
            <a:ext cx="2648292" cy="2648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" name="Picture 18" descr="PORTONAVE S/A TERMINAIS PORTUÁRIOS DE NAVEGANTES REUNIÃO EMERGENCIAL DA  CÂMARA DE TRANSPORTE E LOGÍSTICA DA FIESC">
            <a:extLst>
              <a:ext uri="{FF2B5EF4-FFF2-40B4-BE49-F238E27FC236}">
                <a16:creationId xmlns:a16="http://schemas.microsoft.com/office/drawing/2014/main" id="{2AEAEBDA-F2A4-B402-6FA4-82EC812C7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5244999" y="5798031"/>
            <a:ext cx="3312009" cy="1029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" name="Picture 20" descr="JBS ESG">
            <a:extLst>
              <a:ext uri="{FF2B5EF4-FFF2-40B4-BE49-F238E27FC236}">
                <a16:creationId xmlns:a16="http://schemas.microsoft.com/office/drawing/2014/main" id="{ED494265-7ED0-4EBF-1ACE-937A76B21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850907" y="6896505"/>
            <a:ext cx="1626894" cy="64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" name="Rectangle 107">
            <a:extLst>
              <a:ext uri="{FF2B5EF4-FFF2-40B4-BE49-F238E27FC236}">
                <a16:creationId xmlns:a16="http://schemas.microsoft.com/office/drawing/2014/main" id="{7BD3CD89-EB63-C28A-94D6-F64A5A8B7578}"/>
              </a:ext>
            </a:extLst>
          </p:cNvPr>
          <p:cNvSpPr/>
          <p:nvPr/>
        </p:nvSpPr>
        <p:spPr>
          <a:xfrm>
            <a:off x="1309296" y="9750224"/>
            <a:ext cx="33500207" cy="1550445"/>
          </a:xfrm>
          <a:prstGeom prst="roundRect">
            <a:avLst/>
          </a:prstGeom>
          <a:solidFill>
            <a:srgbClr val="0710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F7D4583-8C3E-FACB-F5F1-D234162F1ADF}"/>
              </a:ext>
            </a:extLst>
          </p:cNvPr>
          <p:cNvSpPr txBox="1"/>
          <p:nvPr/>
        </p:nvSpPr>
        <p:spPr>
          <a:xfrm>
            <a:off x="1840386" y="11134553"/>
            <a:ext cx="1319952" cy="6751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4200">
                <a:solidFill>
                  <a:srgbClr val="1B2D70"/>
                </a:solidFill>
                <a:latin typeface="Maven Pro" pitchFamily="2" charset="0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pt-BR" sz="4200">
                <a:solidFill>
                  <a:srgbClr val="1B2D70"/>
                </a:solidFill>
                <a:latin typeface="Maven Pro" pitchFamily="2" charset="0"/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pt-BR" sz="4200" b="1">
                <a:solidFill>
                  <a:srgbClr val="1B2D70"/>
                </a:solidFill>
                <a:latin typeface="Maven Pro" pitchFamily="2" charset="0"/>
              </a:rPr>
              <a:t>3</a:t>
            </a:r>
          </a:p>
          <a:p>
            <a:pPr>
              <a:lnSpc>
                <a:spcPct val="150000"/>
              </a:lnSpc>
            </a:pPr>
            <a:r>
              <a:rPr lang="pt-BR" sz="4200">
                <a:solidFill>
                  <a:srgbClr val="1B2D70"/>
                </a:solidFill>
                <a:latin typeface="Maven Pro" pitchFamily="2" charset="0"/>
              </a:rPr>
              <a:t>4</a:t>
            </a:r>
          </a:p>
          <a:p>
            <a:pPr>
              <a:lnSpc>
                <a:spcPct val="150000"/>
              </a:lnSpc>
            </a:pPr>
            <a:r>
              <a:rPr lang="pt-BR" sz="4200">
                <a:solidFill>
                  <a:srgbClr val="1B2D70"/>
                </a:solidFill>
                <a:latin typeface="Maven Pro" pitchFamily="2" charset="0"/>
              </a:rPr>
              <a:t>5</a:t>
            </a:r>
          </a:p>
          <a:p>
            <a:pPr>
              <a:lnSpc>
                <a:spcPct val="150000"/>
              </a:lnSpc>
            </a:pPr>
            <a:r>
              <a:rPr lang="pt-BR" sz="4200">
                <a:solidFill>
                  <a:srgbClr val="1B2D70"/>
                </a:solidFill>
                <a:latin typeface="Maven Pro" pitchFamily="2" charset="0"/>
              </a:rPr>
              <a:t>6</a:t>
            </a:r>
          </a:p>
          <a:p>
            <a:pPr>
              <a:lnSpc>
                <a:spcPct val="150000"/>
              </a:lnSpc>
            </a:pPr>
            <a:r>
              <a:rPr lang="pt-BR" sz="4200">
                <a:solidFill>
                  <a:srgbClr val="1B2D70"/>
                </a:solidFill>
                <a:latin typeface="Maven Pro" pitchFamily="2" charset="0"/>
              </a:rPr>
              <a:t>7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F139C6B-F4B7-A017-3F55-BB0FE66E8075}"/>
              </a:ext>
            </a:extLst>
          </p:cNvPr>
          <p:cNvSpPr txBox="1"/>
          <p:nvPr/>
        </p:nvSpPr>
        <p:spPr>
          <a:xfrm>
            <a:off x="3203420" y="11134545"/>
            <a:ext cx="4843731" cy="6751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4200" dirty="0">
                <a:solidFill>
                  <a:srgbClr val="1B2D70"/>
                </a:solidFill>
                <a:latin typeface="Maven Pro" pitchFamily="2" charset="0"/>
              </a:rPr>
              <a:t>Santos Brasil</a:t>
            </a:r>
          </a:p>
          <a:p>
            <a:pPr>
              <a:lnSpc>
                <a:spcPct val="150000"/>
              </a:lnSpc>
            </a:pPr>
            <a:r>
              <a:rPr lang="pt-BR" sz="4200" dirty="0">
                <a:solidFill>
                  <a:srgbClr val="1B2D70"/>
                </a:solidFill>
                <a:latin typeface="Maven Pro" pitchFamily="2" charset="0"/>
              </a:rPr>
              <a:t>BTP Santos</a:t>
            </a:r>
          </a:p>
          <a:p>
            <a:pPr>
              <a:lnSpc>
                <a:spcPct val="150000"/>
              </a:lnSpc>
            </a:pPr>
            <a:r>
              <a:rPr lang="pt-BR" sz="4200" b="1" dirty="0">
                <a:solidFill>
                  <a:srgbClr val="1B2D70"/>
                </a:solidFill>
                <a:latin typeface="Maven Pro" pitchFamily="2" charset="0"/>
              </a:rPr>
              <a:t>TCP</a:t>
            </a:r>
          </a:p>
          <a:p>
            <a:pPr>
              <a:lnSpc>
                <a:spcPct val="150000"/>
              </a:lnSpc>
            </a:pPr>
            <a:r>
              <a:rPr lang="pt-BR" sz="4200" dirty="0">
                <a:solidFill>
                  <a:srgbClr val="1B2D70"/>
                </a:solidFill>
                <a:latin typeface="Maven Pro" pitchFamily="2" charset="0"/>
              </a:rPr>
              <a:t>Porto Itapoá</a:t>
            </a:r>
          </a:p>
          <a:p>
            <a:pPr>
              <a:lnSpc>
                <a:spcPct val="150000"/>
              </a:lnSpc>
            </a:pPr>
            <a:r>
              <a:rPr lang="pt-BR" sz="4200" dirty="0">
                <a:solidFill>
                  <a:srgbClr val="1B2D70"/>
                </a:solidFill>
                <a:latin typeface="Maven Pro" pitchFamily="2" charset="0"/>
              </a:rPr>
              <a:t>DP World Santos</a:t>
            </a:r>
          </a:p>
          <a:p>
            <a:pPr>
              <a:lnSpc>
                <a:spcPct val="150000"/>
              </a:lnSpc>
            </a:pPr>
            <a:r>
              <a:rPr lang="pt-BR" sz="4200" dirty="0" err="1">
                <a:solidFill>
                  <a:srgbClr val="1B2D70"/>
                </a:solidFill>
                <a:latin typeface="Maven Pro" pitchFamily="2" charset="0"/>
              </a:rPr>
              <a:t>Portonave</a:t>
            </a:r>
            <a:endParaRPr lang="pt-BR" sz="4200" dirty="0">
              <a:solidFill>
                <a:srgbClr val="1B2D70"/>
              </a:solidFill>
              <a:latin typeface="Maven Pro" pitchFamily="2" charset="0"/>
            </a:endParaRPr>
          </a:p>
          <a:p>
            <a:pPr>
              <a:lnSpc>
                <a:spcPct val="150000"/>
              </a:lnSpc>
            </a:pPr>
            <a:r>
              <a:rPr lang="pt-BR" sz="4200" dirty="0">
                <a:solidFill>
                  <a:srgbClr val="1B2D70"/>
                </a:solidFill>
                <a:latin typeface="Maven Pro" pitchFamily="2" charset="0"/>
              </a:rPr>
              <a:t>Itajaí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20E098E-D740-5E15-9A51-D5A77825DC13}"/>
              </a:ext>
            </a:extLst>
          </p:cNvPr>
          <p:cNvSpPr txBox="1"/>
          <p:nvPr/>
        </p:nvSpPr>
        <p:spPr>
          <a:xfrm>
            <a:off x="7779594" y="11134548"/>
            <a:ext cx="10414848" cy="6751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200">
                <a:solidFill>
                  <a:srgbClr val="1B2D70"/>
                </a:solidFill>
                <a:latin typeface="Maven Pro" pitchFamily="2" charset="0"/>
              </a:rPr>
              <a:t>93% CMA CGM | 7% Others</a:t>
            </a:r>
            <a:br>
              <a:rPr lang="en-US" sz="4200">
                <a:solidFill>
                  <a:srgbClr val="1B2D70"/>
                </a:solidFill>
                <a:latin typeface="Maven Pro" pitchFamily="2" charset="0"/>
              </a:rPr>
            </a:br>
            <a:r>
              <a:rPr lang="pt-BR" sz="4200">
                <a:solidFill>
                  <a:srgbClr val="1B2D70"/>
                </a:solidFill>
                <a:latin typeface="Maven Pro" pitchFamily="2" charset="0"/>
              </a:rPr>
              <a:t>50% TIL | 50% APMT </a:t>
            </a:r>
            <a:br>
              <a:rPr lang="pt-BR" sz="4200">
                <a:solidFill>
                  <a:srgbClr val="1B2D70"/>
                </a:solidFill>
                <a:latin typeface="Maven Pro" pitchFamily="2" charset="0"/>
              </a:rPr>
            </a:br>
            <a:r>
              <a:rPr lang="pt-BR" sz="4200" b="1">
                <a:solidFill>
                  <a:srgbClr val="1B2D70"/>
                </a:solidFill>
                <a:latin typeface="Maven Pro" pitchFamily="2" charset="0"/>
              </a:rPr>
              <a:t>77</a:t>
            </a:r>
            <a:r>
              <a:rPr lang="en-US" sz="4200" b="1">
                <a:solidFill>
                  <a:srgbClr val="1B2D70"/>
                </a:solidFill>
                <a:latin typeface="Maven Pro" pitchFamily="2" charset="0"/>
              </a:rPr>
              <a:t>.</a:t>
            </a:r>
            <a:r>
              <a:rPr lang="pt-BR" sz="4200" b="1">
                <a:solidFill>
                  <a:srgbClr val="1B2D70"/>
                </a:solidFill>
                <a:latin typeface="Maven Pro" pitchFamily="2" charset="0"/>
              </a:rPr>
              <a:t>45% CMP | 22.55% CLAC/CPD</a:t>
            </a:r>
          </a:p>
          <a:p>
            <a:pPr>
              <a:lnSpc>
                <a:spcPct val="150000"/>
              </a:lnSpc>
            </a:pPr>
            <a:r>
              <a:rPr lang="pt-BR" sz="4200">
                <a:solidFill>
                  <a:srgbClr val="1B2D70"/>
                </a:solidFill>
                <a:latin typeface="Maven Pro" pitchFamily="2" charset="0"/>
              </a:rPr>
              <a:t>70% Portinvest | 30% APMT</a:t>
            </a:r>
          </a:p>
          <a:p>
            <a:pPr>
              <a:lnSpc>
                <a:spcPct val="150000"/>
              </a:lnSpc>
            </a:pPr>
            <a:r>
              <a:rPr lang="pt-BR" sz="4200">
                <a:solidFill>
                  <a:srgbClr val="1B2D70"/>
                </a:solidFill>
                <a:latin typeface="Maven Pro" pitchFamily="2" charset="0"/>
              </a:rPr>
              <a:t>100% DP World</a:t>
            </a:r>
            <a:br>
              <a:rPr lang="pt-BR" sz="4200">
                <a:solidFill>
                  <a:srgbClr val="1B2D70"/>
                </a:solidFill>
                <a:latin typeface="Maven Pro" pitchFamily="2" charset="0"/>
              </a:rPr>
            </a:br>
            <a:r>
              <a:rPr lang="pt-BR" sz="4200">
                <a:solidFill>
                  <a:srgbClr val="1B2D70"/>
                </a:solidFill>
                <a:latin typeface="Maven Pro" pitchFamily="2" charset="0"/>
              </a:rPr>
              <a:t>100% TIL</a:t>
            </a:r>
          </a:p>
          <a:p>
            <a:pPr>
              <a:lnSpc>
                <a:spcPct val="150000"/>
              </a:lnSpc>
            </a:pPr>
            <a:r>
              <a:rPr lang="pt-BR" sz="4200">
                <a:solidFill>
                  <a:srgbClr val="1B2D70"/>
                </a:solidFill>
                <a:latin typeface="Maven Pro" pitchFamily="2" charset="0"/>
              </a:rPr>
              <a:t>70% JBS | 30% Mada Araújo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B5571BB-1B08-04B6-6127-A4B8C9DC2218}"/>
              </a:ext>
            </a:extLst>
          </p:cNvPr>
          <p:cNvSpPr txBox="1"/>
          <p:nvPr/>
        </p:nvSpPr>
        <p:spPr>
          <a:xfrm>
            <a:off x="16401671" y="11134545"/>
            <a:ext cx="3654603" cy="6751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4200">
                <a:solidFill>
                  <a:srgbClr val="1B2D70"/>
                </a:solidFill>
                <a:latin typeface="Maven Pro" pitchFamily="2" charset="0"/>
              </a:rPr>
              <a:t>Santos </a:t>
            </a:r>
          </a:p>
          <a:p>
            <a:pPr>
              <a:lnSpc>
                <a:spcPct val="150000"/>
              </a:lnSpc>
            </a:pPr>
            <a:r>
              <a:rPr lang="pt-BR" sz="4200">
                <a:solidFill>
                  <a:srgbClr val="1B2D70"/>
                </a:solidFill>
                <a:latin typeface="Maven Pro" pitchFamily="2" charset="0"/>
              </a:rPr>
              <a:t>Santos</a:t>
            </a:r>
          </a:p>
          <a:p>
            <a:pPr>
              <a:lnSpc>
                <a:spcPct val="150000"/>
              </a:lnSpc>
            </a:pPr>
            <a:r>
              <a:rPr lang="pt-BR" sz="4200" b="1">
                <a:solidFill>
                  <a:srgbClr val="1B2D70"/>
                </a:solidFill>
                <a:latin typeface="Maven Pro" pitchFamily="2" charset="0"/>
              </a:rPr>
              <a:t>Paranaguá</a:t>
            </a:r>
          </a:p>
          <a:p>
            <a:pPr>
              <a:lnSpc>
                <a:spcPct val="150000"/>
              </a:lnSpc>
            </a:pPr>
            <a:r>
              <a:rPr lang="pt-BR" sz="4200">
                <a:solidFill>
                  <a:srgbClr val="1B2D70"/>
                </a:solidFill>
                <a:latin typeface="Maven Pro" pitchFamily="2" charset="0"/>
              </a:rPr>
              <a:t>Itapoá</a:t>
            </a:r>
          </a:p>
          <a:p>
            <a:pPr>
              <a:lnSpc>
                <a:spcPct val="150000"/>
              </a:lnSpc>
            </a:pPr>
            <a:r>
              <a:rPr lang="pt-BR" sz="4200">
                <a:solidFill>
                  <a:srgbClr val="1B2D70"/>
                </a:solidFill>
                <a:latin typeface="Maven Pro" pitchFamily="2" charset="0"/>
              </a:rPr>
              <a:t>Santos</a:t>
            </a:r>
          </a:p>
          <a:p>
            <a:pPr>
              <a:lnSpc>
                <a:spcPct val="150000"/>
              </a:lnSpc>
            </a:pPr>
            <a:r>
              <a:rPr lang="pt-BR" sz="4200">
                <a:solidFill>
                  <a:srgbClr val="1B2D70"/>
                </a:solidFill>
                <a:latin typeface="Maven Pro" pitchFamily="2" charset="0"/>
              </a:rPr>
              <a:t>Navegantes</a:t>
            </a:r>
          </a:p>
          <a:p>
            <a:pPr>
              <a:lnSpc>
                <a:spcPct val="150000"/>
              </a:lnSpc>
            </a:pPr>
            <a:r>
              <a:rPr lang="pt-BR" sz="4200">
                <a:solidFill>
                  <a:srgbClr val="1B2D70"/>
                </a:solidFill>
                <a:latin typeface="Maven Pro" pitchFamily="2" charset="0"/>
              </a:rPr>
              <a:t>Itajaí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A372A83-1E99-0986-5F09-F6953907C128}"/>
              </a:ext>
            </a:extLst>
          </p:cNvPr>
          <p:cNvSpPr txBox="1"/>
          <p:nvPr/>
        </p:nvSpPr>
        <p:spPr>
          <a:xfrm>
            <a:off x="19848936" y="11134545"/>
            <a:ext cx="1541982" cy="6751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4200">
                <a:solidFill>
                  <a:srgbClr val="1B2D70"/>
                </a:solidFill>
                <a:latin typeface="Maven Pro" pitchFamily="2" charset="0"/>
              </a:rPr>
              <a:t>SP</a:t>
            </a:r>
          </a:p>
          <a:p>
            <a:pPr>
              <a:lnSpc>
                <a:spcPct val="150000"/>
              </a:lnSpc>
            </a:pPr>
            <a:r>
              <a:rPr lang="pt-BR" sz="4200">
                <a:solidFill>
                  <a:srgbClr val="1B2D70"/>
                </a:solidFill>
                <a:latin typeface="Maven Pro" pitchFamily="2" charset="0"/>
              </a:rPr>
              <a:t>SP</a:t>
            </a:r>
          </a:p>
          <a:p>
            <a:pPr>
              <a:lnSpc>
                <a:spcPct val="150000"/>
              </a:lnSpc>
            </a:pPr>
            <a:r>
              <a:rPr lang="pt-BR" sz="4200" b="1">
                <a:solidFill>
                  <a:srgbClr val="1B2D70"/>
                </a:solidFill>
                <a:latin typeface="Maven Pro" pitchFamily="2" charset="0"/>
              </a:rPr>
              <a:t>PR</a:t>
            </a:r>
          </a:p>
          <a:p>
            <a:pPr>
              <a:lnSpc>
                <a:spcPct val="150000"/>
              </a:lnSpc>
            </a:pPr>
            <a:r>
              <a:rPr lang="pt-BR" sz="4200">
                <a:solidFill>
                  <a:srgbClr val="1B2D70"/>
                </a:solidFill>
                <a:latin typeface="Maven Pro" pitchFamily="2" charset="0"/>
              </a:rPr>
              <a:t>SC</a:t>
            </a:r>
          </a:p>
          <a:p>
            <a:pPr>
              <a:lnSpc>
                <a:spcPct val="150000"/>
              </a:lnSpc>
            </a:pPr>
            <a:r>
              <a:rPr lang="pt-BR" sz="4200">
                <a:solidFill>
                  <a:srgbClr val="1B2D70"/>
                </a:solidFill>
                <a:latin typeface="Maven Pro" pitchFamily="2" charset="0"/>
              </a:rPr>
              <a:t>SP</a:t>
            </a:r>
          </a:p>
          <a:p>
            <a:pPr>
              <a:lnSpc>
                <a:spcPct val="150000"/>
              </a:lnSpc>
            </a:pPr>
            <a:r>
              <a:rPr lang="pt-BR" sz="4200">
                <a:solidFill>
                  <a:srgbClr val="1B2D70"/>
                </a:solidFill>
                <a:latin typeface="Maven Pro" pitchFamily="2" charset="0"/>
              </a:rPr>
              <a:t>SC</a:t>
            </a:r>
          </a:p>
          <a:p>
            <a:pPr>
              <a:lnSpc>
                <a:spcPct val="150000"/>
              </a:lnSpc>
            </a:pPr>
            <a:r>
              <a:rPr lang="pt-BR" sz="4200">
                <a:solidFill>
                  <a:srgbClr val="1B2D70"/>
                </a:solidFill>
                <a:latin typeface="Maven Pro" pitchFamily="2" charset="0"/>
              </a:rPr>
              <a:t>SC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718F21C-FAC0-0E05-9514-EB63922CE085}"/>
              </a:ext>
            </a:extLst>
          </p:cNvPr>
          <p:cNvSpPr txBox="1"/>
          <p:nvPr/>
        </p:nvSpPr>
        <p:spPr>
          <a:xfrm>
            <a:off x="22005971" y="11134545"/>
            <a:ext cx="3316773" cy="6751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4200">
                <a:solidFill>
                  <a:srgbClr val="1B2D70"/>
                </a:solidFill>
                <a:latin typeface="Maven Pro" pitchFamily="2" charset="0"/>
              </a:rPr>
              <a:t>2,319,625</a:t>
            </a:r>
          </a:p>
          <a:p>
            <a:pPr>
              <a:lnSpc>
                <a:spcPct val="150000"/>
              </a:lnSpc>
            </a:pPr>
            <a:r>
              <a:rPr lang="pt-BR" sz="4200">
                <a:solidFill>
                  <a:srgbClr val="1B2D70"/>
                </a:solidFill>
                <a:latin typeface="Maven Pro" pitchFamily="2" charset="0"/>
              </a:rPr>
              <a:t>1,861,983</a:t>
            </a:r>
          </a:p>
          <a:p>
            <a:pPr>
              <a:lnSpc>
                <a:spcPct val="150000"/>
              </a:lnSpc>
            </a:pPr>
            <a:r>
              <a:rPr lang="pt-BR" sz="4200" b="1">
                <a:solidFill>
                  <a:srgbClr val="1B2D70"/>
                </a:solidFill>
                <a:latin typeface="Maven Pro" pitchFamily="2" charset="0"/>
              </a:rPr>
              <a:t>1,558,453</a:t>
            </a:r>
          </a:p>
          <a:p>
            <a:pPr>
              <a:lnSpc>
                <a:spcPct val="150000"/>
              </a:lnSpc>
            </a:pPr>
            <a:r>
              <a:rPr lang="pt-BR" sz="4200">
                <a:solidFill>
                  <a:srgbClr val="1B2D70"/>
                </a:solidFill>
                <a:latin typeface="Maven Pro" pitchFamily="2" charset="0"/>
              </a:rPr>
              <a:t>1,268,899</a:t>
            </a:r>
          </a:p>
          <a:p>
            <a:pPr>
              <a:lnSpc>
                <a:spcPct val="150000"/>
              </a:lnSpc>
            </a:pPr>
            <a:r>
              <a:rPr lang="pt-BR" sz="4200">
                <a:solidFill>
                  <a:srgbClr val="1B2D70"/>
                </a:solidFill>
                <a:latin typeface="Maven Pro" pitchFamily="2" charset="0"/>
              </a:rPr>
              <a:t>1,251,410</a:t>
            </a:r>
          </a:p>
          <a:p>
            <a:pPr>
              <a:lnSpc>
                <a:spcPct val="150000"/>
              </a:lnSpc>
            </a:pPr>
            <a:r>
              <a:rPr lang="pt-BR" sz="4200">
                <a:solidFill>
                  <a:srgbClr val="1B2D70"/>
                </a:solidFill>
                <a:latin typeface="Maven Pro" pitchFamily="2" charset="0"/>
              </a:rPr>
              <a:t>1,234,960</a:t>
            </a:r>
          </a:p>
          <a:p>
            <a:pPr>
              <a:lnSpc>
                <a:spcPct val="150000"/>
              </a:lnSpc>
            </a:pPr>
            <a:r>
              <a:rPr lang="pt-BR" sz="4200">
                <a:solidFill>
                  <a:srgbClr val="1B2D70"/>
                </a:solidFill>
                <a:latin typeface="Maven Pro" pitchFamily="2" charset="0"/>
              </a:rPr>
              <a:t>43,779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0C77F64-B242-1FF7-0A3C-FE5A41D76210}"/>
              </a:ext>
            </a:extLst>
          </p:cNvPr>
          <p:cNvSpPr txBox="1"/>
          <p:nvPr/>
        </p:nvSpPr>
        <p:spPr>
          <a:xfrm>
            <a:off x="25489788" y="11134547"/>
            <a:ext cx="3674856" cy="6751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4200" dirty="0">
                <a:solidFill>
                  <a:srgbClr val="1B2D70"/>
                </a:solidFill>
                <a:latin typeface="Maven Pro" pitchFamily="2" charset="0"/>
              </a:rPr>
              <a:t>2,597,472</a:t>
            </a:r>
          </a:p>
          <a:p>
            <a:pPr>
              <a:lnSpc>
                <a:spcPct val="150000"/>
              </a:lnSpc>
            </a:pPr>
            <a:r>
              <a:rPr lang="pt-BR" sz="4200" dirty="0">
                <a:solidFill>
                  <a:srgbClr val="1B2D70"/>
                </a:solidFill>
                <a:latin typeface="Maven Pro" pitchFamily="2" charset="0"/>
              </a:rPr>
              <a:t>1,977,625</a:t>
            </a:r>
          </a:p>
          <a:p>
            <a:pPr>
              <a:lnSpc>
                <a:spcPct val="150000"/>
              </a:lnSpc>
            </a:pPr>
            <a:r>
              <a:rPr lang="pt-BR" sz="4200" b="1" dirty="0">
                <a:solidFill>
                  <a:srgbClr val="1B2D70"/>
                </a:solidFill>
                <a:latin typeface="Maven Pro" pitchFamily="2" charset="0"/>
              </a:rPr>
              <a:t>1,662,549</a:t>
            </a:r>
          </a:p>
          <a:p>
            <a:pPr>
              <a:lnSpc>
                <a:spcPct val="150000"/>
              </a:lnSpc>
            </a:pPr>
            <a:r>
              <a:rPr lang="pt-BR" sz="4200" dirty="0">
                <a:solidFill>
                  <a:srgbClr val="1B2D70"/>
                </a:solidFill>
                <a:latin typeface="Maven Pro" pitchFamily="2" charset="0"/>
              </a:rPr>
              <a:t>1,535,166</a:t>
            </a:r>
          </a:p>
          <a:p>
            <a:pPr>
              <a:lnSpc>
                <a:spcPct val="150000"/>
              </a:lnSpc>
            </a:pPr>
            <a:r>
              <a:rPr lang="pt-BR" sz="4200" dirty="0">
                <a:solidFill>
                  <a:srgbClr val="1B2D70"/>
                </a:solidFill>
                <a:latin typeface="Maven Pro" pitchFamily="2" charset="0"/>
              </a:rPr>
              <a:t>1,302,721</a:t>
            </a:r>
          </a:p>
          <a:p>
            <a:pPr>
              <a:lnSpc>
                <a:spcPct val="150000"/>
              </a:lnSpc>
            </a:pPr>
            <a:r>
              <a:rPr lang="pt-BR" sz="4200" dirty="0">
                <a:solidFill>
                  <a:srgbClr val="1B2D70"/>
                </a:solidFill>
                <a:latin typeface="Maven Pro" pitchFamily="2" charset="0"/>
              </a:rPr>
              <a:t>1,071,237</a:t>
            </a:r>
          </a:p>
          <a:p>
            <a:pPr>
              <a:lnSpc>
                <a:spcPct val="150000"/>
              </a:lnSpc>
            </a:pPr>
            <a:r>
              <a:rPr lang="pt-BR" sz="4200" dirty="0">
                <a:solidFill>
                  <a:srgbClr val="1B2D70"/>
                </a:solidFill>
                <a:latin typeface="Maven Pro" pitchFamily="2" charset="0"/>
              </a:rPr>
              <a:t>366,089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2C4D194-F6C0-9950-43C7-09E07F0DA6D1}"/>
              </a:ext>
            </a:extLst>
          </p:cNvPr>
          <p:cNvSpPr txBox="1"/>
          <p:nvPr/>
        </p:nvSpPr>
        <p:spPr>
          <a:xfrm>
            <a:off x="1468146" y="9849327"/>
            <a:ext cx="33798558" cy="93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4200" b="1" dirty="0">
                <a:solidFill>
                  <a:schemeClr val="bg1"/>
                </a:solidFill>
                <a:latin typeface="Maven Pro" pitchFamily="2" charset="0"/>
              </a:rPr>
              <a:t>Rank  Terminal                  Operador                                           Porto          Estado      TEU 2024       TEU 2025       </a:t>
            </a:r>
            <a:r>
              <a:rPr lang="pt-BR" sz="4200" b="1" dirty="0" err="1">
                <a:solidFill>
                  <a:schemeClr val="bg1"/>
                </a:solidFill>
                <a:latin typeface="Maven Pro" pitchFamily="2" charset="0"/>
              </a:rPr>
              <a:t>YoY</a:t>
            </a:r>
            <a:r>
              <a:rPr lang="pt-BR" sz="4200" b="1" dirty="0">
                <a:solidFill>
                  <a:schemeClr val="bg1"/>
                </a:solidFill>
                <a:latin typeface="Maven Pro" pitchFamily="2" charset="0"/>
              </a:rPr>
              <a:t>%     </a:t>
            </a:r>
            <a:r>
              <a:rPr lang="pt-BR" sz="4200" b="1" dirty="0" err="1">
                <a:solidFill>
                  <a:schemeClr val="bg1"/>
                </a:solidFill>
                <a:latin typeface="Maven Pro" pitchFamily="2" charset="0"/>
              </a:rPr>
              <a:t>Share</a:t>
            </a:r>
            <a:r>
              <a:rPr lang="pt-BR" sz="4200" b="1" dirty="0">
                <a:solidFill>
                  <a:schemeClr val="bg1"/>
                </a:solidFill>
                <a:latin typeface="Maven Pro" pitchFamily="2" charset="0"/>
              </a:rPr>
              <a:t> 2025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3BB381D-3814-918A-05FA-3323D039D938}"/>
              </a:ext>
            </a:extLst>
          </p:cNvPr>
          <p:cNvSpPr txBox="1"/>
          <p:nvPr/>
        </p:nvSpPr>
        <p:spPr>
          <a:xfrm>
            <a:off x="28711209" y="11134547"/>
            <a:ext cx="3073884" cy="6751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4200">
                <a:solidFill>
                  <a:srgbClr val="00B050"/>
                </a:solidFill>
                <a:latin typeface="Maven Pro" pitchFamily="2" charset="0"/>
              </a:rPr>
              <a:t>+11.98%</a:t>
            </a:r>
          </a:p>
          <a:p>
            <a:pPr>
              <a:lnSpc>
                <a:spcPct val="150000"/>
              </a:lnSpc>
            </a:pPr>
            <a:r>
              <a:rPr lang="pt-BR" sz="4200">
                <a:solidFill>
                  <a:srgbClr val="00B050"/>
                </a:solidFill>
                <a:latin typeface="Maven Pro" pitchFamily="2" charset="0"/>
              </a:rPr>
              <a:t>+6.21%</a:t>
            </a:r>
          </a:p>
          <a:p>
            <a:pPr>
              <a:lnSpc>
                <a:spcPct val="150000"/>
              </a:lnSpc>
            </a:pPr>
            <a:r>
              <a:rPr lang="pt-BR" sz="4200" b="1">
                <a:solidFill>
                  <a:srgbClr val="00B050"/>
                </a:solidFill>
                <a:latin typeface="Maven Pro" pitchFamily="2" charset="0"/>
              </a:rPr>
              <a:t>+6.68%</a:t>
            </a:r>
          </a:p>
          <a:p>
            <a:pPr>
              <a:lnSpc>
                <a:spcPct val="150000"/>
              </a:lnSpc>
            </a:pPr>
            <a:r>
              <a:rPr lang="pt-BR" sz="4200">
                <a:solidFill>
                  <a:srgbClr val="00B050"/>
                </a:solidFill>
                <a:latin typeface="Maven Pro" pitchFamily="2" charset="0"/>
              </a:rPr>
              <a:t>+20.98%</a:t>
            </a:r>
          </a:p>
          <a:p>
            <a:pPr>
              <a:lnSpc>
                <a:spcPct val="150000"/>
              </a:lnSpc>
            </a:pPr>
            <a:r>
              <a:rPr lang="pt-BR" sz="4200">
                <a:solidFill>
                  <a:srgbClr val="00B050"/>
                </a:solidFill>
                <a:latin typeface="Maven Pro" pitchFamily="2" charset="0"/>
              </a:rPr>
              <a:t>+4.10%</a:t>
            </a:r>
          </a:p>
          <a:p>
            <a:pPr>
              <a:lnSpc>
                <a:spcPct val="150000"/>
              </a:lnSpc>
            </a:pPr>
            <a:r>
              <a:rPr lang="pt-BR" sz="4200">
                <a:solidFill>
                  <a:srgbClr val="FF0000"/>
                </a:solidFill>
                <a:latin typeface="Maven Pro" pitchFamily="2" charset="0"/>
              </a:rPr>
              <a:t>-13.26%</a:t>
            </a:r>
          </a:p>
          <a:p>
            <a:pPr>
              <a:lnSpc>
                <a:spcPct val="150000"/>
              </a:lnSpc>
            </a:pPr>
            <a:r>
              <a:rPr lang="pt-BR" sz="4200">
                <a:solidFill>
                  <a:srgbClr val="00B050"/>
                </a:solidFill>
                <a:latin typeface="Maven Pro" pitchFamily="2" charset="0"/>
              </a:rPr>
              <a:t>+736.22%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F0DFC9A-3529-0D5D-1B9A-820C32F23FBF}"/>
              </a:ext>
            </a:extLst>
          </p:cNvPr>
          <p:cNvSpPr/>
          <p:nvPr/>
        </p:nvSpPr>
        <p:spPr>
          <a:xfrm>
            <a:off x="1468148" y="13238084"/>
            <a:ext cx="33341355" cy="926613"/>
          </a:xfrm>
          <a:prstGeom prst="rect">
            <a:avLst/>
          </a:prstGeom>
          <a:noFill/>
          <a:ln>
            <a:solidFill>
              <a:srgbClr val="1B2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8CF1945-1C7D-0F8B-09F6-1B0AEE988BBD}"/>
              </a:ext>
            </a:extLst>
          </p:cNvPr>
          <p:cNvSpPr txBox="1"/>
          <p:nvPr/>
        </p:nvSpPr>
        <p:spPr>
          <a:xfrm>
            <a:off x="31726350" y="11134547"/>
            <a:ext cx="3073884" cy="6751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4200" dirty="0">
                <a:solidFill>
                  <a:srgbClr val="1B2D70"/>
                </a:solidFill>
                <a:latin typeface="Maven Pro" pitchFamily="2" charset="0"/>
              </a:rPr>
              <a:t>24.36%</a:t>
            </a:r>
          </a:p>
          <a:p>
            <a:pPr>
              <a:lnSpc>
                <a:spcPct val="150000"/>
              </a:lnSpc>
            </a:pPr>
            <a:r>
              <a:rPr lang="pt-BR" sz="4200" dirty="0">
                <a:solidFill>
                  <a:srgbClr val="1B2D70"/>
                </a:solidFill>
                <a:latin typeface="Maven Pro" pitchFamily="2" charset="0"/>
              </a:rPr>
              <a:t>18.55%</a:t>
            </a:r>
          </a:p>
          <a:p>
            <a:pPr>
              <a:lnSpc>
                <a:spcPct val="150000"/>
              </a:lnSpc>
            </a:pPr>
            <a:r>
              <a:rPr lang="pt-BR" sz="4200" b="1" dirty="0">
                <a:solidFill>
                  <a:srgbClr val="1B2D70"/>
                </a:solidFill>
                <a:latin typeface="Maven Pro" pitchFamily="2" charset="0"/>
              </a:rPr>
              <a:t>15.59%</a:t>
            </a:r>
          </a:p>
          <a:p>
            <a:pPr>
              <a:lnSpc>
                <a:spcPct val="150000"/>
              </a:lnSpc>
            </a:pPr>
            <a:r>
              <a:rPr lang="pt-BR" sz="4200" dirty="0">
                <a:solidFill>
                  <a:srgbClr val="1B2D70"/>
                </a:solidFill>
                <a:latin typeface="Maven Pro" pitchFamily="2" charset="0"/>
              </a:rPr>
              <a:t>14.40%</a:t>
            </a:r>
          </a:p>
          <a:p>
            <a:pPr>
              <a:lnSpc>
                <a:spcPct val="150000"/>
              </a:lnSpc>
            </a:pPr>
            <a:r>
              <a:rPr lang="pt-BR" sz="4200" dirty="0">
                <a:solidFill>
                  <a:srgbClr val="1B2D70"/>
                </a:solidFill>
                <a:latin typeface="Maven Pro" pitchFamily="2" charset="0"/>
              </a:rPr>
              <a:t>12.22%</a:t>
            </a:r>
          </a:p>
          <a:p>
            <a:pPr>
              <a:lnSpc>
                <a:spcPct val="150000"/>
              </a:lnSpc>
            </a:pPr>
            <a:r>
              <a:rPr lang="pt-BR" sz="4200" dirty="0">
                <a:solidFill>
                  <a:srgbClr val="1B2D70"/>
                </a:solidFill>
                <a:latin typeface="Maven Pro" pitchFamily="2" charset="0"/>
              </a:rPr>
              <a:t>10.05%</a:t>
            </a:r>
          </a:p>
          <a:p>
            <a:pPr>
              <a:lnSpc>
                <a:spcPct val="150000"/>
              </a:lnSpc>
            </a:pPr>
            <a:r>
              <a:rPr lang="pt-BR" sz="4200" dirty="0">
                <a:solidFill>
                  <a:srgbClr val="1B2D70"/>
                </a:solidFill>
                <a:latin typeface="Maven Pro" pitchFamily="2" charset="0"/>
              </a:rPr>
              <a:t>3.43%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5BEFC01-4BDE-BFC4-BE59-E0A3C65E6A91}"/>
              </a:ext>
            </a:extLst>
          </p:cNvPr>
          <p:cNvSpPr txBox="1"/>
          <p:nvPr/>
        </p:nvSpPr>
        <p:spPr>
          <a:xfrm>
            <a:off x="1537016" y="8540896"/>
            <a:ext cx="13441643" cy="814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3600" dirty="0">
                <a:solidFill>
                  <a:srgbClr val="1B2D70"/>
                </a:solidFill>
                <a:latin typeface="Maven Pro" pitchFamily="2" charset="0"/>
              </a:rPr>
              <a:t>2025 – De janeiro a dezembro – comparação anual</a:t>
            </a:r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id="{89B9EE79-B9A2-B12F-BDFC-5C284186A30D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091" t="37444" r="6221" b="23255"/>
          <a:stretch>
            <a:fillRect/>
          </a:stretch>
        </p:blipFill>
        <p:spPr>
          <a:xfrm>
            <a:off x="870860" y="18637484"/>
            <a:ext cx="2865963" cy="1348689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FC7C0B72-8FE5-4A66-E125-11C7F2087C81}"/>
              </a:ext>
            </a:extLst>
          </p:cNvPr>
          <p:cNvSpPr txBox="1"/>
          <p:nvPr/>
        </p:nvSpPr>
        <p:spPr>
          <a:xfrm>
            <a:off x="1897071" y="1624556"/>
            <a:ext cx="134671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solidFill>
                  <a:srgbClr val="FFFFFF"/>
                </a:solidFill>
                <a:latin typeface="Maven Pro Bold"/>
              </a:rPr>
              <a:t>TCP</a:t>
            </a:r>
            <a:endParaRPr lang="pt-BR" sz="8800" b="1" dirty="0">
              <a:solidFill>
                <a:srgbClr val="FFFFFF"/>
              </a:solidFill>
              <a:latin typeface="Maven Pro Bold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A56904A-3A33-F581-DD9C-ED51706F60DB}"/>
              </a:ext>
            </a:extLst>
          </p:cNvPr>
          <p:cNvSpPr txBox="1"/>
          <p:nvPr/>
        </p:nvSpPr>
        <p:spPr>
          <a:xfrm>
            <a:off x="1897071" y="2856594"/>
            <a:ext cx="107189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E8C58C"/>
                </a:solidFill>
                <a:latin typeface="Maven Pro" pitchFamily="2" charset="0"/>
              </a:rPr>
              <a:t>Market overview</a:t>
            </a:r>
            <a:endParaRPr lang="pt-BR" sz="6000" dirty="0">
              <a:solidFill>
                <a:srgbClr val="E8C58C"/>
              </a:solidFill>
              <a:latin typeface="Maven Pro" pitchFamily="2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F8E2358-2511-C99A-6FCD-0F6711EF0674}"/>
              </a:ext>
            </a:extLst>
          </p:cNvPr>
          <p:cNvSpPr txBox="1"/>
          <p:nvPr/>
        </p:nvSpPr>
        <p:spPr>
          <a:xfrm>
            <a:off x="1897073" y="4557279"/>
            <a:ext cx="133331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chemeClr val="bg1"/>
                </a:solidFill>
                <a:latin typeface="Maven Pro" pitchFamily="2" charset="0"/>
              </a:rPr>
              <a:t>Maior terminal do Sul do Brasil e terceiro maior do país</a:t>
            </a:r>
          </a:p>
        </p:txBody>
      </p:sp>
      <p:pic>
        <p:nvPicPr>
          <p:cNvPr id="128" name="Picture 127">
            <a:extLst>
              <a:ext uri="{FF2B5EF4-FFF2-40B4-BE49-F238E27FC236}">
                <a16:creationId xmlns:a16="http://schemas.microsoft.com/office/drawing/2014/main" id="{27FCEE4C-E368-575F-4918-BFCA4C3B5F93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458184" y="2949957"/>
            <a:ext cx="3431412" cy="2008482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9BE7E24-4556-EDA3-D13B-825A6B9917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0231" y="494703"/>
            <a:ext cx="34964913" cy="19491468"/>
          </a:xfrm>
          <a:prstGeom prst="rect">
            <a:avLst/>
          </a:prstGeom>
        </p:spPr>
      </p:pic>
      <p:sp>
        <p:nvSpPr>
          <p:cNvPr id="13" name="Oval 249">
            <a:extLst>
              <a:ext uri="{FF2B5EF4-FFF2-40B4-BE49-F238E27FC236}">
                <a16:creationId xmlns:a16="http://schemas.microsoft.com/office/drawing/2014/main" id="{87501EAF-2888-EFE1-D2C5-2A004B767762}"/>
              </a:ext>
            </a:extLst>
          </p:cNvPr>
          <p:cNvSpPr/>
          <p:nvPr/>
        </p:nvSpPr>
        <p:spPr>
          <a:xfrm>
            <a:off x="19972886" y="3877295"/>
            <a:ext cx="370497" cy="39788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3175" cap="flat">
            <a:solidFill>
              <a:schemeClr val="bg1"/>
            </a:solidFill>
            <a:prstDash val="solid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cap="none" spc="0" normalizeH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j-ea"/>
              <a:cs typeface="+mj-cs"/>
              <a:sym typeface="Helvetica"/>
            </a:endParaRPr>
          </a:p>
        </p:txBody>
      </p:sp>
      <p:sp>
        <p:nvSpPr>
          <p:cNvPr id="15" name="Oval 249">
            <a:extLst>
              <a:ext uri="{FF2B5EF4-FFF2-40B4-BE49-F238E27FC236}">
                <a16:creationId xmlns:a16="http://schemas.microsoft.com/office/drawing/2014/main" id="{E76095A5-E837-BCAB-6303-11602AFE2A07}"/>
              </a:ext>
            </a:extLst>
          </p:cNvPr>
          <p:cNvSpPr/>
          <p:nvPr/>
        </p:nvSpPr>
        <p:spPr>
          <a:xfrm>
            <a:off x="22258646" y="2363137"/>
            <a:ext cx="370497" cy="39788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3175" cap="flat">
            <a:solidFill>
              <a:schemeClr val="bg1"/>
            </a:solidFill>
            <a:prstDash val="solid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cap="none" spc="0" normalizeH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j-ea"/>
              <a:cs typeface="+mj-cs"/>
              <a:sym typeface="Helvetica"/>
            </a:endParaRPr>
          </a:p>
        </p:txBody>
      </p:sp>
      <p:sp>
        <p:nvSpPr>
          <p:cNvPr id="16" name="Oval 249">
            <a:extLst>
              <a:ext uri="{FF2B5EF4-FFF2-40B4-BE49-F238E27FC236}">
                <a16:creationId xmlns:a16="http://schemas.microsoft.com/office/drawing/2014/main" id="{AC5188E6-3EED-F5DD-F10C-7D4595A7C5A9}"/>
              </a:ext>
            </a:extLst>
          </p:cNvPr>
          <p:cNvSpPr/>
          <p:nvPr/>
        </p:nvSpPr>
        <p:spPr>
          <a:xfrm>
            <a:off x="20037041" y="4690318"/>
            <a:ext cx="370497" cy="39788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3175" cap="flat">
            <a:solidFill>
              <a:schemeClr val="bg1"/>
            </a:solidFill>
            <a:prstDash val="solid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cap="none" spc="0" normalizeH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j-ea"/>
              <a:cs typeface="+mj-cs"/>
              <a:sym typeface="Helvetica"/>
            </a:endParaRPr>
          </a:p>
        </p:txBody>
      </p:sp>
      <p:sp>
        <p:nvSpPr>
          <p:cNvPr id="17" name="Oval 249">
            <a:extLst>
              <a:ext uri="{FF2B5EF4-FFF2-40B4-BE49-F238E27FC236}">
                <a16:creationId xmlns:a16="http://schemas.microsoft.com/office/drawing/2014/main" id="{327D9C63-21A9-832A-4897-698DE68FE93F}"/>
              </a:ext>
            </a:extLst>
          </p:cNvPr>
          <p:cNvSpPr/>
          <p:nvPr/>
        </p:nvSpPr>
        <p:spPr>
          <a:xfrm>
            <a:off x="19983133" y="5517100"/>
            <a:ext cx="370497" cy="39788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3175" cap="flat">
            <a:solidFill>
              <a:schemeClr val="bg1"/>
            </a:solidFill>
            <a:prstDash val="solid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cap="none" spc="0" normalizeH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j-ea"/>
              <a:cs typeface="+mj-cs"/>
              <a:sym typeface="Helvetica"/>
            </a:endParaRPr>
          </a:p>
        </p:txBody>
      </p:sp>
      <p:sp>
        <p:nvSpPr>
          <p:cNvPr id="18" name="Oval 249">
            <a:extLst>
              <a:ext uri="{FF2B5EF4-FFF2-40B4-BE49-F238E27FC236}">
                <a16:creationId xmlns:a16="http://schemas.microsoft.com/office/drawing/2014/main" id="{5A78B2E5-E86E-B7DA-120D-BFDB670A9713}"/>
              </a:ext>
            </a:extLst>
          </p:cNvPr>
          <p:cNvSpPr/>
          <p:nvPr/>
        </p:nvSpPr>
        <p:spPr>
          <a:xfrm>
            <a:off x="19755587" y="6915222"/>
            <a:ext cx="370497" cy="39788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3175" cap="flat">
            <a:solidFill>
              <a:schemeClr val="bg1"/>
            </a:solidFill>
            <a:prstDash val="solid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cap="none" spc="0" normalizeH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853695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326B8-5D73-CB95-D242-183677863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A0375BB-E41D-FDAA-2CD2-DFCE379622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"/>
            <a:ext cx="36576000" cy="1646956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10B0AC6-4494-DF4C-966A-C14D79003E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41254" y="1624223"/>
            <a:ext cx="28194519" cy="14300727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4B2F4DCF-6761-B034-21E0-7F6E951A35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0231" y="494703"/>
            <a:ext cx="34964913" cy="19491468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CCCB9376-EAD8-3325-EB73-EA8AD74FA240}"/>
              </a:ext>
            </a:extLst>
          </p:cNvPr>
          <p:cNvSpPr txBox="1"/>
          <p:nvPr/>
        </p:nvSpPr>
        <p:spPr>
          <a:xfrm>
            <a:off x="5086061" y="16879199"/>
            <a:ext cx="127146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>
                <a:solidFill>
                  <a:srgbClr val="1B2D70"/>
                </a:solidFill>
                <a:latin typeface="Maven Pro" pitchFamily="2" charset="0"/>
              </a:rPr>
              <a:t>Terminal de bandeira branca, com operações junto a todos os principais armadores do mercado.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08607E4-4581-9CB3-8A12-80930516063E}"/>
              </a:ext>
            </a:extLst>
          </p:cNvPr>
          <p:cNvSpPr txBox="1"/>
          <p:nvPr/>
        </p:nvSpPr>
        <p:spPr>
          <a:xfrm>
            <a:off x="2710904" y="8847407"/>
            <a:ext cx="814391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>
                <a:solidFill>
                  <a:schemeClr val="bg1"/>
                </a:solidFill>
                <a:latin typeface="Maven Pro" pitchFamily="2" charset="0"/>
              </a:rPr>
              <a:t>A TCP é o maior hub marítimo do país, </a:t>
            </a:r>
            <a:r>
              <a:rPr lang="pt-BR" sz="4800" b="1" dirty="0">
                <a:solidFill>
                  <a:schemeClr val="bg1"/>
                </a:solidFill>
                <a:latin typeface="Maven Pro" pitchFamily="2" charset="0"/>
              </a:rPr>
              <a:t>com um total de 22 serviços. </a:t>
            </a:r>
            <a:r>
              <a:rPr lang="pt-BR" sz="4800" dirty="0">
                <a:solidFill>
                  <a:schemeClr val="bg1"/>
                </a:solidFill>
                <a:latin typeface="Maven Pro" pitchFamily="2" charset="0"/>
              </a:rPr>
              <a:t>Conta com escalas semanais regulares e cobertura global (Ásia, Europa, Américas e África), além do serviço de cabotagem.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2F108F-6E77-21B7-2551-FC853AF52FCE}"/>
              </a:ext>
            </a:extLst>
          </p:cNvPr>
          <p:cNvSpPr txBox="1"/>
          <p:nvPr/>
        </p:nvSpPr>
        <p:spPr>
          <a:xfrm>
            <a:off x="1906224" y="1547681"/>
            <a:ext cx="134671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400" b="1" dirty="0">
                <a:solidFill>
                  <a:schemeClr val="bg1"/>
                </a:solidFill>
                <a:latin typeface="Maven Pro" pitchFamily="2" charset="0"/>
              </a:rPr>
              <a:t>TCP</a:t>
            </a:r>
            <a:endParaRPr lang="pt-BR" sz="8400" b="1" dirty="0">
              <a:solidFill>
                <a:schemeClr val="bg1"/>
              </a:solidFill>
              <a:latin typeface="Maven Pro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CB4DEF-E69E-D001-98BC-6AEF639BA429}"/>
              </a:ext>
            </a:extLst>
          </p:cNvPr>
          <p:cNvSpPr txBox="1"/>
          <p:nvPr/>
        </p:nvSpPr>
        <p:spPr>
          <a:xfrm>
            <a:off x="1906224" y="2779719"/>
            <a:ext cx="107189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E8C58C"/>
                </a:solidFill>
                <a:latin typeface="Maven Pro" pitchFamily="2" charset="0"/>
              </a:rPr>
              <a:t>Shipping Lines</a:t>
            </a:r>
            <a:endParaRPr lang="pt-BR" sz="6000" dirty="0">
              <a:solidFill>
                <a:srgbClr val="E8C58C"/>
              </a:solidFill>
              <a:latin typeface="Maven Pro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47944A-8A8E-52DD-F029-43B5DD24CF35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091" t="37444" r="6221" b="23255"/>
          <a:stretch>
            <a:fillRect/>
          </a:stretch>
        </p:blipFill>
        <p:spPr>
          <a:xfrm>
            <a:off x="870860" y="18637484"/>
            <a:ext cx="2865963" cy="134868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B3A2F65-073B-1AD9-96C6-D36AF814263C}"/>
              </a:ext>
            </a:extLst>
          </p:cNvPr>
          <p:cNvSpPr/>
          <p:nvPr/>
        </p:nvSpPr>
        <p:spPr>
          <a:xfrm>
            <a:off x="16658112" y="14903439"/>
            <a:ext cx="17725290" cy="5355042"/>
          </a:xfrm>
          <a:prstGeom prst="roundRect">
            <a:avLst>
              <a:gd name="adj" fmla="val 31385"/>
            </a:avLst>
          </a:prstGeom>
          <a:solidFill>
            <a:srgbClr val="1D36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AAE030E-695B-9596-D3A9-50CDD89174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534524" y="15915095"/>
            <a:ext cx="2915355" cy="63839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FCF1A836-1ED7-3615-A7A4-B112D5A3B8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966575" y="15915095"/>
            <a:ext cx="723519" cy="723519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F7A74E3-C158-DFAC-A211-0464C0EED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367618" y="15893756"/>
            <a:ext cx="3319674" cy="659679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FFE679C0-9C8E-61EB-04B3-CC512DFEC8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275084" y="15826343"/>
            <a:ext cx="1553439" cy="95759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B8AC524-FF41-EB42-3ABC-1D2141E08D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416311" y="15869190"/>
            <a:ext cx="1361916" cy="872478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8FB6DDE8-B40B-4037-B0E6-103DB69D02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479189" y="16050315"/>
            <a:ext cx="1127838" cy="6384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E326BF4A-C9A6-74DE-4757-A66DB2DAC7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8172857" y="17463093"/>
            <a:ext cx="1657350" cy="51435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4330C18D-4B0B-42BB-7C2A-68E91183C9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0340611" y="17362784"/>
            <a:ext cx="3027009" cy="500115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9B0ECBCB-1BE3-4FDE-FDFD-34D9E8B58F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3545683" y="16874841"/>
            <a:ext cx="2368170" cy="1652784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D286CE93-D871-9A96-C834-F5BA43D1C9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5912713" y="16918476"/>
            <a:ext cx="1565514" cy="1565514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7A63607C-05E8-78B8-BA59-F90B2BB47E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7862869" y="17428232"/>
            <a:ext cx="1553442" cy="432927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C93167C1-8A0E-5485-A0E9-0944F5D627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0123174" y="17508600"/>
            <a:ext cx="2568408" cy="306324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EB54A5D0-2EBE-6A65-E504-4259DE5E24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8207534" y="17848695"/>
            <a:ext cx="2277420" cy="227742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8AE0AD64-2ACC-2894-B652-4EC9A8CB3C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3780904" y="18315243"/>
            <a:ext cx="2691306" cy="1188054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592F538C-5591-CA94-906A-74EF554B30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0599100" y="18315243"/>
            <a:ext cx="2368173" cy="972642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63B70666-2F11-BDE5-2B9F-CF054E1EA8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152463" y="18532679"/>
            <a:ext cx="1553442" cy="753183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D16BFF48-8C43-E971-F7EA-086E6DD8F7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8920240" y="18404852"/>
            <a:ext cx="3667590" cy="80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8412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50" y="-3883269"/>
            <a:ext cx="38955396" cy="25970264"/>
          </a:xfrm>
          <a:custGeom>
            <a:avLst/>
            <a:gdLst/>
            <a:ahLst/>
            <a:cxnLst/>
            <a:rect l="l" t="t" r="r" b="b"/>
            <a:pathLst>
              <a:path w="38955396" h="25970264">
                <a:moveTo>
                  <a:pt x="0" y="0"/>
                </a:moveTo>
                <a:lnTo>
                  <a:pt x="38955396" y="0"/>
                </a:lnTo>
                <a:lnTo>
                  <a:pt x="38955396" y="25970264"/>
                </a:lnTo>
                <a:lnTo>
                  <a:pt x="0" y="25970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 rot="-10800000">
            <a:off x="6326759" y="18723516"/>
            <a:ext cx="1990964" cy="852014"/>
          </a:xfrm>
          <a:custGeom>
            <a:avLst/>
            <a:gdLst/>
            <a:ahLst/>
            <a:cxnLst/>
            <a:rect l="l" t="t" r="r" b="b"/>
            <a:pathLst>
              <a:path w="1990964" h="852014">
                <a:moveTo>
                  <a:pt x="0" y="0"/>
                </a:moveTo>
                <a:lnTo>
                  <a:pt x="1990964" y="0"/>
                </a:lnTo>
                <a:lnTo>
                  <a:pt x="1990964" y="852013"/>
                </a:lnTo>
                <a:lnTo>
                  <a:pt x="0" y="852013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133039" r="-585155" b="-94678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1541904" y="17783837"/>
            <a:ext cx="4007407" cy="2022326"/>
          </a:xfrm>
          <a:custGeom>
            <a:avLst/>
            <a:gdLst/>
            <a:ahLst/>
            <a:cxnLst/>
            <a:rect l="l" t="t" r="r" b="b"/>
            <a:pathLst>
              <a:path w="4007407" h="2022326">
                <a:moveTo>
                  <a:pt x="0" y="0"/>
                </a:moveTo>
                <a:lnTo>
                  <a:pt x="4007407" y="0"/>
                </a:lnTo>
                <a:lnTo>
                  <a:pt x="4007407" y="2022326"/>
                </a:lnTo>
                <a:lnTo>
                  <a:pt x="0" y="20223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536" t="-113839" r="-57754" b="-86734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7" name="Group 7"/>
          <p:cNvGrpSpPr/>
          <p:nvPr/>
        </p:nvGrpSpPr>
        <p:grpSpPr>
          <a:xfrm>
            <a:off x="3096030" y="998471"/>
            <a:ext cx="33930701" cy="18577059"/>
            <a:chOff x="-6132945" y="0"/>
            <a:chExt cx="45240935" cy="24769412"/>
          </a:xfrm>
        </p:grpSpPr>
        <p:sp>
          <p:nvSpPr>
            <p:cNvPr id="8" name="Freeform 8"/>
            <p:cNvSpPr/>
            <p:nvPr/>
          </p:nvSpPr>
          <p:spPr>
            <a:xfrm rot="10800000" flipH="1">
              <a:off x="-6132945" y="0"/>
              <a:ext cx="45240935" cy="24769412"/>
            </a:xfrm>
            <a:custGeom>
              <a:avLst/>
              <a:gdLst/>
              <a:ahLst/>
              <a:cxnLst/>
              <a:rect l="l" t="t" r="r" b="b"/>
              <a:pathLst>
                <a:path w="45240935" h="24769412">
                  <a:moveTo>
                    <a:pt x="45240935" y="0"/>
                  </a:moveTo>
                  <a:lnTo>
                    <a:pt x="0" y="0"/>
                  </a:lnTo>
                  <a:lnTo>
                    <a:pt x="0" y="24769412"/>
                  </a:lnTo>
                  <a:lnTo>
                    <a:pt x="45240935" y="24769412"/>
                  </a:lnTo>
                  <a:lnTo>
                    <a:pt x="45240935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Freeform 9"/>
            <p:cNvSpPr/>
            <p:nvPr/>
          </p:nvSpPr>
          <p:spPr>
            <a:xfrm rot="-10800000">
              <a:off x="6672145" y="22403177"/>
              <a:ext cx="2654619" cy="2366235"/>
            </a:xfrm>
            <a:custGeom>
              <a:avLst/>
              <a:gdLst/>
              <a:ahLst/>
              <a:cxnLst/>
              <a:rect l="l" t="t" r="r" b="b"/>
              <a:pathLst>
                <a:path w="2654619" h="2366235">
                  <a:moveTo>
                    <a:pt x="0" y="0"/>
                  </a:moveTo>
                  <a:lnTo>
                    <a:pt x="2654619" y="0"/>
                  </a:lnTo>
                  <a:lnTo>
                    <a:pt x="2654619" y="2366235"/>
                  </a:lnTo>
                  <a:lnTo>
                    <a:pt x="0" y="2366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31256" r="-1272978" b="-946785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" name="Freeform 3"/>
          <p:cNvSpPr/>
          <p:nvPr/>
        </p:nvSpPr>
        <p:spPr>
          <a:xfrm>
            <a:off x="18945361" y="1692821"/>
            <a:ext cx="20657494" cy="6066625"/>
          </a:xfrm>
          <a:prstGeom prst="roundRect">
            <a:avLst/>
          </a:prstGeom>
          <a:solidFill>
            <a:srgbClr val="07103B"/>
          </a:solid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20786795" y="2205727"/>
            <a:ext cx="13703397" cy="5930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60"/>
              </a:lnSpc>
            </a:pPr>
            <a:r>
              <a:rPr lang="en-US" sz="4757" b="1" dirty="0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Maior </a:t>
            </a:r>
            <a:r>
              <a:rPr lang="en-US" sz="4757" b="1" dirty="0" err="1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estrutura</a:t>
            </a:r>
            <a:r>
              <a:rPr lang="en-US" sz="4757" b="1" dirty="0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 para </a:t>
            </a:r>
            <a:r>
              <a:rPr lang="en-US" sz="4757" b="1" dirty="0" err="1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contêineres</a:t>
            </a:r>
            <a:r>
              <a:rPr lang="en-US" sz="4757" b="1" dirty="0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 </a:t>
            </a:r>
            <a:r>
              <a:rPr lang="en-US" sz="4757" b="1" dirty="0" err="1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refrigerados</a:t>
            </a:r>
            <a:r>
              <a:rPr lang="en-US" sz="4757" b="1" dirty="0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 da América do Sul:</a:t>
            </a:r>
          </a:p>
          <a:p>
            <a:pPr algn="r">
              <a:lnSpc>
                <a:spcPts val="6660"/>
              </a:lnSpc>
              <a:spcBef>
                <a:spcPct val="0"/>
              </a:spcBef>
            </a:pPr>
            <a:r>
              <a:rPr lang="en-US" sz="4757" dirty="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5.268 </a:t>
            </a:r>
            <a:r>
              <a:rPr lang="en-US" sz="4757" dirty="0" err="1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tomadas</a:t>
            </a:r>
            <a:r>
              <a:rPr lang="en-US" sz="4757" dirty="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reefer</a:t>
            </a:r>
          </a:p>
          <a:p>
            <a:pPr algn="r">
              <a:lnSpc>
                <a:spcPts val="6660"/>
              </a:lnSpc>
              <a:spcBef>
                <a:spcPct val="0"/>
              </a:spcBef>
            </a:pPr>
            <a:r>
              <a:rPr lang="en-US" sz="4757" dirty="0" err="1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Líder</a:t>
            </a:r>
            <a:r>
              <a:rPr lang="en-US" sz="4757" dirty="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no </a:t>
            </a:r>
            <a:r>
              <a:rPr lang="en-US" sz="4757" dirty="0" err="1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segmento</a:t>
            </a:r>
            <a:r>
              <a:rPr lang="en-US" sz="4757" dirty="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de </a:t>
            </a:r>
            <a:r>
              <a:rPr lang="en-US" sz="4757" dirty="0" err="1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carnes</a:t>
            </a:r>
            <a:r>
              <a:rPr lang="en-US" sz="4757" dirty="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e </a:t>
            </a:r>
            <a:r>
              <a:rPr lang="en-US" sz="4757" dirty="0" err="1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congelados</a:t>
            </a:r>
            <a:r>
              <a:rPr lang="en-US" sz="4757" dirty="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com</a:t>
            </a:r>
          </a:p>
          <a:p>
            <a:pPr algn="r">
              <a:lnSpc>
                <a:spcPts val="6660"/>
              </a:lnSpc>
              <a:spcBef>
                <a:spcPct val="0"/>
              </a:spcBef>
            </a:pPr>
            <a:r>
              <a:rPr lang="en-US" sz="4757" b="1" dirty="0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40% de </a:t>
            </a:r>
            <a:r>
              <a:rPr lang="en-US" sz="4757" b="1" dirty="0" err="1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participação</a:t>
            </a:r>
            <a:r>
              <a:rPr lang="en-US" sz="4757" b="1" dirty="0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 de mercado</a:t>
            </a:r>
          </a:p>
          <a:p>
            <a:pPr algn="r">
              <a:lnSpc>
                <a:spcPts val="6660"/>
              </a:lnSpc>
              <a:spcBef>
                <a:spcPct val="0"/>
              </a:spcBef>
            </a:pPr>
            <a:r>
              <a:rPr lang="en-US" sz="4757" dirty="0" err="1">
                <a:solidFill>
                  <a:srgbClr val="FFFFFF"/>
                </a:solidFill>
                <a:latin typeface="Maven Pro"/>
                <a:sym typeface="Maven Pro Bold"/>
              </a:rPr>
              <a:t>Principais</a:t>
            </a:r>
            <a:r>
              <a:rPr lang="en-US" sz="4757" dirty="0">
                <a:solidFill>
                  <a:srgbClr val="FFFFFF"/>
                </a:solidFill>
                <a:latin typeface="Maven Pro"/>
                <a:sym typeface="Maven Pro Bold"/>
              </a:rPr>
              <a:t> cargas : </a:t>
            </a:r>
            <a:r>
              <a:rPr lang="en-US" sz="4757" dirty="0" err="1">
                <a:solidFill>
                  <a:srgbClr val="FFFFFF"/>
                </a:solidFill>
                <a:latin typeface="Maven Pro"/>
                <a:sym typeface="Maven Pro Bold"/>
              </a:rPr>
              <a:t>aves</a:t>
            </a:r>
            <a:r>
              <a:rPr lang="en-US" sz="4757" dirty="0">
                <a:solidFill>
                  <a:srgbClr val="FFFFFF"/>
                </a:solidFill>
                <a:latin typeface="Maven Pro"/>
                <a:sym typeface="Maven Pro Bold"/>
              </a:rPr>
              <a:t>, </a:t>
            </a:r>
            <a:r>
              <a:rPr lang="en-US" sz="4757" dirty="0" err="1">
                <a:solidFill>
                  <a:srgbClr val="FFFFFF"/>
                </a:solidFill>
                <a:latin typeface="Maven Pro"/>
                <a:sym typeface="Maven Pro Bold"/>
              </a:rPr>
              <a:t>bovinos</a:t>
            </a:r>
            <a:r>
              <a:rPr lang="en-US" sz="4757" dirty="0">
                <a:solidFill>
                  <a:srgbClr val="FFFFFF"/>
                </a:solidFill>
                <a:latin typeface="Maven Pro"/>
                <a:sym typeface="Maven Pro Bold"/>
              </a:rPr>
              <a:t> e </a:t>
            </a:r>
            <a:r>
              <a:rPr lang="en-US" sz="4757" dirty="0" err="1">
                <a:solidFill>
                  <a:srgbClr val="FFFFFF"/>
                </a:solidFill>
                <a:latin typeface="Maven Pro"/>
                <a:sym typeface="Maven Pro Bold"/>
              </a:rPr>
              <a:t>suínos</a:t>
            </a:r>
            <a:endParaRPr lang="en-US" sz="4757" dirty="0">
              <a:solidFill>
                <a:srgbClr val="FFFFFF"/>
              </a:solidFill>
              <a:latin typeface="Maven Pro"/>
              <a:sym typeface="Maven Pro Bold"/>
            </a:endParaRPr>
          </a:p>
          <a:p>
            <a:pPr algn="r">
              <a:lnSpc>
                <a:spcPts val="6660"/>
              </a:lnSpc>
              <a:spcBef>
                <a:spcPct val="0"/>
              </a:spcBef>
            </a:pPr>
            <a:endParaRPr lang="en-US" sz="4757" b="1" dirty="0">
              <a:solidFill>
                <a:srgbClr val="FFFFFF"/>
              </a:solidFill>
              <a:latin typeface="Maven Pro Bold"/>
              <a:ea typeface="Maven Pro Bold"/>
              <a:cs typeface="Maven Pro Bold"/>
              <a:sym typeface="Maven Pro Bold"/>
            </a:endParaRPr>
          </a:p>
        </p:txBody>
      </p:sp>
      <p:sp>
        <p:nvSpPr>
          <p:cNvPr id="10" name="Freeform 61">
            <a:extLst>
              <a:ext uri="{FF2B5EF4-FFF2-40B4-BE49-F238E27FC236}">
                <a16:creationId xmlns:a16="http://schemas.microsoft.com/office/drawing/2014/main" id="{CB010C6F-7F7F-1067-8E9A-04D7A8DA667B}"/>
              </a:ext>
            </a:extLst>
          </p:cNvPr>
          <p:cNvSpPr/>
          <p:nvPr/>
        </p:nvSpPr>
        <p:spPr>
          <a:xfrm>
            <a:off x="22002243" y="6101727"/>
            <a:ext cx="800607" cy="825071"/>
          </a:xfrm>
          <a:custGeom>
            <a:avLst/>
            <a:gdLst/>
            <a:ahLst/>
            <a:cxnLst/>
            <a:rect l="l" t="t" r="r" b="b"/>
            <a:pathLst>
              <a:path w="415785" h="401232">
                <a:moveTo>
                  <a:pt x="0" y="0"/>
                </a:moveTo>
                <a:lnTo>
                  <a:pt x="415785" y="0"/>
                </a:lnTo>
                <a:lnTo>
                  <a:pt x="415785" y="401233"/>
                </a:lnTo>
                <a:lnTo>
                  <a:pt x="0" y="4012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60177" y="-4048566"/>
            <a:ext cx="37696353" cy="25130902"/>
          </a:xfrm>
          <a:custGeom>
            <a:avLst/>
            <a:gdLst/>
            <a:ahLst/>
            <a:cxnLst/>
            <a:rect l="l" t="t" r="r" b="b"/>
            <a:pathLst>
              <a:path w="37696353" h="25130902">
                <a:moveTo>
                  <a:pt x="0" y="0"/>
                </a:moveTo>
                <a:lnTo>
                  <a:pt x="37696354" y="0"/>
                </a:lnTo>
                <a:lnTo>
                  <a:pt x="37696354" y="25130902"/>
                </a:lnTo>
                <a:lnTo>
                  <a:pt x="0" y="251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1541904" y="17783837"/>
            <a:ext cx="4007407" cy="2022326"/>
          </a:xfrm>
          <a:custGeom>
            <a:avLst/>
            <a:gdLst/>
            <a:ahLst/>
            <a:cxnLst/>
            <a:rect l="l" t="t" r="r" b="b"/>
            <a:pathLst>
              <a:path w="4007407" h="2022326">
                <a:moveTo>
                  <a:pt x="0" y="0"/>
                </a:moveTo>
                <a:lnTo>
                  <a:pt x="4007407" y="0"/>
                </a:lnTo>
                <a:lnTo>
                  <a:pt x="4007407" y="2022326"/>
                </a:lnTo>
                <a:lnTo>
                  <a:pt x="0" y="2022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536" t="-113839" r="-57754" b="-86734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6" name="Group 6"/>
          <p:cNvGrpSpPr/>
          <p:nvPr/>
        </p:nvGrpSpPr>
        <p:grpSpPr>
          <a:xfrm>
            <a:off x="1849126" y="998471"/>
            <a:ext cx="33930701" cy="18577059"/>
            <a:chOff x="0" y="0"/>
            <a:chExt cx="45240935" cy="24769412"/>
          </a:xfrm>
        </p:grpSpPr>
        <p:sp>
          <p:nvSpPr>
            <p:cNvPr id="7" name="Freeform 7"/>
            <p:cNvSpPr/>
            <p:nvPr/>
          </p:nvSpPr>
          <p:spPr>
            <a:xfrm rot="-10800000" flipH="1">
              <a:off x="0" y="0"/>
              <a:ext cx="45240935" cy="24769412"/>
            </a:xfrm>
            <a:custGeom>
              <a:avLst/>
              <a:gdLst/>
              <a:ahLst/>
              <a:cxnLst/>
              <a:rect l="l" t="t" r="r" b="b"/>
              <a:pathLst>
                <a:path w="45240935" h="24769412">
                  <a:moveTo>
                    <a:pt x="45240935" y="0"/>
                  </a:moveTo>
                  <a:lnTo>
                    <a:pt x="0" y="0"/>
                  </a:lnTo>
                  <a:lnTo>
                    <a:pt x="0" y="24769412"/>
                  </a:lnTo>
                  <a:lnTo>
                    <a:pt x="45240935" y="24769412"/>
                  </a:lnTo>
                  <a:lnTo>
                    <a:pt x="45240935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Freeform 8"/>
            <p:cNvSpPr/>
            <p:nvPr/>
          </p:nvSpPr>
          <p:spPr>
            <a:xfrm rot="-10800000">
              <a:off x="6672145" y="22403177"/>
              <a:ext cx="2654619" cy="2366235"/>
            </a:xfrm>
            <a:custGeom>
              <a:avLst/>
              <a:gdLst/>
              <a:ahLst/>
              <a:cxnLst/>
              <a:rect l="l" t="t" r="r" b="b"/>
              <a:pathLst>
                <a:path w="2654619" h="2366235">
                  <a:moveTo>
                    <a:pt x="0" y="0"/>
                  </a:moveTo>
                  <a:lnTo>
                    <a:pt x="2654619" y="0"/>
                  </a:lnTo>
                  <a:lnTo>
                    <a:pt x="2654619" y="2366235"/>
                  </a:lnTo>
                  <a:lnTo>
                    <a:pt x="0" y="2366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31256" r="-1272978" b="-946785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" name="Freeform 3"/>
          <p:cNvSpPr/>
          <p:nvPr/>
        </p:nvSpPr>
        <p:spPr>
          <a:xfrm>
            <a:off x="-2643082" y="2151994"/>
            <a:ext cx="20931081" cy="2972368"/>
          </a:xfrm>
          <a:prstGeom prst="roundRect">
            <a:avLst/>
          </a:prstGeom>
          <a:solidFill>
            <a:srgbClr val="07103B"/>
          </a:solid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2099732" y="2714851"/>
            <a:ext cx="15917335" cy="16831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56"/>
              </a:lnSpc>
              <a:spcBef>
                <a:spcPct val="0"/>
              </a:spcBef>
            </a:pPr>
            <a:r>
              <a:rPr lang="en-US" sz="4897" b="1" dirty="0" err="1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Armazém</a:t>
            </a:r>
            <a:r>
              <a:rPr lang="en-US" sz="4897" b="1" dirty="0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 de Importação </a:t>
            </a:r>
            <a:r>
              <a:rPr lang="en-US" sz="4897" b="1" dirty="0" err="1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Alfandegado</a:t>
            </a:r>
            <a:r>
              <a:rPr lang="en-US" sz="4897" b="1" dirty="0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 com 9.000 m</a:t>
            </a:r>
            <a:r>
              <a:rPr lang="en-US" sz="4897" b="1" baseline="30000" dirty="0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2 </a:t>
            </a:r>
            <a:r>
              <a:rPr lang="en-US" sz="4897" b="1" dirty="0">
                <a:solidFill>
                  <a:srgbClr val="FFFFFF"/>
                </a:solidFill>
                <a:latin typeface="Maven Pro Bold"/>
                <a:sym typeface="Maven Pro Bold"/>
              </a:rPr>
              <a:t>e 6 </a:t>
            </a:r>
            <a:r>
              <a:rPr lang="en-US" sz="4897" b="1" dirty="0" err="1">
                <a:solidFill>
                  <a:srgbClr val="FFFFFF"/>
                </a:solidFill>
                <a:latin typeface="Maven Pro Bold"/>
                <a:sym typeface="Maven Pro Bold"/>
              </a:rPr>
              <a:t>docas</a:t>
            </a:r>
            <a:r>
              <a:rPr lang="en-US" sz="4897" b="1" dirty="0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, </a:t>
            </a:r>
            <a:r>
              <a:rPr lang="en-US" sz="4897" dirty="0" err="1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uma</a:t>
            </a:r>
            <a:r>
              <a:rPr lang="en-US" sz="4897" dirty="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das </a:t>
            </a:r>
            <a:r>
              <a:rPr lang="en-US" sz="4897" dirty="0" err="1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estruturas</a:t>
            </a:r>
            <a:r>
              <a:rPr lang="en-US" sz="4897" dirty="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lang="en-US" sz="4897" dirty="0" err="1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mais</a:t>
            </a:r>
            <a:r>
              <a:rPr lang="en-US" sz="4897" dirty="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lang="en-US" sz="4897" dirty="0" err="1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modernas</a:t>
            </a:r>
            <a:r>
              <a:rPr lang="en-US" sz="4897" dirty="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do </a:t>
            </a:r>
            <a:r>
              <a:rPr lang="en-US" sz="4897" dirty="0" err="1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país</a:t>
            </a:r>
            <a:endParaRPr lang="en-US" sz="4897" dirty="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73120" y="-1856561"/>
            <a:ext cx="38789992" cy="25843832"/>
          </a:xfrm>
          <a:custGeom>
            <a:avLst/>
            <a:gdLst/>
            <a:ahLst/>
            <a:cxnLst/>
            <a:rect l="l" t="t" r="r" b="b"/>
            <a:pathLst>
              <a:path w="38789992" h="25843832">
                <a:moveTo>
                  <a:pt x="0" y="0"/>
                </a:moveTo>
                <a:lnTo>
                  <a:pt x="38789992" y="0"/>
                </a:lnTo>
                <a:lnTo>
                  <a:pt x="38789992" y="25843833"/>
                </a:lnTo>
                <a:lnTo>
                  <a:pt x="0" y="25843833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5" name="Group 5"/>
          <p:cNvGrpSpPr/>
          <p:nvPr/>
        </p:nvGrpSpPr>
        <p:grpSpPr>
          <a:xfrm>
            <a:off x="1793708" y="998471"/>
            <a:ext cx="33930701" cy="18577059"/>
            <a:chOff x="0" y="0"/>
            <a:chExt cx="45240935" cy="24769412"/>
          </a:xfrm>
        </p:grpSpPr>
        <p:sp>
          <p:nvSpPr>
            <p:cNvPr id="6" name="Freeform 6"/>
            <p:cNvSpPr/>
            <p:nvPr/>
          </p:nvSpPr>
          <p:spPr>
            <a:xfrm rot="-10800000" flipH="1">
              <a:off x="0" y="0"/>
              <a:ext cx="45240935" cy="24769412"/>
            </a:xfrm>
            <a:custGeom>
              <a:avLst/>
              <a:gdLst/>
              <a:ahLst/>
              <a:cxnLst/>
              <a:rect l="l" t="t" r="r" b="b"/>
              <a:pathLst>
                <a:path w="45240935" h="24769412">
                  <a:moveTo>
                    <a:pt x="45240935" y="0"/>
                  </a:moveTo>
                  <a:lnTo>
                    <a:pt x="0" y="0"/>
                  </a:lnTo>
                  <a:lnTo>
                    <a:pt x="0" y="24769412"/>
                  </a:lnTo>
                  <a:lnTo>
                    <a:pt x="45240935" y="24769412"/>
                  </a:lnTo>
                  <a:lnTo>
                    <a:pt x="45240935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Freeform 7"/>
            <p:cNvSpPr/>
            <p:nvPr/>
          </p:nvSpPr>
          <p:spPr>
            <a:xfrm rot="-10800000">
              <a:off x="6672145" y="22403177"/>
              <a:ext cx="2654619" cy="2366235"/>
            </a:xfrm>
            <a:custGeom>
              <a:avLst/>
              <a:gdLst/>
              <a:ahLst/>
              <a:cxnLst/>
              <a:rect l="l" t="t" r="r" b="b"/>
              <a:pathLst>
                <a:path w="2654619" h="2366235">
                  <a:moveTo>
                    <a:pt x="0" y="0"/>
                  </a:moveTo>
                  <a:lnTo>
                    <a:pt x="2654619" y="0"/>
                  </a:lnTo>
                  <a:lnTo>
                    <a:pt x="2654619" y="2366235"/>
                  </a:lnTo>
                  <a:lnTo>
                    <a:pt x="0" y="2366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31256" r="-1272978" b="-946785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Freeform 8"/>
          <p:cNvSpPr/>
          <p:nvPr/>
        </p:nvSpPr>
        <p:spPr>
          <a:xfrm>
            <a:off x="1541904" y="17783837"/>
            <a:ext cx="4007407" cy="2022326"/>
          </a:xfrm>
          <a:custGeom>
            <a:avLst/>
            <a:gdLst/>
            <a:ahLst/>
            <a:cxnLst/>
            <a:rect l="l" t="t" r="r" b="b"/>
            <a:pathLst>
              <a:path w="4007407" h="2022326">
                <a:moveTo>
                  <a:pt x="0" y="0"/>
                </a:moveTo>
                <a:lnTo>
                  <a:pt x="4007407" y="0"/>
                </a:lnTo>
                <a:lnTo>
                  <a:pt x="4007407" y="2022326"/>
                </a:lnTo>
                <a:lnTo>
                  <a:pt x="0" y="20223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536" t="-113839" r="-57754" b="-8673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-2433531" y="2151994"/>
            <a:ext cx="20033637" cy="4005670"/>
          </a:xfrm>
          <a:prstGeom prst="roundRect">
            <a:avLst/>
          </a:prstGeom>
          <a:solidFill>
            <a:srgbClr val="07103B"/>
          </a:solid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2400568" y="2869243"/>
            <a:ext cx="14324103" cy="2571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856"/>
              </a:lnSpc>
              <a:spcBef>
                <a:spcPct val="0"/>
              </a:spcBef>
            </a:pPr>
            <a:r>
              <a:rPr lang="en-US" sz="4897" b="1" dirty="0" err="1">
                <a:solidFill>
                  <a:srgbClr val="FFFFFF"/>
                </a:solidFill>
                <a:latin typeface="Maven Pro Bold"/>
                <a:ea typeface="Maven Pro"/>
                <a:cs typeface="Maven Pro Bold"/>
                <a:sym typeface="Maven Pro Bold"/>
              </a:rPr>
              <a:t>Área</a:t>
            </a:r>
            <a:r>
              <a:rPr lang="en-US" sz="4897" b="1" dirty="0">
                <a:solidFill>
                  <a:srgbClr val="FFFFFF"/>
                </a:solidFill>
                <a:latin typeface="Maven Pro Bold"/>
                <a:ea typeface="Maven Pro"/>
                <a:cs typeface="Maven Pro Bold"/>
                <a:sym typeface="Maven Pro Bold"/>
              </a:rPr>
              <a:t> externa de </a:t>
            </a:r>
            <a:r>
              <a:rPr lang="en-US" sz="4897" b="1" dirty="0" err="1">
                <a:solidFill>
                  <a:srgbClr val="FFFFFF"/>
                </a:solidFill>
                <a:latin typeface="Maven Pro Bold"/>
                <a:ea typeface="Maven Pro"/>
                <a:cs typeface="Maven Pro Bold"/>
                <a:sym typeface="Maven Pro Bold"/>
              </a:rPr>
              <a:t>plataformas</a:t>
            </a:r>
            <a:r>
              <a:rPr lang="en-US" sz="4897" b="1" dirty="0">
                <a:solidFill>
                  <a:srgbClr val="FFFFFF"/>
                </a:solidFill>
                <a:latin typeface="Maven Pro Bold"/>
                <a:ea typeface="Maven Pro"/>
                <a:cs typeface="Maven Pro Bold"/>
                <a:sym typeface="Maven Pro Bold"/>
              </a:rPr>
              <a:t> para Inspeção. </a:t>
            </a:r>
            <a:br>
              <a:rPr lang="en-US" sz="4897" b="1" dirty="0">
                <a:solidFill>
                  <a:srgbClr val="FFFFFF"/>
                </a:solidFill>
                <a:latin typeface="Maven Pro Bold"/>
                <a:ea typeface="Maven Pro"/>
                <a:cs typeface="Maven Pro Bold"/>
                <a:sym typeface="Maven Pro Bold"/>
              </a:rPr>
            </a:br>
            <a:r>
              <a:rPr lang="en-US" sz="4897" dirty="0" err="1">
                <a:solidFill>
                  <a:srgbClr val="FFFFFF"/>
                </a:solidFill>
                <a:latin typeface="Maven Pro"/>
                <a:sym typeface="Maven Pro Bold"/>
              </a:rPr>
              <a:t>Capacidade</a:t>
            </a:r>
            <a:r>
              <a:rPr lang="en-US" sz="4897" dirty="0">
                <a:solidFill>
                  <a:srgbClr val="FFFFFF"/>
                </a:solidFill>
                <a:latin typeface="Maven Pro"/>
                <a:sym typeface="Maven Pro Bold"/>
              </a:rPr>
              <a:t> da </a:t>
            </a:r>
            <a:r>
              <a:rPr lang="en-US" sz="4897" dirty="0" err="1">
                <a:solidFill>
                  <a:srgbClr val="FFFFFF"/>
                </a:solidFill>
                <a:latin typeface="Maven Pro"/>
                <a:sym typeface="Maven Pro Bold"/>
              </a:rPr>
              <a:t>área</a:t>
            </a:r>
            <a:r>
              <a:rPr lang="en-US" sz="4897" dirty="0">
                <a:solidFill>
                  <a:srgbClr val="FFFFFF"/>
                </a:solidFill>
                <a:latin typeface="Maven Pro"/>
                <a:sym typeface="Maven Pro Bold"/>
              </a:rPr>
              <a:t> de Inspeção é de 204 </a:t>
            </a:r>
            <a:r>
              <a:rPr lang="en-US" sz="4897" dirty="0" err="1">
                <a:solidFill>
                  <a:srgbClr val="FFFFFF"/>
                </a:solidFill>
                <a:latin typeface="Maven Pro"/>
                <a:sym typeface="Maven Pro Bold"/>
              </a:rPr>
              <a:t>posições</a:t>
            </a:r>
            <a:r>
              <a:rPr lang="en-US" sz="4897" dirty="0">
                <a:solidFill>
                  <a:srgbClr val="FFFFFF"/>
                </a:solidFill>
                <a:latin typeface="Maven Pro"/>
                <a:sym typeface="Maven Pro Bold"/>
              </a:rPr>
              <a:t>.</a:t>
            </a:r>
            <a:endParaRPr lang="en-US" sz="4897" dirty="0">
              <a:solidFill>
                <a:srgbClr val="FFFFFF"/>
              </a:solidFill>
              <a:latin typeface="Maven Pro"/>
              <a:sym typeface="Maven Pro"/>
            </a:endParaRPr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CF3D4B56-D82F-3191-327F-A14032ED9021}"/>
              </a:ext>
            </a:extLst>
          </p:cNvPr>
          <p:cNvSpPr/>
          <p:nvPr/>
        </p:nvSpPr>
        <p:spPr>
          <a:xfrm>
            <a:off x="18731741" y="14293194"/>
            <a:ext cx="20033637" cy="4005670"/>
          </a:xfrm>
          <a:prstGeom prst="roundRect">
            <a:avLst/>
          </a:prstGeom>
          <a:solidFill>
            <a:srgbClr val="07103B"/>
          </a:solidFill>
        </p:spPr>
        <p:txBody>
          <a:bodyPr/>
          <a:lstStyle/>
          <a:p>
            <a:endParaRPr lang="pt-BR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44360760-F322-546F-E1C5-08CA9EC3D266}"/>
              </a:ext>
            </a:extLst>
          </p:cNvPr>
          <p:cNvSpPr txBox="1"/>
          <p:nvPr/>
        </p:nvSpPr>
        <p:spPr>
          <a:xfrm>
            <a:off x="19942106" y="14976576"/>
            <a:ext cx="14324103" cy="2571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56"/>
              </a:lnSpc>
              <a:spcBef>
                <a:spcPct val="0"/>
              </a:spcBef>
            </a:pPr>
            <a:r>
              <a:rPr lang="en-US" sz="4897" b="1" dirty="0" err="1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Conexão</a:t>
            </a:r>
            <a:r>
              <a:rPr lang="en-US" sz="4897" b="1" dirty="0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 </a:t>
            </a:r>
            <a:r>
              <a:rPr lang="en-US" sz="4897" b="1" dirty="0" err="1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direta</a:t>
            </a:r>
            <a:r>
              <a:rPr lang="en-US" sz="4897" b="1" dirty="0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 entre a </a:t>
            </a:r>
            <a:r>
              <a:rPr lang="en-US" sz="4897" b="1" dirty="0" err="1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ferrovia</a:t>
            </a:r>
            <a:r>
              <a:rPr lang="en-US" sz="4897" b="1" dirty="0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 e a zona </a:t>
            </a:r>
            <a:r>
              <a:rPr lang="en-US" sz="4897" b="1" dirty="0" err="1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primária</a:t>
            </a:r>
            <a:r>
              <a:rPr lang="en-US" sz="4897" b="1" dirty="0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 </a:t>
            </a:r>
            <a:r>
              <a:rPr lang="en-US" sz="4897" b="1" dirty="0" err="1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dentro</a:t>
            </a:r>
            <a:r>
              <a:rPr lang="en-US" sz="4897" b="1" dirty="0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 do terminal </a:t>
            </a:r>
            <a:r>
              <a:rPr lang="en-US" sz="4897" dirty="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- </a:t>
            </a:r>
            <a:r>
              <a:rPr lang="en-US" sz="4897" dirty="0" err="1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sendo</a:t>
            </a:r>
            <a:r>
              <a:rPr lang="en-US" sz="4897" dirty="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o </a:t>
            </a:r>
            <a:r>
              <a:rPr lang="en-US" sz="4897" dirty="0" err="1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único</a:t>
            </a:r>
            <a:r>
              <a:rPr lang="en-US" sz="4897" dirty="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no Sul do Brasil com esse </a:t>
            </a:r>
            <a:r>
              <a:rPr lang="en-US" sz="4897" dirty="0" err="1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diferencial</a:t>
            </a:r>
            <a:endParaRPr lang="en-US" sz="4897" dirty="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28204-7752-D65E-2D23-4CA7B9979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2">
            <a:extLst>
              <a:ext uri="{FF2B5EF4-FFF2-40B4-BE49-F238E27FC236}">
                <a16:creationId xmlns:a16="http://schemas.microsoft.com/office/drawing/2014/main" id="{9FA8D1AE-BB21-2F48-13C1-947EF524BCA5}"/>
              </a:ext>
            </a:extLst>
          </p:cNvPr>
          <p:cNvSpPr/>
          <p:nvPr/>
        </p:nvSpPr>
        <p:spPr>
          <a:xfrm>
            <a:off x="0" y="-1975835"/>
            <a:ext cx="36576000" cy="24368760"/>
          </a:xfrm>
          <a:custGeom>
            <a:avLst/>
            <a:gdLst/>
            <a:ahLst/>
            <a:cxnLst/>
            <a:rect l="l" t="t" r="r" b="b"/>
            <a:pathLst>
              <a:path w="36576000" h="24368760">
                <a:moveTo>
                  <a:pt x="0" y="0"/>
                </a:moveTo>
                <a:lnTo>
                  <a:pt x="36576000" y="0"/>
                </a:lnTo>
                <a:lnTo>
                  <a:pt x="36576000" y="24368760"/>
                </a:lnTo>
                <a:lnTo>
                  <a:pt x="0" y="24368760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alphaModFix amt="2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object 30">
            <a:extLst>
              <a:ext uri="{FF2B5EF4-FFF2-40B4-BE49-F238E27FC236}">
                <a16:creationId xmlns:a16="http://schemas.microsoft.com/office/drawing/2014/main" id="{F70AB155-CA76-E29C-A034-BC1C29BFB5D3}"/>
              </a:ext>
            </a:extLst>
          </p:cNvPr>
          <p:cNvSpPr txBox="1"/>
          <p:nvPr/>
        </p:nvSpPr>
        <p:spPr>
          <a:xfrm>
            <a:off x="22243680" y="6113777"/>
            <a:ext cx="11829050" cy="667490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33655" marR="5080" indent="-21590">
              <a:lnSpc>
                <a:spcPts val="4170"/>
              </a:lnSpc>
              <a:spcBef>
                <a:spcPts val="1005"/>
              </a:spcBef>
            </a:pPr>
            <a:r>
              <a:rPr lang="pt-BR" sz="4800" i="1" spc="-135" dirty="0">
                <a:solidFill>
                  <a:srgbClr val="0E3078"/>
                </a:solidFill>
                <a:latin typeface="Maven Pro" panose="020B0604020202020204" charset="0"/>
                <a:cs typeface="Arial"/>
              </a:rPr>
              <a:t>Mais de 200</a:t>
            </a:r>
            <a:r>
              <a:rPr sz="4800" i="1" spc="-155" dirty="0">
                <a:solidFill>
                  <a:srgbClr val="0E3078"/>
                </a:solidFill>
                <a:latin typeface="Maven Pro" panose="020B0604020202020204" charset="0"/>
                <a:cs typeface="Arial"/>
              </a:rPr>
              <a:t> </a:t>
            </a:r>
            <a:r>
              <a:rPr sz="4800" i="1" spc="-170" dirty="0">
                <a:solidFill>
                  <a:srgbClr val="0E3078"/>
                </a:solidFill>
                <a:latin typeface="Maven Pro" panose="020B0604020202020204" charset="0"/>
                <a:cs typeface="Arial"/>
              </a:rPr>
              <a:t>m</a:t>
            </a:r>
            <a:r>
              <a:rPr sz="4800" i="1" spc="-40" dirty="0">
                <a:solidFill>
                  <a:srgbClr val="0E3078"/>
                </a:solidFill>
                <a:latin typeface="Maven Pro" panose="020B0604020202020204" charset="0"/>
                <a:cs typeface="Arial"/>
              </a:rPr>
              <a:t>i</a:t>
            </a:r>
            <a:r>
              <a:rPr sz="4800" i="1" spc="180" dirty="0">
                <a:solidFill>
                  <a:srgbClr val="0E3078"/>
                </a:solidFill>
                <a:latin typeface="Maven Pro" panose="020B0604020202020204" charset="0"/>
                <a:cs typeface="Arial"/>
              </a:rPr>
              <a:t>l</a:t>
            </a:r>
            <a:r>
              <a:rPr sz="4800" i="1" spc="-160" dirty="0">
                <a:solidFill>
                  <a:srgbClr val="0E3078"/>
                </a:solidFill>
                <a:latin typeface="Maven Pro" panose="020B0604020202020204" charset="0"/>
                <a:cs typeface="Arial"/>
              </a:rPr>
              <a:t> </a:t>
            </a:r>
            <a:r>
              <a:rPr sz="4800" i="1" spc="-390" dirty="0">
                <a:solidFill>
                  <a:srgbClr val="0E3078"/>
                </a:solidFill>
                <a:latin typeface="Maven Pro" panose="020B0604020202020204" charset="0"/>
                <a:cs typeface="Arial"/>
              </a:rPr>
              <a:t>T</a:t>
            </a:r>
            <a:r>
              <a:rPr sz="4800" i="1" spc="-725" dirty="0">
                <a:solidFill>
                  <a:srgbClr val="0E3078"/>
                </a:solidFill>
                <a:latin typeface="Maven Pro" panose="020B0604020202020204" charset="0"/>
                <a:cs typeface="Arial"/>
              </a:rPr>
              <a:t>E</a:t>
            </a:r>
            <a:r>
              <a:rPr sz="4800" i="1" spc="-370" dirty="0">
                <a:solidFill>
                  <a:srgbClr val="0E3078"/>
                </a:solidFill>
                <a:latin typeface="Maven Pro" panose="020B0604020202020204" charset="0"/>
                <a:cs typeface="Arial"/>
              </a:rPr>
              <a:t>U</a:t>
            </a:r>
            <a:r>
              <a:rPr sz="4800" i="1" spc="-305" dirty="0">
                <a:solidFill>
                  <a:srgbClr val="0E3078"/>
                </a:solidFill>
                <a:latin typeface="Maven Pro" panose="020B0604020202020204" charset="0"/>
                <a:cs typeface="Arial"/>
              </a:rPr>
              <a:t>s  </a:t>
            </a:r>
            <a:r>
              <a:rPr sz="4800" i="1" spc="-190" dirty="0">
                <a:solidFill>
                  <a:srgbClr val="0E3078"/>
                </a:solidFill>
                <a:latin typeface="Maven Pro" panose="020B0604020202020204" charset="0"/>
                <a:cs typeface="Arial"/>
              </a:rPr>
              <a:t>o</a:t>
            </a:r>
            <a:r>
              <a:rPr sz="4800" i="1" spc="-200" dirty="0">
                <a:solidFill>
                  <a:srgbClr val="0E3078"/>
                </a:solidFill>
                <a:latin typeface="Maven Pro" panose="020B0604020202020204" charset="0"/>
                <a:cs typeface="Arial"/>
              </a:rPr>
              <a:t>p</a:t>
            </a:r>
            <a:r>
              <a:rPr sz="4800" i="1" spc="-360" dirty="0">
                <a:solidFill>
                  <a:srgbClr val="0E3078"/>
                </a:solidFill>
                <a:latin typeface="Maven Pro" panose="020B0604020202020204" charset="0"/>
                <a:cs typeface="Arial"/>
              </a:rPr>
              <a:t>e</a:t>
            </a:r>
            <a:r>
              <a:rPr sz="4800" i="1" spc="-40" dirty="0">
                <a:solidFill>
                  <a:srgbClr val="0E3078"/>
                </a:solidFill>
                <a:latin typeface="Maven Pro" panose="020B0604020202020204" charset="0"/>
                <a:cs typeface="Arial"/>
              </a:rPr>
              <a:t>r</a:t>
            </a:r>
            <a:r>
              <a:rPr sz="4800" i="1" spc="-225" dirty="0">
                <a:solidFill>
                  <a:srgbClr val="0E3078"/>
                </a:solidFill>
                <a:latin typeface="Maven Pro" panose="020B0604020202020204" charset="0"/>
                <a:cs typeface="Arial"/>
              </a:rPr>
              <a:t>a</a:t>
            </a:r>
            <a:r>
              <a:rPr sz="4800" i="1" spc="-165" dirty="0">
                <a:solidFill>
                  <a:srgbClr val="0E3078"/>
                </a:solidFill>
                <a:latin typeface="Maven Pro" panose="020B0604020202020204" charset="0"/>
                <a:cs typeface="Arial"/>
              </a:rPr>
              <a:t>d</a:t>
            </a:r>
            <a:r>
              <a:rPr sz="4800" i="1" spc="-215" dirty="0">
                <a:solidFill>
                  <a:srgbClr val="0E3078"/>
                </a:solidFill>
                <a:latin typeface="Maven Pro" panose="020B0604020202020204" charset="0"/>
                <a:cs typeface="Arial"/>
              </a:rPr>
              <a:t>o</a:t>
            </a:r>
            <a:r>
              <a:rPr sz="4800" i="1" spc="-430" dirty="0">
                <a:solidFill>
                  <a:srgbClr val="0E3078"/>
                </a:solidFill>
                <a:latin typeface="Maven Pro" panose="020B0604020202020204" charset="0"/>
                <a:cs typeface="Arial"/>
              </a:rPr>
              <a:t>s</a:t>
            </a:r>
            <a:r>
              <a:rPr sz="4800" i="1" spc="-160" dirty="0">
                <a:solidFill>
                  <a:srgbClr val="0E3078"/>
                </a:solidFill>
                <a:latin typeface="Maven Pro" panose="020B0604020202020204" charset="0"/>
                <a:cs typeface="Arial"/>
              </a:rPr>
              <a:t> </a:t>
            </a:r>
            <a:r>
              <a:rPr sz="4800" i="1" spc="-360" dirty="0" err="1">
                <a:solidFill>
                  <a:srgbClr val="0E3078"/>
                </a:solidFill>
                <a:latin typeface="Maven Pro" panose="020B0604020202020204" charset="0"/>
                <a:cs typeface="Arial"/>
              </a:rPr>
              <a:t>e</a:t>
            </a:r>
            <a:r>
              <a:rPr sz="4800" i="1" spc="-60" dirty="0" err="1">
                <a:solidFill>
                  <a:srgbClr val="0E3078"/>
                </a:solidFill>
                <a:latin typeface="Maven Pro" panose="020B0604020202020204" charset="0"/>
                <a:cs typeface="Arial"/>
              </a:rPr>
              <a:t>m</a:t>
            </a:r>
            <a:r>
              <a:rPr sz="4800" i="1" spc="-160" dirty="0">
                <a:solidFill>
                  <a:srgbClr val="0E3078"/>
                </a:solidFill>
                <a:latin typeface="Maven Pro" panose="020B0604020202020204" charset="0"/>
                <a:cs typeface="Arial"/>
              </a:rPr>
              <a:t> </a:t>
            </a:r>
            <a:r>
              <a:rPr sz="4800" i="1" spc="-100" dirty="0">
                <a:solidFill>
                  <a:srgbClr val="0E3078"/>
                </a:solidFill>
                <a:latin typeface="Maven Pro" panose="020B0604020202020204" charset="0"/>
                <a:cs typeface="Arial"/>
              </a:rPr>
              <a:t>2</a:t>
            </a:r>
            <a:r>
              <a:rPr sz="4800" i="1" spc="-175" dirty="0">
                <a:solidFill>
                  <a:srgbClr val="0E3078"/>
                </a:solidFill>
                <a:latin typeface="Maven Pro" panose="020B0604020202020204" charset="0"/>
                <a:cs typeface="Arial"/>
              </a:rPr>
              <a:t>02</a:t>
            </a:r>
            <a:r>
              <a:rPr lang="pt-BR" sz="4800" i="1" spc="25" dirty="0">
                <a:solidFill>
                  <a:srgbClr val="0E3078"/>
                </a:solidFill>
                <a:latin typeface="Maven Pro" panose="020B0604020202020204" charset="0"/>
                <a:cs typeface="Arial"/>
              </a:rPr>
              <a:t>5</a:t>
            </a:r>
            <a:endParaRPr sz="4800" dirty="0">
              <a:latin typeface="Maven Pro" panose="020B0604020202020204" charset="0"/>
              <a:cs typeface="Arial"/>
            </a:endParaRPr>
          </a:p>
        </p:txBody>
      </p:sp>
      <p:sp>
        <p:nvSpPr>
          <p:cNvPr id="17" name="object 32">
            <a:extLst>
              <a:ext uri="{FF2B5EF4-FFF2-40B4-BE49-F238E27FC236}">
                <a16:creationId xmlns:a16="http://schemas.microsoft.com/office/drawing/2014/main" id="{00D1A513-6CBB-A298-8DC8-6E35F8D9EFB6}"/>
              </a:ext>
            </a:extLst>
          </p:cNvPr>
          <p:cNvSpPr txBox="1">
            <a:spLocks/>
          </p:cNvSpPr>
          <p:nvPr/>
        </p:nvSpPr>
        <p:spPr>
          <a:xfrm>
            <a:off x="20619892" y="2955525"/>
            <a:ext cx="9672505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7200" spc="-175" dirty="0">
                <a:solidFill>
                  <a:srgbClr val="062C77"/>
                </a:solidFill>
                <a:latin typeface="Maven Pro Bold" panose="020B0604020202020204" charset="0"/>
                <a:cs typeface="Microsoft Sans Serif"/>
              </a:rPr>
              <a:t>Terminal</a:t>
            </a:r>
            <a:r>
              <a:rPr lang="pt-BR" sz="7200" spc="-210" dirty="0">
                <a:solidFill>
                  <a:srgbClr val="062C77"/>
                </a:solidFill>
                <a:latin typeface="Maven Pro Bold" panose="020B0604020202020204" charset="0"/>
                <a:cs typeface="Microsoft Sans Serif"/>
              </a:rPr>
              <a:t> </a:t>
            </a:r>
            <a:r>
              <a:rPr lang="pt-BR" sz="7200" spc="-70" dirty="0">
                <a:solidFill>
                  <a:srgbClr val="062C77"/>
                </a:solidFill>
                <a:latin typeface="Maven Pro Bold" panose="020B0604020202020204" charset="0"/>
                <a:cs typeface="Microsoft Sans Serif"/>
              </a:rPr>
              <a:t>com</a:t>
            </a:r>
            <a:r>
              <a:rPr lang="pt-BR" sz="7200" spc="-210" dirty="0">
                <a:solidFill>
                  <a:srgbClr val="062C77"/>
                </a:solidFill>
                <a:latin typeface="Maven Pro Bold" panose="020B0604020202020204" charset="0"/>
                <a:cs typeface="Microsoft Sans Serif"/>
              </a:rPr>
              <a:t> </a:t>
            </a:r>
            <a:r>
              <a:rPr lang="pt-BR" sz="7200" spc="165" dirty="0">
                <a:solidFill>
                  <a:srgbClr val="062C77"/>
                </a:solidFill>
                <a:latin typeface="Maven Pro Bold" panose="020B0604020202020204" charset="0"/>
                <a:cs typeface="Microsoft Sans Serif"/>
              </a:rPr>
              <a:t>o</a:t>
            </a:r>
            <a:endParaRPr lang="pt-BR" sz="7200" dirty="0">
              <a:solidFill>
                <a:srgbClr val="062C77"/>
              </a:solidFill>
              <a:latin typeface="Maven Pro Bold" panose="020B0604020202020204" charset="0"/>
              <a:cs typeface="Microsoft Sans Serif"/>
            </a:endParaRPr>
          </a:p>
        </p:txBody>
      </p:sp>
      <p:grpSp>
        <p:nvGrpSpPr>
          <p:cNvPr id="39" name="object 54">
            <a:extLst>
              <a:ext uri="{FF2B5EF4-FFF2-40B4-BE49-F238E27FC236}">
                <a16:creationId xmlns:a16="http://schemas.microsoft.com/office/drawing/2014/main" id="{3FC446D3-CD3E-D8CC-E7EB-15C44B87F01F}"/>
              </a:ext>
            </a:extLst>
          </p:cNvPr>
          <p:cNvGrpSpPr/>
          <p:nvPr/>
        </p:nvGrpSpPr>
        <p:grpSpPr>
          <a:xfrm>
            <a:off x="1317456" y="1288526"/>
            <a:ext cx="2282825" cy="1743710"/>
            <a:chOff x="1317456" y="1288526"/>
            <a:chExt cx="2282825" cy="1743710"/>
          </a:xfrm>
        </p:grpSpPr>
        <p:sp>
          <p:nvSpPr>
            <p:cNvPr id="40" name="object 55">
              <a:extLst>
                <a:ext uri="{FF2B5EF4-FFF2-40B4-BE49-F238E27FC236}">
                  <a16:creationId xmlns:a16="http://schemas.microsoft.com/office/drawing/2014/main" id="{B732CE3D-AEFA-2458-220F-0544EBA4C08E}"/>
                </a:ext>
              </a:extLst>
            </p:cNvPr>
            <p:cNvSpPr/>
            <p:nvPr/>
          </p:nvSpPr>
          <p:spPr>
            <a:xfrm>
              <a:off x="1327934" y="1299004"/>
              <a:ext cx="2261870" cy="1722755"/>
            </a:xfrm>
            <a:custGeom>
              <a:avLst/>
              <a:gdLst/>
              <a:ahLst/>
              <a:cxnLst/>
              <a:rect l="l" t="t" r="r" b="b"/>
              <a:pathLst>
                <a:path w="2261870" h="1722755">
                  <a:moveTo>
                    <a:pt x="2000912" y="0"/>
                  </a:moveTo>
                  <a:lnTo>
                    <a:pt x="260798" y="0"/>
                  </a:lnTo>
                  <a:lnTo>
                    <a:pt x="213918" y="4201"/>
                  </a:lnTo>
                  <a:lnTo>
                    <a:pt x="169796" y="16315"/>
                  </a:lnTo>
                  <a:lnTo>
                    <a:pt x="129167" y="35606"/>
                  </a:lnTo>
                  <a:lnTo>
                    <a:pt x="92768" y="61335"/>
                  </a:lnTo>
                  <a:lnTo>
                    <a:pt x="61335" y="92768"/>
                  </a:lnTo>
                  <a:lnTo>
                    <a:pt x="35606" y="129167"/>
                  </a:lnTo>
                  <a:lnTo>
                    <a:pt x="16315" y="169796"/>
                  </a:lnTo>
                  <a:lnTo>
                    <a:pt x="4201" y="213918"/>
                  </a:lnTo>
                  <a:lnTo>
                    <a:pt x="0" y="260798"/>
                  </a:lnTo>
                  <a:lnTo>
                    <a:pt x="0" y="1461421"/>
                  </a:lnTo>
                  <a:lnTo>
                    <a:pt x="4201" y="1508300"/>
                  </a:lnTo>
                  <a:lnTo>
                    <a:pt x="16315" y="1552423"/>
                  </a:lnTo>
                  <a:lnTo>
                    <a:pt x="35606" y="1593052"/>
                  </a:lnTo>
                  <a:lnTo>
                    <a:pt x="61335" y="1629451"/>
                  </a:lnTo>
                  <a:lnTo>
                    <a:pt x="92768" y="1660884"/>
                  </a:lnTo>
                  <a:lnTo>
                    <a:pt x="129167" y="1686613"/>
                  </a:lnTo>
                  <a:lnTo>
                    <a:pt x="169796" y="1705903"/>
                  </a:lnTo>
                  <a:lnTo>
                    <a:pt x="213918" y="1718018"/>
                  </a:lnTo>
                  <a:lnTo>
                    <a:pt x="260798" y="1722219"/>
                  </a:lnTo>
                  <a:lnTo>
                    <a:pt x="2000912" y="1722219"/>
                  </a:lnTo>
                  <a:lnTo>
                    <a:pt x="2047792" y="1718018"/>
                  </a:lnTo>
                  <a:lnTo>
                    <a:pt x="2091914" y="1705903"/>
                  </a:lnTo>
                  <a:lnTo>
                    <a:pt x="2132543" y="1686613"/>
                  </a:lnTo>
                  <a:lnTo>
                    <a:pt x="2168943" y="1660884"/>
                  </a:lnTo>
                  <a:lnTo>
                    <a:pt x="2200375" y="1629451"/>
                  </a:lnTo>
                  <a:lnTo>
                    <a:pt x="2226105" y="1593052"/>
                  </a:lnTo>
                  <a:lnTo>
                    <a:pt x="2245395" y="1552423"/>
                  </a:lnTo>
                  <a:lnTo>
                    <a:pt x="2257509" y="1508300"/>
                  </a:lnTo>
                  <a:lnTo>
                    <a:pt x="2261711" y="1461421"/>
                  </a:lnTo>
                  <a:lnTo>
                    <a:pt x="2261711" y="260798"/>
                  </a:lnTo>
                  <a:lnTo>
                    <a:pt x="2257509" y="213918"/>
                  </a:lnTo>
                  <a:lnTo>
                    <a:pt x="2245395" y="169796"/>
                  </a:lnTo>
                  <a:lnTo>
                    <a:pt x="2226105" y="129167"/>
                  </a:lnTo>
                  <a:lnTo>
                    <a:pt x="2200375" y="92768"/>
                  </a:lnTo>
                  <a:lnTo>
                    <a:pt x="2168943" y="61335"/>
                  </a:lnTo>
                  <a:lnTo>
                    <a:pt x="2132543" y="35606"/>
                  </a:lnTo>
                  <a:lnTo>
                    <a:pt x="2091914" y="16315"/>
                  </a:lnTo>
                  <a:lnTo>
                    <a:pt x="2047792" y="4201"/>
                  </a:lnTo>
                  <a:lnTo>
                    <a:pt x="2000912" y="0"/>
                  </a:lnTo>
                  <a:close/>
                </a:path>
              </a:pathLst>
            </a:custGeom>
            <a:solidFill>
              <a:srgbClr val="0050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6">
              <a:extLst>
                <a:ext uri="{FF2B5EF4-FFF2-40B4-BE49-F238E27FC236}">
                  <a16:creationId xmlns:a16="http://schemas.microsoft.com/office/drawing/2014/main" id="{176BF59E-B47E-5094-35B0-7C3DE0A5B787}"/>
                </a:ext>
              </a:extLst>
            </p:cNvPr>
            <p:cNvSpPr/>
            <p:nvPr/>
          </p:nvSpPr>
          <p:spPr>
            <a:xfrm>
              <a:off x="1327934" y="1299004"/>
              <a:ext cx="2261870" cy="1722755"/>
            </a:xfrm>
            <a:custGeom>
              <a:avLst/>
              <a:gdLst/>
              <a:ahLst/>
              <a:cxnLst/>
              <a:rect l="l" t="t" r="r" b="b"/>
              <a:pathLst>
                <a:path w="2261870" h="1722755">
                  <a:moveTo>
                    <a:pt x="2000912" y="1722219"/>
                  </a:moveTo>
                  <a:lnTo>
                    <a:pt x="260798" y="1722219"/>
                  </a:lnTo>
                  <a:lnTo>
                    <a:pt x="213918" y="1718018"/>
                  </a:lnTo>
                  <a:lnTo>
                    <a:pt x="169796" y="1705903"/>
                  </a:lnTo>
                  <a:lnTo>
                    <a:pt x="129167" y="1686613"/>
                  </a:lnTo>
                  <a:lnTo>
                    <a:pt x="92768" y="1660884"/>
                  </a:lnTo>
                  <a:lnTo>
                    <a:pt x="61335" y="1629451"/>
                  </a:lnTo>
                  <a:lnTo>
                    <a:pt x="35606" y="1593052"/>
                  </a:lnTo>
                  <a:lnTo>
                    <a:pt x="16315" y="1552423"/>
                  </a:lnTo>
                  <a:lnTo>
                    <a:pt x="4201" y="1508300"/>
                  </a:lnTo>
                  <a:lnTo>
                    <a:pt x="0" y="1461421"/>
                  </a:lnTo>
                  <a:lnTo>
                    <a:pt x="0" y="260798"/>
                  </a:lnTo>
                  <a:lnTo>
                    <a:pt x="4201" y="213918"/>
                  </a:lnTo>
                  <a:lnTo>
                    <a:pt x="16315" y="169796"/>
                  </a:lnTo>
                  <a:lnTo>
                    <a:pt x="35606" y="129167"/>
                  </a:lnTo>
                  <a:lnTo>
                    <a:pt x="61335" y="92768"/>
                  </a:lnTo>
                  <a:lnTo>
                    <a:pt x="92768" y="61335"/>
                  </a:lnTo>
                  <a:lnTo>
                    <a:pt x="129167" y="35606"/>
                  </a:lnTo>
                  <a:lnTo>
                    <a:pt x="169796" y="16315"/>
                  </a:lnTo>
                  <a:lnTo>
                    <a:pt x="213918" y="4201"/>
                  </a:lnTo>
                  <a:lnTo>
                    <a:pt x="260798" y="0"/>
                  </a:lnTo>
                  <a:lnTo>
                    <a:pt x="2000912" y="0"/>
                  </a:lnTo>
                  <a:lnTo>
                    <a:pt x="2047792" y="4201"/>
                  </a:lnTo>
                  <a:lnTo>
                    <a:pt x="2091914" y="16315"/>
                  </a:lnTo>
                  <a:lnTo>
                    <a:pt x="2132543" y="35606"/>
                  </a:lnTo>
                  <a:lnTo>
                    <a:pt x="2168943" y="61335"/>
                  </a:lnTo>
                  <a:lnTo>
                    <a:pt x="2200375" y="92768"/>
                  </a:lnTo>
                  <a:lnTo>
                    <a:pt x="2226105" y="129167"/>
                  </a:lnTo>
                  <a:lnTo>
                    <a:pt x="2245395" y="169796"/>
                  </a:lnTo>
                  <a:lnTo>
                    <a:pt x="2257509" y="213918"/>
                  </a:lnTo>
                  <a:lnTo>
                    <a:pt x="2261711" y="260798"/>
                  </a:lnTo>
                  <a:lnTo>
                    <a:pt x="2261711" y="1461421"/>
                  </a:lnTo>
                  <a:lnTo>
                    <a:pt x="2257509" y="1508300"/>
                  </a:lnTo>
                  <a:lnTo>
                    <a:pt x="2245395" y="1552423"/>
                  </a:lnTo>
                  <a:lnTo>
                    <a:pt x="2226105" y="1593052"/>
                  </a:lnTo>
                  <a:lnTo>
                    <a:pt x="2200375" y="1629451"/>
                  </a:lnTo>
                  <a:lnTo>
                    <a:pt x="2168943" y="1660884"/>
                  </a:lnTo>
                  <a:lnTo>
                    <a:pt x="2132543" y="1686613"/>
                  </a:lnTo>
                  <a:lnTo>
                    <a:pt x="2091914" y="1705903"/>
                  </a:lnTo>
                  <a:lnTo>
                    <a:pt x="2047792" y="1718018"/>
                  </a:lnTo>
                  <a:lnTo>
                    <a:pt x="2000912" y="1722219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7">
            <a:extLst>
              <a:ext uri="{FF2B5EF4-FFF2-40B4-BE49-F238E27FC236}">
                <a16:creationId xmlns:a16="http://schemas.microsoft.com/office/drawing/2014/main" id="{8E999958-EDE0-E5DF-CD3E-2565B35FC627}"/>
              </a:ext>
            </a:extLst>
          </p:cNvPr>
          <p:cNvSpPr txBox="1"/>
          <p:nvPr/>
        </p:nvSpPr>
        <p:spPr>
          <a:xfrm>
            <a:off x="1446136" y="1425323"/>
            <a:ext cx="2025650" cy="1436932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065" marR="5080" algn="ctr">
              <a:lnSpc>
                <a:spcPts val="2660"/>
              </a:lnSpc>
              <a:spcBef>
                <a:spcPts val="405"/>
              </a:spcBef>
            </a:pPr>
            <a:r>
              <a:rPr sz="2400" b="1" spc="140" dirty="0">
                <a:solidFill>
                  <a:srgbClr val="FFFFFF"/>
                </a:solidFill>
                <a:latin typeface="Trebuchet MS"/>
                <a:cs typeface="Trebuchet MS"/>
              </a:rPr>
              <a:t>SERVIÇO </a:t>
            </a:r>
            <a:r>
              <a:rPr sz="2400" b="1" spc="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spc="204" dirty="0">
                <a:solidFill>
                  <a:srgbClr val="FFFFFF"/>
                </a:solidFill>
                <a:latin typeface="Trebuchet MS"/>
                <a:cs typeface="Trebuchet MS"/>
              </a:rPr>
              <a:t>MU</a:t>
            </a:r>
            <a:r>
              <a:rPr sz="2400" b="1" spc="-204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2400" b="1" spc="100" dirty="0">
                <a:solidFill>
                  <a:srgbClr val="FFFFFF"/>
                </a:solidFill>
                <a:latin typeface="Trebuchet MS"/>
                <a:cs typeface="Trebuchet MS"/>
              </a:rPr>
              <a:t>TIMODAL  </a:t>
            </a:r>
            <a:r>
              <a:rPr sz="2400" b="1" spc="150" dirty="0">
                <a:solidFill>
                  <a:srgbClr val="FFFFFF"/>
                </a:solidFill>
                <a:latin typeface="Trebuchet MS"/>
                <a:cs typeface="Trebuchet MS"/>
              </a:rPr>
              <a:t>PARA </a:t>
            </a:r>
            <a:r>
              <a:rPr sz="2400" b="1" spc="105" dirty="0">
                <a:solidFill>
                  <a:srgbClr val="FFFFFF"/>
                </a:solidFill>
                <a:latin typeface="Trebuchet MS"/>
                <a:cs typeface="Trebuchet MS"/>
              </a:rPr>
              <a:t>O </a:t>
            </a:r>
            <a:r>
              <a:rPr sz="2400" b="1" spc="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spc="130" dirty="0">
                <a:solidFill>
                  <a:srgbClr val="FFFFFF"/>
                </a:solidFill>
                <a:latin typeface="Trebuchet MS"/>
                <a:cs typeface="Trebuchet MS"/>
              </a:rPr>
              <a:t>PARAGUAI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95" name="Freeform 11">
            <a:extLst>
              <a:ext uri="{FF2B5EF4-FFF2-40B4-BE49-F238E27FC236}">
                <a16:creationId xmlns:a16="http://schemas.microsoft.com/office/drawing/2014/main" id="{7AF8856B-B4F2-88D9-FD02-335E3FAC78A1}"/>
              </a:ext>
            </a:extLst>
          </p:cNvPr>
          <p:cNvSpPr/>
          <p:nvPr/>
        </p:nvSpPr>
        <p:spPr>
          <a:xfrm rot="10800000">
            <a:off x="-394826" y="10218770"/>
            <a:ext cx="37365652" cy="11879283"/>
          </a:xfrm>
          <a:prstGeom prst="roundRect">
            <a:avLst/>
          </a:prstGeom>
          <a:solidFill>
            <a:srgbClr val="07103B"/>
          </a:solidFill>
        </p:spPr>
        <p:txBody>
          <a:bodyPr/>
          <a:lstStyle/>
          <a:p>
            <a:endParaRPr lang="pt-BR" sz="1600" dirty="0">
              <a:latin typeface="Maven Pro" panose="020B0604020202020204" charset="0"/>
            </a:endParaRPr>
          </a:p>
        </p:txBody>
      </p:sp>
      <p:grpSp>
        <p:nvGrpSpPr>
          <p:cNvPr id="20" name="object 35">
            <a:extLst>
              <a:ext uri="{FF2B5EF4-FFF2-40B4-BE49-F238E27FC236}">
                <a16:creationId xmlns:a16="http://schemas.microsoft.com/office/drawing/2014/main" id="{613CEA78-906A-F0F1-4542-9D4EC5F9446F}"/>
              </a:ext>
            </a:extLst>
          </p:cNvPr>
          <p:cNvGrpSpPr/>
          <p:nvPr/>
        </p:nvGrpSpPr>
        <p:grpSpPr>
          <a:xfrm>
            <a:off x="-1" y="0"/>
            <a:ext cx="20937231" cy="14562667"/>
            <a:chOff x="0" y="0"/>
            <a:chExt cx="11434205" cy="7040086"/>
          </a:xfrm>
        </p:grpSpPr>
        <p:pic>
          <p:nvPicPr>
            <p:cNvPr id="21" name="object 36">
              <a:extLst>
                <a:ext uri="{FF2B5EF4-FFF2-40B4-BE49-F238E27FC236}">
                  <a16:creationId xmlns:a16="http://schemas.microsoft.com/office/drawing/2014/main" id="{D876E35A-3707-921D-A8A8-C04E498DB6F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2010409" cy="6632960"/>
            </a:xfrm>
            <a:prstGeom prst="rect">
              <a:avLst/>
            </a:prstGeom>
          </p:spPr>
        </p:pic>
        <p:sp>
          <p:nvSpPr>
            <p:cNvPr id="22" name="object 37">
              <a:extLst>
                <a:ext uri="{FF2B5EF4-FFF2-40B4-BE49-F238E27FC236}">
                  <a16:creationId xmlns:a16="http://schemas.microsoft.com/office/drawing/2014/main" id="{7039977F-6D48-4780-1415-4A23E9165A17}"/>
                </a:ext>
              </a:extLst>
            </p:cNvPr>
            <p:cNvSpPr/>
            <p:nvPr/>
          </p:nvSpPr>
          <p:spPr>
            <a:xfrm>
              <a:off x="0" y="1253093"/>
              <a:ext cx="1741805" cy="5295900"/>
            </a:xfrm>
            <a:custGeom>
              <a:avLst/>
              <a:gdLst/>
              <a:ahLst/>
              <a:cxnLst/>
              <a:rect l="l" t="t" r="r" b="b"/>
              <a:pathLst>
                <a:path w="1741805" h="5295900">
                  <a:moveTo>
                    <a:pt x="0" y="177800"/>
                  </a:moveTo>
                  <a:lnTo>
                    <a:pt x="0" y="5295900"/>
                  </a:lnTo>
                  <a:lnTo>
                    <a:pt x="9454" y="5295900"/>
                  </a:lnTo>
                  <a:lnTo>
                    <a:pt x="21436" y="5283200"/>
                  </a:lnTo>
                  <a:lnTo>
                    <a:pt x="34194" y="5283200"/>
                  </a:lnTo>
                  <a:lnTo>
                    <a:pt x="47725" y="5270500"/>
                  </a:lnTo>
                  <a:lnTo>
                    <a:pt x="65345" y="5270500"/>
                  </a:lnTo>
                  <a:lnTo>
                    <a:pt x="73355" y="5257800"/>
                  </a:lnTo>
                  <a:lnTo>
                    <a:pt x="80687" y="5257800"/>
                  </a:lnTo>
                  <a:lnTo>
                    <a:pt x="86394" y="5245100"/>
                  </a:lnTo>
                  <a:lnTo>
                    <a:pt x="90663" y="5232400"/>
                  </a:lnTo>
                  <a:lnTo>
                    <a:pt x="95094" y="5232400"/>
                  </a:lnTo>
                  <a:lnTo>
                    <a:pt x="101283" y="5219700"/>
                  </a:lnTo>
                  <a:lnTo>
                    <a:pt x="116146" y="5207000"/>
                  </a:lnTo>
                  <a:lnTo>
                    <a:pt x="148392" y="5207000"/>
                  </a:lnTo>
                  <a:lnTo>
                    <a:pt x="167219" y="5194300"/>
                  </a:lnTo>
                  <a:lnTo>
                    <a:pt x="400596" y="5194300"/>
                  </a:lnTo>
                  <a:lnTo>
                    <a:pt x="401588" y="5168900"/>
                  </a:lnTo>
                  <a:lnTo>
                    <a:pt x="400806" y="5156200"/>
                  </a:lnTo>
                  <a:lnTo>
                    <a:pt x="402154" y="5130800"/>
                  </a:lnTo>
                  <a:lnTo>
                    <a:pt x="406111" y="5118100"/>
                  </a:lnTo>
                  <a:lnTo>
                    <a:pt x="411901" y="5092700"/>
                  </a:lnTo>
                  <a:lnTo>
                    <a:pt x="420037" y="5080000"/>
                  </a:lnTo>
                  <a:lnTo>
                    <a:pt x="431032" y="5067300"/>
                  </a:lnTo>
                  <a:lnTo>
                    <a:pt x="461666" y="5029200"/>
                  </a:lnTo>
                  <a:lnTo>
                    <a:pt x="495388" y="5003800"/>
                  </a:lnTo>
                  <a:lnTo>
                    <a:pt x="532999" y="4991100"/>
                  </a:lnTo>
                  <a:lnTo>
                    <a:pt x="575300" y="4978400"/>
                  </a:lnTo>
                  <a:lnTo>
                    <a:pt x="592597" y="4965700"/>
                  </a:lnTo>
                  <a:lnTo>
                    <a:pt x="606557" y="4953000"/>
                  </a:lnTo>
                  <a:lnTo>
                    <a:pt x="620339" y="4940300"/>
                  </a:lnTo>
                  <a:lnTo>
                    <a:pt x="637099" y="4927600"/>
                  </a:lnTo>
                  <a:lnTo>
                    <a:pt x="663720" y="4927600"/>
                  </a:lnTo>
                  <a:lnTo>
                    <a:pt x="675744" y="4914900"/>
                  </a:lnTo>
                  <a:lnTo>
                    <a:pt x="686564" y="4914900"/>
                  </a:lnTo>
                  <a:lnTo>
                    <a:pt x="703094" y="4876800"/>
                  </a:lnTo>
                  <a:lnTo>
                    <a:pt x="705298" y="4851400"/>
                  </a:lnTo>
                  <a:lnTo>
                    <a:pt x="705351" y="4813300"/>
                  </a:lnTo>
                  <a:lnTo>
                    <a:pt x="715432" y="4775200"/>
                  </a:lnTo>
                  <a:lnTo>
                    <a:pt x="723783" y="4762500"/>
                  </a:lnTo>
                  <a:lnTo>
                    <a:pt x="734340" y="4762500"/>
                  </a:lnTo>
                  <a:lnTo>
                    <a:pt x="746778" y="4749800"/>
                  </a:lnTo>
                  <a:lnTo>
                    <a:pt x="760771" y="4749800"/>
                  </a:lnTo>
                  <a:lnTo>
                    <a:pt x="803453" y="4737100"/>
                  </a:lnTo>
                  <a:lnTo>
                    <a:pt x="928776" y="4737100"/>
                  </a:lnTo>
                  <a:lnTo>
                    <a:pt x="934121" y="4724400"/>
                  </a:lnTo>
                  <a:lnTo>
                    <a:pt x="937959" y="4711700"/>
                  </a:lnTo>
                  <a:lnTo>
                    <a:pt x="942085" y="4699000"/>
                  </a:lnTo>
                  <a:lnTo>
                    <a:pt x="945892" y="4660900"/>
                  </a:lnTo>
                  <a:lnTo>
                    <a:pt x="946242" y="4648200"/>
                  </a:lnTo>
                  <a:lnTo>
                    <a:pt x="945426" y="4622800"/>
                  </a:lnTo>
                  <a:lnTo>
                    <a:pt x="943035" y="4597400"/>
                  </a:lnTo>
                  <a:lnTo>
                    <a:pt x="939156" y="4584700"/>
                  </a:lnTo>
                  <a:lnTo>
                    <a:pt x="933876" y="4559300"/>
                  </a:lnTo>
                  <a:lnTo>
                    <a:pt x="931605" y="4559300"/>
                  </a:lnTo>
                  <a:lnTo>
                    <a:pt x="928885" y="4546600"/>
                  </a:lnTo>
                  <a:lnTo>
                    <a:pt x="926603" y="4546600"/>
                  </a:lnTo>
                  <a:lnTo>
                    <a:pt x="943594" y="4508500"/>
                  </a:lnTo>
                  <a:lnTo>
                    <a:pt x="979204" y="4483100"/>
                  </a:lnTo>
                  <a:lnTo>
                    <a:pt x="987115" y="4470400"/>
                  </a:lnTo>
                  <a:lnTo>
                    <a:pt x="994107" y="4470400"/>
                  </a:lnTo>
                  <a:lnTo>
                    <a:pt x="1000867" y="4457700"/>
                  </a:lnTo>
                  <a:lnTo>
                    <a:pt x="1008083" y="4445000"/>
                  </a:lnTo>
                  <a:lnTo>
                    <a:pt x="1031437" y="4419600"/>
                  </a:lnTo>
                  <a:lnTo>
                    <a:pt x="1047647" y="4394200"/>
                  </a:lnTo>
                  <a:lnTo>
                    <a:pt x="1059522" y="4368800"/>
                  </a:lnTo>
                  <a:lnTo>
                    <a:pt x="1069872" y="4330700"/>
                  </a:lnTo>
                  <a:lnTo>
                    <a:pt x="1074336" y="4318000"/>
                  </a:lnTo>
                  <a:lnTo>
                    <a:pt x="1079014" y="4305300"/>
                  </a:lnTo>
                  <a:lnTo>
                    <a:pt x="1083246" y="4292600"/>
                  </a:lnTo>
                  <a:lnTo>
                    <a:pt x="1086374" y="4279900"/>
                  </a:lnTo>
                  <a:lnTo>
                    <a:pt x="1087656" y="4267200"/>
                  </a:lnTo>
                  <a:lnTo>
                    <a:pt x="1087107" y="4254500"/>
                  </a:lnTo>
                  <a:lnTo>
                    <a:pt x="1087225" y="4241800"/>
                  </a:lnTo>
                  <a:lnTo>
                    <a:pt x="1090510" y="4216400"/>
                  </a:lnTo>
                  <a:lnTo>
                    <a:pt x="1107575" y="4191000"/>
                  </a:lnTo>
                  <a:lnTo>
                    <a:pt x="1129489" y="4165600"/>
                  </a:lnTo>
                  <a:lnTo>
                    <a:pt x="1148397" y="4127500"/>
                  </a:lnTo>
                  <a:lnTo>
                    <a:pt x="1156445" y="4102100"/>
                  </a:lnTo>
                  <a:lnTo>
                    <a:pt x="1154357" y="4089400"/>
                  </a:lnTo>
                  <a:lnTo>
                    <a:pt x="1149549" y="4076700"/>
                  </a:lnTo>
                  <a:lnTo>
                    <a:pt x="1144204" y="4064000"/>
                  </a:lnTo>
                  <a:lnTo>
                    <a:pt x="1140508" y="4051300"/>
                  </a:lnTo>
                  <a:lnTo>
                    <a:pt x="1139985" y="4051300"/>
                  </a:lnTo>
                  <a:lnTo>
                    <a:pt x="1143791" y="4038600"/>
                  </a:lnTo>
                  <a:lnTo>
                    <a:pt x="1152881" y="4038600"/>
                  </a:lnTo>
                  <a:lnTo>
                    <a:pt x="1163764" y="4025900"/>
                  </a:lnTo>
                  <a:lnTo>
                    <a:pt x="1172947" y="4025900"/>
                  </a:lnTo>
                  <a:lnTo>
                    <a:pt x="1182572" y="4013200"/>
                  </a:lnTo>
                  <a:lnTo>
                    <a:pt x="1188944" y="4000500"/>
                  </a:lnTo>
                  <a:lnTo>
                    <a:pt x="1192469" y="3975100"/>
                  </a:lnTo>
                  <a:lnTo>
                    <a:pt x="1193554" y="3962400"/>
                  </a:lnTo>
                  <a:lnTo>
                    <a:pt x="1191366" y="3937000"/>
                  </a:lnTo>
                  <a:lnTo>
                    <a:pt x="1177713" y="3886200"/>
                  </a:lnTo>
                  <a:lnTo>
                    <a:pt x="1163677" y="3848100"/>
                  </a:lnTo>
                  <a:lnTo>
                    <a:pt x="1149212" y="3835400"/>
                  </a:lnTo>
                  <a:lnTo>
                    <a:pt x="1144079" y="3822700"/>
                  </a:lnTo>
                  <a:lnTo>
                    <a:pt x="1140429" y="3797300"/>
                  </a:lnTo>
                  <a:lnTo>
                    <a:pt x="1140642" y="3784600"/>
                  </a:lnTo>
                  <a:lnTo>
                    <a:pt x="1141549" y="3759200"/>
                  </a:lnTo>
                  <a:lnTo>
                    <a:pt x="1139985" y="3746500"/>
                  </a:lnTo>
                  <a:lnTo>
                    <a:pt x="1136216" y="3721100"/>
                  </a:lnTo>
                  <a:lnTo>
                    <a:pt x="1131663" y="3708400"/>
                  </a:lnTo>
                  <a:lnTo>
                    <a:pt x="1127145" y="3695700"/>
                  </a:lnTo>
                  <a:lnTo>
                    <a:pt x="1123483" y="3670300"/>
                  </a:lnTo>
                  <a:lnTo>
                    <a:pt x="1117810" y="3657600"/>
                  </a:lnTo>
                  <a:lnTo>
                    <a:pt x="1109505" y="3644900"/>
                  </a:lnTo>
                  <a:lnTo>
                    <a:pt x="1102004" y="3632200"/>
                  </a:lnTo>
                  <a:lnTo>
                    <a:pt x="1098740" y="3606800"/>
                  </a:lnTo>
                  <a:lnTo>
                    <a:pt x="1101526" y="3606800"/>
                  </a:lnTo>
                  <a:lnTo>
                    <a:pt x="1108577" y="3594100"/>
                  </a:lnTo>
                  <a:lnTo>
                    <a:pt x="1127619" y="3594100"/>
                  </a:lnTo>
                  <a:lnTo>
                    <a:pt x="1150712" y="3581400"/>
                  </a:lnTo>
                  <a:lnTo>
                    <a:pt x="1222380" y="3581400"/>
                  </a:lnTo>
                  <a:lnTo>
                    <a:pt x="1222380" y="3492500"/>
                  </a:lnTo>
                  <a:lnTo>
                    <a:pt x="1219926" y="3441700"/>
                  </a:lnTo>
                  <a:lnTo>
                    <a:pt x="1213774" y="3390900"/>
                  </a:lnTo>
                  <a:lnTo>
                    <a:pt x="1205740" y="3340100"/>
                  </a:lnTo>
                  <a:lnTo>
                    <a:pt x="1197637" y="3289300"/>
                  </a:lnTo>
                  <a:lnTo>
                    <a:pt x="1186363" y="3251200"/>
                  </a:lnTo>
                  <a:lnTo>
                    <a:pt x="1169928" y="3213100"/>
                  </a:lnTo>
                  <a:lnTo>
                    <a:pt x="1162211" y="3187700"/>
                  </a:lnTo>
                  <a:lnTo>
                    <a:pt x="1177094" y="3162300"/>
                  </a:lnTo>
                  <a:lnTo>
                    <a:pt x="1220313" y="3136900"/>
                  </a:lnTo>
                  <a:lnTo>
                    <a:pt x="1235266" y="3111500"/>
                  </a:lnTo>
                  <a:lnTo>
                    <a:pt x="1236580" y="3086100"/>
                  </a:lnTo>
                  <a:lnTo>
                    <a:pt x="1238882" y="3048000"/>
                  </a:lnTo>
                  <a:lnTo>
                    <a:pt x="1243813" y="3035300"/>
                  </a:lnTo>
                  <a:lnTo>
                    <a:pt x="1246237" y="3009900"/>
                  </a:lnTo>
                  <a:lnTo>
                    <a:pt x="1247041" y="2984500"/>
                  </a:lnTo>
                  <a:lnTo>
                    <a:pt x="1247078" y="2959100"/>
                  </a:lnTo>
                  <a:lnTo>
                    <a:pt x="1246950" y="2946400"/>
                  </a:lnTo>
                  <a:lnTo>
                    <a:pt x="1246688" y="2933700"/>
                  </a:lnTo>
                  <a:lnTo>
                    <a:pt x="1246254" y="2933700"/>
                  </a:lnTo>
                  <a:lnTo>
                    <a:pt x="1244951" y="2921000"/>
                  </a:lnTo>
                  <a:lnTo>
                    <a:pt x="1242751" y="2908300"/>
                  </a:lnTo>
                  <a:lnTo>
                    <a:pt x="1239436" y="2895600"/>
                  </a:lnTo>
                  <a:lnTo>
                    <a:pt x="1234788" y="2882900"/>
                  </a:lnTo>
                  <a:lnTo>
                    <a:pt x="1223788" y="2857500"/>
                  </a:lnTo>
                  <a:lnTo>
                    <a:pt x="1218921" y="2857500"/>
                  </a:lnTo>
                  <a:lnTo>
                    <a:pt x="1214140" y="2832100"/>
                  </a:lnTo>
                  <a:lnTo>
                    <a:pt x="1208995" y="2819400"/>
                  </a:lnTo>
                  <a:lnTo>
                    <a:pt x="1203607" y="2806700"/>
                  </a:lnTo>
                  <a:lnTo>
                    <a:pt x="1199360" y="2794000"/>
                  </a:lnTo>
                  <a:lnTo>
                    <a:pt x="1200910" y="2755900"/>
                  </a:lnTo>
                  <a:lnTo>
                    <a:pt x="1219835" y="2705100"/>
                  </a:lnTo>
                  <a:lnTo>
                    <a:pt x="1230652" y="2679700"/>
                  </a:lnTo>
                  <a:lnTo>
                    <a:pt x="1243300" y="2641600"/>
                  </a:lnTo>
                  <a:lnTo>
                    <a:pt x="1253082" y="2616200"/>
                  </a:lnTo>
                  <a:lnTo>
                    <a:pt x="1264005" y="2578100"/>
                  </a:lnTo>
                  <a:lnTo>
                    <a:pt x="1280075" y="2540000"/>
                  </a:lnTo>
                  <a:lnTo>
                    <a:pt x="1291627" y="2514600"/>
                  </a:lnTo>
                  <a:lnTo>
                    <a:pt x="1305518" y="2501900"/>
                  </a:lnTo>
                  <a:lnTo>
                    <a:pt x="1321111" y="2501900"/>
                  </a:lnTo>
                  <a:lnTo>
                    <a:pt x="1337769" y="2489200"/>
                  </a:lnTo>
                  <a:lnTo>
                    <a:pt x="1352548" y="2463800"/>
                  </a:lnTo>
                  <a:lnTo>
                    <a:pt x="1363944" y="2451100"/>
                  </a:lnTo>
                  <a:lnTo>
                    <a:pt x="1373600" y="2438400"/>
                  </a:lnTo>
                  <a:lnTo>
                    <a:pt x="1401705" y="2387600"/>
                  </a:lnTo>
                  <a:lnTo>
                    <a:pt x="1423393" y="2336800"/>
                  </a:lnTo>
                  <a:lnTo>
                    <a:pt x="1444052" y="2286000"/>
                  </a:lnTo>
                  <a:lnTo>
                    <a:pt x="1459508" y="2235200"/>
                  </a:lnTo>
                  <a:lnTo>
                    <a:pt x="1465587" y="2184400"/>
                  </a:lnTo>
                  <a:lnTo>
                    <a:pt x="1461723" y="2146300"/>
                  </a:lnTo>
                  <a:lnTo>
                    <a:pt x="1444720" y="2070100"/>
                  </a:lnTo>
                  <a:lnTo>
                    <a:pt x="1440855" y="2019300"/>
                  </a:lnTo>
                  <a:lnTo>
                    <a:pt x="1443445" y="1981200"/>
                  </a:lnTo>
                  <a:lnTo>
                    <a:pt x="1450709" y="1930400"/>
                  </a:lnTo>
                  <a:lnTo>
                    <a:pt x="1461889" y="1879600"/>
                  </a:lnTo>
                  <a:lnTo>
                    <a:pt x="1476227" y="1841500"/>
                  </a:lnTo>
                  <a:lnTo>
                    <a:pt x="1492964" y="1790700"/>
                  </a:lnTo>
                  <a:lnTo>
                    <a:pt x="1511341" y="1739900"/>
                  </a:lnTo>
                  <a:lnTo>
                    <a:pt x="1530601" y="1689100"/>
                  </a:lnTo>
                  <a:lnTo>
                    <a:pt x="1549986" y="1638300"/>
                  </a:lnTo>
                  <a:lnTo>
                    <a:pt x="1568736" y="1600200"/>
                  </a:lnTo>
                  <a:lnTo>
                    <a:pt x="1586094" y="1549400"/>
                  </a:lnTo>
                  <a:lnTo>
                    <a:pt x="1601300" y="1498600"/>
                  </a:lnTo>
                  <a:lnTo>
                    <a:pt x="1606172" y="1485900"/>
                  </a:lnTo>
                  <a:lnTo>
                    <a:pt x="1610625" y="1460500"/>
                  </a:lnTo>
                  <a:lnTo>
                    <a:pt x="1621555" y="1409700"/>
                  </a:lnTo>
                  <a:lnTo>
                    <a:pt x="1623479" y="1358900"/>
                  </a:lnTo>
                  <a:lnTo>
                    <a:pt x="1626326" y="1333500"/>
                  </a:lnTo>
                  <a:lnTo>
                    <a:pt x="1632195" y="1308100"/>
                  </a:lnTo>
                  <a:lnTo>
                    <a:pt x="1638980" y="1282700"/>
                  </a:lnTo>
                  <a:lnTo>
                    <a:pt x="1644587" y="1257300"/>
                  </a:lnTo>
                  <a:lnTo>
                    <a:pt x="1646922" y="1231900"/>
                  </a:lnTo>
                  <a:lnTo>
                    <a:pt x="1646633" y="1206500"/>
                  </a:lnTo>
                  <a:lnTo>
                    <a:pt x="1645465" y="1193800"/>
                  </a:lnTo>
                  <a:lnTo>
                    <a:pt x="1642969" y="1168400"/>
                  </a:lnTo>
                  <a:lnTo>
                    <a:pt x="1638692" y="1155700"/>
                  </a:lnTo>
                  <a:lnTo>
                    <a:pt x="1634971" y="1143000"/>
                  </a:lnTo>
                  <a:lnTo>
                    <a:pt x="1630919" y="1130300"/>
                  </a:lnTo>
                  <a:lnTo>
                    <a:pt x="1627662" y="1117600"/>
                  </a:lnTo>
                  <a:lnTo>
                    <a:pt x="1626326" y="1104900"/>
                  </a:lnTo>
                  <a:lnTo>
                    <a:pt x="1632307" y="1066800"/>
                  </a:lnTo>
                  <a:lnTo>
                    <a:pt x="1647774" y="1041400"/>
                  </a:lnTo>
                  <a:lnTo>
                    <a:pt x="1669011" y="1016000"/>
                  </a:lnTo>
                  <a:lnTo>
                    <a:pt x="1692303" y="990600"/>
                  </a:lnTo>
                  <a:lnTo>
                    <a:pt x="1713551" y="952500"/>
                  </a:lnTo>
                  <a:lnTo>
                    <a:pt x="1729037" y="927100"/>
                  </a:lnTo>
                  <a:lnTo>
                    <a:pt x="1738512" y="889000"/>
                  </a:lnTo>
                  <a:lnTo>
                    <a:pt x="1741726" y="850900"/>
                  </a:lnTo>
                  <a:lnTo>
                    <a:pt x="1738723" y="838200"/>
                  </a:lnTo>
                  <a:lnTo>
                    <a:pt x="1731656" y="825500"/>
                  </a:lnTo>
                  <a:lnTo>
                    <a:pt x="1723442" y="800100"/>
                  </a:lnTo>
                  <a:lnTo>
                    <a:pt x="1716993" y="787400"/>
                  </a:lnTo>
                  <a:lnTo>
                    <a:pt x="1713564" y="762000"/>
                  </a:lnTo>
                  <a:lnTo>
                    <a:pt x="1711249" y="736600"/>
                  </a:lnTo>
                  <a:lnTo>
                    <a:pt x="1705633" y="723900"/>
                  </a:lnTo>
                  <a:lnTo>
                    <a:pt x="1654657" y="673100"/>
                  </a:lnTo>
                  <a:lnTo>
                    <a:pt x="1630755" y="609600"/>
                  </a:lnTo>
                  <a:lnTo>
                    <a:pt x="1630410" y="546100"/>
                  </a:lnTo>
                  <a:lnTo>
                    <a:pt x="1636851" y="520700"/>
                  </a:lnTo>
                  <a:lnTo>
                    <a:pt x="1652401" y="495300"/>
                  </a:lnTo>
                  <a:lnTo>
                    <a:pt x="1671394" y="482600"/>
                  </a:lnTo>
                  <a:lnTo>
                    <a:pt x="1688167" y="457200"/>
                  </a:lnTo>
                  <a:lnTo>
                    <a:pt x="1699602" y="431800"/>
                  </a:lnTo>
                  <a:lnTo>
                    <a:pt x="1709153" y="419100"/>
                  </a:lnTo>
                  <a:lnTo>
                    <a:pt x="1717687" y="406400"/>
                  </a:lnTo>
                  <a:lnTo>
                    <a:pt x="1726072" y="393700"/>
                  </a:lnTo>
                  <a:lnTo>
                    <a:pt x="1722686" y="381000"/>
                  </a:lnTo>
                  <a:lnTo>
                    <a:pt x="1715175" y="368300"/>
                  </a:lnTo>
                  <a:lnTo>
                    <a:pt x="1705691" y="368300"/>
                  </a:lnTo>
                  <a:lnTo>
                    <a:pt x="1696387" y="355600"/>
                  </a:lnTo>
                  <a:lnTo>
                    <a:pt x="1683886" y="355600"/>
                  </a:lnTo>
                  <a:lnTo>
                    <a:pt x="1672051" y="342900"/>
                  </a:lnTo>
                  <a:lnTo>
                    <a:pt x="1660018" y="330200"/>
                  </a:lnTo>
                  <a:lnTo>
                    <a:pt x="282660" y="330200"/>
                  </a:lnTo>
                  <a:lnTo>
                    <a:pt x="197852" y="279400"/>
                  </a:lnTo>
                  <a:lnTo>
                    <a:pt x="97189" y="279400"/>
                  </a:lnTo>
                  <a:lnTo>
                    <a:pt x="71915" y="266700"/>
                  </a:lnTo>
                  <a:lnTo>
                    <a:pt x="52619" y="241300"/>
                  </a:lnTo>
                  <a:lnTo>
                    <a:pt x="36021" y="228600"/>
                  </a:lnTo>
                  <a:lnTo>
                    <a:pt x="18846" y="203200"/>
                  </a:lnTo>
                  <a:lnTo>
                    <a:pt x="0" y="177800"/>
                  </a:lnTo>
                  <a:close/>
                </a:path>
                <a:path w="1741805" h="5295900">
                  <a:moveTo>
                    <a:pt x="400596" y="5194300"/>
                  </a:moveTo>
                  <a:lnTo>
                    <a:pt x="167219" y="5194300"/>
                  </a:lnTo>
                  <a:lnTo>
                    <a:pt x="185651" y="5207000"/>
                  </a:lnTo>
                  <a:lnTo>
                    <a:pt x="201004" y="5207000"/>
                  </a:lnTo>
                  <a:lnTo>
                    <a:pt x="215959" y="5219700"/>
                  </a:lnTo>
                  <a:lnTo>
                    <a:pt x="233196" y="5232400"/>
                  </a:lnTo>
                  <a:lnTo>
                    <a:pt x="256237" y="5232400"/>
                  </a:lnTo>
                  <a:lnTo>
                    <a:pt x="277401" y="5245100"/>
                  </a:lnTo>
                  <a:lnTo>
                    <a:pt x="365096" y="5245100"/>
                  </a:lnTo>
                  <a:lnTo>
                    <a:pt x="381542" y="5232400"/>
                  </a:lnTo>
                  <a:lnTo>
                    <a:pt x="393924" y="5207000"/>
                  </a:lnTo>
                  <a:lnTo>
                    <a:pt x="400596" y="5194300"/>
                  </a:lnTo>
                  <a:close/>
                </a:path>
                <a:path w="1741805" h="5295900">
                  <a:moveTo>
                    <a:pt x="928776" y="4737100"/>
                  </a:moveTo>
                  <a:lnTo>
                    <a:pt x="838466" y="4737100"/>
                  </a:lnTo>
                  <a:lnTo>
                    <a:pt x="871723" y="4749800"/>
                  </a:lnTo>
                  <a:lnTo>
                    <a:pt x="920817" y="4749800"/>
                  </a:lnTo>
                  <a:lnTo>
                    <a:pt x="928776" y="4737100"/>
                  </a:lnTo>
                  <a:close/>
                </a:path>
                <a:path w="1741805" h="5295900">
                  <a:moveTo>
                    <a:pt x="1210336" y="3581400"/>
                  </a:moveTo>
                  <a:lnTo>
                    <a:pt x="1150712" y="3581400"/>
                  </a:lnTo>
                  <a:lnTo>
                    <a:pt x="1182366" y="3594100"/>
                  </a:lnTo>
                  <a:lnTo>
                    <a:pt x="1210336" y="3581400"/>
                  </a:lnTo>
                  <a:close/>
                </a:path>
                <a:path w="1741805" h="5295900">
                  <a:moveTo>
                    <a:pt x="1550318" y="279400"/>
                  </a:moveTo>
                  <a:lnTo>
                    <a:pt x="348595" y="279400"/>
                  </a:lnTo>
                  <a:lnTo>
                    <a:pt x="330465" y="292100"/>
                  </a:lnTo>
                  <a:lnTo>
                    <a:pt x="314842" y="304800"/>
                  </a:lnTo>
                  <a:lnTo>
                    <a:pt x="299612" y="317500"/>
                  </a:lnTo>
                  <a:lnTo>
                    <a:pt x="282660" y="330200"/>
                  </a:lnTo>
                  <a:lnTo>
                    <a:pt x="1646922" y="330200"/>
                  </a:lnTo>
                  <a:lnTo>
                    <a:pt x="1626516" y="317500"/>
                  </a:lnTo>
                  <a:lnTo>
                    <a:pt x="1607255" y="304800"/>
                  </a:lnTo>
                  <a:lnTo>
                    <a:pt x="1587218" y="292100"/>
                  </a:lnTo>
                  <a:lnTo>
                    <a:pt x="1564485" y="292100"/>
                  </a:lnTo>
                  <a:lnTo>
                    <a:pt x="1550318" y="279400"/>
                  </a:lnTo>
                  <a:close/>
                </a:path>
                <a:path w="1741805" h="5295900">
                  <a:moveTo>
                    <a:pt x="134246" y="241300"/>
                  </a:moveTo>
                  <a:lnTo>
                    <a:pt x="122516" y="241300"/>
                  </a:lnTo>
                  <a:lnTo>
                    <a:pt x="113008" y="254000"/>
                  </a:lnTo>
                  <a:lnTo>
                    <a:pt x="104855" y="266700"/>
                  </a:lnTo>
                  <a:lnTo>
                    <a:pt x="97189" y="279400"/>
                  </a:lnTo>
                  <a:lnTo>
                    <a:pt x="197852" y="279400"/>
                  </a:lnTo>
                  <a:lnTo>
                    <a:pt x="134246" y="241300"/>
                  </a:lnTo>
                  <a:close/>
                </a:path>
                <a:path w="1741805" h="5295900">
                  <a:moveTo>
                    <a:pt x="490701" y="266700"/>
                  </a:moveTo>
                  <a:lnTo>
                    <a:pt x="398060" y="266700"/>
                  </a:lnTo>
                  <a:lnTo>
                    <a:pt x="385407" y="279400"/>
                  </a:lnTo>
                  <a:lnTo>
                    <a:pt x="500327" y="279400"/>
                  </a:lnTo>
                  <a:lnTo>
                    <a:pt x="490701" y="266700"/>
                  </a:lnTo>
                  <a:close/>
                </a:path>
                <a:path w="1741805" h="5295900">
                  <a:moveTo>
                    <a:pt x="1526975" y="266700"/>
                  </a:moveTo>
                  <a:lnTo>
                    <a:pt x="530967" y="266700"/>
                  </a:lnTo>
                  <a:lnTo>
                    <a:pt x="530967" y="279400"/>
                  </a:lnTo>
                  <a:lnTo>
                    <a:pt x="1537590" y="279400"/>
                  </a:lnTo>
                  <a:lnTo>
                    <a:pt x="1526975" y="266700"/>
                  </a:lnTo>
                  <a:close/>
                </a:path>
                <a:path w="1741805" h="5295900">
                  <a:moveTo>
                    <a:pt x="457024" y="241300"/>
                  </a:moveTo>
                  <a:lnTo>
                    <a:pt x="433422" y="241300"/>
                  </a:lnTo>
                  <a:lnTo>
                    <a:pt x="422012" y="254000"/>
                  </a:lnTo>
                  <a:lnTo>
                    <a:pt x="410994" y="266700"/>
                  </a:lnTo>
                  <a:lnTo>
                    <a:pt x="480497" y="266700"/>
                  </a:lnTo>
                  <a:lnTo>
                    <a:pt x="472156" y="254000"/>
                  </a:lnTo>
                  <a:lnTo>
                    <a:pt x="464781" y="254000"/>
                  </a:lnTo>
                  <a:lnTo>
                    <a:pt x="457024" y="241300"/>
                  </a:lnTo>
                  <a:close/>
                </a:path>
                <a:path w="1741805" h="5295900">
                  <a:moveTo>
                    <a:pt x="641744" y="228600"/>
                  </a:moveTo>
                  <a:lnTo>
                    <a:pt x="575289" y="228600"/>
                  </a:lnTo>
                  <a:lnTo>
                    <a:pt x="562676" y="241300"/>
                  </a:lnTo>
                  <a:lnTo>
                    <a:pt x="551216" y="254000"/>
                  </a:lnTo>
                  <a:lnTo>
                    <a:pt x="538202" y="266700"/>
                  </a:lnTo>
                  <a:lnTo>
                    <a:pt x="1519146" y="266700"/>
                  </a:lnTo>
                  <a:lnTo>
                    <a:pt x="1516286" y="241300"/>
                  </a:lnTo>
                  <a:lnTo>
                    <a:pt x="663898" y="241300"/>
                  </a:lnTo>
                  <a:lnTo>
                    <a:pt x="641744" y="228600"/>
                  </a:lnTo>
                  <a:close/>
                </a:path>
                <a:path w="1741805" h="5295900">
                  <a:moveTo>
                    <a:pt x="1082290" y="0"/>
                  </a:moveTo>
                  <a:lnTo>
                    <a:pt x="1058174" y="25400"/>
                  </a:lnTo>
                  <a:lnTo>
                    <a:pt x="1044726" y="38100"/>
                  </a:lnTo>
                  <a:lnTo>
                    <a:pt x="1028679" y="50800"/>
                  </a:lnTo>
                  <a:lnTo>
                    <a:pt x="1013800" y="63500"/>
                  </a:lnTo>
                  <a:lnTo>
                    <a:pt x="1000079" y="76200"/>
                  </a:lnTo>
                  <a:lnTo>
                    <a:pt x="985199" y="88900"/>
                  </a:lnTo>
                  <a:lnTo>
                    <a:pt x="966838" y="101600"/>
                  </a:lnTo>
                  <a:lnTo>
                    <a:pt x="867941" y="101600"/>
                  </a:lnTo>
                  <a:lnTo>
                    <a:pt x="854418" y="114300"/>
                  </a:lnTo>
                  <a:lnTo>
                    <a:pt x="831993" y="139700"/>
                  </a:lnTo>
                  <a:lnTo>
                    <a:pt x="801796" y="139700"/>
                  </a:lnTo>
                  <a:lnTo>
                    <a:pt x="786269" y="152400"/>
                  </a:lnTo>
                  <a:lnTo>
                    <a:pt x="719526" y="152400"/>
                  </a:lnTo>
                  <a:lnTo>
                    <a:pt x="709551" y="177800"/>
                  </a:lnTo>
                  <a:lnTo>
                    <a:pt x="707688" y="190500"/>
                  </a:lnTo>
                  <a:lnTo>
                    <a:pt x="709686" y="215900"/>
                  </a:lnTo>
                  <a:lnTo>
                    <a:pt x="711296" y="241300"/>
                  </a:lnTo>
                  <a:lnTo>
                    <a:pt x="1516214" y="241300"/>
                  </a:lnTo>
                  <a:lnTo>
                    <a:pt x="1515553" y="228600"/>
                  </a:lnTo>
                  <a:lnTo>
                    <a:pt x="1494912" y="190500"/>
                  </a:lnTo>
                  <a:lnTo>
                    <a:pt x="1455572" y="165100"/>
                  </a:lnTo>
                  <a:lnTo>
                    <a:pt x="1432625" y="152400"/>
                  </a:lnTo>
                  <a:lnTo>
                    <a:pt x="1389914" y="127000"/>
                  </a:lnTo>
                  <a:lnTo>
                    <a:pt x="1352901" y="88900"/>
                  </a:lnTo>
                  <a:lnTo>
                    <a:pt x="1314532" y="63500"/>
                  </a:lnTo>
                  <a:lnTo>
                    <a:pt x="1267750" y="50800"/>
                  </a:lnTo>
                  <a:lnTo>
                    <a:pt x="1218751" y="38100"/>
                  </a:lnTo>
                  <a:lnTo>
                    <a:pt x="1130082" y="12700"/>
                  </a:lnTo>
                  <a:lnTo>
                    <a:pt x="1082290" y="0"/>
                  </a:lnTo>
                  <a:close/>
                </a:path>
              </a:pathLst>
            </a:custGeom>
            <a:solidFill>
              <a:srgbClr val="ACAC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38">
              <a:extLst>
                <a:ext uri="{FF2B5EF4-FFF2-40B4-BE49-F238E27FC236}">
                  <a16:creationId xmlns:a16="http://schemas.microsoft.com/office/drawing/2014/main" id="{16BE2D3E-28C6-A016-AE03-E31B5EFFBFD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2961" y="45548"/>
              <a:ext cx="10701244" cy="6994538"/>
            </a:xfrm>
            <a:prstGeom prst="rect">
              <a:avLst/>
            </a:prstGeom>
          </p:spPr>
        </p:pic>
        <p:pic>
          <p:nvPicPr>
            <p:cNvPr id="24" name="object 39">
              <a:extLst>
                <a:ext uri="{FF2B5EF4-FFF2-40B4-BE49-F238E27FC236}">
                  <a16:creationId xmlns:a16="http://schemas.microsoft.com/office/drawing/2014/main" id="{4ACDB9BF-F549-E78F-9D51-8139EAF866C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7874" y="229010"/>
              <a:ext cx="10252755" cy="6543067"/>
            </a:xfrm>
            <a:prstGeom prst="rect">
              <a:avLst/>
            </a:prstGeom>
          </p:spPr>
        </p:pic>
        <p:sp>
          <p:nvSpPr>
            <p:cNvPr id="25" name="object 40">
              <a:extLst>
                <a:ext uri="{FF2B5EF4-FFF2-40B4-BE49-F238E27FC236}">
                  <a16:creationId xmlns:a16="http://schemas.microsoft.com/office/drawing/2014/main" id="{706D84B7-6037-A6B3-06A9-25455B44DB5E}"/>
                </a:ext>
              </a:extLst>
            </p:cNvPr>
            <p:cNvSpPr/>
            <p:nvPr/>
          </p:nvSpPr>
          <p:spPr>
            <a:xfrm>
              <a:off x="3865700" y="4329602"/>
              <a:ext cx="1927225" cy="140970"/>
            </a:xfrm>
            <a:custGeom>
              <a:avLst/>
              <a:gdLst/>
              <a:ahLst/>
              <a:cxnLst/>
              <a:rect l="l" t="t" r="r" b="b"/>
              <a:pathLst>
                <a:path w="1927225" h="140970">
                  <a:moveTo>
                    <a:pt x="0" y="105389"/>
                  </a:moveTo>
                  <a:lnTo>
                    <a:pt x="1679100" y="140833"/>
                  </a:lnTo>
                  <a:lnTo>
                    <a:pt x="1926820" y="0"/>
                  </a:lnTo>
                </a:path>
              </a:pathLst>
            </a:custGeom>
            <a:ln w="52008">
              <a:solidFill>
                <a:srgbClr val="2D3878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41">
              <a:extLst>
                <a:ext uri="{FF2B5EF4-FFF2-40B4-BE49-F238E27FC236}">
                  <a16:creationId xmlns:a16="http://schemas.microsoft.com/office/drawing/2014/main" id="{5C48812E-A2D1-CC9B-FA16-A2DC340A280D}"/>
                </a:ext>
              </a:extLst>
            </p:cNvPr>
            <p:cNvSpPr/>
            <p:nvPr/>
          </p:nvSpPr>
          <p:spPr>
            <a:xfrm>
              <a:off x="5836307" y="4278997"/>
              <a:ext cx="95250" cy="26034"/>
            </a:xfrm>
            <a:custGeom>
              <a:avLst/>
              <a:gdLst/>
              <a:ahLst/>
              <a:cxnLst/>
              <a:rect l="l" t="t" r="r" b="b"/>
              <a:pathLst>
                <a:path w="95250" h="26035">
                  <a:moveTo>
                    <a:pt x="0" y="25706"/>
                  </a:moveTo>
                  <a:lnTo>
                    <a:pt x="45202" y="0"/>
                  </a:lnTo>
                  <a:lnTo>
                    <a:pt x="94939" y="15203"/>
                  </a:lnTo>
                </a:path>
              </a:pathLst>
            </a:custGeom>
            <a:ln w="52008">
              <a:solidFill>
                <a:srgbClr val="2D3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42">
              <a:extLst>
                <a:ext uri="{FF2B5EF4-FFF2-40B4-BE49-F238E27FC236}">
                  <a16:creationId xmlns:a16="http://schemas.microsoft.com/office/drawing/2014/main" id="{09BE5129-831A-6FAC-A12A-C3946C8A175E}"/>
                </a:ext>
              </a:extLst>
            </p:cNvPr>
            <p:cNvSpPr/>
            <p:nvPr/>
          </p:nvSpPr>
          <p:spPr>
            <a:xfrm>
              <a:off x="6032022" y="4122682"/>
              <a:ext cx="1715135" cy="434975"/>
            </a:xfrm>
            <a:custGeom>
              <a:avLst/>
              <a:gdLst/>
              <a:ahLst/>
              <a:cxnLst/>
              <a:rect l="l" t="t" r="r" b="b"/>
              <a:pathLst>
                <a:path w="1715135" h="434975">
                  <a:moveTo>
                    <a:pt x="0" y="202297"/>
                  </a:moveTo>
                  <a:lnTo>
                    <a:pt x="761243" y="434855"/>
                  </a:lnTo>
                  <a:lnTo>
                    <a:pt x="1714701" y="0"/>
                  </a:lnTo>
                </a:path>
              </a:pathLst>
            </a:custGeom>
            <a:ln w="52008">
              <a:solidFill>
                <a:srgbClr val="2D3878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43">
              <a:extLst>
                <a:ext uri="{FF2B5EF4-FFF2-40B4-BE49-F238E27FC236}">
                  <a16:creationId xmlns:a16="http://schemas.microsoft.com/office/drawing/2014/main" id="{A2EE80BA-64CD-2DB0-7F28-F625E53A06EE}"/>
                </a:ext>
              </a:extLst>
            </p:cNvPr>
            <p:cNvSpPr/>
            <p:nvPr/>
          </p:nvSpPr>
          <p:spPr>
            <a:xfrm>
              <a:off x="7794659" y="4079245"/>
              <a:ext cx="47625" cy="21590"/>
            </a:xfrm>
            <a:custGeom>
              <a:avLst/>
              <a:gdLst/>
              <a:ahLst/>
              <a:cxnLst/>
              <a:rect l="l" t="t" r="r" b="b"/>
              <a:pathLst>
                <a:path w="47625" h="21589">
                  <a:moveTo>
                    <a:pt x="0" y="21580"/>
                  </a:moveTo>
                  <a:lnTo>
                    <a:pt x="47317" y="0"/>
                  </a:lnTo>
                </a:path>
              </a:pathLst>
            </a:custGeom>
            <a:ln w="52008">
              <a:solidFill>
                <a:srgbClr val="2D3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44">
              <a:extLst>
                <a:ext uri="{FF2B5EF4-FFF2-40B4-BE49-F238E27FC236}">
                  <a16:creationId xmlns:a16="http://schemas.microsoft.com/office/drawing/2014/main" id="{8860BD30-4C1C-2918-1181-109E130ECE54}"/>
                </a:ext>
              </a:extLst>
            </p:cNvPr>
            <p:cNvSpPr/>
            <p:nvPr/>
          </p:nvSpPr>
          <p:spPr>
            <a:xfrm>
              <a:off x="755323" y="3255038"/>
              <a:ext cx="1234440" cy="645795"/>
            </a:xfrm>
            <a:custGeom>
              <a:avLst/>
              <a:gdLst/>
              <a:ahLst/>
              <a:cxnLst/>
              <a:rect l="l" t="t" r="r" b="b"/>
              <a:pathLst>
                <a:path w="1234440" h="645795">
                  <a:moveTo>
                    <a:pt x="657363" y="0"/>
                  </a:moveTo>
                  <a:lnTo>
                    <a:pt x="613344" y="968"/>
                  </a:lnTo>
                  <a:lnTo>
                    <a:pt x="569676" y="7543"/>
                  </a:lnTo>
                  <a:lnTo>
                    <a:pt x="526944" y="19750"/>
                  </a:lnTo>
                  <a:lnTo>
                    <a:pt x="485731" y="37612"/>
                  </a:lnTo>
                  <a:lnTo>
                    <a:pt x="446621" y="61154"/>
                  </a:lnTo>
                  <a:lnTo>
                    <a:pt x="410196" y="90400"/>
                  </a:lnTo>
                  <a:lnTo>
                    <a:pt x="135702" y="343000"/>
                  </a:lnTo>
                  <a:lnTo>
                    <a:pt x="52710" y="252814"/>
                  </a:lnTo>
                  <a:lnTo>
                    <a:pt x="0" y="634823"/>
                  </a:lnTo>
                  <a:lnTo>
                    <a:pt x="385056" y="613965"/>
                  </a:lnTo>
                  <a:lnTo>
                    <a:pt x="291645" y="512471"/>
                  </a:lnTo>
                  <a:lnTo>
                    <a:pt x="566150" y="259861"/>
                  </a:lnTo>
                  <a:lnTo>
                    <a:pt x="604721" y="236520"/>
                  </a:lnTo>
                  <a:lnTo>
                    <a:pt x="647810" y="229996"/>
                  </a:lnTo>
                  <a:lnTo>
                    <a:pt x="690211" y="240072"/>
                  </a:lnTo>
                  <a:lnTo>
                    <a:pt x="726721" y="266531"/>
                  </a:lnTo>
                  <a:lnTo>
                    <a:pt x="946704" y="505591"/>
                  </a:lnTo>
                  <a:lnTo>
                    <a:pt x="851869" y="592866"/>
                  </a:lnTo>
                  <a:lnTo>
                    <a:pt x="1233878" y="645566"/>
                  </a:lnTo>
                  <a:lnTo>
                    <a:pt x="1213031" y="260510"/>
                  </a:lnTo>
                  <a:lnTo>
                    <a:pt x="1116175" y="349638"/>
                  </a:lnTo>
                  <a:lnTo>
                    <a:pt x="896182" y="110577"/>
                  </a:lnTo>
                  <a:lnTo>
                    <a:pt x="862308" y="78413"/>
                  </a:lnTo>
                  <a:lnTo>
                    <a:pt x="825285" y="51711"/>
                  </a:lnTo>
                  <a:lnTo>
                    <a:pt x="785695" y="30494"/>
                  </a:lnTo>
                  <a:lnTo>
                    <a:pt x="744122" y="14787"/>
                  </a:lnTo>
                  <a:lnTo>
                    <a:pt x="701150" y="4614"/>
                  </a:lnTo>
                  <a:lnTo>
                    <a:pt x="657363" y="0"/>
                  </a:lnTo>
                  <a:close/>
                </a:path>
              </a:pathLst>
            </a:custGeom>
            <a:solidFill>
              <a:srgbClr val="3CB4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45">
              <a:extLst>
                <a:ext uri="{FF2B5EF4-FFF2-40B4-BE49-F238E27FC236}">
                  <a16:creationId xmlns:a16="http://schemas.microsoft.com/office/drawing/2014/main" id="{5B0A2DF4-8648-972C-0F3D-9B8BB9FE95B6}"/>
                </a:ext>
              </a:extLst>
            </p:cNvPr>
            <p:cNvSpPr/>
            <p:nvPr/>
          </p:nvSpPr>
          <p:spPr>
            <a:xfrm>
              <a:off x="6288630" y="1355959"/>
              <a:ext cx="1600835" cy="379095"/>
            </a:xfrm>
            <a:custGeom>
              <a:avLst/>
              <a:gdLst/>
              <a:ahLst/>
              <a:cxnLst/>
              <a:rect l="l" t="t" r="r" b="b"/>
              <a:pathLst>
                <a:path w="1600834" h="379094">
                  <a:moveTo>
                    <a:pt x="1411004" y="0"/>
                  </a:moveTo>
                  <a:lnTo>
                    <a:pt x="189334" y="0"/>
                  </a:lnTo>
                  <a:lnTo>
                    <a:pt x="138999" y="6763"/>
                  </a:lnTo>
                  <a:lnTo>
                    <a:pt x="93771" y="25850"/>
                  </a:lnTo>
                  <a:lnTo>
                    <a:pt x="55452" y="55456"/>
                  </a:lnTo>
                  <a:lnTo>
                    <a:pt x="25848" y="93775"/>
                  </a:lnTo>
                  <a:lnTo>
                    <a:pt x="6762" y="139003"/>
                  </a:lnTo>
                  <a:lnTo>
                    <a:pt x="0" y="189334"/>
                  </a:lnTo>
                  <a:lnTo>
                    <a:pt x="6762" y="239670"/>
                  </a:lnTo>
                  <a:lnTo>
                    <a:pt x="25848" y="284900"/>
                  </a:lnTo>
                  <a:lnTo>
                    <a:pt x="55452" y="323221"/>
                  </a:lnTo>
                  <a:lnTo>
                    <a:pt x="93771" y="352828"/>
                  </a:lnTo>
                  <a:lnTo>
                    <a:pt x="138999" y="371916"/>
                  </a:lnTo>
                  <a:lnTo>
                    <a:pt x="189334" y="378679"/>
                  </a:lnTo>
                  <a:lnTo>
                    <a:pt x="1411004" y="378679"/>
                  </a:lnTo>
                  <a:lnTo>
                    <a:pt x="1461339" y="371916"/>
                  </a:lnTo>
                  <a:lnTo>
                    <a:pt x="1506570" y="352828"/>
                  </a:lnTo>
                  <a:lnTo>
                    <a:pt x="1544891" y="323221"/>
                  </a:lnTo>
                  <a:lnTo>
                    <a:pt x="1574498" y="284900"/>
                  </a:lnTo>
                  <a:lnTo>
                    <a:pt x="1593585" y="239670"/>
                  </a:lnTo>
                  <a:lnTo>
                    <a:pt x="1600349" y="189334"/>
                  </a:lnTo>
                  <a:lnTo>
                    <a:pt x="1593585" y="139003"/>
                  </a:lnTo>
                  <a:lnTo>
                    <a:pt x="1574498" y="93775"/>
                  </a:lnTo>
                  <a:lnTo>
                    <a:pt x="1544891" y="55456"/>
                  </a:lnTo>
                  <a:lnTo>
                    <a:pt x="1506570" y="25850"/>
                  </a:lnTo>
                  <a:lnTo>
                    <a:pt x="1461339" y="6763"/>
                  </a:lnTo>
                  <a:lnTo>
                    <a:pt x="1411004" y="0"/>
                  </a:lnTo>
                  <a:close/>
                </a:path>
              </a:pathLst>
            </a:custGeom>
            <a:solidFill>
              <a:srgbClr val="071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46">
              <a:extLst>
                <a:ext uri="{FF2B5EF4-FFF2-40B4-BE49-F238E27FC236}">
                  <a16:creationId xmlns:a16="http://schemas.microsoft.com/office/drawing/2014/main" id="{05D8C344-C9C9-F40C-54C0-C45BFAC4CE0F}"/>
                </a:ext>
              </a:extLst>
            </p:cNvPr>
            <p:cNvSpPr/>
            <p:nvPr/>
          </p:nvSpPr>
          <p:spPr>
            <a:xfrm>
              <a:off x="6288630" y="1355959"/>
              <a:ext cx="1600835" cy="379095"/>
            </a:xfrm>
            <a:custGeom>
              <a:avLst/>
              <a:gdLst/>
              <a:ahLst/>
              <a:cxnLst/>
              <a:rect l="l" t="t" r="r" b="b"/>
              <a:pathLst>
                <a:path w="1600834" h="379094">
                  <a:moveTo>
                    <a:pt x="1411004" y="378679"/>
                  </a:moveTo>
                  <a:lnTo>
                    <a:pt x="189334" y="378679"/>
                  </a:lnTo>
                  <a:lnTo>
                    <a:pt x="138999" y="371916"/>
                  </a:lnTo>
                  <a:lnTo>
                    <a:pt x="93771" y="352828"/>
                  </a:lnTo>
                  <a:lnTo>
                    <a:pt x="55452" y="323221"/>
                  </a:lnTo>
                  <a:lnTo>
                    <a:pt x="25848" y="284900"/>
                  </a:lnTo>
                  <a:lnTo>
                    <a:pt x="6762" y="239670"/>
                  </a:lnTo>
                  <a:lnTo>
                    <a:pt x="0" y="189334"/>
                  </a:lnTo>
                  <a:lnTo>
                    <a:pt x="6762" y="139003"/>
                  </a:lnTo>
                  <a:lnTo>
                    <a:pt x="25848" y="93775"/>
                  </a:lnTo>
                  <a:lnTo>
                    <a:pt x="55452" y="55456"/>
                  </a:lnTo>
                  <a:lnTo>
                    <a:pt x="93771" y="25850"/>
                  </a:lnTo>
                  <a:lnTo>
                    <a:pt x="138999" y="6763"/>
                  </a:lnTo>
                  <a:lnTo>
                    <a:pt x="189334" y="0"/>
                  </a:lnTo>
                  <a:lnTo>
                    <a:pt x="1411004" y="0"/>
                  </a:lnTo>
                  <a:lnTo>
                    <a:pt x="1461339" y="6763"/>
                  </a:lnTo>
                  <a:lnTo>
                    <a:pt x="1506570" y="25850"/>
                  </a:lnTo>
                  <a:lnTo>
                    <a:pt x="1544891" y="55456"/>
                  </a:lnTo>
                  <a:lnTo>
                    <a:pt x="1574498" y="93775"/>
                  </a:lnTo>
                  <a:lnTo>
                    <a:pt x="1593585" y="139003"/>
                  </a:lnTo>
                  <a:lnTo>
                    <a:pt x="1600349" y="189334"/>
                  </a:lnTo>
                  <a:lnTo>
                    <a:pt x="1593585" y="239670"/>
                  </a:lnTo>
                  <a:lnTo>
                    <a:pt x="1574498" y="284900"/>
                  </a:lnTo>
                  <a:lnTo>
                    <a:pt x="1544891" y="323221"/>
                  </a:lnTo>
                  <a:lnTo>
                    <a:pt x="1506570" y="352828"/>
                  </a:lnTo>
                  <a:lnTo>
                    <a:pt x="1461339" y="371916"/>
                  </a:lnTo>
                  <a:lnTo>
                    <a:pt x="1411004" y="378679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47">
              <a:extLst>
                <a:ext uri="{FF2B5EF4-FFF2-40B4-BE49-F238E27FC236}">
                  <a16:creationId xmlns:a16="http://schemas.microsoft.com/office/drawing/2014/main" id="{7A6E6EDA-3BA7-67A3-B7A3-3F94D8D77789}"/>
                </a:ext>
              </a:extLst>
            </p:cNvPr>
            <p:cNvSpPr/>
            <p:nvPr/>
          </p:nvSpPr>
          <p:spPr>
            <a:xfrm>
              <a:off x="6855783" y="3078177"/>
              <a:ext cx="2200910" cy="379095"/>
            </a:xfrm>
            <a:custGeom>
              <a:avLst/>
              <a:gdLst/>
              <a:ahLst/>
              <a:cxnLst/>
              <a:rect l="l" t="t" r="r" b="b"/>
              <a:pathLst>
                <a:path w="2200910" h="379095">
                  <a:moveTo>
                    <a:pt x="2011069" y="0"/>
                  </a:moveTo>
                  <a:lnTo>
                    <a:pt x="189334" y="0"/>
                  </a:lnTo>
                  <a:lnTo>
                    <a:pt x="139003" y="6763"/>
                  </a:lnTo>
                  <a:lnTo>
                    <a:pt x="93775" y="25850"/>
                  </a:lnTo>
                  <a:lnTo>
                    <a:pt x="55456" y="55456"/>
                  </a:lnTo>
                  <a:lnTo>
                    <a:pt x="25850" y="93775"/>
                  </a:lnTo>
                  <a:lnTo>
                    <a:pt x="6763" y="139003"/>
                  </a:lnTo>
                  <a:lnTo>
                    <a:pt x="0" y="189334"/>
                  </a:lnTo>
                  <a:lnTo>
                    <a:pt x="6763" y="239670"/>
                  </a:lnTo>
                  <a:lnTo>
                    <a:pt x="25850" y="284900"/>
                  </a:lnTo>
                  <a:lnTo>
                    <a:pt x="55456" y="323221"/>
                  </a:lnTo>
                  <a:lnTo>
                    <a:pt x="93775" y="352828"/>
                  </a:lnTo>
                  <a:lnTo>
                    <a:pt x="139003" y="371916"/>
                  </a:lnTo>
                  <a:lnTo>
                    <a:pt x="189334" y="378679"/>
                  </a:lnTo>
                  <a:lnTo>
                    <a:pt x="2011069" y="378679"/>
                  </a:lnTo>
                  <a:lnTo>
                    <a:pt x="2061405" y="371916"/>
                  </a:lnTo>
                  <a:lnTo>
                    <a:pt x="2106635" y="352828"/>
                  </a:lnTo>
                  <a:lnTo>
                    <a:pt x="2144956" y="323221"/>
                  </a:lnTo>
                  <a:lnTo>
                    <a:pt x="2174563" y="284900"/>
                  </a:lnTo>
                  <a:lnTo>
                    <a:pt x="2193651" y="239670"/>
                  </a:lnTo>
                  <a:lnTo>
                    <a:pt x="2200414" y="189334"/>
                  </a:lnTo>
                  <a:lnTo>
                    <a:pt x="2193651" y="139003"/>
                  </a:lnTo>
                  <a:lnTo>
                    <a:pt x="2174563" y="93775"/>
                  </a:lnTo>
                  <a:lnTo>
                    <a:pt x="2144956" y="55456"/>
                  </a:lnTo>
                  <a:lnTo>
                    <a:pt x="2106635" y="25850"/>
                  </a:lnTo>
                  <a:lnTo>
                    <a:pt x="2061405" y="6763"/>
                  </a:lnTo>
                  <a:lnTo>
                    <a:pt x="2011069" y="0"/>
                  </a:lnTo>
                  <a:close/>
                </a:path>
              </a:pathLst>
            </a:custGeom>
            <a:solidFill>
              <a:srgbClr val="071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48">
              <a:extLst>
                <a:ext uri="{FF2B5EF4-FFF2-40B4-BE49-F238E27FC236}">
                  <a16:creationId xmlns:a16="http://schemas.microsoft.com/office/drawing/2014/main" id="{3D7AEACA-A083-C416-75CD-CBAF30B75CB5}"/>
                </a:ext>
              </a:extLst>
            </p:cNvPr>
            <p:cNvSpPr/>
            <p:nvPr/>
          </p:nvSpPr>
          <p:spPr>
            <a:xfrm>
              <a:off x="6855783" y="3078177"/>
              <a:ext cx="2200910" cy="379095"/>
            </a:xfrm>
            <a:custGeom>
              <a:avLst/>
              <a:gdLst/>
              <a:ahLst/>
              <a:cxnLst/>
              <a:rect l="l" t="t" r="r" b="b"/>
              <a:pathLst>
                <a:path w="2200910" h="379095">
                  <a:moveTo>
                    <a:pt x="2011069" y="378679"/>
                  </a:moveTo>
                  <a:lnTo>
                    <a:pt x="189334" y="378679"/>
                  </a:lnTo>
                  <a:lnTo>
                    <a:pt x="139003" y="371916"/>
                  </a:lnTo>
                  <a:lnTo>
                    <a:pt x="93775" y="352828"/>
                  </a:lnTo>
                  <a:lnTo>
                    <a:pt x="55456" y="323221"/>
                  </a:lnTo>
                  <a:lnTo>
                    <a:pt x="25850" y="284900"/>
                  </a:lnTo>
                  <a:lnTo>
                    <a:pt x="6763" y="239670"/>
                  </a:lnTo>
                  <a:lnTo>
                    <a:pt x="0" y="189334"/>
                  </a:lnTo>
                  <a:lnTo>
                    <a:pt x="6763" y="139003"/>
                  </a:lnTo>
                  <a:lnTo>
                    <a:pt x="25850" y="93775"/>
                  </a:lnTo>
                  <a:lnTo>
                    <a:pt x="55456" y="55456"/>
                  </a:lnTo>
                  <a:lnTo>
                    <a:pt x="93775" y="25850"/>
                  </a:lnTo>
                  <a:lnTo>
                    <a:pt x="139003" y="6763"/>
                  </a:lnTo>
                  <a:lnTo>
                    <a:pt x="189334" y="0"/>
                  </a:lnTo>
                  <a:lnTo>
                    <a:pt x="2011069" y="0"/>
                  </a:lnTo>
                  <a:lnTo>
                    <a:pt x="2061405" y="6763"/>
                  </a:lnTo>
                  <a:lnTo>
                    <a:pt x="2106635" y="25850"/>
                  </a:lnTo>
                  <a:lnTo>
                    <a:pt x="2144956" y="55456"/>
                  </a:lnTo>
                  <a:lnTo>
                    <a:pt x="2174563" y="93775"/>
                  </a:lnTo>
                  <a:lnTo>
                    <a:pt x="2193651" y="139003"/>
                  </a:lnTo>
                  <a:lnTo>
                    <a:pt x="2200414" y="189334"/>
                  </a:lnTo>
                  <a:lnTo>
                    <a:pt x="2193651" y="239670"/>
                  </a:lnTo>
                  <a:lnTo>
                    <a:pt x="2174563" y="284900"/>
                  </a:lnTo>
                  <a:lnTo>
                    <a:pt x="2144956" y="323221"/>
                  </a:lnTo>
                  <a:lnTo>
                    <a:pt x="2106635" y="352828"/>
                  </a:lnTo>
                  <a:lnTo>
                    <a:pt x="2061405" y="371916"/>
                  </a:lnTo>
                  <a:lnTo>
                    <a:pt x="2011069" y="378679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49">
              <a:extLst>
                <a:ext uri="{FF2B5EF4-FFF2-40B4-BE49-F238E27FC236}">
                  <a16:creationId xmlns:a16="http://schemas.microsoft.com/office/drawing/2014/main" id="{D6138E8E-65E0-6B70-CB1A-9A87FC21EB2F}"/>
                </a:ext>
              </a:extLst>
            </p:cNvPr>
            <p:cNvSpPr/>
            <p:nvPr/>
          </p:nvSpPr>
          <p:spPr>
            <a:xfrm>
              <a:off x="8163008" y="4983586"/>
              <a:ext cx="2200910" cy="379095"/>
            </a:xfrm>
            <a:custGeom>
              <a:avLst/>
              <a:gdLst/>
              <a:ahLst/>
              <a:cxnLst/>
              <a:rect l="l" t="t" r="r" b="b"/>
              <a:pathLst>
                <a:path w="2200910" h="379095">
                  <a:moveTo>
                    <a:pt x="2011069" y="0"/>
                  </a:moveTo>
                  <a:lnTo>
                    <a:pt x="189334" y="0"/>
                  </a:lnTo>
                  <a:lnTo>
                    <a:pt x="139003" y="6763"/>
                  </a:lnTo>
                  <a:lnTo>
                    <a:pt x="93775" y="25850"/>
                  </a:lnTo>
                  <a:lnTo>
                    <a:pt x="55456" y="55456"/>
                  </a:lnTo>
                  <a:lnTo>
                    <a:pt x="25850" y="93775"/>
                  </a:lnTo>
                  <a:lnTo>
                    <a:pt x="6763" y="139003"/>
                  </a:lnTo>
                  <a:lnTo>
                    <a:pt x="0" y="189334"/>
                  </a:lnTo>
                  <a:lnTo>
                    <a:pt x="6763" y="239670"/>
                  </a:lnTo>
                  <a:lnTo>
                    <a:pt x="25850" y="284900"/>
                  </a:lnTo>
                  <a:lnTo>
                    <a:pt x="55456" y="323221"/>
                  </a:lnTo>
                  <a:lnTo>
                    <a:pt x="93775" y="352828"/>
                  </a:lnTo>
                  <a:lnTo>
                    <a:pt x="139003" y="371916"/>
                  </a:lnTo>
                  <a:lnTo>
                    <a:pt x="189334" y="378679"/>
                  </a:lnTo>
                  <a:lnTo>
                    <a:pt x="2011069" y="378679"/>
                  </a:lnTo>
                  <a:lnTo>
                    <a:pt x="2061405" y="371916"/>
                  </a:lnTo>
                  <a:lnTo>
                    <a:pt x="2106635" y="352828"/>
                  </a:lnTo>
                  <a:lnTo>
                    <a:pt x="2144956" y="323221"/>
                  </a:lnTo>
                  <a:lnTo>
                    <a:pt x="2174563" y="284900"/>
                  </a:lnTo>
                  <a:lnTo>
                    <a:pt x="2193651" y="239670"/>
                  </a:lnTo>
                  <a:lnTo>
                    <a:pt x="2200414" y="189334"/>
                  </a:lnTo>
                  <a:lnTo>
                    <a:pt x="2193651" y="139003"/>
                  </a:lnTo>
                  <a:lnTo>
                    <a:pt x="2174563" y="93775"/>
                  </a:lnTo>
                  <a:lnTo>
                    <a:pt x="2144956" y="55456"/>
                  </a:lnTo>
                  <a:lnTo>
                    <a:pt x="2106635" y="25850"/>
                  </a:lnTo>
                  <a:lnTo>
                    <a:pt x="2061405" y="6763"/>
                  </a:lnTo>
                  <a:lnTo>
                    <a:pt x="2011069" y="0"/>
                  </a:lnTo>
                  <a:close/>
                </a:path>
              </a:pathLst>
            </a:custGeom>
            <a:solidFill>
              <a:srgbClr val="071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50">
              <a:extLst>
                <a:ext uri="{FF2B5EF4-FFF2-40B4-BE49-F238E27FC236}">
                  <a16:creationId xmlns:a16="http://schemas.microsoft.com/office/drawing/2014/main" id="{19E8923A-2226-C816-97C4-C799558C3978}"/>
                </a:ext>
              </a:extLst>
            </p:cNvPr>
            <p:cNvSpPr/>
            <p:nvPr/>
          </p:nvSpPr>
          <p:spPr>
            <a:xfrm>
              <a:off x="8163008" y="4983586"/>
              <a:ext cx="2200910" cy="379095"/>
            </a:xfrm>
            <a:custGeom>
              <a:avLst/>
              <a:gdLst/>
              <a:ahLst/>
              <a:cxnLst/>
              <a:rect l="l" t="t" r="r" b="b"/>
              <a:pathLst>
                <a:path w="2200910" h="379095">
                  <a:moveTo>
                    <a:pt x="2011069" y="378679"/>
                  </a:moveTo>
                  <a:lnTo>
                    <a:pt x="189334" y="378679"/>
                  </a:lnTo>
                  <a:lnTo>
                    <a:pt x="139003" y="371916"/>
                  </a:lnTo>
                  <a:lnTo>
                    <a:pt x="93775" y="352828"/>
                  </a:lnTo>
                  <a:lnTo>
                    <a:pt x="55456" y="323221"/>
                  </a:lnTo>
                  <a:lnTo>
                    <a:pt x="25850" y="284900"/>
                  </a:lnTo>
                  <a:lnTo>
                    <a:pt x="6763" y="239670"/>
                  </a:lnTo>
                  <a:lnTo>
                    <a:pt x="0" y="189334"/>
                  </a:lnTo>
                  <a:lnTo>
                    <a:pt x="6763" y="139003"/>
                  </a:lnTo>
                  <a:lnTo>
                    <a:pt x="25850" y="93775"/>
                  </a:lnTo>
                  <a:lnTo>
                    <a:pt x="55456" y="55456"/>
                  </a:lnTo>
                  <a:lnTo>
                    <a:pt x="93775" y="25850"/>
                  </a:lnTo>
                  <a:lnTo>
                    <a:pt x="139003" y="6763"/>
                  </a:lnTo>
                  <a:lnTo>
                    <a:pt x="189334" y="0"/>
                  </a:lnTo>
                  <a:lnTo>
                    <a:pt x="2011069" y="0"/>
                  </a:lnTo>
                  <a:lnTo>
                    <a:pt x="2061405" y="6763"/>
                  </a:lnTo>
                  <a:lnTo>
                    <a:pt x="2106635" y="25850"/>
                  </a:lnTo>
                  <a:lnTo>
                    <a:pt x="2144956" y="55456"/>
                  </a:lnTo>
                  <a:lnTo>
                    <a:pt x="2174563" y="93775"/>
                  </a:lnTo>
                  <a:lnTo>
                    <a:pt x="2193651" y="139003"/>
                  </a:lnTo>
                  <a:lnTo>
                    <a:pt x="2200414" y="189334"/>
                  </a:lnTo>
                  <a:lnTo>
                    <a:pt x="2193651" y="239670"/>
                  </a:lnTo>
                  <a:lnTo>
                    <a:pt x="2174563" y="284900"/>
                  </a:lnTo>
                  <a:lnTo>
                    <a:pt x="2144956" y="323221"/>
                  </a:lnTo>
                  <a:lnTo>
                    <a:pt x="2106635" y="352828"/>
                  </a:lnTo>
                  <a:lnTo>
                    <a:pt x="2061405" y="371916"/>
                  </a:lnTo>
                  <a:lnTo>
                    <a:pt x="2011069" y="378679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51">
              <a:extLst>
                <a:ext uri="{FF2B5EF4-FFF2-40B4-BE49-F238E27FC236}">
                  <a16:creationId xmlns:a16="http://schemas.microsoft.com/office/drawing/2014/main" id="{BB37CD5C-E370-0E1F-4F80-7C24A915E368}"/>
                </a:ext>
              </a:extLst>
            </p:cNvPr>
            <p:cNvSpPr/>
            <p:nvPr/>
          </p:nvSpPr>
          <p:spPr>
            <a:xfrm>
              <a:off x="1287974" y="4281653"/>
              <a:ext cx="2200910" cy="379095"/>
            </a:xfrm>
            <a:custGeom>
              <a:avLst/>
              <a:gdLst/>
              <a:ahLst/>
              <a:cxnLst/>
              <a:rect l="l" t="t" r="r" b="b"/>
              <a:pathLst>
                <a:path w="2200910" h="379095">
                  <a:moveTo>
                    <a:pt x="2011069" y="0"/>
                  </a:moveTo>
                  <a:lnTo>
                    <a:pt x="189334" y="0"/>
                  </a:lnTo>
                  <a:lnTo>
                    <a:pt x="139003" y="6763"/>
                  </a:lnTo>
                  <a:lnTo>
                    <a:pt x="93775" y="25850"/>
                  </a:lnTo>
                  <a:lnTo>
                    <a:pt x="55456" y="55456"/>
                  </a:lnTo>
                  <a:lnTo>
                    <a:pt x="25850" y="93775"/>
                  </a:lnTo>
                  <a:lnTo>
                    <a:pt x="6763" y="139003"/>
                  </a:lnTo>
                  <a:lnTo>
                    <a:pt x="0" y="189334"/>
                  </a:lnTo>
                  <a:lnTo>
                    <a:pt x="6763" y="239670"/>
                  </a:lnTo>
                  <a:lnTo>
                    <a:pt x="25850" y="284900"/>
                  </a:lnTo>
                  <a:lnTo>
                    <a:pt x="55456" y="323221"/>
                  </a:lnTo>
                  <a:lnTo>
                    <a:pt x="93775" y="352828"/>
                  </a:lnTo>
                  <a:lnTo>
                    <a:pt x="139003" y="371916"/>
                  </a:lnTo>
                  <a:lnTo>
                    <a:pt x="189334" y="378679"/>
                  </a:lnTo>
                  <a:lnTo>
                    <a:pt x="2011069" y="378679"/>
                  </a:lnTo>
                  <a:lnTo>
                    <a:pt x="2061405" y="371916"/>
                  </a:lnTo>
                  <a:lnTo>
                    <a:pt x="2106635" y="352828"/>
                  </a:lnTo>
                  <a:lnTo>
                    <a:pt x="2144956" y="323221"/>
                  </a:lnTo>
                  <a:lnTo>
                    <a:pt x="2174563" y="284900"/>
                  </a:lnTo>
                  <a:lnTo>
                    <a:pt x="2193651" y="239670"/>
                  </a:lnTo>
                  <a:lnTo>
                    <a:pt x="2200414" y="189334"/>
                  </a:lnTo>
                  <a:lnTo>
                    <a:pt x="2193651" y="139003"/>
                  </a:lnTo>
                  <a:lnTo>
                    <a:pt x="2174563" y="93775"/>
                  </a:lnTo>
                  <a:lnTo>
                    <a:pt x="2144956" y="55456"/>
                  </a:lnTo>
                  <a:lnTo>
                    <a:pt x="2106635" y="25850"/>
                  </a:lnTo>
                  <a:lnTo>
                    <a:pt x="2061405" y="6763"/>
                  </a:lnTo>
                  <a:lnTo>
                    <a:pt x="2011069" y="0"/>
                  </a:lnTo>
                  <a:close/>
                </a:path>
              </a:pathLst>
            </a:custGeom>
            <a:solidFill>
              <a:srgbClr val="071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52">
              <a:extLst>
                <a:ext uri="{FF2B5EF4-FFF2-40B4-BE49-F238E27FC236}">
                  <a16:creationId xmlns:a16="http://schemas.microsoft.com/office/drawing/2014/main" id="{692A4794-6CFA-4205-39D8-9D1DF9702266}"/>
                </a:ext>
              </a:extLst>
            </p:cNvPr>
            <p:cNvSpPr/>
            <p:nvPr/>
          </p:nvSpPr>
          <p:spPr>
            <a:xfrm>
              <a:off x="1287974" y="4281653"/>
              <a:ext cx="2200910" cy="379095"/>
            </a:xfrm>
            <a:custGeom>
              <a:avLst/>
              <a:gdLst/>
              <a:ahLst/>
              <a:cxnLst/>
              <a:rect l="l" t="t" r="r" b="b"/>
              <a:pathLst>
                <a:path w="2200910" h="379095">
                  <a:moveTo>
                    <a:pt x="2011069" y="378679"/>
                  </a:moveTo>
                  <a:lnTo>
                    <a:pt x="189334" y="378679"/>
                  </a:lnTo>
                  <a:lnTo>
                    <a:pt x="139003" y="371916"/>
                  </a:lnTo>
                  <a:lnTo>
                    <a:pt x="93775" y="352828"/>
                  </a:lnTo>
                  <a:lnTo>
                    <a:pt x="55456" y="323221"/>
                  </a:lnTo>
                  <a:lnTo>
                    <a:pt x="25850" y="284900"/>
                  </a:lnTo>
                  <a:lnTo>
                    <a:pt x="6763" y="239670"/>
                  </a:lnTo>
                  <a:lnTo>
                    <a:pt x="0" y="189334"/>
                  </a:lnTo>
                  <a:lnTo>
                    <a:pt x="6763" y="139003"/>
                  </a:lnTo>
                  <a:lnTo>
                    <a:pt x="25850" y="93775"/>
                  </a:lnTo>
                  <a:lnTo>
                    <a:pt x="55456" y="55456"/>
                  </a:lnTo>
                  <a:lnTo>
                    <a:pt x="93775" y="25850"/>
                  </a:lnTo>
                  <a:lnTo>
                    <a:pt x="139003" y="6763"/>
                  </a:lnTo>
                  <a:lnTo>
                    <a:pt x="189334" y="0"/>
                  </a:lnTo>
                  <a:lnTo>
                    <a:pt x="2011069" y="0"/>
                  </a:lnTo>
                  <a:lnTo>
                    <a:pt x="2061405" y="6763"/>
                  </a:lnTo>
                  <a:lnTo>
                    <a:pt x="2106635" y="25850"/>
                  </a:lnTo>
                  <a:lnTo>
                    <a:pt x="2144956" y="55456"/>
                  </a:lnTo>
                  <a:lnTo>
                    <a:pt x="2174563" y="93775"/>
                  </a:lnTo>
                  <a:lnTo>
                    <a:pt x="2193651" y="139003"/>
                  </a:lnTo>
                  <a:lnTo>
                    <a:pt x="2200414" y="189334"/>
                  </a:lnTo>
                  <a:lnTo>
                    <a:pt x="2193651" y="239670"/>
                  </a:lnTo>
                  <a:lnTo>
                    <a:pt x="2174563" y="284900"/>
                  </a:lnTo>
                  <a:lnTo>
                    <a:pt x="2144956" y="323221"/>
                  </a:lnTo>
                  <a:lnTo>
                    <a:pt x="2106635" y="352828"/>
                  </a:lnTo>
                  <a:lnTo>
                    <a:pt x="2061405" y="371916"/>
                  </a:lnTo>
                  <a:lnTo>
                    <a:pt x="2011069" y="378679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9" name="object 77">
            <a:extLst>
              <a:ext uri="{FF2B5EF4-FFF2-40B4-BE49-F238E27FC236}">
                <a16:creationId xmlns:a16="http://schemas.microsoft.com/office/drawing/2014/main" id="{6338DEB6-71E9-A493-26EE-8BF64B644F35}"/>
              </a:ext>
            </a:extLst>
          </p:cNvPr>
          <p:cNvGrpSpPr/>
          <p:nvPr/>
        </p:nvGrpSpPr>
        <p:grpSpPr>
          <a:xfrm>
            <a:off x="18747388" y="9955847"/>
            <a:ext cx="662305" cy="662305"/>
            <a:chOff x="10039546" y="4831882"/>
            <a:chExt cx="662305" cy="662305"/>
          </a:xfrm>
        </p:grpSpPr>
        <p:sp>
          <p:nvSpPr>
            <p:cNvPr id="83" name="object 78">
              <a:extLst>
                <a:ext uri="{FF2B5EF4-FFF2-40B4-BE49-F238E27FC236}">
                  <a16:creationId xmlns:a16="http://schemas.microsoft.com/office/drawing/2014/main" id="{D49BC8E8-BC1E-AFE4-B31E-B60E4BD77326}"/>
                </a:ext>
              </a:extLst>
            </p:cNvPr>
            <p:cNvSpPr/>
            <p:nvPr/>
          </p:nvSpPr>
          <p:spPr>
            <a:xfrm>
              <a:off x="10046284" y="4846821"/>
              <a:ext cx="639445" cy="640080"/>
            </a:xfrm>
            <a:custGeom>
              <a:avLst/>
              <a:gdLst/>
              <a:ahLst/>
              <a:cxnLst/>
              <a:rect l="l" t="t" r="r" b="b"/>
              <a:pathLst>
                <a:path w="639445" h="640079">
                  <a:moveTo>
                    <a:pt x="487362" y="319722"/>
                  </a:moveTo>
                  <a:lnTo>
                    <a:pt x="481368" y="275209"/>
                  </a:lnTo>
                  <a:lnTo>
                    <a:pt x="464439" y="235178"/>
                  </a:lnTo>
                  <a:lnTo>
                    <a:pt x="459244" y="228460"/>
                  </a:lnTo>
                  <a:lnTo>
                    <a:pt x="459244" y="319722"/>
                  </a:lnTo>
                  <a:lnTo>
                    <a:pt x="452120" y="363778"/>
                  </a:lnTo>
                  <a:lnTo>
                    <a:pt x="432295" y="402082"/>
                  </a:lnTo>
                  <a:lnTo>
                    <a:pt x="402069" y="432308"/>
                  </a:lnTo>
                  <a:lnTo>
                    <a:pt x="363778" y="452145"/>
                  </a:lnTo>
                  <a:lnTo>
                    <a:pt x="319735" y="459270"/>
                  </a:lnTo>
                  <a:lnTo>
                    <a:pt x="275678" y="452145"/>
                  </a:lnTo>
                  <a:lnTo>
                    <a:pt x="237375" y="432308"/>
                  </a:lnTo>
                  <a:lnTo>
                    <a:pt x="207149" y="402082"/>
                  </a:lnTo>
                  <a:lnTo>
                    <a:pt x="187325" y="363778"/>
                  </a:lnTo>
                  <a:lnTo>
                    <a:pt x="180200" y="319722"/>
                  </a:lnTo>
                  <a:lnTo>
                    <a:pt x="187325" y="275666"/>
                  </a:lnTo>
                  <a:lnTo>
                    <a:pt x="207149" y="237363"/>
                  </a:lnTo>
                  <a:lnTo>
                    <a:pt x="237375" y="207149"/>
                  </a:lnTo>
                  <a:lnTo>
                    <a:pt x="275678" y="187312"/>
                  </a:lnTo>
                  <a:lnTo>
                    <a:pt x="319735" y="180187"/>
                  </a:lnTo>
                  <a:lnTo>
                    <a:pt x="363778" y="187312"/>
                  </a:lnTo>
                  <a:lnTo>
                    <a:pt x="402069" y="207149"/>
                  </a:lnTo>
                  <a:lnTo>
                    <a:pt x="432295" y="237363"/>
                  </a:lnTo>
                  <a:lnTo>
                    <a:pt x="452120" y="275666"/>
                  </a:lnTo>
                  <a:lnTo>
                    <a:pt x="459244" y="319722"/>
                  </a:lnTo>
                  <a:lnTo>
                    <a:pt x="459244" y="228460"/>
                  </a:lnTo>
                  <a:lnTo>
                    <a:pt x="410984" y="180187"/>
                  </a:lnTo>
                  <a:lnTo>
                    <a:pt x="364236" y="158076"/>
                  </a:lnTo>
                  <a:lnTo>
                    <a:pt x="319735" y="152069"/>
                  </a:lnTo>
                  <a:lnTo>
                    <a:pt x="275221" y="158076"/>
                  </a:lnTo>
                  <a:lnTo>
                    <a:pt x="235191" y="174993"/>
                  </a:lnTo>
                  <a:lnTo>
                    <a:pt x="201244" y="201231"/>
                  </a:lnTo>
                  <a:lnTo>
                    <a:pt x="175018" y="235178"/>
                  </a:lnTo>
                  <a:lnTo>
                    <a:pt x="158089" y="275209"/>
                  </a:lnTo>
                  <a:lnTo>
                    <a:pt x="152095" y="319722"/>
                  </a:lnTo>
                  <a:lnTo>
                    <a:pt x="158089" y="364236"/>
                  </a:lnTo>
                  <a:lnTo>
                    <a:pt x="175018" y="404266"/>
                  </a:lnTo>
                  <a:lnTo>
                    <a:pt x="201244" y="438200"/>
                  </a:lnTo>
                  <a:lnTo>
                    <a:pt x="235191" y="464439"/>
                  </a:lnTo>
                  <a:lnTo>
                    <a:pt x="275221" y="481355"/>
                  </a:lnTo>
                  <a:lnTo>
                    <a:pt x="319735" y="487349"/>
                  </a:lnTo>
                  <a:lnTo>
                    <a:pt x="364236" y="481355"/>
                  </a:lnTo>
                  <a:lnTo>
                    <a:pt x="404266" y="464439"/>
                  </a:lnTo>
                  <a:lnTo>
                    <a:pt x="438200" y="438200"/>
                  </a:lnTo>
                  <a:lnTo>
                    <a:pt x="464439" y="404266"/>
                  </a:lnTo>
                  <a:lnTo>
                    <a:pt x="481368" y="364236"/>
                  </a:lnTo>
                  <a:lnTo>
                    <a:pt x="487362" y="319722"/>
                  </a:lnTo>
                  <a:close/>
                </a:path>
                <a:path w="639445" h="640079">
                  <a:moveTo>
                    <a:pt x="565378" y="319722"/>
                  </a:moveTo>
                  <a:lnTo>
                    <a:pt x="560374" y="270281"/>
                  </a:lnTo>
                  <a:lnTo>
                    <a:pt x="546633" y="226123"/>
                  </a:lnTo>
                  <a:lnTo>
                    <a:pt x="546633" y="319722"/>
                  </a:lnTo>
                  <a:lnTo>
                    <a:pt x="542010" y="365391"/>
                  </a:lnTo>
                  <a:lnTo>
                    <a:pt x="528777" y="407962"/>
                  </a:lnTo>
                  <a:lnTo>
                    <a:pt x="507834" y="446493"/>
                  </a:lnTo>
                  <a:lnTo>
                    <a:pt x="480098" y="480098"/>
                  </a:lnTo>
                  <a:lnTo>
                    <a:pt x="446506" y="507822"/>
                  </a:lnTo>
                  <a:lnTo>
                    <a:pt x="407962" y="528777"/>
                  </a:lnTo>
                  <a:lnTo>
                    <a:pt x="365391" y="542023"/>
                  </a:lnTo>
                  <a:lnTo>
                    <a:pt x="319722" y="546646"/>
                  </a:lnTo>
                  <a:lnTo>
                    <a:pt x="274053" y="542023"/>
                  </a:lnTo>
                  <a:lnTo>
                    <a:pt x="231482" y="528777"/>
                  </a:lnTo>
                  <a:lnTo>
                    <a:pt x="192938" y="507822"/>
                  </a:lnTo>
                  <a:lnTo>
                    <a:pt x="159346" y="480098"/>
                  </a:lnTo>
                  <a:lnTo>
                    <a:pt x="131622" y="446493"/>
                  </a:lnTo>
                  <a:lnTo>
                    <a:pt x="110680" y="407962"/>
                  </a:lnTo>
                  <a:lnTo>
                    <a:pt x="97434" y="365391"/>
                  </a:lnTo>
                  <a:lnTo>
                    <a:pt x="92811" y="319722"/>
                  </a:lnTo>
                  <a:lnTo>
                    <a:pt x="97434" y="274053"/>
                  </a:lnTo>
                  <a:lnTo>
                    <a:pt x="110680" y="231482"/>
                  </a:lnTo>
                  <a:lnTo>
                    <a:pt x="131622" y="192938"/>
                  </a:lnTo>
                  <a:lnTo>
                    <a:pt x="159346" y="159346"/>
                  </a:lnTo>
                  <a:lnTo>
                    <a:pt x="192938" y="131622"/>
                  </a:lnTo>
                  <a:lnTo>
                    <a:pt x="231482" y="110667"/>
                  </a:lnTo>
                  <a:lnTo>
                    <a:pt x="274053" y="97434"/>
                  </a:lnTo>
                  <a:lnTo>
                    <a:pt x="319722" y="92811"/>
                  </a:lnTo>
                  <a:lnTo>
                    <a:pt x="365391" y="97434"/>
                  </a:lnTo>
                  <a:lnTo>
                    <a:pt x="407962" y="110667"/>
                  </a:lnTo>
                  <a:lnTo>
                    <a:pt x="446506" y="131622"/>
                  </a:lnTo>
                  <a:lnTo>
                    <a:pt x="480098" y="159346"/>
                  </a:lnTo>
                  <a:lnTo>
                    <a:pt x="507834" y="192938"/>
                  </a:lnTo>
                  <a:lnTo>
                    <a:pt x="528777" y="231482"/>
                  </a:lnTo>
                  <a:lnTo>
                    <a:pt x="542010" y="274053"/>
                  </a:lnTo>
                  <a:lnTo>
                    <a:pt x="546633" y="319722"/>
                  </a:lnTo>
                  <a:lnTo>
                    <a:pt x="546633" y="226123"/>
                  </a:lnTo>
                  <a:lnTo>
                    <a:pt x="523367" y="182460"/>
                  </a:lnTo>
                  <a:lnTo>
                    <a:pt x="493344" y="146088"/>
                  </a:lnTo>
                  <a:lnTo>
                    <a:pt x="456971" y="116065"/>
                  </a:lnTo>
                  <a:lnTo>
                    <a:pt x="415239" y="93383"/>
                  </a:lnTo>
                  <a:lnTo>
                    <a:pt x="413397" y="92811"/>
                  </a:lnTo>
                  <a:lnTo>
                    <a:pt x="369163" y="79044"/>
                  </a:lnTo>
                  <a:lnTo>
                    <a:pt x="319722" y="74053"/>
                  </a:lnTo>
                  <a:lnTo>
                    <a:pt x="270268" y="79044"/>
                  </a:lnTo>
                  <a:lnTo>
                    <a:pt x="224193" y="93383"/>
                  </a:lnTo>
                  <a:lnTo>
                    <a:pt x="182473" y="116065"/>
                  </a:lnTo>
                  <a:lnTo>
                    <a:pt x="146100" y="146088"/>
                  </a:lnTo>
                  <a:lnTo>
                    <a:pt x="116078" y="182460"/>
                  </a:lnTo>
                  <a:lnTo>
                    <a:pt x="93395" y="224193"/>
                  </a:lnTo>
                  <a:lnTo>
                    <a:pt x="79057" y="270281"/>
                  </a:lnTo>
                  <a:lnTo>
                    <a:pt x="74066" y="319722"/>
                  </a:lnTo>
                  <a:lnTo>
                    <a:pt x="79057" y="369176"/>
                  </a:lnTo>
                  <a:lnTo>
                    <a:pt x="93395" y="415264"/>
                  </a:lnTo>
                  <a:lnTo>
                    <a:pt x="116078" y="456984"/>
                  </a:lnTo>
                  <a:lnTo>
                    <a:pt x="146100" y="493356"/>
                  </a:lnTo>
                  <a:lnTo>
                    <a:pt x="182473" y="523379"/>
                  </a:lnTo>
                  <a:lnTo>
                    <a:pt x="224193" y="546049"/>
                  </a:lnTo>
                  <a:lnTo>
                    <a:pt x="270268" y="560387"/>
                  </a:lnTo>
                  <a:lnTo>
                    <a:pt x="319722" y="565378"/>
                  </a:lnTo>
                  <a:lnTo>
                    <a:pt x="369163" y="560387"/>
                  </a:lnTo>
                  <a:lnTo>
                    <a:pt x="413334" y="546646"/>
                  </a:lnTo>
                  <a:lnTo>
                    <a:pt x="456971" y="523379"/>
                  </a:lnTo>
                  <a:lnTo>
                    <a:pt x="493344" y="493356"/>
                  </a:lnTo>
                  <a:lnTo>
                    <a:pt x="523367" y="456984"/>
                  </a:lnTo>
                  <a:lnTo>
                    <a:pt x="546036" y="415264"/>
                  </a:lnTo>
                  <a:lnTo>
                    <a:pt x="560374" y="369176"/>
                  </a:lnTo>
                  <a:lnTo>
                    <a:pt x="565378" y="319722"/>
                  </a:lnTo>
                  <a:close/>
                </a:path>
                <a:path w="639445" h="640079">
                  <a:moveTo>
                    <a:pt x="639432" y="319722"/>
                  </a:moveTo>
                  <a:lnTo>
                    <a:pt x="635965" y="272542"/>
                  </a:lnTo>
                  <a:lnTo>
                    <a:pt x="630085" y="246278"/>
                  </a:lnTo>
                  <a:lnTo>
                    <a:pt x="630085" y="319722"/>
                  </a:lnTo>
                  <a:lnTo>
                    <a:pt x="626719" y="365531"/>
                  </a:lnTo>
                  <a:lnTo>
                    <a:pt x="616927" y="409257"/>
                  </a:lnTo>
                  <a:lnTo>
                    <a:pt x="601192" y="450443"/>
                  </a:lnTo>
                  <a:lnTo>
                    <a:pt x="580021" y="488594"/>
                  </a:lnTo>
                  <a:lnTo>
                    <a:pt x="553872" y="523227"/>
                  </a:lnTo>
                  <a:lnTo>
                    <a:pt x="523227" y="553859"/>
                  </a:lnTo>
                  <a:lnTo>
                    <a:pt x="488594" y="580009"/>
                  </a:lnTo>
                  <a:lnTo>
                    <a:pt x="450443" y="601179"/>
                  </a:lnTo>
                  <a:lnTo>
                    <a:pt x="409257" y="616915"/>
                  </a:lnTo>
                  <a:lnTo>
                    <a:pt x="365518" y="626706"/>
                  </a:lnTo>
                  <a:lnTo>
                    <a:pt x="319722" y="630072"/>
                  </a:lnTo>
                  <a:lnTo>
                    <a:pt x="273926" y="626706"/>
                  </a:lnTo>
                  <a:lnTo>
                    <a:pt x="230187" y="616915"/>
                  </a:lnTo>
                  <a:lnTo>
                    <a:pt x="189001" y="601179"/>
                  </a:lnTo>
                  <a:lnTo>
                    <a:pt x="150850" y="580009"/>
                  </a:lnTo>
                  <a:lnTo>
                    <a:pt x="116217" y="553859"/>
                  </a:lnTo>
                  <a:lnTo>
                    <a:pt x="85585" y="523227"/>
                  </a:lnTo>
                  <a:lnTo>
                    <a:pt x="59436" y="488594"/>
                  </a:lnTo>
                  <a:lnTo>
                    <a:pt x="38252" y="450443"/>
                  </a:lnTo>
                  <a:lnTo>
                    <a:pt x="22529" y="409257"/>
                  </a:lnTo>
                  <a:lnTo>
                    <a:pt x="12738" y="365531"/>
                  </a:lnTo>
                  <a:lnTo>
                    <a:pt x="9359" y="319722"/>
                  </a:lnTo>
                  <a:lnTo>
                    <a:pt x="12738" y="273926"/>
                  </a:lnTo>
                  <a:lnTo>
                    <a:pt x="22529" y="230200"/>
                  </a:lnTo>
                  <a:lnTo>
                    <a:pt x="38252" y="189014"/>
                  </a:lnTo>
                  <a:lnTo>
                    <a:pt x="59436" y="150863"/>
                  </a:lnTo>
                  <a:lnTo>
                    <a:pt x="85585" y="116230"/>
                  </a:lnTo>
                  <a:lnTo>
                    <a:pt x="116217" y="85585"/>
                  </a:lnTo>
                  <a:lnTo>
                    <a:pt x="150850" y="59436"/>
                  </a:lnTo>
                  <a:lnTo>
                    <a:pt x="189001" y="38252"/>
                  </a:lnTo>
                  <a:lnTo>
                    <a:pt x="230187" y="22529"/>
                  </a:lnTo>
                  <a:lnTo>
                    <a:pt x="273926" y="12738"/>
                  </a:lnTo>
                  <a:lnTo>
                    <a:pt x="319722" y="9359"/>
                  </a:lnTo>
                  <a:lnTo>
                    <a:pt x="365518" y="12738"/>
                  </a:lnTo>
                  <a:lnTo>
                    <a:pt x="409257" y="22529"/>
                  </a:lnTo>
                  <a:lnTo>
                    <a:pt x="450443" y="38252"/>
                  </a:lnTo>
                  <a:lnTo>
                    <a:pt x="488594" y="59436"/>
                  </a:lnTo>
                  <a:lnTo>
                    <a:pt x="523227" y="85585"/>
                  </a:lnTo>
                  <a:lnTo>
                    <a:pt x="553872" y="116230"/>
                  </a:lnTo>
                  <a:lnTo>
                    <a:pt x="580021" y="150863"/>
                  </a:lnTo>
                  <a:lnTo>
                    <a:pt x="601192" y="189014"/>
                  </a:lnTo>
                  <a:lnTo>
                    <a:pt x="616927" y="230200"/>
                  </a:lnTo>
                  <a:lnTo>
                    <a:pt x="626719" y="273926"/>
                  </a:lnTo>
                  <a:lnTo>
                    <a:pt x="630085" y="319722"/>
                  </a:lnTo>
                  <a:lnTo>
                    <a:pt x="630085" y="246278"/>
                  </a:lnTo>
                  <a:lnTo>
                    <a:pt x="609676" y="185051"/>
                  </a:lnTo>
                  <a:lnTo>
                    <a:pt x="587857" y="145745"/>
                  </a:lnTo>
                  <a:lnTo>
                    <a:pt x="560920" y="110070"/>
                  </a:lnTo>
                  <a:lnTo>
                    <a:pt x="529361" y="78511"/>
                  </a:lnTo>
                  <a:lnTo>
                    <a:pt x="493687" y="51574"/>
                  </a:lnTo>
                  <a:lnTo>
                    <a:pt x="454380" y="29756"/>
                  </a:lnTo>
                  <a:lnTo>
                    <a:pt x="411949" y="13563"/>
                  </a:lnTo>
                  <a:lnTo>
                    <a:pt x="366903" y="3467"/>
                  </a:lnTo>
                  <a:lnTo>
                    <a:pt x="319722" y="0"/>
                  </a:lnTo>
                  <a:lnTo>
                    <a:pt x="272542" y="3467"/>
                  </a:lnTo>
                  <a:lnTo>
                    <a:pt x="227482" y="13563"/>
                  </a:lnTo>
                  <a:lnTo>
                    <a:pt x="185064" y="29756"/>
                  </a:lnTo>
                  <a:lnTo>
                    <a:pt x="145757" y="51574"/>
                  </a:lnTo>
                  <a:lnTo>
                    <a:pt x="110083" y="78511"/>
                  </a:lnTo>
                  <a:lnTo>
                    <a:pt x="78524" y="110070"/>
                  </a:lnTo>
                  <a:lnTo>
                    <a:pt x="51587" y="145745"/>
                  </a:lnTo>
                  <a:lnTo>
                    <a:pt x="29768" y="185051"/>
                  </a:lnTo>
                  <a:lnTo>
                    <a:pt x="13563" y="227482"/>
                  </a:lnTo>
                  <a:lnTo>
                    <a:pt x="3479" y="272542"/>
                  </a:lnTo>
                  <a:lnTo>
                    <a:pt x="0" y="319722"/>
                  </a:lnTo>
                  <a:lnTo>
                    <a:pt x="3479" y="366915"/>
                  </a:lnTo>
                  <a:lnTo>
                    <a:pt x="13563" y="411962"/>
                  </a:lnTo>
                  <a:lnTo>
                    <a:pt x="29768" y="454393"/>
                  </a:lnTo>
                  <a:lnTo>
                    <a:pt x="51587" y="493699"/>
                  </a:lnTo>
                  <a:lnTo>
                    <a:pt x="78524" y="529386"/>
                  </a:lnTo>
                  <a:lnTo>
                    <a:pt x="110083" y="560946"/>
                  </a:lnTo>
                  <a:lnTo>
                    <a:pt x="145757" y="587883"/>
                  </a:lnTo>
                  <a:lnTo>
                    <a:pt x="185064" y="609701"/>
                  </a:lnTo>
                  <a:lnTo>
                    <a:pt x="227482" y="625906"/>
                  </a:lnTo>
                  <a:lnTo>
                    <a:pt x="272542" y="635990"/>
                  </a:lnTo>
                  <a:lnTo>
                    <a:pt x="319722" y="639470"/>
                  </a:lnTo>
                  <a:lnTo>
                    <a:pt x="366903" y="635990"/>
                  </a:lnTo>
                  <a:lnTo>
                    <a:pt x="393331" y="630072"/>
                  </a:lnTo>
                  <a:lnTo>
                    <a:pt x="411949" y="625906"/>
                  </a:lnTo>
                  <a:lnTo>
                    <a:pt x="454380" y="609701"/>
                  </a:lnTo>
                  <a:lnTo>
                    <a:pt x="493687" y="587883"/>
                  </a:lnTo>
                  <a:lnTo>
                    <a:pt x="529361" y="560946"/>
                  </a:lnTo>
                  <a:lnTo>
                    <a:pt x="560920" y="529386"/>
                  </a:lnTo>
                  <a:lnTo>
                    <a:pt x="587857" y="493699"/>
                  </a:lnTo>
                  <a:lnTo>
                    <a:pt x="609676" y="454393"/>
                  </a:lnTo>
                  <a:lnTo>
                    <a:pt x="625881" y="411962"/>
                  </a:lnTo>
                  <a:lnTo>
                    <a:pt x="635965" y="366915"/>
                  </a:lnTo>
                  <a:lnTo>
                    <a:pt x="639432" y="3197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79">
              <a:extLst>
                <a:ext uri="{FF2B5EF4-FFF2-40B4-BE49-F238E27FC236}">
                  <a16:creationId xmlns:a16="http://schemas.microsoft.com/office/drawing/2014/main" id="{04CECEAC-E818-6DAB-63D3-4C03EB9E7464}"/>
                </a:ext>
              </a:extLst>
            </p:cNvPr>
            <p:cNvPicPr/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281557" y="5082075"/>
              <a:ext cx="168926" cy="168947"/>
            </a:xfrm>
            <a:prstGeom prst="rect">
              <a:avLst/>
            </a:prstGeom>
          </p:spPr>
        </p:pic>
        <p:sp>
          <p:nvSpPr>
            <p:cNvPr id="85" name="object 80">
              <a:extLst>
                <a:ext uri="{FF2B5EF4-FFF2-40B4-BE49-F238E27FC236}">
                  <a16:creationId xmlns:a16="http://schemas.microsoft.com/office/drawing/2014/main" id="{8955E6BE-1A4B-9BE4-7C95-8C75D3D190AC}"/>
                </a:ext>
              </a:extLst>
            </p:cNvPr>
            <p:cNvSpPr/>
            <p:nvPr/>
          </p:nvSpPr>
          <p:spPr>
            <a:xfrm>
              <a:off x="10060488" y="4852823"/>
              <a:ext cx="620395" cy="620395"/>
            </a:xfrm>
            <a:custGeom>
              <a:avLst/>
              <a:gdLst/>
              <a:ahLst/>
              <a:cxnLst/>
              <a:rect l="l" t="t" r="r" b="b"/>
              <a:pathLst>
                <a:path w="620395" h="620395">
                  <a:moveTo>
                    <a:pt x="620023" y="310158"/>
                  </a:moveTo>
                  <a:lnTo>
                    <a:pt x="616663" y="355968"/>
                  </a:lnTo>
                  <a:lnTo>
                    <a:pt x="606903" y="399692"/>
                  </a:lnTo>
                  <a:lnTo>
                    <a:pt x="591221" y="440850"/>
                  </a:lnTo>
                  <a:lnTo>
                    <a:pt x="570097" y="478963"/>
                  </a:lnTo>
                  <a:lnTo>
                    <a:pt x="544010" y="513550"/>
                  </a:lnTo>
                  <a:lnTo>
                    <a:pt x="513437" y="544133"/>
                  </a:lnTo>
                  <a:lnTo>
                    <a:pt x="478859" y="570230"/>
                  </a:lnTo>
                  <a:lnTo>
                    <a:pt x="440754" y="591364"/>
                  </a:lnTo>
                  <a:lnTo>
                    <a:pt x="399600" y="607053"/>
                  </a:lnTo>
                  <a:lnTo>
                    <a:pt x="355877" y="616818"/>
                  </a:lnTo>
                  <a:lnTo>
                    <a:pt x="310063" y="620180"/>
                  </a:lnTo>
                  <a:lnTo>
                    <a:pt x="264257" y="616818"/>
                  </a:lnTo>
                  <a:lnTo>
                    <a:pt x="220533" y="607053"/>
                  </a:lnTo>
                  <a:lnTo>
                    <a:pt x="179372" y="591364"/>
                  </a:lnTo>
                  <a:lnTo>
                    <a:pt x="141255" y="570230"/>
                  </a:lnTo>
                  <a:lnTo>
                    <a:pt x="106661" y="544133"/>
                  </a:lnTo>
                  <a:lnTo>
                    <a:pt x="76072" y="513550"/>
                  </a:lnTo>
                  <a:lnTo>
                    <a:pt x="49967" y="478963"/>
                  </a:lnTo>
                  <a:lnTo>
                    <a:pt x="28827" y="440850"/>
                  </a:lnTo>
                  <a:lnTo>
                    <a:pt x="13132" y="399692"/>
                  </a:lnTo>
                  <a:lnTo>
                    <a:pt x="3363" y="355968"/>
                  </a:lnTo>
                  <a:lnTo>
                    <a:pt x="0" y="310158"/>
                  </a:lnTo>
                  <a:lnTo>
                    <a:pt x="3363" y="264323"/>
                  </a:lnTo>
                  <a:lnTo>
                    <a:pt x="13132" y="220577"/>
                  </a:lnTo>
                  <a:lnTo>
                    <a:pt x="28827" y="179399"/>
                  </a:lnTo>
                  <a:lnTo>
                    <a:pt x="49967" y="141270"/>
                  </a:lnTo>
                  <a:lnTo>
                    <a:pt x="76072" y="106668"/>
                  </a:lnTo>
                  <a:lnTo>
                    <a:pt x="106661" y="76073"/>
                  </a:lnTo>
                  <a:lnTo>
                    <a:pt x="141255" y="49966"/>
                  </a:lnTo>
                  <a:lnTo>
                    <a:pt x="179372" y="28825"/>
                  </a:lnTo>
                  <a:lnTo>
                    <a:pt x="220533" y="13131"/>
                  </a:lnTo>
                  <a:lnTo>
                    <a:pt x="264257" y="3362"/>
                  </a:lnTo>
                  <a:lnTo>
                    <a:pt x="310063" y="0"/>
                  </a:lnTo>
                  <a:lnTo>
                    <a:pt x="355877" y="3362"/>
                  </a:lnTo>
                  <a:lnTo>
                    <a:pt x="399600" y="13131"/>
                  </a:lnTo>
                  <a:lnTo>
                    <a:pt x="440754" y="28825"/>
                  </a:lnTo>
                  <a:lnTo>
                    <a:pt x="478859" y="49966"/>
                  </a:lnTo>
                  <a:lnTo>
                    <a:pt x="513437" y="76073"/>
                  </a:lnTo>
                  <a:lnTo>
                    <a:pt x="544010" y="106668"/>
                  </a:lnTo>
                  <a:lnTo>
                    <a:pt x="570097" y="141270"/>
                  </a:lnTo>
                  <a:lnTo>
                    <a:pt x="591221" y="179399"/>
                  </a:lnTo>
                  <a:lnTo>
                    <a:pt x="606903" y="220577"/>
                  </a:lnTo>
                  <a:lnTo>
                    <a:pt x="616663" y="264323"/>
                  </a:lnTo>
                  <a:lnTo>
                    <a:pt x="620023" y="310158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1">
              <a:extLst>
                <a:ext uri="{FF2B5EF4-FFF2-40B4-BE49-F238E27FC236}">
                  <a16:creationId xmlns:a16="http://schemas.microsoft.com/office/drawing/2014/main" id="{E9A95A71-D496-1662-B99B-C998A89E61B5}"/>
                </a:ext>
              </a:extLst>
            </p:cNvPr>
            <p:cNvPicPr/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88489" y="4883620"/>
              <a:ext cx="571469" cy="560161"/>
            </a:xfrm>
            <a:prstGeom prst="rect">
              <a:avLst/>
            </a:prstGeom>
          </p:spPr>
        </p:pic>
        <p:pic>
          <p:nvPicPr>
            <p:cNvPr id="87" name="object 82">
              <a:extLst>
                <a:ext uri="{FF2B5EF4-FFF2-40B4-BE49-F238E27FC236}">
                  <a16:creationId xmlns:a16="http://schemas.microsoft.com/office/drawing/2014/main" id="{336FC92A-D410-310B-7FD0-0CB1083BC76E}"/>
                </a:ext>
              </a:extLst>
            </p:cNvPr>
            <p:cNvPicPr/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95106" y="4874553"/>
              <a:ext cx="573301" cy="507840"/>
            </a:xfrm>
            <a:prstGeom prst="rect">
              <a:avLst/>
            </a:prstGeom>
          </p:spPr>
        </p:pic>
        <p:pic>
          <p:nvPicPr>
            <p:cNvPr id="88" name="object 83">
              <a:extLst>
                <a:ext uri="{FF2B5EF4-FFF2-40B4-BE49-F238E27FC236}">
                  <a16:creationId xmlns:a16="http://schemas.microsoft.com/office/drawing/2014/main" id="{222B6840-8B80-04B1-7BD0-E79A579F2579}"/>
                </a:ext>
              </a:extLst>
            </p:cNvPr>
            <p:cNvPicPr/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161636" y="4870479"/>
              <a:ext cx="339635" cy="202262"/>
            </a:xfrm>
            <a:prstGeom prst="rect">
              <a:avLst/>
            </a:prstGeom>
          </p:spPr>
        </p:pic>
        <p:pic>
          <p:nvPicPr>
            <p:cNvPr id="89" name="object 84">
              <a:extLst>
                <a:ext uri="{FF2B5EF4-FFF2-40B4-BE49-F238E27FC236}">
                  <a16:creationId xmlns:a16="http://schemas.microsoft.com/office/drawing/2014/main" id="{72680D4A-F604-359C-74DA-A826B22D6485}"/>
                </a:ext>
              </a:extLst>
            </p:cNvPr>
            <p:cNvPicPr/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84414" y="4951598"/>
              <a:ext cx="572277" cy="502916"/>
            </a:xfrm>
            <a:prstGeom prst="rect">
              <a:avLst/>
            </a:prstGeom>
          </p:spPr>
        </p:pic>
      </p:grpSp>
      <p:sp>
        <p:nvSpPr>
          <p:cNvPr id="76" name="object 74">
            <a:extLst>
              <a:ext uri="{FF2B5EF4-FFF2-40B4-BE49-F238E27FC236}">
                <a16:creationId xmlns:a16="http://schemas.microsoft.com/office/drawing/2014/main" id="{AECFF154-73FE-287D-5895-25A827E9F98E}"/>
              </a:ext>
            </a:extLst>
          </p:cNvPr>
          <p:cNvSpPr txBox="1"/>
          <p:nvPr/>
        </p:nvSpPr>
        <p:spPr>
          <a:xfrm>
            <a:off x="13249649" y="6507930"/>
            <a:ext cx="2940282" cy="50654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200" b="1" spc="85" dirty="0">
                <a:solidFill>
                  <a:srgbClr val="FFFFFF"/>
                </a:solidFill>
                <a:latin typeface="Maven Pro Bold" panose="020B0604020202020204" charset="0"/>
                <a:cs typeface="Trebuchet MS"/>
              </a:rPr>
              <a:t>ORTIGUEIRA</a:t>
            </a:r>
            <a:endParaRPr sz="3200" dirty="0">
              <a:latin typeface="Maven Pro Bold" panose="020B0604020202020204" charset="0"/>
              <a:cs typeface="Trebuchet MS"/>
            </a:endParaRPr>
          </a:p>
        </p:txBody>
      </p:sp>
      <p:sp>
        <p:nvSpPr>
          <p:cNvPr id="77" name="object 75">
            <a:extLst>
              <a:ext uri="{FF2B5EF4-FFF2-40B4-BE49-F238E27FC236}">
                <a16:creationId xmlns:a16="http://schemas.microsoft.com/office/drawing/2014/main" id="{4F8473DE-350A-CBA1-3A22-B4C4408B02FD}"/>
              </a:ext>
            </a:extLst>
          </p:cNvPr>
          <p:cNvSpPr txBox="1"/>
          <p:nvPr/>
        </p:nvSpPr>
        <p:spPr>
          <a:xfrm>
            <a:off x="3288827" y="8968827"/>
            <a:ext cx="2922599" cy="50654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200" b="1" spc="85" dirty="0">
                <a:solidFill>
                  <a:srgbClr val="FFFFFF"/>
                </a:solidFill>
                <a:latin typeface="Maven Pro Bold" panose="020B0604020202020204" charset="0"/>
                <a:cs typeface="Trebuchet MS"/>
              </a:rPr>
              <a:t>CASC</a:t>
            </a:r>
            <a:r>
              <a:rPr sz="3200" b="1" spc="-40" dirty="0">
                <a:solidFill>
                  <a:srgbClr val="FFFFFF"/>
                </a:solidFill>
                <a:latin typeface="Maven Pro Bold" panose="020B0604020202020204" charset="0"/>
                <a:cs typeface="Trebuchet MS"/>
              </a:rPr>
              <a:t>A</a:t>
            </a:r>
            <a:r>
              <a:rPr sz="3200" b="1" spc="80" dirty="0">
                <a:solidFill>
                  <a:srgbClr val="FFFFFF"/>
                </a:solidFill>
                <a:latin typeface="Maven Pro Bold" panose="020B0604020202020204" charset="0"/>
                <a:cs typeface="Trebuchet MS"/>
              </a:rPr>
              <a:t>VEL</a:t>
            </a:r>
            <a:endParaRPr sz="3200" dirty="0">
              <a:latin typeface="Maven Pro Bold" panose="020B0604020202020204" charset="0"/>
              <a:cs typeface="Trebuchet MS"/>
            </a:endParaRPr>
          </a:p>
        </p:txBody>
      </p:sp>
      <p:sp>
        <p:nvSpPr>
          <p:cNvPr id="78" name="object 76">
            <a:extLst>
              <a:ext uri="{FF2B5EF4-FFF2-40B4-BE49-F238E27FC236}">
                <a16:creationId xmlns:a16="http://schemas.microsoft.com/office/drawing/2014/main" id="{81D69258-7E02-D6DD-FB8A-CEC7B7621084}"/>
              </a:ext>
            </a:extLst>
          </p:cNvPr>
          <p:cNvSpPr txBox="1"/>
          <p:nvPr/>
        </p:nvSpPr>
        <p:spPr>
          <a:xfrm>
            <a:off x="15636976" y="10416958"/>
            <a:ext cx="3340447" cy="50654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200" b="1" spc="105" dirty="0">
                <a:solidFill>
                  <a:srgbClr val="FFFFFF"/>
                </a:solidFill>
                <a:latin typeface="Maven Pro Bold" panose="020B0604020202020204" charset="0"/>
                <a:cs typeface="Trebuchet MS"/>
              </a:rPr>
              <a:t>PARANAGUÁ</a:t>
            </a:r>
            <a:endParaRPr sz="3200" dirty="0">
              <a:latin typeface="Maven Pro Bold" panose="020B0604020202020204" charset="0"/>
              <a:cs typeface="Trebuchet MS"/>
            </a:endParaRPr>
          </a:p>
        </p:txBody>
      </p:sp>
      <p:sp>
        <p:nvSpPr>
          <p:cNvPr id="38" name="object 53">
            <a:extLst>
              <a:ext uri="{FF2B5EF4-FFF2-40B4-BE49-F238E27FC236}">
                <a16:creationId xmlns:a16="http://schemas.microsoft.com/office/drawing/2014/main" id="{1D16C2EF-94D2-8995-9A35-81B22343F5E4}"/>
              </a:ext>
            </a:extLst>
          </p:cNvPr>
          <p:cNvSpPr txBox="1"/>
          <p:nvPr/>
        </p:nvSpPr>
        <p:spPr>
          <a:xfrm>
            <a:off x="12163009" y="2934100"/>
            <a:ext cx="2173280" cy="50654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200" b="1" spc="120" dirty="0">
                <a:solidFill>
                  <a:srgbClr val="FFFFFF"/>
                </a:solidFill>
                <a:latin typeface="Maven Pro Bold" panose="020B0604020202020204" charset="0"/>
                <a:cs typeface="Trebuchet MS"/>
              </a:rPr>
              <a:t>CAMBÉ</a:t>
            </a:r>
            <a:endParaRPr sz="3200" dirty="0">
              <a:latin typeface="Maven Pro Bold" panose="020B0604020202020204" charset="0"/>
              <a:cs typeface="Trebuchet MS"/>
            </a:endParaRPr>
          </a:p>
        </p:txBody>
      </p:sp>
      <p:grpSp>
        <p:nvGrpSpPr>
          <p:cNvPr id="98" name="object 54">
            <a:extLst>
              <a:ext uri="{FF2B5EF4-FFF2-40B4-BE49-F238E27FC236}">
                <a16:creationId xmlns:a16="http://schemas.microsoft.com/office/drawing/2014/main" id="{45261FA8-62BD-356F-CE04-2B5BA8E187E0}"/>
              </a:ext>
            </a:extLst>
          </p:cNvPr>
          <p:cNvGrpSpPr/>
          <p:nvPr/>
        </p:nvGrpSpPr>
        <p:grpSpPr>
          <a:xfrm>
            <a:off x="1198088" y="1147864"/>
            <a:ext cx="2548244" cy="2081719"/>
            <a:chOff x="1317456" y="1288526"/>
            <a:chExt cx="2282825" cy="1743710"/>
          </a:xfrm>
          <a:solidFill>
            <a:srgbClr val="07103B"/>
          </a:solidFill>
        </p:grpSpPr>
        <p:sp>
          <p:nvSpPr>
            <p:cNvPr id="99" name="object 55">
              <a:extLst>
                <a:ext uri="{FF2B5EF4-FFF2-40B4-BE49-F238E27FC236}">
                  <a16:creationId xmlns:a16="http://schemas.microsoft.com/office/drawing/2014/main" id="{5E703C9A-1137-9A38-7E29-5C616C7E4461}"/>
                </a:ext>
              </a:extLst>
            </p:cNvPr>
            <p:cNvSpPr/>
            <p:nvPr/>
          </p:nvSpPr>
          <p:spPr>
            <a:xfrm>
              <a:off x="1327934" y="1299004"/>
              <a:ext cx="2261870" cy="1722755"/>
            </a:xfrm>
            <a:custGeom>
              <a:avLst/>
              <a:gdLst/>
              <a:ahLst/>
              <a:cxnLst/>
              <a:rect l="l" t="t" r="r" b="b"/>
              <a:pathLst>
                <a:path w="2261870" h="1722755">
                  <a:moveTo>
                    <a:pt x="2000912" y="0"/>
                  </a:moveTo>
                  <a:lnTo>
                    <a:pt x="260798" y="0"/>
                  </a:lnTo>
                  <a:lnTo>
                    <a:pt x="213918" y="4201"/>
                  </a:lnTo>
                  <a:lnTo>
                    <a:pt x="169796" y="16315"/>
                  </a:lnTo>
                  <a:lnTo>
                    <a:pt x="129167" y="35606"/>
                  </a:lnTo>
                  <a:lnTo>
                    <a:pt x="92768" y="61335"/>
                  </a:lnTo>
                  <a:lnTo>
                    <a:pt x="61335" y="92768"/>
                  </a:lnTo>
                  <a:lnTo>
                    <a:pt x="35606" y="129167"/>
                  </a:lnTo>
                  <a:lnTo>
                    <a:pt x="16315" y="169796"/>
                  </a:lnTo>
                  <a:lnTo>
                    <a:pt x="4201" y="213918"/>
                  </a:lnTo>
                  <a:lnTo>
                    <a:pt x="0" y="260798"/>
                  </a:lnTo>
                  <a:lnTo>
                    <a:pt x="0" y="1461421"/>
                  </a:lnTo>
                  <a:lnTo>
                    <a:pt x="4201" y="1508300"/>
                  </a:lnTo>
                  <a:lnTo>
                    <a:pt x="16315" y="1552423"/>
                  </a:lnTo>
                  <a:lnTo>
                    <a:pt x="35606" y="1593052"/>
                  </a:lnTo>
                  <a:lnTo>
                    <a:pt x="61335" y="1629451"/>
                  </a:lnTo>
                  <a:lnTo>
                    <a:pt x="92768" y="1660884"/>
                  </a:lnTo>
                  <a:lnTo>
                    <a:pt x="129167" y="1686613"/>
                  </a:lnTo>
                  <a:lnTo>
                    <a:pt x="169796" y="1705903"/>
                  </a:lnTo>
                  <a:lnTo>
                    <a:pt x="213918" y="1718018"/>
                  </a:lnTo>
                  <a:lnTo>
                    <a:pt x="260798" y="1722219"/>
                  </a:lnTo>
                  <a:lnTo>
                    <a:pt x="2000912" y="1722219"/>
                  </a:lnTo>
                  <a:lnTo>
                    <a:pt x="2047792" y="1718018"/>
                  </a:lnTo>
                  <a:lnTo>
                    <a:pt x="2091914" y="1705903"/>
                  </a:lnTo>
                  <a:lnTo>
                    <a:pt x="2132543" y="1686613"/>
                  </a:lnTo>
                  <a:lnTo>
                    <a:pt x="2168943" y="1660884"/>
                  </a:lnTo>
                  <a:lnTo>
                    <a:pt x="2200375" y="1629451"/>
                  </a:lnTo>
                  <a:lnTo>
                    <a:pt x="2226105" y="1593052"/>
                  </a:lnTo>
                  <a:lnTo>
                    <a:pt x="2245395" y="1552423"/>
                  </a:lnTo>
                  <a:lnTo>
                    <a:pt x="2257509" y="1508300"/>
                  </a:lnTo>
                  <a:lnTo>
                    <a:pt x="2261711" y="1461421"/>
                  </a:lnTo>
                  <a:lnTo>
                    <a:pt x="2261711" y="260798"/>
                  </a:lnTo>
                  <a:lnTo>
                    <a:pt x="2257509" y="213918"/>
                  </a:lnTo>
                  <a:lnTo>
                    <a:pt x="2245395" y="169796"/>
                  </a:lnTo>
                  <a:lnTo>
                    <a:pt x="2226105" y="129167"/>
                  </a:lnTo>
                  <a:lnTo>
                    <a:pt x="2200375" y="92768"/>
                  </a:lnTo>
                  <a:lnTo>
                    <a:pt x="2168943" y="61335"/>
                  </a:lnTo>
                  <a:lnTo>
                    <a:pt x="2132543" y="35606"/>
                  </a:lnTo>
                  <a:lnTo>
                    <a:pt x="2091914" y="16315"/>
                  </a:lnTo>
                  <a:lnTo>
                    <a:pt x="2047792" y="4201"/>
                  </a:lnTo>
                  <a:lnTo>
                    <a:pt x="2000912" y="0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56">
              <a:extLst>
                <a:ext uri="{FF2B5EF4-FFF2-40B4-BE49-F238E27FC236}">
                  <a16:creationId xmlns:a16="http://schemas.microsoft.com/office/drawing/2014/main" id="{0E707A49-0F59-5CB0-EBF9-F5A4BEE2E337}"/>
                </a:ext>
              </a:extLst>
            </p:cNvPr>
            <p:cNvSpPr/>
            <p:nvPr/>
          </p:nvSpPr>
          <p:spPr>
            <a:xfrm>
              <a:off x="1327934" y="1299004"/>
              <a:ext cx="2261870" cy="1722755"/>
            </a:xfrm>
            <a:custGeom>
              <a:avLst/>
              <a:gdLst/>
              <a:ahLst/>
              <a:cxnLst/>
              <a:rect l="l" t="t" r="r" b="b"/>
              <a:pathLst>
                <a:path w="2261870" h="1722755">
                  <a:moveTo>
                    <a:pt x="2000912" y="1722219"/>
                  </a:moveTo>
                  <a:lnTo>
                    <a:pt x="260798" y="1722219"/>
                  </a:lnTo>
                  <a:lnTo>
                    <a:pt x="213918" y="1718018"/>
                  </a:lnTo>
                  <a:lnTo>
                    <a:pt x="169796" y="1705903"/>
                  </a:lnTo>
                  <a:lnTo>
                    <a:pt x="129167" y="1686613"/>
                  </a:lnTo>
                  <a:lnTo>
                    <a:pt x="92768" y="1660884"/>
                  </a:lnTo>
                  <a:lnTo>
                    <a:pt x="61335" y="1629451"/>
                  </a:lnTo>
                  <a:lnTo>
                    <a:pt x="35606" y="1593052"/>
                  </a:lnTo>
                  <a:lnTo>
                    <a:pt x="16315" y="1552423"/>
                  </a:lnTo>
                  <a:lnTo>
                    <a:pt x="4201" y="1508300"/>
                  </a:lnTo>
                  <a:lnTo>
                    <a:pt x="0" y="1461421"/>
                  </a:lnTo>
                  <a:lnTo>
                    <a:pt x="0" y="260798"/>
                  </a:lnTo>
                  <a:lnTo>
                    <a:pt x="4201" y="213918"/>
                  </a:lnTo>
                  <a:lnTo>
                    <a:pt x="16315" y="169796"/>
                  </a:lnTo>
                  <a:lnTo>
                    <a:pt x="35606" y="129167"/>
                  </a:lnTo>
                  <a:lnTo>
                    <a:pt x="61335" y="92768"/>
                  </a:lnTo>
                  <a:lnTo>
                    <a:pt x="92768" y="61335"/>
                  </a:lnTo>
                  <a:lnTo>
                    <a:pt x="129167" y="35606"/>
                  </a:lnTo>
                  <a:lnTo>
                    <a:pt x="169796" y="16315"/>
                  </a:lnTo>
                  <a:lnTo>
                    <a:pt x="213918" y="4201"/>
                  </a:lnTo>
                  <a:lnTo>
                    <a:pt x="260798" y="0"/>
                  </a:lnTo>
                  <a:lnTo>
                    <a:pt x="2000912" y="0"/>
                  </a:lnTo>
                  <a:lnTo>
                    <a:pt x="2047792" y="4201"/>
                  </a:lnTo>
                  <a:lnTo>
                    <a:pt x="2091914" y="16315"/>
                  </a:lnTo>
                  <a:lnTo>
                    <a:pt x="2132543" y="35606"/>
                  </a:lnTo>
                  <a:lnTo>
                    <a:pt x="2168943" y="61335"/>
                  </a:lnTo>
                  <a:lnTo>
                    <a:pt x="2200375" y="92768"/>
                  </a:lnTo>
                  <a:lnTo>
                    <a:pt x="2226105" y="129167"/>
                  </a:lnTo>
                  <a:lnTo>
                    <a:pt x="2245395" y="169796"/>
                  </a:lnTo>
                  <a:lnTo>
                    <a:pt x="2257509" y="213918"/>
                  </a:lnTo>
                  <a:lnTo>
                    <a:pt x="2261711" y="260798"/>
                  </a:lnTo>
                  <a:lnTo>
                    <a:pt x="2261711" y="1461421"/>
                  </a:lnTo>
                  <a:lnTo>
                    <a:pt x="2257509" y="1508300"/>
                  </a:lnTo>
                  <a:lnTo>
                    <a:pt x="2245395" y="1552423"/>
                  </a:lnTo>
                  <a:lnTo>
                    <a:pt x="2226105" y="1593052"/>
                  </a:lnTo>
                  <a:lnTo>
                    <a:pt x="2200375" y="1629451"/>
                  </a:lnTo>
                  <a:lnTo>
                    <a:pt x="2168943" y="1660884"/>
                  </a:lnTo>
                  <a:lnTo>
                    <a:pt x="2132543" y="1686613"/>
                  </a:lnTo>
                  <a:lnTo>
                    <a:pt x="2091914" y="1705903"/>
                  </a:lnTo>
                  <a:lnTo>
                    <a:pt x="2047792" y="1718018"/>
                  </a:lnTo>
                  <a:lnTo>
                    <a:pt x="2000912" y="1722219"/>
                  </a:lnTo>
                  <a:close/>
                </a:path>
              </a:pathLst>
            </a:custGeom>
            <a:grpFill/>
            <a:ln w="20941"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57">
            <a:extLst>
              <a:ext uri="{FF2B5EF4-FFF2-40B4-BE49-F238E27FC236}">
                <a16:creationId xmlns:a16="http://schemas.microsoft.com/office/drawing/2014/main" id="{25573947-B566-AAAF-4A50-484F4F0CEDFF}"/>
              </a:ext>
            </a:extLst>
          </p:cNvPr>
          <p:cNvSpPr txBox="1"/>
          <p:nvPr/>
        </p:nvSpPr>
        <p:spPr>
          <a:xfrm>
            <a:off x="1262188" y="1606652"/>
            <a:ext cx="2393362" cy="1090683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065" marR="5080" algn="ctr">
              <a:lnSpc>
                <a:spcPts val="2660"/>
              </a:lnSpc>
              <a:spcBef>
                <a:spcPts val="405"/>
              </a:spcBef>
            </a:pPr>
            <a:r>
              <a:rPr lang="pt-BR" sz="2400" b="1" dirty="0">
                <a:solidFill>
                  <a:srgbClr val="FFFFFF"/>
                </a:solidFill>
                <a:latin typeface="Maven Pro Bold" panose="020B0604020202020204" charset="0"/>
              </a:rPr>
              <a:t>Serviço Multimodal para o Paraguai</a:t>
            </a:r>
            <a:endParaRPr sz="2400" b="1" dirty="0">
              <a:solidFill>
                <a:srgbClr val="FFFFFF"/>
              </a:solidFill>
              <a:latin typeface="Maven Pro Bold" panose="020B0604020202020204" charset="0"/>
            </a:endParaRPr>
          </a:p>
        </p:txBody>
      </p:sp>
      <p:sp>
        <p:nvSpPr>
          <p:cNvPr id="109" name="Freeform 4">
            <a:extLst>
              <a:ext uri="{FF2B5EF4-FFF2-40B4-BE49-F238E27FC236}">
                <a16:creationId xmlns:a16="http://schemas.microsoft.com/office/drawing/2014/main" id="{7C7E89BA-063C-7100-8119-11B10B2DA0EF}"/>
              </a:ext>
            </a:extLst>
          </p:cNvPr>
          <p:cNvSpPr/>
          <p:nvPr/>
        </p:nvSpPr>
        <p:spPr>
          <a:xfrm>
            <a:off x="31184228" y="1225050"/>
            <a:ext cx="3941518" cy="1853888"/>
          </a:xfrm>
          <a:custGeom>
            <a:avLst/>
            <a:gdLst/>
            <a:ahLst/>
            <a:cxnLst/>
            <a:rect l="l" t="t" r="r" b="b"/>
            <a:pathLst>
              <a:path w="3941518" h="1853888">
                <a:moveTo>
                  <a:pt x="0" y="0"/>
                </a:moveTo>
                <a:lnTo>
                  <a:pt x="3941518" y="0"/>
                </a:lnTo>
                <a:lnTo>
                  <a:pt x="3941518" y="1853888"/>
                </a:lnTo>
                <a:lnTo>
                  <a:pt x="0" y="1853888"/>
                </a:lnTo>
                <a:lnTo>
                  <a:pt x="0" y="0"/>
                </a:lnTo>
                <a:close/>
              </a:path>
            </a:pathLst>
          </a:custGeom>
          <a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80150" b="-43157"/>
            </a:stretch>
          </a:blipFill>
        </p:spPr>
        <p:txBody>
          <a:bodyPr/>
          <a:lstStyle/>
          <a:p>
            <a:endParaRPr lang="pt-BR">
              <a:latin typeface="Maven Pro" panose="020B0604020202020204" charset="0"/>
            </a:endParaRPr>
          </a:p>
        </p:txBody>
      </p:sp>
      <p:sp>
        <p:nvSpPr>
          <p:cNvPr id="110" name="TextBox 13">
            <a:extLst>
              <a:ext uri="{FF2B5EF4-FFF2-40B4-BE49-F238E27FC236}">
                <a16:creationId xmlns:a16="http://schemas.microsoft.com/office/drawing/2014/main" id="{9D574F58-875D-EF14-D5E7-800692CFA01A}"/>
              </a:ext>
            </a:extLst>
          </p:cNvPr>
          <p:cNvSpPr txBox="1"/>
          <p:nvPr/>
        </p:nvSpPr>
        <p:spPr>
          <a:xfrm>
            <a:off x="1546218" y="14804649"/>
            <a:ext cx="16699478" cy="37010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4000" b="1" dirty="0">
                <a:solidFill>
                  <a:schemeClr val="bg1"/>
                </a:solidFill>
                <a:latin typeface="Maven Pro Bold"/>
                <a:sym typeface="Open Sans"/>
              </a:rPr>
              <a:t>Um dos melhores atendimentos ferroviários do país, conectando diretamente o interior do Brasil com a TCP</a:t>
            </a:r>
          </a:p>
          <a:p>
            <a:pPr>
              <a:lnSpc>
                <a:spcPct val="150000"/>
              </a:lnSpc>
            </a:pPr>
            <a:endParaRPr lang="pt-BR" sz="2800" b="1" dirty="0">
              <a:solidFill>
                <a:schemeClr val="bg1"/>
              </a:solidFill>
              <a:latin typeface="Maven Pro Bold"/>
              <a:sym typeface="Open Sans"/>
            </a:endParaRPr>
          </a:p>
          <a:p>
            <a:pPr>
              <a:lnSpc>
                <a:spcPct val="150000"/>
              </a:lnSpc>
            </a:pPr>
            <a:r>
              <a:rPr lang="pt-BR" sz="2800" dirty="0">
                <a:solidFill>
                  <a:schemeClr val="bg1"/>
                </a:solidFill>
                <a:latin typeface="Maven Pro Bold"/>
                <a:sym typeface="Open Sans"/>
              </a:rPr>
              <a:t>Cascavel–Paranaguá (TCP): em média, 5 dias</a:t>
            </a:r>
          </a:p>
          <a:p>
            <a:pPr>
              <a:lnSpc>
                <a:spcPct val="150000"/>
              </a:lnSpc>
            </a:pPr>
            <a:r>
              <a:rPr lang="pt-BR" sz="2800" dirty="0">
                <a:solidFill>
                  <a:schemeClr val="bg1"/>
                </a:solidFill>
                <a:latin typeface="Maven Pro Bold"/>
                <a:sym typeface="Open Sans"/>
              </a:rPr>
              <a:t>Ortigueira–Paranaguá (TCP): em média, 3 dias</a:t>
            </a:r>
            <a:endParaRPr lang="pt-BR" sz="2800" noProof="0" dirty="0">
              <a:solidFill>
                <a:schemeClr val="bg1"/>
              </a:solidFill>
              <a:latin typeface="Maven Pro" panose="020B060402020202020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19" name="object 34">
            <a:extLst>
              <a:ext uri="{FF2B5EF4-FFF2-40B4-BE49-F238E27FC236}">
                <a16:creationId xmlns:a16="http://schemas.microsoft.com/office/drawing/2014/main" id="{D75119C4-FBB0-DA64-882D-495505BE0725}"/>
              </a:ext>
            </a:extLst>
          </p:cNvPr>
          <p:cNvSpPr txBox="1"/>
          <p:nvPr/>
        </p:nvSpPr>
        <p:spPr>
          <a:xfrm>
            <a:off x="24618726" y="11395415"/>
            <a:ext cx="10846024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pt-BR" sz="4800" b="1" dirty="0">
                <a:solidFill>
                  <a:srgbClr val="FFFFFF"/>
                </a:solidFill>
                <a:latin typeface="Maven Pro Bold"/>
              </a:rPr>
              <a:t>Volume histórico (TEU)</a:t>
            </a:r>
            <a:endParaRPr sz="4800" b="1" dirty="0">
              <a:solidFill>
                <a:srgbClr val="FFFFFF"/>
              </a:solidFill>
              <a:latin typeface="Maven Pro Bold"/>
            </a:endParaRPr>
          </a:p>
        </p:txBody>
      </p:sp>
      <p:sp>
        <p:nvSpPr>
          <p:cNvPr id="112" name="Retângulo 111">
            <a:extLst>
              <a:ext uri="{FF2B5EF4-FFF2-40B4-BE49-F238E27FC236}">
                <a16:creationId xmlns:a16="http://schemas.microsoft.com/office/drawing/2014/main" id="{9D5584B0-90C3-F772-65EB-9006D976EFF2}"/>
              </a:ext>
            </a:extLst>
          </p:cNvPr>
          <p:cNvSpPr/>
          <p:nvPr/>
        </p:nvSpPr>
        <p:spPr>
          <a:xfrm>
            <a:off x="22354199" y="4169579"/>
            <a:ext cx="4949442" cy="812578"/>
          </a:xfrm>
          <a:prstGeom prst="rect">
            <a:avLst/>
          </a:prstGeom>
          <a:solidFill>
            <a:srgbClr val="3CB4E7"/>
          </a:solidFill>
          <a:ln>
            <a:solidFill>
              <a:srgbClr val="CDD8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object 33">
            <a:extLst>
              <a:ext uri="{FF2B5EF4-FFF2-40B4-BE49-F238E27FC236}">
                <a16:creationId xmlns:a16="http://schemas.microsoft.com/office/drawing/2014/main" id="{827E9093-0446-9F62-7DBC-396FC9810B87}"/>
              </a:ext>
            </a:extLst>
          </p:cNvPr>
          <p:cNvSpPr txBox="1"/>
          <p:nvPr/>
        </p:nvSpPr>
        <p:spPr>
          <a:xfrm>
            <a:off x="22301783" y="3990990"/>
            <a:ext cx="6308725" cy="994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350" b="1" spc="-55" dirty="0" err="1">
                <a:solidFill>
                  <a:srgbClr val="0E3078"/>
                </a:solidFill>
                <a:latin typeface="Maven Pro" panose="020B0604020202020204" charset="0"/>
                <a:cs typeface="Arial"/>
              </a:rPr>
              <a:t>maior</a:t>
            </a:r>
            <a:r>
              <a:rPr sz="6350" b="1" spc="-220" dirty="0">
                <a:solidFill>
                  <a:srgbClr val="0E3078"/>
                </a:solidFill>
                <a:latin typeface="Maven Pro" panose="020B0604020202020204" charset="0"/>
                <a:cs typeface="Arial"/>
              </a:rPr>
              <a:t> </a:t>
            </a:r>
            <a:r>
              <a:rPr sz="6350" b="1" spc="-80" dirty="0">
                <a:solidFill>
                  <a:srgbClr val="0E3078"/>
                </a:solidFill>
                <a:latin typeface="Maven Pro" panose="020B0604020202020204" charset="0"/>
                <a:cs typeface="Arial"/>
              </a:rPr>
              <a:t>volume</a:t>
            </a:r>
            <a:endParaRPr sz="6350" dirty="0">
              <a:latin typeface="Maven Pro" panose="020B0604020202020204" charset="0"/>
              <a:cs typeface="Arial"/>
            </a:endParaRPr>
          </a:p>
        </p:txBody>
      </p:sp>
      <p:sp>
        <p:nvSpPr>
          <p:cNvPr id="113" name="Retângulo 112">
            <a:extLst>
              <a:ext uri="{FF2B5EF4-FFF2-40B4-BE49-F238E27FC236}">
                <a16:creationId xmlns:a16="http://schemas.microsoft.com/office/drawing/2014/main" id="{646FEE63-43F2-7EE7-7C96-170FE18CE951}"/>
              </a:ext>
            </a:extLst>
          </p:cNvPr>
          <p:cNvSpPr/>
          <p:nvPr/>
        </p:nvSpPr>
        <p:spPr>
          <a:xfrm>
            <a:off x="22354199" y="5035765"/>
            <a:ext cx="3895342" cy="812578"/>
          </a:xfrm>
          <a:prstGeom prst="rect">
            <a:avLst/>
          </a:prstGeom>
          <a:solidFill>
            <a:srgbClr val="3CB4E7"/>
          </a:solidFill>
          <a:ln>
            <a:solidFill>
              <a:srgbClr val="CDD8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1" name="object 33">
            <a:extLst>
              <a:ext uri="{FF2B5EF4-FFF2-40B4-BE49-F238E27FC236}">
                <a16:creationId xmlns:a16="http://schemas.microsoft.com/office/drawing/2014/main" id="{72967077-A0B5-F0FA-E883-C731EC9D3869}"/>
              </a:ext>
            </a:extLst>
          </p:cNvPr>
          <p:cNvSpPr txBox="1"/>
          <p:nvPr/>
        </p:nvSpPr>
        <p:spPr>
          <a:xfrm>
            <a:off x="22376093" y="4916591"/>
            <a:ext cx="6629241" cy="99065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pt-BR" sz="6350" b="1" spc="-55" dirty="0">
                <a:solidFill>
                  <a:srgbClr val="0E3078"/>
                </a:solidFill>
                <a:latin typeface="Maven Pro" panose="020B0604020202020204" charset="0"/>
                <a:cs typeface="Arial"/>
              </a:rPr>
              <a:t>ferroviário</a:t>
            </a:r>
            <a:endParaRPr sz="6350" dirty="0">
              <a:latin typeface="Maven Pro" panose="020B0604020202020204" charset="0"/>
              <a:cs typeface="Arial"/>
            </a:endParaRP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13089E0E-3156-7400-08CE-B0FDC2E0D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454595" y="13475046"/>
            <a:ext cx="13179581" cy="5392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17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F2006-E7B2-7F00-4240-BF142F793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34D0909-34A3-41AF-89B0-EC6E5E0AFE70}"/>
              </a:ext>
            </a:extLst>
          </p:cNvPr>
          <p:cNvSpPr/>
          <p:nvPr/>
        </p:nvSpPr>
        <p:spPr>
          <a:xfrm>
            <a:off x="0" y="0"/>
            <a:ext cx="36576000" cy="20574000"/>
          </a:xfrm>
          <a:custGeom>
            <a:avLst/>
            <a:gdLst/>
            <a:ahLst/>
            <a:cxnLst/>
            <a:rect l="l" t="t" r="r" b="b"/>
            <a:pathLst>
              <a:path w="36576000" h="20574000">
                <a:moveTo>
                  <a:pt x="0" y="0"/>
                </a:moveTo>
                <a:lnTo>
                  <a:pt x="36576000" y="0"/>
                </a:lnTo>
                <a:lnTo>
                  <a:pt x="36576000" y="20574000"/>
                </a:lnTo>
                <a:lnTo>
                  <a:pt x="0" y="2057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3169" t="-15782" b="-6416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9" name="Freeform 3">
            <a:extLst>
              <a:ext uri="{FF2B5EF4-FFF2-40B4-BE49-F238E27FC236}">
                <a16:creationId xmlns:a16="http://schemas.microsoft.com/office/drawing/2014/main" id="{4685584C-57A4-146C-6283-E50B552CE2BA}"/>
              </a:ext>
            </a:extLst>
          </p:cNvPr>
          <p:cNvSpPr/>
          <p:nvPr/>
        </p:nvSpPr>
        <p:spPr>
          <a:xfrm>
            <a:off x="-2643081" y="1542389"/>
            <a:ext cx="17938540" cy="2239932"/>
          </a:xfrm>
          <a:prstGeom prst="roundRect">
            <a:avLst/>
          </a:prstGeom>
          <a:solidFill>
            <a:srgbClr val="07103B"/>
          </a:solidFill>
        </p:spPr>
        <p:txBody>
          <a:bodyPr/>
          <a:lstStyle/>
          <a:p>
            <a:endParaRPr lang="pt-BR"/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3C929BED-EE55-A422-4903-93FE432CFDAD}"/>
              </a:ext>
            </a:extLst>
          </p:cNvPr>
          <p:cNvSpPr txBox="1"/>
          <p:nvPr/>
        </p:nvSpPr>
        <p:spPr>
          <a:xfrm>
            <a:off x="812860" y="1820746"/>
            <a:ext cx="15854952" cy="1683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56"/>
              </a:lnSpc>
              <a:spcBef>
                <a:spcPct val="0"/>
              </a:spcBef>
            </a:pPr>
            <a:r>
              <a:rPr lang="pt-BR" sz="4897" b="1" dirty="0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Distribuição das Cargas da TCP por Segmento – EXPO e IMPO</a:t>
            </a:r>
            <a:endParaRPr lang="en-US" sz="4897" b="1" dirty="0">
              <a:solidFill>
                <a:srgbClr val="FFFFFF"/>
              </a:solidFill>
              <a:latin typeface="Maven Pro Bold"/>
              <a:ea typeface="Maven Pro Bold"/>
              <a:cs typeface="Maven Pro Bold"/>
              <a:sym typeface="Maven Pro Bold"/>
            </a:endParaRP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F7C74C84-2770-1E29-F46D-B14EE5F25644}"/>
              </a:ext>
            </a:extLst>
          </p:cNvPr>
          <p:cNvSpPr txBox="1"/>
          <p:nvPr/>
        </p:nvSpPr>
        <p:spPr>
          <a:xfrm>
            <a:off x="23026920" y="7252256"/>
            <a:ext cx="14572330" cy="788742"/>
          </a:xfrm>
          <a:prstGeom prst="rect">
            <a:avLst/>
          </a:prstGeom>
          <a:noFill/>
          <a:ln cmpd="sng">
            <a:noFill/>
          </a:ln>
        </p:spPr>
        <p:txBody>
          <a:bodyPr wrap="square" lIns="91440" tIns="45720" rIns="91440" bIns="4572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79715" indent="-342900">
              <a:lnSpc>
                <a:spcPct val="150000"/>
              </a:lnSpc>
              <a:spcAft>
                <a:spcPts val="400"/>
              </a:spcAft>
              <a:buSzPct val="130000"/>
              <a:buFont typeface="Arial" panose="020B0604020202020204" pitchFamily="34" charset="0"/>
              <a:buChar char="•"/>
              <a:defRPr sz="1800" b="1">
                <a:solidFill>
                  <a:srgbClr val="002060"/>
                </a:solidFill>
                <a:latin typeface="Maven Pro" panose="02000000000000000000" pitchFamily="2" charset="0"/>
              </a:defRPr>
            </a:lvl1pPr>
          </a:lstStyle>
          <a:p>
            <a:pPr marL="36195" indent="0">
              <a:buClr>
                <a:srgbClr val="1B2D70"/>
              </a:buClr>
              <a:buNone/>
            </a:pPr>
            <a:r>
              <a:rPr lang="en-US" sz="3471" spc="111" dirty="0">
                <a:solidFill>
                  <a:srgbClr val="182D70"/>
                </a:solidFill>
                <a:latin typeface="Maven Pro Bold"/>
              </a:rPr>
              <a:t>Top </a:t>
            </a:r>
            <a:r>
              <a:rPr lang="en-US" sz="3471" spc="111" dirty="0" err="1">
                <a:solidFill>
                  <a:srgbClr val="182D70"/>
                </a:solidFill>
                <a:latin typeface="Maven Pro Bold"/>
              </a:rPr>
              <a:t>Clientes</a:t>
            </a:r>
            <a:r>
              <a:rPr lang="en-US" sz="3471" spc="111" dirty="0">
                <a:solidFill>
                  <a:srgbClr val="182D70"/>
                </a:solidFill>
                <a:latin typeface="Maven Pro Bold"/>
              </a:rPr>
              <a:t>: 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607D780C-CDAD-E8BB-1F76-1211287132E0}"/>
              </a:ext>
            </a:extLst>
          </p:cNvPr>
          <p:cNvSpPr txBox="1"/>
          <p:nvPr/>
        </p:nvSpPr>
        <p:spPr>
          <a:xfrm>
            <a:off x="23069704" y="15040106"/>
            <a:ext cx="14572330" cy="788742"/>
          </a:xfrm>
          <a:prstGeom prst="rect">
            <a:avLst/>
          </a:prstGeom>
          <a:noFill/>
          <a:ln cmpd="sng">
            <a:noFill/>
          </a:ln>
        </p:spPr>
        <p:txBody>
          <a:bodyPr wrap="square" lIns="91440" tIns="45720" rIns="91440" bIns="4572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379715" indent="-342900">
              <a:lnSpc>
                <a:spcPct val="150000"/>
              </a:lnSpc>
              <a:spcAft>
                <a:spcPts val="400"/>
              </a:spcAft>
              <a:buSzPct val="130000"/>
              <a:buFont typeface="Arial" panose="020B0604020202020204" pitchFamily="34" charset="0"/>
              <a:buChar char="•"/>
              <a:defRPr sz="1800" b="1">
                <a:solidFill>
                  <a:srgbClr val="002060"/>
                </a:solidFill>
                <a:latin typeface="Maven Pro" panose="02000000000000000000" pitchFamily="2" charset="0"/>
              </a:defRPr>
            </a:lvl1pPr>
          </a:lstStyle>
          <a:p>
            <a:pPr marL="36195" indent="0">
              <a:buClr>
                <a:srgbClr val="1B2D70"/>
              </a:buClr>
              <a:buNone/>
            </a:pPr>
            <a:r>
              <a:rPr lang="en-US" sz="3471" spc="111" dirty="0">
                <a:solidFill>
                  <a:srgbClr val="182D70"/>
                </a:solidFill>
                <a:latin typeface="Maven Pro Bold"/>
              </a:rPr>
              <a:t>Top </a:t>
            </a:r>
            <a:r>
              <a:rPr lang="en-US" sz="3471" spc="111" dirty="0" err="1">
                <a:solidFill>
                  <a:srgbClr val="182D70"/>
                </a:solidFill>
                <a:latin typeface="Maven Pro Bold"/>
              </a:rPr>
              <a:t>Clientes</a:t>
            </a:r>
            <a:r>
              <a:rPr lang="en-US" sz="3471" spc="111" dirty="0">
                <a:solidFill>
                  <a:srgbClr val="182D70"/>
                </a:solidFill>
                <a:latin typeface="Maven Pro Bold"/>
              </a:rPr>
              <a:t>:</a:t>
            </a:r>
          </a:p>
        </p:txBody>
      </p:sp>
      <p:pic>
        <p:nvPicPr>
          <p:cNvPr id="55" name="Picture 10">
            <a:extLst>
              <a:ext uri="{FF2B5EF4-FFF2-40B4-BE49-F238E27FC236}">
                <a16:creationId xmlns:a16="http://schemas.microsoft.com/office/drawing/2014/main" id="{ABCE4EC1-3DDC-5FD7-42D3-77A1A3E3E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442074" y="8481347"/>
            <a:ext cx="2461806" cy="1717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14">
            <a:extLst>
              <a:ext uri="{FF2B5EF4-FFF2-40B4-BE49-F238E27FC236}">
                <a16:creationId xmlns:a16="http://schemas.microsoft.com/office/drawing/2014/main" id="{15D72D7E-32E3-FC2C-9663-A3BEFBA93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845006" y="8679442"/>
            <a:ext cx="2523589" cy="1201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16" descr="Home - JBS Brasil">
            <a:extLst>
              <a:ext uri="{FF2B5EF4-FFF2-40B4-BE49-F238E27FC236}">
                <a16:creationId xmlns:a16="http://schemas.microsoft.com/office/drawing/2014/main" id="{29D9A222-7B80-7CFC-C6A9-395FE5B5B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507084" y="8903409"/>
            <a:ext cx="2748542" cy="873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18" descr="Identidade Visual - Cotriguaçu">
            <a:extLst>
              <a:ext uri="{FF2B5EF4-FFF2-40B4-BE49-F238E27FC236}">
                <a16:creationId xmlns:a16="http://schemas.microsoft.com/office/drawing/2014/main" id="{0C3375AF-BE59-5B74-5D34-D02A7262DD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4675"/>
          <a:stretch>
            <a:fillRect/>
          </a:stretch>
        </p:blipFill>
        <p:spPr bwMode="auto">
          <a:xfrm>
            <a:off x="23024922" y="8232777"/>
            <a:ext cx="3062423" cy="1966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32">
            <a:extLst>
              <a:ext uri="{FF2B5EF4-FFF2-40B4-BE49-F238E27FC236}">
                <a16:creationId xmlns:a16="http://schemas.microsoft.com/office/drawing/2014/main" id="{FB8C873C-5B1B-43E8-2A38-2C7858110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319893" y="16762385"/>
            <a:ext cx="3211381" cy="736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34">
            <a:extLst>
              <a:ext uri="{FF2B5EF4-FFF2-40B4-BE49-F238E27FC236}">
                <a16:creationId xmlns:a16="http://schemas.microsoft.com/office/drawing/2014/main" id="{E2E21DCE-3057-7924-2793-9FFF753ED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001812" y="16833303"/>
            <a:ext cx="2694502" cy="736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36">
            <a:extLst>
              <a:ext uri="{FF2B5EF4-FFF2-40B4-BE49-F238E27FC236}">
                <a16:creationId xmlns:a16="http://schemas.microsoft.com/office/drawing/2014/main" id="{4BA7A076-42CE-85EF-7B32-E0BD0327C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042674" y="16340243"/>
            <a:ext cx="1466251" cy="1466251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38">
            <a:extLst>
              <a:ext uri="{FF2B5EF4-FFF2-40B4-BE49-F238E27FC236}">
                <a16:creationId xmlns:a16="http://schemas.microsoft.com/office/drawing/2014/main" id="{4102C966-1CFB-5F9F-671B-25AB1AC7D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399593" y="16363591"/>
            <a:ext cx="1466251" cy="1466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object 5">
            <a:extLst>
              <a:ext uri="{FF2B5EF4-FFF2-40B4-BE49-F238E27FC236}">
                <a16:creationId xmlns:a16="http://schemas.microsoft.com/office/drawing/2014/main" id="{0FCA3B13-A242-9DA2-C855-49AD667A7D25}"/>
              </a:ext>
            </a:extLst>
          </p:cNvPr>
          <p:cNvSpPr/>
          <p:nvPr/>
        </p:nvSpPr>
        <p:spPr>
          <a:xfrm>
            <a:off x="16913962" y="6340218"/>
            <a:ext cx="2762538" cy="1095024"/>
          </a:xfrm>
          <a:custGeom>
            <a:avLst/>
            <a:gdLst/>
            <a:ahLst/>
            <a:cxnLst/>
            <a:rect l="l" t="t" r="r" b="b"/>
            <a:pathLst>
              <a:path w="8458200" h="561339">
                <a:moveTo>
                  <a:pt x="8124952" y="0"/>
                </a:moveTo>
                <a:lnTo>
                  <a:pt x="333298" y="0"/>
                </a:lnTo>
                <a:lnTo>
                  <a:pt x="280845" y="661"/>
                </a:lnTo>
                <a:lnTo>
                  <a:pt x="230155" y="2609"/>
                </a:lnTo>
                <a:lnTo>
                  <a:pt x="182123" y="5788"/>
                </a:lnTo>
                <a:lnTo>
                  <a:pt x="137648" y="10143"/>
                </a:lnTo>
                <a:lnTo>
                  <a:pt x="97624" y="15620"/>
                </a:lnTo>
                <a:lnTo>
                  <a:pt x="55999" y="23669"/>
                </a:lnTo>
                <a:lnTo>
                  <a:pt x="6463" y="42624"/>
                </a:lnTo>
                <a:lnTo>
                  <a:pt x="0" y="52958"/>
                </a:lnTo>
                <a:lnTo>
                  <a:pt x="0" y="507873"/>
                </a:lnTo>
                <a:lnTo>
                  <a:pt x="55999" y="537215"/>
                </a:lnTo>
                <a:lnTo>
                  <a:pt x="97624" y="545337"/>
                </a:lnTo>
                <a:lnTo>
                  <a:pt x="137648" y="550753"/>
                </a:lnTo>
                <a:lnTo>
                  <a:pt x="182123" y="555071"/>
                </a:lnTo>
                <a:lnTo>
                  <a:pt x="230155" y="558231"/>
                </a:lnTo>
                <a:lnTo>
                  <a:pt x="280845" y="560171"/>
                </a:lnTo>
                <a:lnTo>
                  <a:pt x="333298" y="560831"/>
                </a:lnTo>
                <a:lnTo>
                  <a:pt x="8124952" y="560831"/>
                </a:lnTo>
                <a:lnTo>
                  <a:pt x="8177396" y="560171"/>
                </a:lnTo>
                <a:lnTo>
                  <a:pt x="8228067" y="558231"/>
                </a:lnTo>
                <a:lnTo>
                  <a:pt x="8276074" y="555071"/>
                </a:lnTo>
                <a:lnTo>
                  <a:pt x="8320527" y="550753"/>
                </a:lnTo>
                <a:lnTo>
                  <a:pt x="8360536" y="545337"/>
                </a:lnTo>
                <a:lnTo>
                  <a:pt x="8402210" y="537215"/>
                </a:lnTo>
                <a:lnTo>
                  <a:pt x="8451744" y="518209"/>
                </a:lnTo>
                <a:lnTo>
                  <a:pt x="8458200" y="507873"/>
                </a:lnTo>
                <a:lnTo>
                  <a:pt x="8458200" y="52958"/>
                </a:lnTo>
                <a:lnTo>
                  <a:pt x="8402210" y="23669"/>
                </a:lnTo>
                <a:lnTo>
                  <a:pt x="8360536" y="15620"/>
                </a:lnTo>
                <a:lnTo>
                  <a:pt x="8320527" y="10143"/>
                </a:lnTo>
                <a:lnTo>
                  <a:pt x="8276074" y="5788"/>
                </a:lnTo>
                <a:lnTo>
                  <a:pt x="8228067" y="2609"/>
                </a:lnTo>
                <a:lnTo>
                  <a:pt x="8177396" y="661"/>
                </a:lnTo>
                <a:lnTo>
                  <a:pt x="8124952" y="0"/>
                </a:lnTo>
                <a:close/>
              </a:path>
            </a:pathLst>
          </a:custGeom>
          <a:solidFill>
            <a:schemeClr val="tx2">
              <a:lumMod val="75000"/>
              <a:alpha val="28625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5">
            <a:extLst>
              <a:ext uri="{FF2B5EF4-FFF2-40B4-BE49-F238E27FC236}">
                <a16:creationId xmlns:a16="http://schemas.microsoft.com/office/drawing/2014/main" id="{FC85AFD1-B50D-9CF5-017C-1C8A1D845031}"/>
              </a:ext>
            </a:extLst>
          </p:cNvPr>
          <p:cNvSpPr/>
          <p:nvPr/>
        </p:nvSpPr>
        <p:spPr>
          <a:xfrm>
            <a:off x="14315540" y="6344149"/>
            <a:ext cx="2550722" cy="1095024"/>
          </a:xfrm>
          <a:custGeom>
            <a:avLst/>
            <a:gdLst/>
            <a:ahLst/>
            <a:cxnLst/>
            <a:rect l="l" t="t" r="r" b="b"/>
            <a:pathLst>
              <a:path w="8458200" h="561339">
                <a:moveTo>
                  <a:pt x="8124952" y="0"/>
                </a:moveTo>
                <a:lnTo>
                  <a:pt x="333298" y="0"/>
                </a:lnTo>
                <a:lnTo>
                  <a:pt x="280845" y="661"/>
                </a:lnTo>
                <a:lnTo>
                  <a:pt x="230155" y="2609"/>
                </a:lnTo>
                <a:lnTo>
                  <a:pt x="182123" y="5788"/>
                </a:lnTo>
                <a:lnTo>
                  <a:pt x="137648" y="10143"/>
                </a:lnTo>
                <a:lnTo>
                  <a:pt x="97624" y="15620"/>
                </a:lnTo>
                <a:lnTo>
                  <a:pt x="55999" y="23669"/>
                </a:lnTo>
                <a:lnTo>
                  <a:pt x="6463" y="42624"/>
                </a:lnTo>
                <a:lnTo>
                  <a:pt x="0" y="52958"/>
                </a:lnTo>
                <a:lnTo>
                  <a:pt x="0" y="507873"/>
                </a:lnTo>
                <a:lnTo>
                  <a:pt x="55999" y="537215"/>
                </a:lnTo>
                <a:lnTo>
                  <a:pt x="97624" y="545337"/>
                </a:lnTo>
                <a:lnTo>
                  <a:pt x="137648" y="550753"/>
                </a:lnTo>
                <a:lnTo>
                  <a:pt x="182123" y="555071"/>
                </a:lnTo>
                <a:lnTo>
                  <a:pt x="230155" y="558231"/>
                </a:lnTo>
                <a:lnTo>
                  <a:pt x="280845" y="560171"/>
                </a:lnTo>
                <a:lnTo>
                  <a:pt x="333298" y="560831"/>
                </a:lnTo>
                <a:lnTo>
                  <a:pt x="8124952" y="560831"/>
                </a:lnTo>
                <a:lnTo>
                  <a:pt x="8177396" y="560171"/>
                </a:lnTo>
                <a:lnTo>
                  <a:pt x="8228067" y="558231"/>
                </a:lnTo>
                <a:lnTo>
                  <a:pt x="8276074" y="555071"/>
                </a:lnTo>
                <a:lnTo>
                  <a:pt x="8320527" y="550753"/>
                </a:lnTo>
                <a:lnTo>
                  <a:pt x="8360536" y="545337"/>
                </a:lnTo>
                <a:lnTo>
                  <a:pt x="8402210" y="537215"/>
                </a:lnTo>
                <a:lnTo>
                  <a:pt x="8451744" y="518209"/>
                </a:lnTo>
                <a:lnTo>
                  <a:pt x="8458200" y="507873"/>
                </a:lnTo>
                <a:lnTo>
                  <a:pt x="8458200" y="52958"/>
                </a:lnTo>
                <a:lnTo>
                  <a:pt x="8402210" y="23669"/>
                </a:lnTo>
                <a:lnTo>
                  <a:pt x="8360536" y="15620"/>
                </a:lnTo>
                <a:lnTo>
                  <a:pt x="8320527" y="10143"/>
                </a:lnTo>
                <a:lnTo>
                  <a:pt x="8276074" y="5788"/>
                </a:lnTo>
                <a:lnTo>
                  <a:pt x="8228067" y="2609"/>
                </a:lnTo>
                <a:lnTo>
                  <a:pt x="8177396" y="661"/>
                </a:lnTo>
                <a:lnTo>
                  <a:pt x="8124952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  <a:alpha val="28625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5">
            <a:extLst>
              <a:ext uri="{FF2B5EF4-FFF2-40B4-BE49-F238E27FC236}">
                <a16:creationId xmlns:a16="http://schemas.microsoft.com/office/drawing/2014/main" id="{C549C5EB-1AC9-B316-7CF0-D13ECA41B94D}"/>
              </a:ext>
            </a:extLst>
          </p:cNvPr>
          <p:cNvSpPr/>
          <p:nvPr/>
        </p:nvSpPr>
        <p:spPr>
          <a:xfrm>
            <a:off x="2247371" y="6340218"/>
            <a:ext cx="11896719" cy="1095024"/>
          </a:xfrm>
          <a:custGeom>
            <a:avLst/>
            <a:gdLst/>
            <a:ahLst/>
            <a:cxnLst/>
            <a:rect l="l" t="t" r="r" b="b"/>
            <a:pathLst>
              <a:path w="8458200" h="561339">
                <a:moveTo>
                  <a:pt x="8124952" y="0"/>
                </a:moveTo>
                <a:lnTo>
                  <a:pt x="333298" y="0"/>
                </a:lnTo>
                <a:lnTo>
                  <a:pt x="280845" y="661"/>
                </a:lnTo>
                <a:lnTo>
                  <a:pt x="230155" y="2609"/>
                </a:lnTo>
                <a:lnTo>
                  <a:pt x="182123" y="5788"/>
                </a:lnTo>
                <a:lnTo>
                  <a:pt x="137648" y="10143"/>
                </a:lnTo>
                <a:lnTo>
                  <a:pt x="97624" y="15620"/>
                </a:lnTo>
                <a:lnTo>
                  <a:pt x="55999" y="23669"/>
                </a:lnTo>
                <a:lnTo>
                  <a:pt x="6463" y="42624"/>
                </a:lnTo>
                <a:lnTo>
                  <a:pt x="0" y="52958"/>
                </a:lnTo>
                <a:lnTo>
                  <a:pt x="0" y="507873"/>
                </a:lnTo>
                <a:lnTo>
                  <a:pt x="55999" y="537215"/>
                </a:lnTo>
                <a:lnTo>
                  <a:pt x="97624" y="545337"/>
                </a:lnTo>
                <a:lnTo>
                  <a:pt x="137648" y="550753"/>
                </a:lnTo>
                <a:lnTo>
                  <a:pt x="182123" y="555071"/>
                </a:lnTo>
                <a:lnTo>
                  <a:pt x="230155" y="558231"/>
                </a:lnTo>
                <a:lnTo>
                  <a:pt x="280845" y="560171"/>
                </a:lnTo>
                <a:lnTo>
                  <a:pt x="333298" y="560831"/>
                </a:lnTo>
                <a:lnTo>
                  <a:pt x="8124952" y="560831"/>
                </a:lnTo>
                <a:lnTo>
                  <a:pt x="8177396" y="560171"/>
                </a:lnTo>
                <a:lnTo>
                  <a:pt x="8228067" y="558231"/>
                </a:lnTo>
                <a:lnTo>
                  <a:pt x="8276074" y="555071"/>
                </a:lnTo>
                <a:lnTo>
                  <a:pt x="8320527" y="550753"/>
                </a:lnTo>
                <a:lnTo>
                  <a:pt x="8360536" y="545337"/>
                </a:lnTo>
                <a:lnTo>
                  <a:pt x="8402210" y="537215"/>
                </a:lnTo>
                <a:lnTo>
                  <a:pt x="8451744" y="518209"/>
                </a:lnTo>
                <a:lnTo>
                  <a:pt x="8458200" y="507873"/>
                </a:lnTo>
                <a:lnTo>
                  <a:pt x="8458200" y="52958"/>
                </a:lnTo>
                <a:lnTo>
                  <a:pt x="8402210" y="23669"/>
                </a:lnTo>
                <a:lnTo>
                  <a:pt x="8360536" y="15620"/>
                </a:lnTo>
                <a:lnTo>
                  <a:pt x="8320527" y="10143"/>
                </a:lnTo>
                <a:lnTo>
                  <a:pt x="8276074" y="5788"/>
                </a:lnTo>
                <a:lnTo>
                  <a:pt x="8228067" y="2609"/>
                </a:lnTo>
                <a:lnTo>
                  <a:pt x="8177396" y="661"/>
                </a:lnTo>
                <a:lnTo>
                  <a:pt x="8124952" y="0"/>
                </a:lnTo>
                <a:close/>
              </a:path>
            </a:pathLst>
          </a:custGeom>
          <a:solidFill>
            <a:srgbClr val="07103B"/>
          </a:solidFill>
          <a:ln>
            <a:solidFill>
              <a:srgbClr val="192B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TextBox 51">
            <a:extLst>
              <a:ext uri="{FF2B5EF4-FFF2-40B4-BE49-F238E27FC236}">
                <a16:creationId xmlns:a16="http://schemas.microsoft.com/office/drawing/2014/main" id="{30F6A2C9-6C98-8DAB-FA46-7F7302C0A443}"/>
              </a:ext>
            </a:extLst>
          </p:cNvPr>
          <p:cNvSpPr txBox="1"/>
          <p:nvPr/>
        </p:nvSpPr>
        <p:spPr>
          <a:xfrm>
            <a:off x="6496466" y="6412573"/>
            <a:ext cx="3343544" cy="798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56"/>
              </a:lnSpc>
              <a:spcBef>
                <a:spcPct val="0"/>
              </a:spcBef>
            </a:pPr>
            <a:r>
              <a:rPr lang="pt-BR" sz="4897" b="1" dirty="0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Segmento</a:t>
            </a:r>
            <a:endParaRPr lang="en-US" sz="4897" b="1" dirty="0">
              <a:solidFill>
                <a:srgbClr val="FFFFFF"/>
              </a:solidFill>
              <a:latin typeface="Maven Pro Bold"/>
              <a:ea typeface="Maven Pro Bold"/>
              <a:cs typeface="Maven Pro Bold"/>
              <a:sym typeface="Maven Pro Bold"/>
            </a:endParaRPr>
          </a:p>
        </p:txBody>
      </p:sp>
      <p:sp>
        <p:nvSpPr>
          <p:cNvPr id="70" name="TextBox 51">
            <a:extLst>
              <a:ext uri="{FF2B5EF4-FFF2-40B4-BE49-F238E27FC236}">
                <a16:creationId xmlns:a16="http://schemas.microsoft.com/office/drawing/2014/main" id="{E7408416-2564-E280-3472-60475217D779}"/>
              </a:ext>
            </a:extLst>
          </p:cNvPr>
          <p:cNvSpPr txBox="1"/>
          <p:nvPr/>
        </p:nvSpPr>
        <p:spPr>
          <a:xfrm>
            <a:off x="14710506" y="6394827"/>
            <a:ext cx="2075343" cy="798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56"/>
              </a:lnSpc>
              <a:spcBef>
                <a:spcPct val="0"/>
              </a:spcBef>
            </a:pPr>
            <a:r>
              <a:rPr lang="pt-BR" sz="4000" b="1" dirty="0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EXPO %</a:t>
            </a:r>
            <a:endParaRPr lang="en-US" sz="4000" b="1" dirty="0">
              <a:solidFill>
                <a:srgbClr val="FFFFFF"/>
              </a:solidFill>
              <a:latin typeface="Maven Pro Bold"/>
              <a:ea typeface="Maven Pro Bold"/>
              <a:cs typeface="Maven Pro Bold"/>
              <a:sym typeface="Maven Pro Bold"/>
            </a:endParaRPr>
          </a:p>
        </p:txBody>
      </p:sp>
      <p:sp>
        <p:nvSpPr>
          <p:cNvPr id="71" name="TextBox 51">
            <a:extLst>
              <a:ext uri="{FF2B5EF4-FFF2-40B4-BE49-F238E27FC236}">
                <a16:creationId xmlns:a16="http://schemas.microsoft.com/office/drawing/2014/main" id="{BFA0EA54-808F-36FB-0CD6-A81AEBA6758A}"/>
              </a:ext>
            </a:extLst>
          </p:cNvPr>
          <p:cNvSpPr txBox="1"/>
          <p:nvPr/>
        </p:nvSpPr>
        <p:spPr>
          <a:xfrm>
            <a:off x="17459973" y="6412573"/>
            <a:ext cx="2075343" cy="798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56"/>
              </a:lnSpc>
              <a:spcBef>
                <a:spcPct val="0"/>
              </a:spcBef>
            </a:pPr>
            <a:r>
              <a:rPr lang="pt-BR" sz="4000" b="1" dirty="0">
                <a:solidFill>
                  <a:srgbClr val="FFFFFF"/>
                </a:solidFill>
                <a:latin typeface="Maven Pro Bold"/>
                <a:cs typeface="Maven Pro Bold"/>
                <a:sym typeface="Maven Pro Bold"/>
              </a:rPr>
              <a:t>IMPO %</a:t>
            </a:r>
            <a:endParaRPr lang="en-US" sz="4000" b="1" dirty="0">
              <a:solidFill>
                <a:srgbClr val="FFFFFF"/>
              </a:solidFill>
              <a:latin typeface="Maven Pro Bold"/>
              <a:cs typeface="Maven Pro Bold"/>
              <a:sym typeface="Maven Pro Bold"/>
            </a:endParaRPr>
          </a:p>
        </p:txBody>
      </p:sp>
      <p:graphicFrame>
        <p:nvGraphicFramePr>
          <p:cNvPr id="72" name="Tabela 71">
            <a:extLst>
              <a:ext uri="{FF2B5EF4-FFF2-40B4-BE49-F238E27FC236}">
                <a16:creationId xmlns:a16="http://schemas.microsoft.com/office/drawing/2014/main" id="{466DAECE-2DFB-83AE-50B8-3904D82D78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000908"/>
              </p:ext>
            </p:extLst>
          </p:nvPr>
        </p:nvGraphicFramePr>
        <p:xfrm>
          <a:off x="2320374" y="7520667"/>
          <a:ext cx="16960420" cy="976567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183592">
                  <a:extLst>
                    <a:ext uri="{9D8B030D-6E8A-4147-A177-3AD203B41FA5}">
                      <a16:colId xmlns:a16="http://schemas.microsoft.com/office/drawing/2014/main" val="2608106900"/>
                    </a:ext>
                  </a:extLst>
                </a:gridCol>
                <a:gridCol w="2200561">
                  <a:extLst>
                    <a:ext uri="{9D8B030D-6E8A-4147-A177-3AD203B41FA5}">
                      <a16:colId xmlns:a16="http://schemas.microsoft.com/office/drawing/2014/main" val="2602180828"/>
                    </a:ext>
                  </a:extLst>
                </a:gridCol>
                <a:gridCol w="2576267">
                  <a:extLst>
                    <a:ext uri="{9D8B030D-6E8A-4147-A177-3AD203B41FA5}">
                      <a16:colId xmlns:a16="http://schemas.microsoft.com/office/drawing/2014/main" val="2237600562"/>
                    </a:ext>
                  </a:extLst>
                </a:gridCol>
              </a:tblGrid>
              <a:tr h="15508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44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Carne do Agronegócio </a:t>
                      </a:r>
                      <a:br>
                        <a:rPr lang="pt-BR" sz="4400" b="0" u="none" strike="noStrike" dirty="0">
                          <a:solidFill>
                            <a:srgbClr val="002060"/>
                          </a:solidFill>
                          <a:effectLst/>
                        </a:rPr>
                      </a:br>
                      <a:r>
                        <a:rPr lang="pt-BR" sz="3200" b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(Aves, Bovinos e Suínos)</a:t>
                      </a:r>
                      <a:endParaRPr lang="pt-BR" sz="44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4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42%</a:t>
                      </a:r>
                      <a:endParaRPr lang="pt-BR" sz="4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4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3% </a:t>
                      </a:r>
                      <a:endParaRPr lang="pt-BR" sz="4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55102461"/>
                  </a:ext>
                </a:extLst>
              </a:tr>
              <a:tr h="15508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44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Commodities </a:t>
                      </a:r>
                      <a:br>
                        <a:rPr lang="pt-BR" sz="4400" b="0" u="none" strike="noStrike" dirty="0">
                          <a:solidFill>
                            <a:srgbClr val="002060"/>
                          </a:solidFill>
                          <a:effectLst/>
                        </a:rPr>
                      </a:br>
                      <a:r>
                        <a:rPr lang="pt-BR" sz="3200" b="0" u="none" strike="noStrike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(Agronegócio, Papel e Madeira)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400" b="0" u="none" strike="noStrike">
                          <a:solidFill>
                            <a:srgbClr val="002060"/>
                          </a:solidFill>
                          <a:effectLst/>
                        </a:rPr>
                        <a:t>41%</a:t>
                      </a:r>
                      <a:endParaRPr lang="pt-BR" sz="44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4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8%</a:t>
                      </a:r>
                      <a:endParaRPr lang="pt-BR" sz="4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28574481"/>
                  </a:ext>
                </a:extLst>
              </a:tr>
              <a:tr h="11106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44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Bens de Capital</a:t>
                      </a:r>
                      <a:endParaRPr lang="pt-BR" sz="4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400" b="0" u="none" strike="noStrike">
                          <a:solidFill>
                            <a:srgbClr val="002060"/>
                          </a:solidFill>
                          <a:effectLst/>
                        </a:rPr>
                        <a:t>5%</a:t>
                      </a:r>
                      <a:endParaRPr lang="pt-BR" sz="44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4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9%</a:t>
                      </a:r>
                      <a:endParaRPr lang="pt-BR" sz="4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53588709"/>
                  </a:ext>
                </a:extLst>
              </a:tr>
              <a:tr h="11106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44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Trading / NVOCC</a:t>
                      </a:r>
                      <a:endParaRPr lang="pt-BR" sz="4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400" b="0" u="none" strike="noStrike">
                          <a:solidFill>
                            <a:srgbClr val="002060"/>
                          </a:solidFill>
                          <a:effectLst/>
                        </a:rPr>
                        <a:t>3%</a:t>
                      </a:r>
                      <a:endParaRPr lang="pt-BR" sz="44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4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6%</a:t>
                      </a:r>
                      <a:endParaRPr lang="pt-BR" sz="4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2293351"/>
                  </a:ext>
                </a:extLst>
              </a:tr>
              <a:tr h="11106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44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Químico / Petroquímico</a:t>
                      </a:r>
                      <a:endParaRPr lang="pt-BR" sz="4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4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3%</a:t>
                      </a:r>
                      <a:endParaRPr lang="pt-BR" sz="4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4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15%</a:t>
                      </a:r>
                      <a:endParaRPr lang="pt-BR" sz="4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07062592"/>
                  </a:ext>
                </a:extLst>
              </a:tr>
              <a:tr h="11106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44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Outros Não Classificados</a:t>
                      </a:r>
                      <a:endParaRPr lang="pt-BR" sz="4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4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3%</a:t>
                      </a:r>
                      <a:endParaRPr lang="pt-BR" sz="4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4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9%</a:t>
                      </a:r>
                      <a:endParaRPr lang="pt-BR" sz="4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07915342"/>
                  </a:ext>
                </a:extLst>
              </a:tr>
              <a:tr h="11106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44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Automotivo</a:t>
                      </a:r>
                      <a:endParaRPr lang="pt-BR" sz="4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4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2%</a:t>
                      </a:r>
                      <a:endParaRPr lang="pt-BR" sz="4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4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22%</a:t>
                      </a:r>
                      <a:endParaRPr lang="pt-BR" sz="4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38274849"/>
                  </a:ext>
                </a:extLst>
              </a:tr>
              <a:tr h="11106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44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Bens de Consumo e Eletrônicos</a:t>
                      </a:r>
                      <a:endParaRPr lang="pt-BR" sz="4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400" b="0" u="none" strike="noStrike">
                          <a:solidFill>
                            <a:srgbClr val="002060"/>
                          </a:solidFill>
                          <a:effectLst/>
                        </a:rPr>
                        <a:t>1% </a:t>
                      </a:r>
                      <a:endParaRPr lang="pt-BR" sz="44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4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29%</a:t>
                      </a:r>
                      <a:endParaRPr lang="pt-BR" sz="44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52231264"/>
                  </a:ext>
                </a:extLst>
              </a:tr>
            </a:tbl>
          </a:graphicData>
        </a:graphic>
      </p:graphicFrame>
      <p:pic>
        <p:nvPicPr>
          <p:cNvPr id="73" name="Gráfico 72" descr="Gráfico de barras com tendência ascendente com preenchimento sólido">
            <a:extLst>
              <a:ext uri="{FF2B5EF4-FFF2-40B4-BE49-F238E27FC236}">
                <a16:creationId xmlns:a16="http://schemas.microsoft.com/office/drawing/2014/main" id="{A9609196-9427-071E-5F56-35A946B0A3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4315" y="11015811"/>
            <a:ext cx="775291" cy="775291"/>
          </a:xfrm>
          <a:prstGeom prst="rect">
            <a:avLst/>
          </a:prstGeom>
        </p:spPr>
      </p:pic>
      <p:pic>
        <p:nvPicPr>
          <p:cNvPr id="74" name="Gráfico 73" descr="Vaca com preenchimento sólido">
            <a:extLst>
              <a:ext uri="{FF2B5EF4-FFF2-40B4-BE49-F238E27FC236}">
                <a16:creationId xmlns:a16="http://schemas.microsoft.com/office/drawing/2014/main" id="{8624DCAE-5ECE-EF15-A340-D9EE773415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9115" y="7960392"/>
            <a:ext cx="1088399" cy="1088399"/>
          </a:xfrm>
          <a:prstGeom prst="rect">
            <a:avLst/>
          </a:prstGeom>
        </p:spPr>
      </p:pic>
      <p:pic>
        <p:nvPicPr>
          <p:cNvPr id="75" name="Gráfico 74" descr="Folha com preenchimento sólido">
            <a:extLst>
              <a:ext uri="{FF2B5EF4-FFF2-40B4-BE49-F238E27FC236}">
                <a16:creationId xmlns:a16="http://schemas.microsoft.com/office/drawing/2014/main" id="{7D43CEF8-A542-F806-DD65-C30E545C0D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79923" y="9571180"/>
            <a:ext cx="721950" cy="721950"/>
          </a:xfrm>
          <a:prstGeom prst="rect">
            <a:avLst/>
          </a:prstGeom>
        </p:spPr>
      </p:pic>
      <p:pic>
        <p:nvPicPr>
          <p:cNvPr id="76" name="Gráfico 75" descr="Rebocador com preenchimento sólido">
            <a:extLst>
              <a:ext uri="{FF2B5EF4-FFF2-40B4-BE49-F238E27FC236}">
                <a16:creationId xmlns:a16="http://schemas.microsoft.com/office/drawing/2014/main" id="{7861F25B-8B46-1618-7696-0E1BB77AFA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4315" y="12145510"/>
            <a:ext cx="775291" cy="775291"/>
          </a:xfrm>
          <a:prstGeom prst="rect">
            <a:avLst/>
          </a:prstGeom>
        </p:spPr>
      </p:pic>
      <p:pic>
        <p:nvPicPr>
          <p:cNvPr id="77" name="Gráfico 76" descr="Caixa com preenchimento sólido">
            <a:extLst>
              <a:ext uri="{FF2B5EF4-FFF2-40B4-BE49-F238E27FC236}">
                <a16:creationId xmlns:a16="http://schemas.microsoft.com/office/drawing/2014/main" id="{FA96BDAD-ABBC-2B1A-D5D1-91FB33937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05519" y="14408735"/>
            <a:ext cx="798338" cy="798338"/>
          </a:xfrm>
          <a:prstGeom prst="rect">
            <a:avLst/>
          </a:prstGeom>
        </p:spPr>
      </p:pic>
      <p:pic>
        <p:nvPicPr>
          <p:cNvPr id="78" name="Gráfico 77" descr="Táxi com preenchimento sólido">
            <a:extLst>
              <a:ext uri="{FF2B5EF4-FFF2-40B4-BE49-F238E27FC236}">
                <a16:creationId xmlns:a16="http://schemas.microsoft.com/office/drawing/2014/main" id="{56E2A09B-D3B2-5FD1-8D50-6E4DB453B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39872" y="15479433"/>
            <a:ext cx="906882" cy="906882"/>
          </a:xfrm>
          <a:prstGeom prst="rect">
            <a:avLst/>
          </a:prstGeom>
        </p:spPr>
      </p:pic>
      <p:pic>
        <p:nvPicPr>
          <p:cNvPr id="79" name="Gráfico 78" descr="Carrinho de compras com preenchimento sólido">
            <a:extLst>
              <a:ext uri="{FF2B5EF4-FFF2-40B4-BE49-F238E27FC236}">
                <a16:creationId xmlns:a16="http://schemas.microsoft.com/office/drawing/2014/main" id="{E1493411-FE38-E527-89F5-1786C9C5D2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79923" y="16531216"/>
            <a:ext cx="793614" cy="793614"/>
          </a:xfrm>
          <a:prstGeom prst="rect">
            <a:avLst/>
          </a:prstGeom>
        </p:spPr>
      </p:pic>
      <p:pic>
        <p:nvPicPr>
          <p:cNvPr id="80" name="Gráfico 79" descr="Radioativo com preenchimento sólido">
            <a:extLst>
              <a:ext uri="{FF2B5EF4-FFF2-40B4-BE49-F238E27FC236}">
                <a16:creationId xmlns:a16="http://schemas.microsoft.com/office/drawing/2014/main" id="{A6FCE94B-5433-7C1C-1726-9A033F9D32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05519" y="13309293"/>
            <a:ext cx="775589" cy="775589"/>
          </a:xfrm>
          <a:prstGeom prst="rect">
            <a:avLst/>
          </a:prstGeom>
        </p:spPr>
      </p:pic>
      <p:cxnSp>
        <p:nvCxnSpPr>
          <p:cNvPr id="81" name="Conector reto 80">
            <a:extLst>
              <a:ext uri="{FF2B5EF4-FFF2-40B4-BE49-F238E27FC236}">
                <a16:creationId xmlns:a16="http://schemas.microsoft.com/office/drawing/2014/main" id="{B36BA4A1-C22E-65E3-CD06-788D420FC4BB}"/>
              </a:ext>
            </a:extLst>
          </p:cNvPr>
          <p:cNvCxnSpPr>
            <a:cxnSpLocks/>
          </p:cNvCxnSpPr>
          <p:nvPr/>
        </p:nvCxnSpPr>
        <p:spPr>
          <a:xfrm>
            <a:off x="131213" y="9243897"/>
            <a:ext cx="19545287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>
            <a:extLst>
              <a:ext uri="{FF2B5EF4-FFF2-40B4-BE49-F238E27FC236}">
                <a16:creationId xmlns:a16="http://schemas.microsoft.com/office/drawing/2014/main" id="{892FE40E-46F1-BB7C-7BDE-3DB3FFBDA2B9}"/>
              </a:ext>
            </a:extLst>
          </p:cNvPr>
          <p:cNvCxnSpPr>
            <a:cxnSpLocks/>
          </p:cNvCxnSpPr>
          <p:nvPr/>
        </p:nvCxnSpPr>
        <p:spPr>
          <a:xfrm>
            <a:off x="67366" y="10769634"/>
            <a:ext cx="19545287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to 82">
            <a:extLst>
              <a:ext uri="{FF2B5EF4-FFF2-40B4-BE49-F238E27FC236}">
                <a16:creationId xmlns:a16="http://schemas.microsoft.com/office/drawing/2014/main" id="{C976426D-E71B-733B-F558-1D0C5B2D2147}"/>
              </a:ext>
            </a:extLst>
          </p:cNvPr>
          <p:cNvCxnSpPr>
            <a:cxnSpLocks/>
          </p:cNvCxnSpPr>
          <p:nvPr/>
        </p:nvCxnSpPr>
        <p:spPr>
          <a:xfrm>
            <a:off x="131213" y="12007884"/>
            <a:ext cx="19545287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>
            <a:extLst>
              <a:ext uri="{FF2B5EF4-FFF2-40B4-BE49-F238E27FC236}">
                <a16:creationId xmlns:a16="http://schemas.microsoft.com/office/drawing/2014/main" id="{536BF5B1-B3B7-54EB-EB22-4EF6E06D997D}"/>
              </a:ext>
            </a:extLst>
          </p:cNvPr>
          <p:cNvCxnSpPr>
            <a:cxnSpLocks/>
          </p:cNvCxnSpPr>
          <p:nvPr/>
        </p:nvCxnSpPr>
        <p:spPr>
          <a:xfrm>
            <a:off x="67366" y="13155967"/>
            <a:ext cx="19545287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to 84">
            <a:extLst>
              <a:ext uri="{FF2B5EF4-FFF2-40B4-BE49-F238E27FC236}">
                <a16:creationId xmlns:a16="http://schemas.microsoft.com/office/drawing/2014/main" id="{6C37C0B0-55D9-C519-150C-FFCF07FA8944}"/>
              </a:ext>
            </a:extLst>
          </p:cNvPr>
          <p:cNvCxnSpPr>
            <a:cxnSpLocks/>
          </p:cNvCxnSpPr>
          <p:nvPr/>
        </p:nvCxnSpPr>
        <p:spPr>
          <a:xfrm>
            <a:off x="67366" y="14181520"/>
            <a:ext cx="19545287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to 85">
            <a:extLst>
              <a:ext uri="{FF2B5EF4-FFF2-40B4-BE49-F238E27FC236}">
                <a16:creationId xmlns:a16="http://schemas.microsoft.com/office/drawing/2014/main" id="{DE556979-CBD1-BA1F-EF13-7FEC95668814}"/>
              </a:ext>
            </a:extLst>
          </p:cNvPr>
          <p:cNvCxnSpPr>
            <a:cxnSpLocks/>
          </p:cNvCxnSpPr>
          <p:nvPr/>
        </p:nvCxnSpPr>
        <p:spPr>
          <a:xfrm>
            <a:off x="131213" y="15351330"/>
            <a:ext cx="19545287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to 86">
            <a:extLst>
              <a:ext uri="{FF2B5EF4-FFF2-40B4-BE49-F238E27FC236}">
                <a16:creationId xmlns:a16="http://schemas.microsoft.com/office/drawing/2014/main" id="{469D7659-263C-08EC-E1F6-66FA43E773AB}"/>
              </a:ext>
            </a:extLst>
          </p:cNvPr>
          <p:cNvCxnSpPr>
            <a:cxnSpLocks/>
          </p:cNvCxnSpPr>
          <p:nvPr/>
        </p:nvCxnSpPr>
        <p:spPr>
          <a:xfrm>
            <a:off x="131213" y="16456739"/>
            <a:ext cx="19545287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tângulo: Cantos Arredondados 87">
            <a:extLst>
              <a:ext uri="{FF2B5EF4-FFF2-40B4-BE49-F238E27FC236}">
                <a16:creationId xmlns:a16="http://schemas.microsoft.com/office/drawing/2014/main" id="{8E1A0B3D-C643-C0FC-9190-2166691AB54C}"/>
              </a:ext>
            </a:extLst>
          </p:cNvPr>
          <p:cNvSpPr/>
          <p:nvPr/>
        </p:nvSpPr>
        <p:spPr>
          <a:xfrm>
            <a:off x="22480004" y="4272237"/>
            <a:ext cx="12419596" cy="2757202"/>
          </a:xfrm>
          <a:prstGeom prst="round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E90BE78D-4F97-5624-5377-6DE33F56A8EE}"/>
              </a:ext>
            </a:extLst>
          </p:cNvPr>
          <p:cNvSpPr txBox="1"/>
          <p:nvPr/>
        </p:nvSpPr>
        <p:spPr>
          <a:xfrm>
            <a:off x="26263708" y="4906353"/>
            <a:ext cx="1823058" cy="2225033"/>
          </a:xfrm>
          <a:prstGeom prst="rect">
            <a:avLst/>
          </a:prstGeom>
          <a:noFill/>
          <a:ln cmpd="sng">
            <a:noFill/>
          </a:ln>
        </p:spPr>
        <p:txBody>
          <a:bodyPr wrap="square" lIns="91440" tIns="45720" rIns="91440" bIns="4572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79715" indent="-342900">
              <a:lnSpc>
                <a:spcPct val="150000"/>
              </a:lnSpc>
              <a:spcAft>
                <a:spcPts val="400"/>
              </a:spcAft>
              <a:buSzPct val="130000"/>
              <a:buFont typeface="Arial" panose="020B0604020202020204" pitchFamily="34" charset="0"/>
              <a:buChar char="•"/>
              <a:defRPr sz="1800" b="1">
                <a:solidFill>
                  <a:srgbClr val="002060"/>
                </a:solidFill>
                <a:latin typeface="Maven Pro" panose="02000000000000000000" pitchFamily="2" charset="0"/>
              </a:defRPr>
            </a:lvl1pPr>
          </a:lstStyle>
          <a:p>
            <a:pPr marL="36195" indent="0">
              <a:buClr>
                <a:srgbClr val="1B2D70"/>
              </a:buClr>
              <a:buNone/>
            </a:pPr>
            <a:r>
              <a:rPr lang="pt-BR" sz="6000" spc="111" dirty="0">
                <a:solidFill>
                  <a:srgbClr val="182D70"/>
                </a:solidFill>
                <a:latin typeface="Maven Pro Bold"/>
              </a:rPr>
              <a:t>57%</a:t>
            </a:r>
            <a:endParaRPr lang="pt-BR" sz="6000" b="0" spc="111" dirty="0">
              <a:solidFill>
                <a:srgbClr val="182D70"/>
              </a:solidFill>
              <a:latin typeface="Maven Pro" panose="020B0604020202020204" charset="0"/>
            </a:endParaRPr>
          </a:p>
          <a:p>
            <a:pPr marL="36195" indent="0">
              <a:buClr>
                <a:srgbClr val="1B2D70"/>
              </a:buClr>
              <a:buNone/>
            </a:pPr>
            <a:endParaRPr lang="en-US" sz="3471" spc="111" dirty="0">
              <a:solidFill>
                <a:srgbClr val="182D70"/>
              </a:solidFill>
              <a:latin typeface="Maven Pro Bold"/>
            </a:endParaRPr>
          </a:p>
        </p:txBody>
      </p: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71D18FB3-20B7-A0A1-1457-BD261407D1C2}"/>
              </a:ext>
            </a:extLst>
          </p:cNvPr>
          <p:cNvCxnSpPr>
            <a:cxnSpLocks/>
          </p:cNvCxnSpPr>
          <p:nvPr/>
        </p:nvCxnSpPr>
        <p:spPr>
          <a:xfrm>
            <a:off x="25653078" y="4674937"/>
            <a:ext cx="0" cy="1951802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Elipse 90">
            <a:extLst>
              <a:ext uri="{FF2B5EF4-FFF2-40B4-BE49-F238E27FC236}">
                <a16:creationId xmlns:a16="http://schemas.microsoft.com/office/drawing/2014/main" id="{583EE1CD-4D8E-43A3-87D0-33DB57B8EF83}"/>
              </a:ext>
            </a:extLst>
          </p:cNvPr>
          <p:cNvSpPr/>
          <p:nvPr/>
        </p:nvSpPr>
        <p:spPr>
          <a:xfrm>
            <a:off x="23146480" y="4674937"/>
            <a:ext cx="1959422" cy="195180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2" name="Gráfico 91" descr="Gráfico de barras com tendência ascendente com preenchimento sólido">
            <a:extLst>
              <a:ext uri="{FF2B5EF4-FFF2-40B4-BE49-F238E27FC236}">
                <a16:creationId xmlns:a16="http://schemas.microsoft.com/office/drawing/2014/main" id="{E5FD772C-7E88-DDC3-E1D6-1EA0D7F1D0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594175" y="5117284"/>
            <a:ext cx="1064032" cy="1064032"/>
          </a:xfrm>
          <a:prstGeom prst="rect">
            <a:avLst/>
          </a:prstGeom>
        </p:spPr>
      </p:pic>
      <p:sp>
        <p:nvSpPr>
          <p:cNvPr id="93" name="Retângulo: Cantos Arredondados 92">
            <a:extLst>
              <a:ext uri="{FF2B5EF4-FFF2-40B4-BE49-F238E27FC236}">
                <a16:creationId xmlns:a16="http://schemas.microsoft.com/office/drawing/2014/main" id="{368F7B8A-C430-A923-9DF2-82CE693B06A6}"/>
              </a:ext>
            </a:extLst>
          </p:cNvPr>
          <p:cNvSpPr/>
          <p:nvPr/>
        </p:nvSpPr>
        <p:spPr>
          <a:xfrm>
            <a:off x="22568510" y="7212129"/>
            <a:ext cx="12331090" cy="3302733"/>
          </a:xfrm>
          <a:prstGeom prst="round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4" name="Retângulo: Cantos Arredondados 93">
            <a:extLst>
              <a:ext uri="{FF2B5EF4-FFF2-40B4-BE49-F238E27FC236}">
                <a16:creationId xmlns:a16="http://schemas.microsoft.com/office/drawing/2014/main" id="{AD6FE0BF-08A8-C66B-0F0F-1B145B9D325D}"/>
              </a:ext>
            </a:extLst>
          </p:cNvPr>
          <p:cNvSpPr/>
          <p:nvPr/>
        </p:nvSpPr>
        <p:spPr>
          <a:xfrm>
            <a:off x="22482784" y="12000996"/>
            <a:ext cx="12416815" cy="2757202"/>
          </a:xfrm>
          <a:prstGeom prst="round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962FC389-3638-FC82-32A7-0C36E19EAA31}"/>
              </a:ext>
            </a:extLst>
          </p:cNvPr>
          <p:cNvSpPr txBox="1"/>
          <p:nvPr/>
        </p:nvSpPr>
        <p:spPr>
          <a:xfrm>
            <a:off x="26266489" y="12635112"/>
            <a:ext cx="1823058" cy="2225033"/>
          </a:xfrm>
          <a:prstGeom prst="rect">
            <a:avLst/>
          </a:prstGeom>
          <a:noFill/>
          <a:ln cmpd="sng">
            <a:noFill/>
          </a:ln>
        </p:spPr>
        <p:txBody>
          <a:bodyPr wrap="square" lIns="91440" tIns="45720" rIns="91440" bIns="4572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79715" indent="-342900">
              <a:lnSpc>
                <a:spcPct val="150000"/>
              </a:lnSpc>
              <a:spcAft>
                <a:spcPts val="400"/>
              </a:spcAft>
              <a:buSzPct val="130000"/>
              <a:buFont typeface="Arial" panose="020B0604020202020204" pitchFamily="34" charset="0"/>
              <a:buChar char="•"/>
              <a:defRPr sz="1800" b="1">
                <a:solidFill>
                  <a:srgbClr val="002060"/>
                </a:solidFill>
                <a:latin typeface="Maven Pro" panose="02000000000000000000" pitchFamily="2" charset="0"/>
              </a:defRPr>
            </a:lvl1pPr>
          </a:lstStyle>
          <a:p>
            <a:pPr marL="36195" indent="0">
              <a:buClr>
                <a:srgbClr val="1B2D70"/>
              </a:buClr>
              <a:buNone/>
            </a:pPr>
            <a:r>
              <a:rPr lang="pt-BR" sz="6000" spc="111" dirty="0">
                <a:solidFill>
                  <a:srgbClr val="182D70"/>
                </a:solidFill>
                <a:latin typeface="Maven Pro Bold"/>
              </a:rPr>
              <a:t>25%</a:t>
            </a:r>
            <a:endParaRPr lang="pt-BR" sz="6000" b="0" spc="111" dirty="0">
              <a:solidFill>
                <a:srgbClr val="182D70"/>
              </a:solidFill>
              <a:latin typeface="Maven Pro" panose="020B0604020202020204" charset="0"/>
            </a:endParaRPr>
          </a:p>
          <a:p>
            <a:pPr marL="36195" indent="0">
              <a:buClr>
                <a:srgbClr val="1B2D70"/>
              </a:buClr>
              <a:buNone/>
            </a:pPr>
            <a:endParaRPr lang="en-US" sz="3471" spc="111" dirty="0">
              <a:solidFill>
                <a:srgbClr val="182D70"/>
              </a:solidFill>
              <a:latin typeface="Maven Pro Bold"/>
            </a:endParaRPr>
          </a:p>
        </p:txBody>
      </p:sp>
      <p:cxnSp>
        <p:nvCxnSpPr>
          <p:cNvPr id="96" name="Conector reto 95">
            <a:extLst>
              <a:ext uri="{FF2B5EF4-FFF2-40B4-BE49-F238E27FC236}">
                <a16:creationId xmlns:a16="http://schemas.microsoft.com/office/drawing/2014/main" id="{7E3DECA2-FBAB-A68A-86A9-E1248F6FD90B}"/>
              </a:ext>
            </a:extLst>
          </p:cNvPr>
          <p:cNvCxnSpPr>
            <a:cxnSpLocks/>
          </p:cNvCxnSpPr>
          <p:nvPr/>
        </p:nvCxnSpPr>
        <p:spPr>
          <a:xfrm>
            <a:off x="25655859" y="12403696"/>
            <a:ext cx="0" cy="1951802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Elipse 96">
            <a:extLst>
              <a:ext uri="{FF2B5EF4-FFF2-40B4-BE49-F238E27FC236}">
                <a16:creationId xmlns:a16="http://schemas.microsoft.com/office/drawing/2014/main" id="{188AC658-5980-32E4-2A48-AE1B1952C5E7}"/>
              </a:ext>
            </a:extLst>
          </p:cNvPr>
          <p:cNvSpPr/>
          <p:nvPr/>
        </p:nvSpPr>
        <p:spPr>
          <a:xfrm>
            <a:off x="23149261" y="12403696"/>
            <a:ext cx="1959422" cy="195180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8" name="Gráfico 97" descr="Mundo com preenchimento sólido">
            <a:extLst>
              <a:ext uri="{FF2B5EF4-FFF2-40B4-BE49-F238E27FC236}">
                <a16:creationId xmlns:a16="http://schemas.microsoft.com/office/drawing/2014/main" id="{59E59A75-C20C-2F05-836A-9A60DCBCC5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3549078" y="12800247"/>
            <a:ext cx="1158454" cy="1158454"/>
          </a:xfrm>
          <a:prstGeom prst="rect">
            <a:avLst/>
          </a:prstGeom>
        </p:spPr>
      </p:pic>
      <p:sp>
        <p:nvSpPr>
          <p:cNvPr id="99" name="Retângulo: Cantos Arredondados 98">
            <a:extLst>
              <a:ext uri="{FF2B5EF4-FFF2-40B4-BE49-F238E27FC236}">
                <a16:creationId xmlns:a16="http://schemas.microsoft.com/office/drawing/2014/main" id="{A2D24BED-2A2B-D45A-CD62-C3F7CCF347B3}"/>
              </a:ext>
            </a:extLst>
          </p:cNvPr>
          <p:cNvSpPr/>
          <p:nvPr/>
        </p:nvSpPr>
        <p:spPr>
          <a:xfrm>
            <a:off x="22568509" y="14938159"/>
            <a:ext cx="12416815" cy="3302733"/>
          </a:xfrm>
          <a:prstGeom prst="round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0" name="Conector reto 99">
            <a:extLst>
              <a:ext uri="{FF2B5EF4-FFF2-40B4-BE49-F238E27FC236}">
                <a16:creationId xmlns:a16="http://schemas.microsoft.com/office/drawing/2014/main" id="{2E641768-904B-66E6-3A96-A5BC722408C1}"/>
              </a:ext>
            </a:extLst>
          </p:cNvPr>
          <p:cNvCxnSpPr>
            <a:cxnSpLocks/>
          </p:cNvCxnSpPr>
          <p:nvPr/>
        </p:nvCxnSpPr>
        <p:spPr>
          <a:xfrm flipV="1">
            <a:off x="0" y="17701010"/>
            <a:ext cx="19545300" cy="28236"/>
          </a:xfrm>
          <a:prstGeom prst="line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Freeform 52">
            <a:extLst>
              <a:ext uri="{FF2B5EF4-FFF2-40B4-BE49-F238E27FC236}">
                <a16:creationId xmlns:a16="http://schemas.microsoft.com/office/drawing/2014/main" id="{B48AD3AB-C32D-43D0-E3AE-490FBDA89316}"/>
              </a:ext>
            </a:extLst>
          </p:cNvPr>
          <p:cNvSpPr/>
          <p:nvPr/>
        </p:nvSpPr>
        <p:spPr>
          <a:xfrm>
            <a:off x="32092506" y="313841"/>
            <a:ext cx="3941518" cy="1853888"/>
          </a:xfrm>
          <a:custGeom>
            <a:avLst/>
            <a:gdLst/>
            <a:ahLst/>
            <a:cxnLst/>
            <a:rect l="l" t="t" r="r" b="b"/>
            <a:pathLst>
              <a:path w="3941518" h="1853888">
                <a:moveTo>
                  <a:pt x="0" y="0"/>
                </a:moveTo>
                <a:lnTo>
                  <a:pt x="3941518" y="0"/>
                </a:lnTo>
                <a:lnTo>
                  <a:pt x="3941518" y="1853888"/>
                </a:lnTo>
                <a:lnTo>
                  <a:pt x="0" y="1853888"/>
                </a:lnTo>
                <a:lnTo>
                  <a:pt x="0" y="0"/>
                </a:lnTo>
                <a:close/>
              </a:path>
            </a:pathLst>
          </a:custGeom>
          <a:blipFill>
            <a:blip r:embed="rId2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80150" b="-43157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D9CF98E0-144C-EFEC-2655-56736F43E717}"/>
              </a:ext>
            </a:extLst>
          </p:cNvPr>
          <p:cNvSpPr txBox="1"/>
          <p:nvPr/>
        </p:nvSpPr>
        <p:spPr>
          <a:xfrm>
            <a:off x="26193913" y="4374184"/>
            <a:ext cx="14572330" cy="3346172"/>
          </a:xfrm>
          <a:prstGeom prst="rect">
            <a:avLst/>
          </a:prstGeom>
          <a:noFill/>
          <a:ln cmpd="sng">
            <a:noFill/>
          </a:ln>
        </p:spPr>
        <p:txBody>
          <a:bodyPr wrap="square" lIns="91440" tIns="45720" rIns="91440" bIns="4572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79715" indent="-342900">
              <a:lnSpc>
                <a:spcPct val="150000"/>
              </a:lnSpc>
              <a:spcAft>
                <a:spcPts val="400"/>
              </a:spcAft>
              <a:buSzPct val="130000"/>
              <a:buFont typeface="Arial" panose="020B0604020202020204" pitchFamily="34" charset="0"/>
              <a:buChar char="•"/>
              <a:defRPr sz="1800" b="1">
                <a:solidFill>
                  <a:srgbClr val="002060"/>
                </a:solidFill>
                <a:latin typeface="Maven Pro" panose="02000000000000000000" pitchFamily="2" charset="0"/>
              </a:defRPr>
            </a:lvl1pPr>
          </a:lstStyle>
          <a:p>
            <a:pPr marL="36195" indent="0">
              <a:buClr>
                <a:srgbClr val="1B2D70"/>
              </a:buClr>
              <a:buNone/>
            </a:pPr>
            <a:r>
              <a:rPr lang="en-US" sz="3471" spc="111" dirty="0">
                <a:solidFill>
                  <a:srgbClr val="182D70"/>
                </a:solidFill>
                <a:latin typeface="Maven Pro Bold"/>
              </a:rPr>
              <a:t>Top 10 </a:t>
            </a:r>
            <a:r>
              <a:rPr lang="en-US" sz="3471" spc="111" dirty="0" err="1">
                <a:solidFill>
                  <a:srgbClr val="182D70"/>
                </a:solidFill>
                <a:latin typeface="Maven Pro Bold"/>
              </a:rPr>
              <a:t>clientes</a:t>
            </a:r>
            <a:r>
              <a:rPr lang="en-US" sz="3471" spc="111" dirty="0">
                <a:solidFill>
                  <a:srgbClr val="182D70"/>
                </a:solidFill>
                <a:latin typeface="Maven Pro Bold"/>
              </a:rPr>
              <a:t> </a:t>
            </a:r>
            <a:r>
              <a:rPr lang="en-US" sz="3471" b="0" spc="111" dirty="0" err="1">
                <a:solidFill>
                  <a:srgbClr val="182D70"/>
                </a:solidFill>
                <a:latin typeface="Maven Pro" panose="020B0604020202020204" charset="0"/>
              </a:rPr>
              <a:t>representam</a:t>
            </a:r>
            <a:r>
              <a:rPr lang="en-US" sz="3471" spc="111" dirty="0">
                <a:solidFill>
                  <a:srgbClr val="182D70"/>
                </a:solidFill>
                <a:latin typeface="Maven Pro" panose="020B0604020202020204" charset="0"/>
              </a:rPr>
              <a:t> </a:t>
            </a:r>
          </a:p>
          <a:p>
            <a:pPr marL="36195" indent="0">
              <a:buClr>
                <a:srgbClr val="1B2D70"/>
              </a:buClr>
              <a:buNone/>
            </a:pPr>
            <a:endParaRPr lang="en-US" sz="3471" spc="111" dirty="0">
              <a:solidFill>
                <a:srgbClr val="182D70"/>
              </a:solidFill>
              <a:latin typeface="Maven Pro Bold"/>
            </a:endParaRPr>
          </a:p>
          <a:p>
            <a:pPr marL="36195" indent="0">
              <a:buClr>
                <a:srgbClr val="1B2D70"/>
              </a:buClr>
              <a:buNone/>
            </a:pPr>
            <a:r>
              <a:rPr lang="en-US" sz="3471" b="0" spc="111" dirty="0">
                <a:solidFill>
                  <a:srgbClr val="182D70"/>
                </a:solidFill>
                <a:latin typeface="Maven Pro" panose="020B0604020202020204" charset="0"/>
              </a:rPr>
              <a:t>do volume total de </a:t>
            </a:r>
            <a:r>
              <a:rPr lang="en-US" sz="3471" spc="111" dirty="0" err="1">
                <a:solidFill>
                  <a:srgbClr val="182D70"/>
                </a:solidFill>
                <a:latin typeface="Maven Pro Bold"/>
              </a:rPr>
              <a:t>exportação</a:t>
            </a:r>
            <a:r>
              <a:rPr lang="en-US" sz="3471" spc="111" dirty="0">
                <a:solidFill>
                  <a:srgbClr val="182D70"/>
                </a:solidFill>
                <a:latin typeface="Maven Pro Bold"/>
              </a:rPr>
              <a:t>.</a:t>
            </a:r>
            <a:endParaRPr lang="pt-BR" sz="3471" spc="111" dirty="0">
              <a:solidFill>
                <a:srgbClr val="182D70"/>
              </a:solidFill>
              <a:latin typeface="Maven Pro Bold"/>
            </a:endParaRPr>
          </a:p>
          <a:p>
            <a:pPr marL="36195" indent="0">
              <a:buClr>
                <a:srgbClr val="1B2D70"/>
              </a:buClr>
              <a:buNone/>
            </a:pPr>
            <a:endParaRPr lang="en-US" sz="3471" spc="111" dirty="0">
              <a:solidFill>
                <a:srgbClr val="182D70"/>
              </a:solidFill>
              <a:latin typeface="Maven Pro Bold"/>
            </a:endParaRP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2396A82A-E675-56AA-1BF7-5FB869967000}"/>
              </a:ext>
            </a:extLst>
          </p:cNvPr>
          <p:cNvSpPr txBox="1"/>
          <p:nvPr/>
        </p:nvSpPr>
        <p:spPr>
          <a:xfrm>
            <a:off x="26042674" y="12000996"/>
            <a:ext cx="14572330" cy="3346172"/>
          </a:xfrm>
          <a:prstGeom prst="rect">
            <a:avLst/>
          </a:prstGeom>
          <a:noFill/>
          <a:ln cmpd="sng">
            <a:noFill/>
          </a:ln>
        </p:spPr>
        <p:txBody>
          <a:bodyPr wrap="square" lIns="91440" tIns="45720" rIns="91440" bIns="4572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79715" indent="-342900">
              <a:lnSpc>
                <a:spcPct val="150000"/>
              </a:lnSpc>
              <a:spcAft>
                <a:spcPts val="400"/>
              </a:spcAft>
              <a:buSzPct val="130000"/>
              <a:buFont typeface="Arial" panose="020B0604020202020204" pitchFamily="34" charset="0"/>
              <a:buChar char="•"/>
              <a:defRPr sz="1800" b="1">
                <a:solidFill>
                  <a:srgbClr val="002060"/>
                </a:solidFill>
                <a:latin typeface="Maven Pro" panose="02000000000000000000" pitchFamily="2" charset="0"/>
              </a:defRPr>
            </a:lvl1pPr>
          </a:lstStyle>
          <a:p>
            <a:pPr marL="36195" indent="0">
              <a:buClr>
                <a:srgbClr val="1B2D70"/>
              </a:buClr>
              <a:buNone/>
            </a:pPr>
            <a:r>
              <a:rPr lang="en-US" sz="3471" spc="111" dirty="0">
                <a:solidFill>
                  <a:srgbClr val="182D70"/>
                </a:solidFill>
                <a:latin typeface="Maven Pro Bold"/>
              </a:rPr>
              <a:t>Top 12 </a:t>
            </a:r>
            <a:r>
              <a:rPr lang="en-US" sz="3471" spc="111" dirty="0" err="1">
                <a:solidFill>
                  <a:srgbClr val="182D70"/>
                </a:solidFill>
                <a:latin typeface="Maven Pro Bold"/>
              </a:rPr>
              <a:t>clientes</a:t>
            </a:r>
            <a:r>
              <a:rPr lang="en-US" sz="3471" spc="111" dirty="0">
                <a:solidFill>
                  <a:srgbClr val="182D70"/>
                </a:solidFill>
                <a:latin typeface="Maven Pro Bold"/>
              </a:rPr>
              <a:t> </a:t>
            </a:r>
            <a:r>
              <a:rPr lang="en-US" sz="3471" b="0" spc="111" dirty="0" err="1">
                <a:solidFill>
                  <a:srgbClr val="182D70"/>
                </a:solidFill>
                <a:latin typeface="Maven Pro" panose="020B0604020202020204" charset="0"/>
              </a:rPr>
              <a:t>representam</a:t>
            </a:r>
            <a:r>
              <a:rPr lang="en-US" sz="3471" spc="111" dirty="0">
                <a:solidFill>
                  <a:srgbClr val="182D70"/>
                </a:solidFill>
                <a:latin typeface="Maven Pro" panose="020B0604020202020204" charset="0"/>
              </a:rPr>
              <a:t> </a:t>
            </a:r>
          </a:p>
          <a:p>
            <a:pPr marL="36195" indent="0">
              <a:buClr>
                <a:srgbClr val="1B2D70"/>
              </a:buClr>
              <a:buNone/>
            </a:pPr>
            <a:endParaRPr lang="en-US" sz="3471" spc="111" dirty="0">
              <a:solidFill>
                <a:srgbClr val="182D70"/>
              </a:solidFill>
              <a:latin typeface="Maven Pro Bold"/>
            </a:endParaRPr>
          </a:p>
          <a:p>
            <a:pPr marL="36195" indent="0">
              <a:buClr>
                <a:srgbClr val="1B2D70"/>
              </a:buClr>
              <a:buNone/>
            </a:pPr>
            <a:r>
              <a:rPr lang="en-US" sz="3471" b="0" spc="111" dirty="0">
                <a:solidFill>
                  <a:srgbClr val="182D70"/>
                </a:solidFill>
                <a:latin typeface="Maven Pro" panose="020B0604020202020204" charset="0"/>
              </a:rPr>
              <a:t>do volume total de </a:t>
            </a:r>
            <a:r>
              <a:rPr lang="en-US" sz="3471" b="0" spc="111" dirty="0" err="1">
                <a:solidFill>
                  <a:srgbClr val="182D70"/>
                </a:solidFill>
                <a:latin typeface="Maven Pro Bold"/>
              </a:rPr>
              <a:t>importação</a:t>
            </a:r>
            <a:endParaRPr lang="pt-BR" sz="3471" spc="111" dirty="0">
              <a:solidFill>
                <a:srgbClr val="182D70"/>
              </a:solidFill>
              <a:latin typeface="Maven Pro Bold"/>
            </a:endParaRPr>
          </a:p>
          <a:p>
            <a:pPr marL="36195" indent="0">
              <a:buClr>
                <a:srgbClr val="1B2D70"/>
              </a:buClr>
              <a:buNone/>
            </a:pPr>
            <a:endParaRPr lang="en-US" sz="3471" spc="111" dirty="0">
              <a:solidFill>
                <a:srgbClr val="182D70"/>
              </a:solidFill>
              <a:latin typeface="Maven Pro Bold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FB84C9F-26AF-89BF-73F7-E9A7CE61A48E}"/>
              </a:ext>
            </a:extLst>
          </p:cNvPr>
          <p:cNvSpPr txBox="1"/>
          <p:nvPr/>
        </p:nvSpPr>
        <p:spPr>
          <a:xfrm>
            <a:off x="474193" y="18134304"/>
            <a:ext cx="20164973" cy="1473032"/>
          </a:xfrm>
          <a:prstGeom prst="rect">
            <a:avLst/>
          </a:prstGeom>
          <a:noFill/>
          <a:ln cmpd="sng">
            <a:noFill/>
          </a:ln>
        </p:spPr>
        <p:txBody>
          <a:bodyPr wrap="square" lIns="91440" tIns="45720" rIns="91440" bIns="4572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79715" indent="-342900">
              <a:lnSpc>
                <a:spcPct val="150000"/>
              </a:lnSpc>
              <a:spcAft>
                <a:spcPts val="400"/>
              </a:spcAft>
              <a:buSzPct val="130000"/>
              <a:buFont typeface="Arial" panose="020B0604020202020204" pitchFamily="34" charset="0"/>
              <a:buChar char="•"/>
              <a:defRPr sz="1800" b="1">
                <a:solidFill>
                  <a:srgbClr val="002060"/>
                </a:solidFill>
                <a:latin typeface="Maven Pro" panose="02000000000000000000" pitchFamily="2" charset="0"/>
              </a:defRPr>
            </a:lvl1pPr>
          </a:lstStyle>
          <a:p>
            <a:pPr marL="36195" indent="0" algn="just">
              <a:buClr>
                <a:srgbClr val="1B2D70"/>
              </a:buClr>
              <a:buNone/>
            </a:pPr>
            <a:r>
              <a:rPr lang="pt-BR" sz="3200" spc="111" dirty="0">
                <a:solidFill>
                  <a:srgbClr val="182D70"/>
                </a:solidFill>
                <a:latin typeface="Maven Pro Bold"/>
              </a:rPr>
              <a:t>TCP respondeu por cerca de 70%</a:t>
            </a:r>
            <a:r>
              <a:rPr lang="pt-BR" sz="3200" b="0" spc="111" dirty="0">
                <a:solidFill>
                  <a:srgbClr val="182D70"/>
                </a:solidFill>
                <a:latin typeface="Maven Pro Bold"/>
              </a:rPr>
              <a:t> </a:t>
            </a:r>
            <a:r>
              <a:rPr lang="pt-BR" sz="3200" b="0" spc="111" dirty="0">
                <a:solidFill>
                  <a:srgbClr val="182D70"/>
                </a:solidFill>
                <a:latin typeface="Maven Pro" panose="020B0604020202020204" charset="0"/>
              </a:rPr>
              <a:t>dos embarques brasileiros de feijão e também de gergelim, ou seja, aproximadamente 70% do volume exportado de cada produto passou pelo terminal.</a:t>
            </a:r>
            <a:endParaRPr lang="en-US" sz="3200" b="0" spc="111" dirty="0">
              <a:solidFill>
                <a:srgbClr val="182D70"/>
              </a:solidFill>
              <a:latin typeface="Maven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401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C31C7-21D7-9BA5-C383-918E04731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7CDDA4E-4264-099B-AB40-C69AAD1BD39B}"/>
              </a:ext>
            </a:extLst>
          </p:cNvPr>
          <p:cNvSpPr/>
          <p:nvPr/>
        </p:nvSpPr>
        <p:spPr>
          <a:xfrm>
            <a:off x="-4348843" y="-4772025"/>
            <a:ext cx="42691047" cy="22489431"/>
          </a:xfrm>
          <a:prstGeom prst="roundRect">
            <a:avLst>
              <a:gd name="adj" fmla="val 40850"/>
            </a:avLst>
          </a:prstGeom>
          <a:solidFill>
            <a:srgbClr val="0710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dirty="0"/>
          </a:p>
        </p:txBody>
      </p:sp>
      <p:sp>
        <p:nvSpPr>
          <p:cNvPr id="96" name="TextBox 121">
            <a:extLst>
              <a:ext uri="{FF2B5EF4-FFF2-40B4-BE49-F238E27FC236}">
                <a16:creationId xmlns:a16="http://schemas.microsoft.com/office/drawing/2014/main" id="{A51A0C1F-1541-F159-8F85-C5D8A53A1D99}"/>
              </a:ext>
            </a:extLst>
          </p:cNvPr>
          <p:cNvSpPr txBox="1"/>
          <p:nvPr/>
        </p:nvSpPr>
        <p:spPr>
          <a:xfrm>
            <a:off x="1897070" y="1282716"/>
            <a:ext cx="13467126" cy="998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6856"/>
              </a:lnSpc>
              <a:spcBef>
                <a:spcPct val="0"/>
              </a:spcBef>
            </a:pPr>
            <a:r>
              <a:rPr lang="en-US" sz="6600" b="1" dirty="0" err="1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Fluxograma</a:t>
            </a:r>
            <a:r>
              <a:rPr lang="en-US" sz="6600" b="1" dirty="0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 Importação</a:t>
            </a:r>
          </a:p>
        </p:txBody>
      </p:sp>
      <p:sp>
        <p:nvSpPr>
          <p:cNvPr id="98" name="TextBox 122">
            <a:extLst>
              <a:ext uri="{FF2B5EF4-FFF2-40B4-BE49-F238E27FC236}">
                <a16:creationId xmlns:a16="http://schemas.microsoft.com/office/drawing/2014/main" id="{7DF92B8E-0D37-E38C-A086-564C7D1AE878}"/>
              </a:ext>
            </a:extLst>
          </p:cNvPr>
          <p:cNvSpPr txBox="1"/>
          <p:nvPr/>
        </p:nvSpPr>
        <p:spPr>
          <a:xfrm>
            <a:off x="1897070" y="2199765"/>
            <a:ext cx="260284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E8C58C"/>
                </a:solidFill>
                <a:latin typeface="Maven Pro" pitchFamily="2" charset="0"/>
              </a:rPr>
              <a:t>Do </a:t>
            </a:r>
            <a:r>
              <a:rPr lang="en-US" sz="4800" dirty="0" err="1">
                <a:solidFill>
                  <a:srgbClr val="E8C58C"/>
                </a:solidFill>
                <a:latin typeface="Maven Pro" pitchFamily="2" charset="0"/>
              </a:rPr>
              <a:t>navio</a:t>
            </a:r>
            <a:r>
              <a:rPr lang="en-US" sz="4800" dirty="0">
                <a:solidFill>
                  <a:srgbClr val="E8C58C"/>
                </a:solidFill>
                <a:latin typeface="Maven Pro" pitchFamily="2" charset="0"/>
              </a:rPr>
              <a:t> à </a:t>
            </a:r>
            <a:r>
              <a:rPr lang="en-US" sz="4800" dirty="0" err="1">
                <a:solidFill>
                  <a:srgbClr val="E8C58C"/>
                </a:solidFill>
                <a:latin typeface="Maven Pro" pitchFamily="2" charset="0"/>
              </a:rPr>
              <a:t>liberação</a:t>
            </a:r>
            <a:r>
              <a:rPr lang="en-US" sz="4800" dirty="0">
                <a:solidFill>
                  <a:srgbClr val="E8C58C"/>
                </a:solidFill>
                <a:latin typeface="Maven Pro" pitchFamily="2" charset="0"/>
              </a:rPr>
              <a:t> da </a:t>
            </a:r>
            <a:r>
              <a:rPr lang="en-US" sz="4800" dirty="0" err="1">
                <a:solidFill>
                  <a:srgbClr val="E8C58C"/>
                </a:solidFill>
                <a:latin typeface="Maven Pro" pitchFamily="2" charset="0"/>
              </a:rPr>
              <a:t>unidade</a:t>
            </a:r>
            <a:endParaRPr lang="pt-BR" sz="4800" dirty="0">
              <a:solidFill>
                <a:srgbClr val="E8C58C"/>
              </a:solidFill>
              <a:latin typeface="Maven Pro" pitchFamily="2" charset="0"/>
            </a:endParaRPr>
          </a:p>
        </p:txBody>
      </p:sp>
      <p:sp>
        <p:nvSpPr>
          <p:cNvPr id="3" name="Rectangle 19">
            <a:extLst>
              <a:ext uri="{FF2B5EF4-FFF2-40B4-BE49-F238E27FC236}">
                <a16:creationId xmlns:a16="http://schemas.microsoft.com/office/drawing/2014/main" id="{1E563FAE-8A42-E6DA-9096-3023A9224284}"/>
              </a:ext>
            </a:extLst>
          </p:cNvPr>
          <p:cNvSpPr/>
          <p:nvPr/>
        </p:nvSpPr>
        <p:spPr>
          <a:xfrm>
            <a:off x="-5399795" y="14762990"/>
            <a:ext cx="21858995" cy="2954416"/>
          </a:xfrm>
          <a:prstGeom prst="roundRect">
            <a:avLst>
              <a:gd name="adj" fmla="val 40850"/>
            </a:avLst>
          </a:prstGeom>
          <a:solidFill>
            <a:srgbClr val="0710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1F482D46-84E9-13E4-161E-486F8B7A55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5224" y="487822"/>
            <a:ext cx="34964913" cy="19491468"/>
          </a:xfrm>
          <a:prstGeom prst="rect">
            <a:avLst/>
          </a:prstGeom>
        </p:spPr>
      </p:pic>
      <p:sp>
        <p:nvSpPr>
          <p:cNvPr id="5" name="Freeform 52">
            <a:extLst>
              <a:ext uri="{FF2B5EF4-FFF2-40B4-BE49-F238E27FC236}">
                <a16:creationId xmlns:a16="http://schemas.microsoft.com/office/drawing/2014/main" id="{413E4AFE-5FCA-C6DD-EE1F-644C556429E8}"/>
              </a:ext>
            </a:extLst>
          </p:cNvPr>
          <p:cNvSpPr/>
          <p:nvPr/>
        </p:nvSpPr>
        <p:spPr>
          <a:xfrm>
            <a:off x="783048" y="18616371"/>
            <a:ext cx="2863232" cy="1362919"/>
          </a:xfrm>
          <a:custGeom>
            <a:avLst/>
            <a:gdLst/>
            <a:ahLst/>
            <a:cxnLst/>
            <a:rect l="l" t="t" r="r" b="b"/>
            <a:pathLst>
              <a:path w="3941518" h="1853888">
                <a:moveTo>
                  <a:pt x="0" y="0"/>
                </a:moveTo>
                <a:lnTo>
                  <a:pt x="3941518" y="0"/>
                </a:lnTo>
                <a:lnTo>
                  <a:pt x="3941518" y="1853888"/>
                </a:lnTo>
                <a:lnTo>
                  <a:pt x="0" y="1853888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80150" b="-43157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8713C46-062A-4872-09B0-BBA38E1FAFE5}"/>
              </a:ext>
            </a:extLst>
          </p:cNvPr>
          <p:cNvSpPr/>
          <p:nvPr/>
        </p:nvSpPr>
        <p:spPr>
          <a:xfrm>
            <a:off x="3486150" y="4429125"/>
            <a:ext cx="3371850" cy="2652255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3491807E-649B-E8ED-AE5A-8D4DDE1E616D}"/>
              </a:ext>
            </a:extLst>
          </p:cNvPr>
          <p:cNvSpPr/>
          <p:nvPr/>
        </p:nvSpPr>
        <p:spPr>
          <a:xfrm>
            <a:off x="4629150" y="3990133"/>
            <a:ext cx="942975" cy="923330"/>
          </a:xfrm>
          <a:prstGeom prst="ellipse">
            <a:avLst/>
          </a:prstGeom>
          <a:solidFill>
            <a:srgbClr val="07103B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713C6924-9B65-800F-0483-77AAA8E1A950}"/>
              </a:ext>
            </a:extLst>
          </p:cNvPr>
          <p:cNvSpPr txBox="1"/>
          <p:nvPr/>
        </p:nvSpPr>
        <p:spPr>
          <a:xfrm>
            <a:off x="4875591" y="4064199"/>
            <a:ext cx="696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E8C58C"/>
                </a:solidFill>
                <a:latin typeface="Maven Pro" pitchFamily="2" charset="0"/>
              </a:rPr>
              <a:t>1</a:t>
            </a:r>
            <a:endParaRPr lang="pt-BR" sz="4000" b="1" dirty="0">
              <a:solidFill>
                <a:srgbClr val="E8C58C"/>
              </a:solidFill>
              <a:latin typeface="Maven Pro" pitchFamily="2" charset="0"/>
            </a:endParaRP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1A4D45C7-A0D6-86CC-E7F9-46592D674CFD}"/>
              </a:ext>
            </a:extLst>
          </p:cNvPr>
          <p:cNvCxnSpPr>
            <a:cxnSpLocks/>
          </p:cNvCxnSpPr>
          <p:nvPr/>
        </p:nvCxnSpPr>
        <p:spPr>
          <a:xfrm>
            <a:off x="6987540" y="5500687"/>
            <a:ext cx="365760" cy="0"/>
          </a:xfrm>
          <a:prstGeom prst="straightConnector1">
            <a:avLst/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2380CA5-9938-07AB-0068-F44A47E42A85}"/>
              </a:ext>
            </a:extLst>
          </p:cNvPr>
          <p:cNvSpPr/>
          <p:nvPr/>
        </p:nvSpPr>
        <p:spPr>
          <a:xfrm>
            <a:off x="7598231" y="4429124"/>
            <a:ext cx="3371850" cy="2652253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8C8D1064-B979-6982-87ED-741775759CDB}"/>
              </a:ext>
            </a:extLst>
          </p:cNvPr>
          <p:cNvSpPr/>
          <p:nvPr/>
        </p:nvSpPr>
        <p:spPr>
          <a:xfrm>
            <a:off x="8741231" y="3990132"/>
            <a:ext cx="942975" cy="923330"/>
          </a:xfrm>
          <a:prstGeom prst="ellipse">
            <a:avLst/>
          </a:prstGeom>
          <a:solidFill>
            <a:srgbClr val="07103B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D0F507BF-0A1B-599F-AE11-92C18A826135}"/>
              </a:ext>
            </a:extLst>
          </p:cNvPr>
          <p:cNvSpPr txBox="1"/>
          <p:nvPr/>
        </p:nvSpPr>
        <p:spPr>
          <a:xfrm>
            <a:off x="8987672" y="4064198"/>
            <a:ext cx="696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E8C58C"/>
                </a:solidFill>
                <a:latin typeface="Maven Pro" pitchFamily="2" charset="0"/>
              </a:rPr>
              <a:t>2</a:t>
            </a:r>
            <a:endParaRPr lang="pt-BR" sz="4000" b="1" dirty="0">
              <a:solidFill>
                <a:srgbClr val="E8C58C"/>
              </a:solidFill>
              <a:latin typeface="Maven Pro" pitchFamily="2" charset="0"/>
            </a:endParaRP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014381BD-AD8F-9365-704A-5CCFE70E5AE7}"/>
              </a:ext>
            </a:extLst>
          </p:cNvPr>
          <p:cNvCxnSpPr>
            <a:cxnSpLocks/>
          </p:cNvCxnSpPr>
          <p:nvPr/>
        </p:nvCxnSpPr>
        <p:spPr>
          <a:xfrm>
            <a:off x="11099621" y="5500686"/>
            <a:ext cx="365760" cy="0"/>
          </a:xfrm>
          <a:prstGeom prst="straightConnector1">
            <a:avLst/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75C7F196-3D08-3953-23E7-D7F0EC4716CC}"/>
              </a:ext>
            </a:extLst>
          </p:cNvPr>
          <p:cNvSpPr/>
          <p:nvPr/>
        </p:nvSpPr>
        <p:spPr>
          <a:xfrm>
            <a:off x="11741600" y="4429125"/>
            <a:ext cx="3371850" cy="2652251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CD682CE9-E617-A5BE-1788-847B1E6564EB}"/>
              </a:ext>
            </a:extLst>
          </p:cNvPr>
          <p:cNvSpPr/>
          <p:nvPr/>
        </p:nvSpPr>
        <p:spPr>
          <a:xfrm>
            <a:off x="12884600" y="3990133"/>
            <a:ext cx="942975" cy="923330"/>
          </a:xfrm>
          <a:prstGeom prst="ellipse">
            <a:avLst/>
          </a:prstGeom>
          <a:solidFill>
            <a:srgbClr val="07103B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A9D9D80E-A26A-A478-9221-9FF10F1FF1DB}"/>
              </a:ext>
            </a:extLst>
          </p:cNvPr>
          <p:cNvSpPr txBox="1"/>
          <p:nvPr/>
        </p:nvSpPr>
        <p:spPr>
          <a:xfrm>
            <a:off x="13131041" y="4064199"/>
            <a:ext cx="696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E8C58C"/>
                </a:solidFill>
                <a:latin typeface="Maven Pro" pitchFamily="2" charset="0"/>
              </a:rPr>
              <a:t>3</a:t>
            </a:r>
            <a:endParaRPr lang="pt-BR" sz="4000" b="1" dirty="0">
              <a:solidFill>
                <a:srgbClr val="E8C58C"/>
              </a:solidFill>
              <a:latin typeface="Maven Pro" pitchFamily="2" charset="0"/>
            </a:endParaRP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BA7CB743-6DF2-2028-790A-EA6D271825C7}"/>
              </a:ext>
            </a:extLst>
          </p:cNvPr>
          <p:cNvCxnSpPr>
            <a:cxnSpLocks/>
          </p:cNvCxnSpPr>
          <p:nvPr/>
        </p:nvCxnSpPr>
        <p:spPr>
          <a:xfrm>
            <a:off x="15242990" y="5500687"/>
            <a:ext cx="365760" cy="0"/>
          </a:xfrm>
          <a:prstGeom prst="straightConnector1">
            <a:avLst/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2C16AF6A-3DAB-DFDE-B28D-F9B131BCA97A}"/>
              </a:ext>
            </a:extLst>
          </p:cNvPr>
          <p:cNvSpPr/>
          <p:nvPr/>
        </p:nvSpPr>
        <p:spPr>
          <a:xfrm>
            <a:off x="15853681" y="4429124"/>
            <a:ext cx="3371850" cy="2652248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3226D1E6-2ACB-0D23-D07A-7AD78D4FEBBD}"/>
              </a:ext>
            </a:extLst>
          </p:cNvPr>
          <p:cNvSpPr/>
          <p:nvPr/>
        </p:nvSpPr>
        <p:spPr>
          <a:xfrm>
            <a:off x="16996681" y="3990132"/>
            <a:ext cx="942975" cy="923330"/>
          </a:xfrm>
          <a:prstGeom prst="ellipse">
            <a:avLst/>
          </a:prstGeom>
          <a:solidFill>
            <a:srgbClr val="07103B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D7B63D2C-A4BD-4180-1CE4-28BF01965C77}"/>
              </a:ext>
            </a:extLst>
          </p:cNvPr>
          <p:cNvSpPr txBox="1"/>
          <p:nvPr/>
        </p:nvSpPr>
        <p:spPr>
          <a:xfrm>
            <a:off x="17243122" y="4064198"/>
            <a:ext cx="696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E8C58C"/>
                </a:solidFill>
                <a:latin typeface="Maven Pro" pitchFamily="2" charset="0"/>
              </a:rPr>
              <a:t>4</a:t>
            </a:r>
            <a:endParaRPr lang="pt-BR" sz="4000" b="1" dirty="0">
              <a:solidFill>
                <a:srgbClr val="E8C58C"/>
              </a:solidFill>
              <a:latin typeface="Maven Pro" pitchFamily="2" charset="0"/>
            </a:endParaRP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8BC3DF57-7632-AB8A-743D-ED14C6DD979D}"/>
              </a:ext>
            </a:extLst>
          </p:cNvPr>
          <p:cNvCxnSpPr>
            <a:cxnSpLocks/>
          </p:cNvCxnSpPr>
          <p:nvPr/>
        </p:nvCxnSpPr>
        <p:spPr>
          <a:xfrm>
            <a:off x="19355071" y="5500686"/>
            <a:ext cx="365760" cy="0"/>
          </a:xfrm>
          <a:prstGeom prst="straightConnector1">
            <a:avLst/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Imagem 23">
            <a:extLst>
              <a:ext uri="{FF2B5EF4-FFF2-40B4-BE49-F238E27FC236}">
                <a16:creationId xmlns:a16="http://schemas.microsoft.com/office/drawing/2014/main" id="{4BA10BBE-653D-FE69-51A1-1F11CC717D8F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alphaModFix amt="20000"/>
          </a:blip>
          <a:stretch>
            <a:fillRect/>
          </a:stretch>
        </p:blipFill>
        <p:spPr>
          <a:xfrm>
            <a:off x="4807350" y="5066292"/>
            <a:ext cx="724227" cy="724227"/>
          </a:xfrm>
          <a:prstGeom prst="rect">
            <a:avLst/>
          </a:prstGeom>
        </p:spPr>
      </p:pic>
      <p:sp>
        <p:nvSpPr>
          <p:cNvPr id="25" name="TextBox 100">
            <a:extLst>
              <a:ext uri="{FF2B5EF4-FFF2-40B4-BE49-F238E27FC236}">
                <a16:creationId xmlns:a16="http://schemas.microsoft.com/office/drawing/2014/main" id="{C317818A-0961-D23B-C680-08AF0BC2CE15}"/>
              </a:ext>
            </a:extLst>
          </p:cNvPr>
          <p:cNvSpPr txBox="1"/>
          <p:nvPr/>
        </p:nvSpPr>
        <p:spPr>
          <a:xfrm>
            <a:off x="3723697" y="5906965"/>
            <a:ext cx="2861481" cy="86177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Atracação do Navio</a:t>
            </a:r>
          </a:p>
        </p:txBody>
      </p:sp>
      <p:sp>
        <p:nvSpPr>
          <p:cNvPr id="26" name="TextBox 100">
            <a:extLst>
              <a:ext uri="{FF2B5EF4-FFF2-40B4-BE49-F238E27FC236}">
                <a16:creationId xmlns:a16="http://schemas.microsoft.com/office/drawing/2014/main" id="{35B7B17B-8765-8966-0987-79DC3C498E69}"/>
              </a:ext>
            </a:extLst>
          </p:cNvPr>
          <p:cNvSpPr txBox="1"/>
          <p:nvPr/>
        </p:nvSpPr>
        <p:spPr>
          <a:xfrm>
            <a:off x="7853415" y="5906965"/>
            <a:ext cx="2861481" cy="86177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Descarga da Unidade</a:t>
            </a:r>
          </a:p>
        </p:txBody>
      </p:sp>
      <p:sp>
        <p:nvSpPr>
          <p:cNvPr id="27" name="TextBox 100">
            <a:extLst>
              <a:ext uri="{FF2B5EF4-FFF2-40B4-BE49-F238E27FC236}">
                <a16:creationId xmlns:a16="http://schemas.microsoft.com/office/drawing/2014/main" id="{AC5FDF42-8C4E-5996-4A13-99EC23F466D3}"/>
              </a:ext>
            </a:extLst>
          </p:cNvPr>
          <p:cNvSpPr txBox="1"/>
          <p:nvPr/>
        </p:nvSpPr>
        <p:spPr>
          <a:xfrm>
            <a:off x="11996784" y="5906965"/>
            <a:ext cx="2861481" cy="86177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Conferência Costado</a:t>
            </a:r>
          </a:p>
        </p:txBody>
      </p:sp>
      <p:sp>
        <p:nvSpPr>
          <p:cNvPr id="28" name="TextBox 100">
            <a:extLst>
              <a:ext uri="{FF2B5EF4-FFF2-40B4-BE49-F238E27FC236}">
                <a16:creationId xmlns:a16="http://schemas.microsoft.com/office/drawing/2014/main" id="{349A1CC7-46ED-50E7-F4AD-49545512AE92}"/>
              </a:ext>
            </a:extLst>
          </p:cNvPr>
          <p:cNvSpPr txBox="1"/>
          <p:nvPr/>
        </p:nvSpPr>
        <p:spPr>
          <a:xfrm>
            <a:off x="16096421" y="5906965"/>
            <a:ext cx="2861481" cy="43088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Escaneamento?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B099418A-F85A-39FD-9F38-389AC829EBFE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tretch>
            <a:fillRect/>
          </a:stretch>
        </p:blipFill>
        <p:spPr>
          <a:xfrm>
            <a:off x="8863081" y="4932712"/>
            <a:ext cx="821125" cy="821125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B29F43CC-A656-D36F-9216-8750BEEBD562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tretch>
            <a:fillRect/>
          </a:stretch>
        </p:blipFill>
        <p:spPr>
          <a:xfrm>
            <a:off x="13044370" y="5045251"/>
            <a:ext cx="766308" cy="766308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379ECD49-AFA3-98E7-DF63-43C1D313B2DE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tretch>
            <a:fillRect/>
          </a:stretch>
        </p:blipFill>
        <p:spPr>
          <a:xfrm>
            <a:off x="17139556" y="5073414"/>
            <a:ext cx="710320" cy="710320"/>
          </a:xfrm>
          <a:prstGeom prst="rect">
            <a:avLst/>
          </a:prstGeom>
        </p:spPr>
      </p:pic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0E9AC708-1DCA-6321-50EB-A3B5D70887E6}"/>
              </a:ext>
            </a:extLst>
          </p:cNvPr>
          <p:cNvSpPr/>
          <p:nvPr/>
        </p:nvSpPr>
        <p:spPr>
          <a:xfrm>
            <a:off x="22837815" y="4388253"/>
            <a:ext cx="6220506" cy="2652255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62B7BBFF-D971-B4F5-ED5D-3FB6090B94CC}"/>
              </a:ext>
            </a:extLst>
          </p:cNvPr>
          <p:cNvSpPr/>
          <p:nvPr/>
        </p:nvSpPr>
        <p:spPr>
          <a:xfrm>
            <a:off x="25403215" y="3949261"/>
            <a:ext cx="942975" cy="923330"/>
          </a:xfrm>
          <a:prstGeom prst="ellipse">
            <a:avLst/>
          </a:prstGeom>
          <a:solidFill>
            <a:srgbClr val="07103B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TextBox 4">
            <a:extLst>
              <a:ext uri="{FF2B5EF4-FFF2-40B4-BE49-F238E27FC236}">
                <a16:creationId xmlns:a16="http://schemas.microsoft.com/office/drawing/2014/main" id="{8BDFE181-5545-A8C2-C54E-F57D7F19B712}"/>
              </a:ext>
            </a:extLst>
          </p:cNvPr>
          <p:cNvSpPr txBox="1"/>
          <p:nvPr/>
        </p:nvSpPr>
        <p:spPr>
          <a:xfrm>
            <a:off x="25649656" y="4023327"/>
            <a:ext cx="696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E8C58C"/>
                </a:solidFill>
                <a:latin typeface="Maven Pro" pitchFamily="2" charset="0"/>
              </a:rPr>
              <a:t>5</a:t>
            </a:r>
            <a:endParaRPr lang="pt-BR" sz="4000" b="1" dirty="0">
              <a:solidFill>
                <a:srgbClr val="E8C58C"/>
              </a:solidFill>
              <a:latin typeface="Maven Pro" pitchFamily="2" charset="0"/>
            </a:endParaRPr>
          </a:p>
        </p:txBody>
      </p: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EC85F820-8B40-39E8-0321-F9B5CA821143}"/>
              </a:ext>
            </a:extLst>
          </p:cNvPr>
          <p:cNvCxnSpPr>
            <a:cxnSpLocks/>
          </p:cNvCxnSpPr>
          <p:nvPr/>
        </p:nvCxnSpPr>
        <p:spPr>
          <a:xfrm>
            <a:off x="22242843" y="5459815"/>
            <a:ext cx="365760" cy="0"/>
          </a:xfrm>
          <a:prstGeom prst="straightConnector1">
            <a:avLst/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100">
            <a:extLst>
              <a:ext uri="{FF2B5EF4-FFF2-40B4-BE49-F238E27FC236}">
                <a16:creationId xmlns:a16="http://schemas.microsoft.com/office/drawing/2014/main" id="{A40EA769-D69F-C2AA-9987-84F04D7F3B96}"/>
              </a:ext>
            </a:extLst>
          </p:cNvPr>
          <p:cNvSpPr txBox="1"/>
          <p:nvPr/>
        </p:nvSpPr>
        <p:spPr>
          <a:xfrm>
            <a:off x="23075362" y="5866093"/>
            <a:ext cx="5753263" cy="86177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Armazenagem: Unidade direcionada ao bloco</a:t>
            </a:r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AF57754-C6A6-E746-DDE3-01DBC4CF3C12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tretch>
            <a:fillRect/>
          </a:stretch>
        </p:blipFill>
        <p:spPr>
          <a:xfrm>
            <a:off x="25594125" y="5070787"/>
            <a:ext cx="707886" cy="707886"/>
          </a:xfrm>
          <a:prstGeom prst="rect">
            <a:avLst/>
          </a:prstGeom>
        </p:spPr>
      </p:pic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4D85AC7E-1821-78EA-7022-C6DF6558AD2B}"/>
              </a:ext>
            </a:extLst>
          </p:cNvPr>
          <p:cNvSpPr/>
          <p:nvPr/>
        </p:nvSpPr>
        <p:spPr>
          <a:xfrm>
            <a:off x="19995301" y="5120161"/>
            <a:ext cx="2111764" cy="852233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TextBox 100">
            <a:extLst>
              <a:ext uri="{FF2B5EF4-FFF2-40B4-BE49-F238E27FC236}">
                <a16:creationId xmlns:a16="http://schemas.microsoft.com/office/drawing/2014/main" id="{56532310-30B7-72BB-88E0-91566B9FA857}"/>
              </a:ext>
            </a:extLst>
          </p:cNvPr>
          <p:cNvSpPr txBox="1"/>
          <p:nvPr/>
        </p:nvSpPr>
        <p:spPr>
          <a:xfrm>
            <a:off x="19611344" y="5283494"/>
            <a:ext cx="2861481" cy="43088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Não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36183D32-8C5F-9049-4534-0AAAED1D147B}"/>
              </a:ext>
            </a:extLst>
          </p:cNvPr>
          <p:cNvSpPr/>
          <p:nvPr/>
        </p:nvSpPr>
        <p:spPr>
          <a:xfrm>
            <a:off x="16483724" y="7877085"/>
            <a:ext cx="2111764" cy="852233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TextBox 100">
            <a:extLst>
              <a:ext uri="{FF2B5EF4-FFF2-40B4-BE49-F238E27FC236}">
                <a16:creationId xmlns:a16="http://schemas.microsoft.com/office/drawing/2014/main" id="{117099E7-5D17-CA6F-398F-48CB179ABF2D}"/>
              </a:ext>
            </a:extLst>
          </p:cNvPr>
          <p:cNvSpPr txBox="1"/>
          <p:nvPr/>
        </p:nvSpPr>
        <p:spPr>
          <a:xfrm>
            <a:off x="16096421" y="8026194"/>
            <a:ext cx="2861481" cy="43088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Sim</a:t>
            </a:r>
          </a:p>
        </p:txBody>
      </p: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CB14CCF7-7754-F291-E3DA-4C5A60AA9BD3}"/>
              </a:ext>
            </a:extLst>
          </p:cNvPr>
          <p:cNvCxnSpPr>
            <a:cxnSpLocks/>
          </p:cNvCxnSpPr>
          <p:nvPr/>
        </p:nvCxnSpPr>
        <p:spPr>
          <a:xfrm rot="5400000">
            <a:off x="17252539" y="7405686"/>
            <a:ext cx="365760" cy="0"/>
          </a:xfrm>
          <a:prstGeom prst="straightConnector1">
            <a:avLst/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221911BC-6ED2-2EB2-DBE7-CA2F400B0E88}"/>
              </a:ext>
            </a:extLst>
          </p:cNvPr>
          <p:cNvSpPr/>
          <p:nvPr/>
        </p:nvSpPr>
        <p:spPr>
          <a:xfrm>
            <a:off x="19515827" y="7721370"/>
            <a:ext cx="6133829" cy="1004160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TextBox 100">
            <a:extLst>
              <a:ext uri="{FF2B5EF4-FFF2-40B4-BE49-F238E27FC236}">
                <a16:creationId xmlns:a16="http://schemas.microsoft.com/office/drawing/2014/main" id="{0CB0B701-0423-6BCA-1487-46363F4306A8}"/>
              </a:ext>
            </a:extLst>
          </p:cNvPr>
          <p:cNvSpPr txBox="1"/>
          <p:nvPr/>
        </p:nvSpPr>
        <p:spPr>
          <a:xfrm>
            <a:off x="20665765" y="7990263"/>
            <a:ext cx="4726891" cy="43088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Realiza o Escaneamento </a:t>
            </a:r>
          </a:p>
        </p:txBody>
      </p:sp>
      <p:pic>
        <p:nvPicPr>
          <p:cNvPr id="45" name="Imagem 44">
            <a:extLst>
              <a:ext uri="{FF2B5EF4-FFF2-40B4-BE49-F238E27FC236}">
                <a16:creationId xmlns:a16="http://schemas.microsoft.com/office/drawing/2014/main" id="{1DC20006-A320-CBA7-3B32-84D70646D415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tretch>
            <a:fillRect/>
          </a:stretch>
        </p:blipFill>
        <p:spPr>
          <a:xfrm>
            <a:off x="19995301" y="7831686"/>
            <a:ext cx="722781" cy="722781"/>
          </a:xfrm>
          <a:prstGeom prst="rect">
            <a:avLst/>
          </a:prstGeom>
        </p:spPr>
      </p:pic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177FC50A-2C45-DFA3-7AD7-B2C94ABD5398}"/>
              </a:ext>
            </a:extLst>
          </p:cNvPr>
          <p:cNvCxnSpPr>
            <a:cxnSpLocks/>
          </p:cNvCxnSpPr>
          <p:nvPr/>
        </p:nvCxnSpPr>
        <p:spPr>
          <a:xfrm>
            <a:off x="18859771" y="8269286"/>
            <a:ext cx="365760" cy="0"/>
          </a:xfrm>
          <a:prstGeom prst="straightConnector1">
            <a:avLst/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: Angulado 46">
            <a:extLst>
              <a:ext uri="{FF2B5EF4-FFF2-40B4-BE49-F238E27FC236}">
                <a16:creationId xmlns:a16="http://schemas.microsoft.com/office/drawing/2014/main" id="{7A20DD62-092F-0A3A-9CC9-C632DC439235}"/>
              </a:ext>
            </a:extLst>
          </p:cNvPr>
          <p:cNvCxnSpPr>
            <a:cxnSpLocks/>
          </p:cNvCxnSpPr>
          <p:nvPr/>
        </p:nvCxnSpPr>
        <p:spPr>
          <a:xfrm flipV="1">
            <a:off x="25963987" y="7222806"/>
            <a:ext cx="1210843" cy="1046480"/>
          </a:xfrm>
          <a:prstGeom prst="bentConnector3">
            <a:avLst>
              <a:gd name="adj1" fmla="val 100149"/>
            </a:avLst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5685062E-B5F5-D257-5439-795187E351BC}"/>
              </a:ext>
            </a:extLst>
          </p:cNvPr>
          <p:cNvSpPr/>
          <p:nvPr/>
        </p:nvSpPr>
        <p:spPr>
          <a:xfrm>
            <a:off x="3486150" y="10210704"/>
            <a:ext cx="3371850" cy="2652248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02B56551-27C4-4E8F-9BA7-70C1376B4B4B}"/>
              </a:ext>
            </a:extLst>
          </p:cNvPr>
          <p:cNvSpPr/>
          <p:nvPr/>
        </p:nvSpPr>
        <p:spPr>
          <a:xfrm>
            <a:off x="4629150" y="9771712"/>
            <a:ext cx="942975" cy="923330"/>
          </a:xfrm>
          <a:prstGeom prst="ellipse">
            <a:avLst/>
          </a:prstGeom>
          <a:solidFill>
            <a:srgbClr val="07103B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TextBox 4">
            <a:extLst>
              <a:ext uri="{FF2B5EF4-FFF2-40B4-BE49-F238E27FC236}">
                <a16:creationId xmlns:a16="http://schemas.microsoft.com/office/drawing/2014/main" id="{BDE7B59A-869F-106A-1217-102642ED56B1}"/>
              </a:ext>
            </a:extLst>
          </p:cNvPr>
          <p:cNvSpPr txBox="1"/>
          <p:nvPr/>
        </p:nvSpPr>
        <p:spPr>
          <a:xfrm>
            <a:off x="4875591" y="9845778"/>
            <a:ext cx="696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E8C58C"/>
                </a:solidFill>
                <a:latin typeface="Maven Pro" pitchFamily="2" charset="0"/>
              </a:rPr>
              <a:t>6</a:t>
            </a:r>
            <a:endParaRPr lang="pt-BR" sz="4000" b="1" dirty="0">
              <a:solidFill>
                <a:srgbClr val="E8C58C"/>
              </a:solidFill>
              <a:latin typeface="Maven Pro" pitchFamily="2" charset="0"/>
            </a:endParaRPr>
          </a:p>
        </p:txBody>
      </p:sp>
      <p:cxnSp>
        <p:nvCxnSpPr>
          <p:cNvPr id="52" name="Conector de Seta Reta 51">
            <a:extLst>
              <a:ext uri="{FF2B5EF4-FFF2-40B4-BE49-F238E27FC236}">
                <a16:creationId xmlns:a16="http://schemas.microsoft.com/office/drawing/2014/main" id="{D3B9E757-607D-2E4F-BCD3-C1ECE81D1D4E}"/>
              </a:ext>
            </a:extLst>
          </p:cNvPr>
          <p:cNvCxnSpPr>
            <a:cxnSpLocks/>
          </p:cNvCxnSpPr>
          <p:nvPr/>
        </p:nvCxnSpPr>
        <p:spPr>
          <a:xfrm>
            <a:off x="6987540" y="11282266"/>
            <a:ext cx="365760" cy="0"/>
          </a:xfrm>
          <a:prstGeom prst="straightConnector1">
            <a:avLst/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100">
            <a:extLst>
              <a:ext uri="{FF2B5EF4-FFF2-40B4-BE49-F238E27FC236}">
                <a16:creationId xmlns:a16="http://schemas.microsoft.com/office/drawing/2014/main" id="{7AB96D05-F3B7-EDCB-A153-D348E4F89CD9}"/>
              </a:ext>
            </a:extLst>
          </p:cNvPr>
          <p:cNvSpPr txBox="1"/>
          <p:nvPr/>
        </p:nvSpPr>
        <p:spPr>
          <a:xfrm>
            <a:off x="3728890" y="11688545"/>
            <a:ext cx="2861481" cy="43088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Inspeção Órgão?</a:t>
            </a: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AC15CA09-5B0D-05EF-6931-EDDE7C781877}"/>
              </a:ext>
            </a:extLst>
          </p:cNvPr>
          <p:cNvSpPr/>
          <p:nvPr/>
        </p:nvSpPr>
        <p:spPr>
          <a:xfrm>
            <a:off x="7627770" y="10901741"/>
            <a:ext cx="2111764" cy="852233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Retângulo: Cantos Arredondados 57">
            <a:extLst>
              <a:ext uri="{FF2B5EF4-FFF2-40B4-BE49-F238E27FC236}">
                <a16:creationId xmlns:a16="http://schemas.microsoft.com/office/drawing/2014/main" id="{52B3BC66-E0AD-3858-E575-19C86DD363AF}"/>
              </a:ext>
            </a:extLst>
          </p:cNvPr>
          <p:cNvSpPr/>
          <p:nvPr/>
        </p:nvSpPr>
        <p:spPr>
          <a:xfrm>
            <a:off x="10340837" y="10210704"/>
            <a:ext cx="3745910" cy="2652248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93BCD958-07AB-025D-D637-24A72E67C489}"/>
              </a:ext>
            </a:extLst>
          </p:cNvPr>
          <p:cNvSpPr/>
          <p:nvPr/>
        </p:nvSpPr>
        <p:spPr>
          <a:xfrm>
            <a:off x="11699148" y="9771712"/>
            <a:ext cx="942975" cy="923330"/>
          </a:xfrm>
          <a:prstGeom prst="ellipse">
            <a:avLst/>
          </a:prstGeom>
          <a:solidFill>
            <a:srgbClr val="07103B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TextBox 4">
            <a:extLst>
              <a:ext uri="{FF2B5EF4-FFF2-40B4-BE49-F238E27FC236}">
                <a16:creationId xmlns:a16="http://schemas.microsoft.com/office/drawing/2014/main" id="{EBA1BAEF-C382-9B4D-2D87-BE52374FA764}"/>
              </a:ext>
            </a:extLst>
          </p:cNvPr>
          <p:cNvSpPr txBox="1"/>
          <p:nvPr/>
        </p:nvSpPr>
        <p:spPr>
          <a:xfrm>
            <a:off x="11945589" y="9845778"/>
            <a:ext cx="696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E8C58C"/>
                </a:solidFill>
                <a:latin typeface="Maven Pro" pitchFamily="2" charset="0"/>
              </a:rPr>
              <a:t>7</a:t>
            </a:r>
            <a:endParaRPr lang="pt-BR" sz="4000" b="1" dirty="0">
              <a:solidFill>
                <a:srgbClr val="E8C58C"/>
              </a:solidFill>
              <a:latin typeface="Maven Pro" pitchFamily="2" charset="0"/>
            </a:endParaRPr>
          </a:p>
        </p:txBody>
      </p:sp>
      <p:cxnSp>
        <p:nvCxnSpPr>
          <p:cNvPr id="63" name="Conector de Seta Reta 62">
            <a:extLst>
              <a:ext uri="{FF2B5EF4-FFF2-40B4-BE49-F238E27FC236}">
                <a16:creationId xmlns:a16="http://schemas.microsoft.com/office/drawing/2014/main" id="{6CA812AF-4C0C-B332-F82C-10CBB0F48C2B}"/>
              </a:ext>
            </a:extLst>
          </p:cNvPr>
          <p:cNvCxnSpPr>
            <a:cxnSpLocks/>
          </p:cNvCxnSpPr>
          <p:nvPr/>
        </p:nvCxnSpPr>
        <p:spPr>
          <a:xfrm>
            <a:off x="14216286" y="11282266"/>
            <a:ext cx="365760" cy="0"/>
          </a:xfrm>
          <a:prstGeom prst="straightConnector1">
            <a:avLst/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100">
            <a:extLst>
              <a:ext uri="{FF2B5EF4-FFF2-40B4-BE49-F238E27FC236}">
                <a16:creationId xmlns:a16="http://schemas.microsoft.com/office/drawing/2014/main" id="{7AE076E9-B5EF-85E6-CD0A-500B7D7EB0E6}"/>
              </a:ext>
            </a:extLst>
          </p:cNvPr>
          <p:cNvSpPr txBox="1"/>
          <p:nvPr/>
        </p:nvSpPr>
        <p:spPr>
          <a:xfrm>
            <a:off x="10526741" y="11768712"/>
            <a:ext cx="3440152" cy="86177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 Unidade direcionada ao bloco</a:t>
            </a:r>
          </a:p>
        </p:txBody>
      </p:sp>
      <p:sp>
        <p:nvSpPr>
          <p:cNvPr id="67" name="Retângulo: Cantos Arredondados 66">
            <a:extLst>
              <a:ext uri="{FF2B5EF4-FFF2-40B4-BE49-F238E27FC236}">
                <a16:creationId xmlns:a16="http://schemas.microsoft.com/office/drawing/2014/main" id="{B1EFEA17-9C00-B045-3AA0-8807327B244D}"/>
              </a:ext>
            </a:extLst>
          </p:cNvPr>
          <p:cNvSpPr/>
          <p:nvPr/>
        </p:nvSpPr>
        <p:spPr>
          <a:xfrm>
            <a:off x="14938286" y="10210704"/>
            <a:ext cx="3371850" cy="2652248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Elipse 68">
            <a:extLst>
              <a:ext uri="{FF2B5EF4-FFF2-40B4-BE49-F238E27FC236}">
                <a16:creationId xmlns:a16="http://schemas.microsoft.com/office/drawing/2014/main" id="{BE8E24EE-D6FB-11CD-DE8C-08216F9D7A53}"/>
              </a:ext>
            </a:extLst>
          </p:cNvPr>
          <p:cNvSpPr/>
          <p:nvPr/>
        </p:nvSpPr>
        <p:spPr>
          <a:xfrm>
            <a:off x="16081286" y="9771712"/>
            <a:ext cx="942975" cy="923330"/>
          </a:xfrm>
          <a:prstGeom prst="ellipse">
            <a:avLst/>
          </a:prstGeom>
          <a:solidFill>
            <a:srgbClr val="07103B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TextBox 4">
            <a:extLst>
              <a:ext uri="{FF2B5EF4-FFF2-40B4-BE49-F238E27FC236}">
                <a16:creationId xmlns:a16="http://schemas.microsoft.com/office/drawing/2014/main" id="{143AAC3E-7622-0FAB-3D75-D92E02E3657D}"/>
              </a:ext>
            </a:extLst>
          </p:cNvPr>
          <p:cNvSpPr txBox="1"/>
          <p:nvPr/>
        </p:nvSpPr>
        <p:spPr>
          <a:xfrm>
            <a:off x="16327727" y="9845778"/>
            <a:ext cx="696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E8C58C"/>
                </a:solidFill>
                <a:latin typeface="Maven Pro" pitchFamily="2" charset="0"/>
              </a:rPr>
              <a:t>8</a:t>
            </a:r>
            <a:endParaRPr lang="pt-BR" sz="4000" b="1" dirty="0">
              <a:solidFill>
                <a:srgbClr val="E8C58C"/>
              </a:solidFill>
              <a:latin typeface="Maven Pro" pitchFamily="2" charset="0"/>
            </a:endParaRPr>
          </a:p>
        </p:txBody>
      </p:sp>
      <p:sp>
        <p:nvSpPr>
          <p:cNvPr id="73" name="TextBox 100">
            <a:extLst>
              <a:ext uri="{FF2B5EF4-FFF2-40B4-BE49-F238E27FC236}">
                <a16:creationId xmlns:a16="http://schemas.microsoft.com/office/drawing/2014/main" id="{DBCD648A-DC23-43B6-D883-B1CE7067457E}"/>
              </a:ext>
            </a:extLst>
          </p:cNvPr>
          <p:cNvSpPr txBox="1"/>
          <p:nvPr/>
        </p:nvSpPr>
        <p:spPr>
          <a:xfrm>
            <a:off x="15181026" y="11688545"/>
            <a:ext cx="2861481" cy="43088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Já Escaneado?</a:t>
            </a:r>
          </a:p>
        </p:txBody>
      </p:sp>
      <p:pic>
        <p:nvPicPr>
          <p:cNvPr id="75" name="Imagem 74">
            <a:extLst>
              <a:ext uri="{FF2B5EF4-FFF2-40B4-BE49-F238E27FC236}">
                <a16:creationId xmlns:a16="http://schemas.microsoft.com/office/drawing/2014/main" id="{5666354A-C841-D91D-A875-50E780EB834E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tretch>
            <a:fillRect/>
          </a:stretch>
        </p:blipFill>
        <p:spPr>
          <a:xfrm>
            <a:off x="16224161" y="10854994"/>
            <a:ext cx="710320" cy="710320"/>
          </a:xfrm>
          <a:prstGeom prst="rect">
            <a:avLst/>
          </a:prstGeom>
        </p:spPr>
      </p:pic>
      <p:cxnSp>
        <p:nvCxnSpPr>
          <p:cNvPr id="77" name="Conector de Seta Reta 76">
            <a:extLst>
              <a:ext uri="{FF2B5EF4-FFF2-40B4-BE49-F238E27FC236}">
                <a16:creationId xmlns:a16="http://schemas.microsoft.com/office/drawing/2014/main" id="{1F287EE1-4866-E999-1022-2822F17765DA}"/>
              </a:ext>
            </a:extLst>
          </p:cNvPr>
          <p:cNvCxnSpPr>
            <a:cxnSpLocks/>
          </p:cNvCxnSpPr>
          <p:nvPr/>
        </p:nvCxnSpPr>
        <p:spPr>
          <a:xfrm>
            <a:off x="18674900" y="11285215"/>
            <a:ext cx="365760" cy="0"/>
          </a:xfrm>
          <a:prstGeom prst="straightConnector1">
            <a:avLst/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FF741EB6-F40B-F53F-2D5F-FFF5DBA47F2B}"/>
              </a:ext>
            </a:extLst>
          </p:cNvPr>
          <p:cNvSpPr/>
          <p:nvPr/>
        </p:nvSpPr>
        <p:spPr>
          <a:xfrm>
            <a:off x="19315130" y="10904690"/>
            <a:ext cx="2111764" cy="852233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7F4DB0FB-F5BC-995B-EEA9-EC025D3534C3}"/>
              </a:ext>
            </a:extLst>
          </p:cNvPr>
          <p:cNvSpPr/>
          <p:nvPr/>
        </p:nvSpPr>
        <p:spPr>
          <a:xfrm>
            <a:off x="22277806" y="10210704"/>
            <a:ext cx="3371850" cy="2652248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16B23898-4BA0-5B63-DF71-341A4CC616FB}"/>
              </a:ext>
            </a:extLst>
          </p:cNvPr>
          <p:cNvSpPr/>
          <p:nvPr/>
        </p:nvSpPr>
        <p:spPr>
          <a:xfrm>
            <a:off x="23420806" y="9771712"/>
            <a:ext cx="942975" cy="923330"/>
          </a:xfrm>
          <a:prstGeom prst="ellipse">
            <a:avLst/>
          </a:prstGeom>
          <a:solidFill>
            <a:srgbClr val="07103B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TextBox 4">
            <a:extLst>
              <a:ext uri="{FF2B5EF4-FFF2-40B4-BE49-F238E27FC236}">
                <a16:creationId xmlns:a16="http://schemas.microsoft.com/office/drawing/2014/main" id="{3EF6E4A5-9B0B-4CC1-6DBD-B7934597E343}"/>
              </a:ext>
            </a:extLst>
          </p:cNvPr>
          <p:cNvSpPr txBox="1"/>
          <p:nvPr/>
        </p:nvSpPr>
        <p:spPr>
          <a:xfrm>
            <a:off x="23667247" y="9845778"/>
            <a:ext cx="696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E8C58C"/>
                </a:solidFill>
                <a:latin typeface="Maven Pro" pitchFamily="2" charset="0"/>
              </a:rPr>
              <a:t>9</a:t>
            </a:r>
            <a:endParaRPr lang="pt-BR" sz="4000" b="1" dirty="0">
              <a:solidFill>
                <a:srgbClr val="E8C58C"/>
              </a:solidFill>
              <a:latin typeface="Maven Pro" pitchFamily="2" charset="0"/>
            </a:endParaRPr>
          </a:p>
        </p:txBody>
      </p:sp>
      <p:sp>
        <p:nvSpPr>
          <p:cNvPr id="89" name="TextBox 100">
            <a:extLst>
              <a:ext uri="{FF2B5EF4-FFF2-40B4-BE49-F238E27FC236}">
                <a16:creationId xmlns:a16="http://schemas.microsoft.com/office/drawing/2014/main" id="{95FBE097-32E6-68EE-41A2-E60C1CE7E6E5}"/>
              </a:ext>
            </a:extLst>
          </p:cNvPr>
          <p:cNvSpPr txBox="1"/>
          <p:nvPr/>
        </p:nvSpPr>
        <p:spPr>
          <a:xfrm>
            <a:off x="22520546" y="11688545"/>
            <a:ext cx="2861481" cy="86177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Realiza o Escaneamento</a:t>
            </a:r>
          </a:p>
        </p:txBody>
      </p:sp>
      <p:sp>
        <p:nvSpPr>
          <p:cNvPr id="91" name="TextBox 100">
            <a:extLst>
              <a:ext uri="{FF2B5EF4-FFF2-40B4-BE49-F238E27FC236}">
                <a16:creationId xmlns:a16="http://schemas.microsoft.com/office/drawing/2014/main" id="{2A22C237-1492-2A2D-2624-35E9FEE7A55F}"/>
              </a:ext>
            </a:extLst>
          </p:cNvPr>
          <p:cNvSpPr txBox="1"/>
          <p:nvPr/>
        </p:nvSpPr>
        <p:spPr>
          <a:xfrm>
            <a:off x="7252911" y="11066822"/>
            <a:ext cx="2861481" cy="43088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Não</a:t>
            </a:r>
          </a:p>
        </p:txBody>
      </p:sp>
      <p:sp>
        <p:nvSpPr>
          <p:cNvPr id="92" name="TextBox 100">
            <a:extLst>
              <a:ext uri="{FF2B5EF4-FFF2-40B4-BE49-F238E27FC236}">
                <a16:creationId xmlns:a16="http://schemas.microsoft.com/office/drawing/2014/main" id="{EE37D4E5-8717-EF05-35A1-0C8C37CAAF86}"/>
              </a:ext>
            </a:extLst>
          </p:cNvPr>
          <p:cNvSpPr txBox="1"/>
          <p:nvPr/>
        </p:nvSpPr>
        <p:spPr>
          <a:xfrm>
            <a:off x="18901344" y="11066822"/>
            <a:ext cx="2861481" cy="43088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Não</a:t>
            </a:r>
          </a:p>
        </p:txBody>
      </p:sp>
      <p:pic>
        <p:nvPicPr>
          <p:cNvPr id="93" name="Imagem 92">
            <a:extLst>
              <a:ext uri="{FF2B5EF4-FFF2-40B4-BE49-F238E27FC236}">
                <a16:creationId xmlns:a16="http://schemas.microsoft.com/office/drawing/2014/main" id="{41CD58F5-E34F-0837-46B3-E404AFB6F1C4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tretch>
            <a:fillRect/>
          </a:stretch>
        </p:blipFill>
        <p:spPr>
          <a:xfrm>
            <a:off x="4807350" y="10860317"/>
            <a:ext cx="686850" cy="686850"/>
          </a:xfrm>
          <a:prstGeom prst="rect">
            <a:avLst/>
          </a:prstGeom>
        </p:spPr>
      </p:pic>
      <p:cxnSp>
        <p:nvCxnSpPr>
          <p:cNvPr id="95" name="Conector de Seta Reta 94">
            <a:extLst>
              <a:ext uri="{FF2B5EF4-FFF2-40B4-BE49-F238E27FC236}">
                <a16:creationId xmlns:a16="http://schemas.microsoft.com/office/drawing/2014/main" id="{97F5C668-5D7B-FA4D-AB31-4D8119A2351B}"/>
              </a:ext>
            </a:extLst>
          </p:cNvPr>
          <p:cNvCxnSpPr>
            <a:cxnSpLocks/>
          </p:cNvCxnSpPr>
          <p:nvPr/>
        </p:nvCxnSpPr>
        <p:spPr>
          <a:xfrm>
            <a:off x="9815736" y="11282266"/>
            <a:ext cx="365760" cy="0"/>
          </a:xfrm>
          <a:prstGeom prst="straightConnector1">
            <a:avLst/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Imagem 96">
            <a:extLst>
              <a:ext uri="{FF2B5EF4-FFF2-40B4-BE49-F238E27FC236}">
                <a16:creationId xmlns:a16="http://schemas.microsoft.com/office/drawing/2014/main" id="{75814BFD-6EE3-8ADF-9946-42C59D748941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tretch>
            <a:fillRect/>
          </a:stretch>
        </p:blipFill>
        <p:spPr>
          <a:xfrm>
            <a:off x="11828028" y="10878363"/>
            <a:ext cx="707886" cy="707886"/>
          </a:xfrm>
          <a:prstGeom prst="rect">
            <a:avLst/>
          </a:prstGeom>
        </p:spPr>
      </p:pic>
      <p:pic>
        <p:nvPicPr>
          <p:cNvPr id="99" name="Imagem 98">
            <a:extLst>
              <a:ext uri="{FF2B5EF4-FFF2-40B4-BE49-F238E27FC236}">
                <a16:creationId xmlns:a16="http://schemas.microsoft.com/office/drawing/2014/main" id="{ABBB4322-CF44-FC0F-E1FB-CBE0CCC960C6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tretch>
            <a:fillRect/>
          </a:stretch>
        </p:blipFill>
        <p:spPr>
          <a:xfrm>
            <a:off x="23589895" y="10870915"/>
            <a:ext cx="722781" cy="722781"/>
          </a:xfrm>
          <a:prstGeom prst="rect">
            <a:avLst/>
          </a:prstGeom>
        </p:spPr>
      </p:pic>
      <p:sp>
        <p:nvSpPr>
          <p:cNvPr id="100" name="Retângulo: Cantos Arredondados 99">
            <a:extLst>
              <a:ext uri="{FF2B5EF4-FFF2-40B4-BE49-F238E27FC236}">
                <a16:creationId xmlns:a16="http://schemas.microsoft.com/office/drawing/2014/main" id="{E743EB12-EF2A-F4E3-C1CF-58B55DF10B80}"/>
              </a:ext>
            </a:extLst>
          </p:cNvPr>
          <p:cNvSpPr/>
          <p:nvPr/>
        </p:nvSpPr>
        <p:spPr>
          <a:xfrm>
            <a:off x="4071547" y="15326418"/>
            <a:ext cx="2111764" cy="852233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3429141-637F-84FB-523E-93DA191A9D4C}"/>
              </a:ext>
            </a:extLst>
          </p:cNvPr>
          <p:cNvSpPr txBox="1"/>
          <p:nvPr/>
        </p:nvSpPr>
        <p:spPr>
          <a:xfrm>
            <a:off x="3696688" y="15491499"/>
            <a:ext cx="2861481" cy="43088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Sim</a:t>
            </a:r>
          </a:p>
        </p:txBody>
      </p:sp>
      <p:sp>
        <p:nvSpPr>
          <p:cNvPr id="102" name="Retângulo: Cantos Arredondados 101">
            <a:extLst>
              <a:ext uri="{FF2B5EF4-FFF2-40B4-BE49-F238E27FC236}">
                <a16:creationId xmlns:a16="http://schemas.microsoft.com/office/drawing/2014/main" id="{DD1CAD32-9698-5A27-204A-FD4412E3FAD6}"/>
              </a:ext>
            </a:extLst>
          </p:cNvPr>
          <p:cNvSpPr/>
          <p:nvPr/>
        </p:nvSpPr>
        <p:spPr>
          <a:xfrm>
            <a:off x="19499774" y="15318455"/>
            <a:ext cx="2111764" cy="852233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" name="TextBox 100">
            <a:extLst>
              <a:ext uri="{FF2B5EF4-FFF2-40B4-BE49-F238E27FC236}">
                <a16:creationId xmlns:a16="http://schemas.microsoft.com/office/drawing/2014/main" id="{68D93A96-2B3F-42F9-04A4-44256111D52B}"/>
              </a:ext>
            </a:extLst>
          </p:cNvPr>
          <p:cNvSpPr txBox="1"/>
          <p:nvPr/>
        </p:nvSpPr>
        <p:spPr>
          <a:xfrm>
            <a:off x="19124915" y="15483536"/>
            <a:ext cx="2861481" cy="43088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Sim</a:t>
            </a:r>
          </a:p>
        </p:txBody>
      </p:sp>
      <p:sp>
        <p:nvSpPr>
          <p:cNvPr id="104" name="Retângulo: Cantos Arredondados 103">
            <a:extLst>
              <a:ext uri="{FF2B5EF4-FFF2-40B4-BE49-F238E27FC236}">
                <a16:creationId xmlns:a16="http://schemas.microsoft.com/office/drawing/2014/main" id="{285A6DEC-71EE-BEBA-85C8-312694752977}"/>
              </a:ext>
            </a:extLst>
          </p:cNvPr>
          <p:cNvSpPr/>
          <p:nvPr/>
        </p:nvSpPr>
        <p:spPr>
          <a:xfrm>
            <a:off x="7087008" y="14228852"/>
            <a:ext cx="3371850" cy="2652248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" name="Elipse 104">
            <a:extLst>
              <a:ext uri="{FF2B5EF4-FFF2-40B4-BE49-F238E27FC236}">
                <a16:creationId xmlns:a16="http://schemas.microsoft.com/office/drawing/2014/main" id="{B5FA4B77-AE3B-9D2B-734C-2FA0D117AEFA}"/>
              </a:ext>
            </a:extLst>
          </p:cNvPr>
          <p:cNvSpPr/>
          <p:nvPr/>
        </p:nvSpPr>
        <p:spPr>
          <a:xfrm>
            <a:off x="8230008" y="13789860"/>
            <a:ext cx="942975" cy="923330"/>
          </a:xfrm>
          <a:prstGeom prst="ellipse">
            <a:avLst/>
          </a:prstGeom>
          <a:solidFill>
            <a:srgbClr val="07103B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" name="TextBox 4">
            <a:extLst>
              <a:ext uri="{FF2B5EF4-FFF2-40B4-BE49-F238E27FC236}">
                <a16:creationId xmlns:a16="http://schemas.microsoft.com/office/drawing/2014/main" id="{BA03CBCF-B135-D93C-7EC2-4A63DBBB548C}"/>
              </a:ext>
            </a:extLst>
          </p:cNvPr>
          <p:cNvSpPr txBox="1"/>
          <p:nvPr/>
        </p:nvSpPr>
        <p:spPr>
          <a:xfrm>
            <a:off x="8351858" y="13864025"/>
            <a:ext cx="8826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E8C58C"/>
                </a:solidFill>
                <a:latin typeface="Maven Pro" pitchFamily="2" charset="0"/>
              </a:rPr>
              <a:t>10</a:t>
            </a:r>
            <a:endParaRPr lang="pt-BR" sz="4000" b="1" dirty="0">
              <a:solidFill>
                <a:srgbClr val="E8C58C"/>
              </a:solidFill>
              <a:latin typeface="Maven Pro" pitchFamily="2" charset="0"/>
            </a:endParaRPr>
          </a:p>
        </p:txBody>
      </p:sp>
      <p:cxnSp>
        <p:nvCxnSpPr>
          <p:cNvPr id="107" name="Conector de Seta Reta 106">
            <a:extLst>
              <a:ext uri="{FF2B5EF4-FFF2-40B4-BE49-F238E27FC236}">
                <a16:creationId xmlns:a16="http://schemas.microsoft.com/office/drawing/2014/main" id="{DC7D96C2-BA79-27A5-EFBB-25B2E7C2FAF5}"/>
              </a:ext>
            </a:extLst>
          </p:cNvPr>
          <p:cNvCxnSpPr>
            <a:cxnSpLocks/>
          </p:cNvCxnSpPr>
          <p:nvPr/>
        </p:nvCxnSpPr>
        <p:spPr>
          <a:xfrm>
            <a:off x="10616973" y="15614739"/>
            <a:ext cx="365760" cy="0"/>
          </a:xfrm>
          <a:prstGeom prst="straightConnector1">
            <a:avLst/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0">
            <a:extLst>
              <a:ext uri="{FF2B5EF4-FFF2-40B4-BE49-F238E27FC236}">
                <a16:creationId xmlns:a16="http://schemas.microsoft.com/office/drawing/2014/main" id="{EB1F2574-4672-0D38-89FC-C06B7D3DD863}"/>
              </a:ext>
            </a:extLst>
          </p:cNvPr>
          <p:cNvSpPr txBox="1"/>
          <p:nvPr/>
        </p:nvSpPr>
        <p:spPr>
          <a:xfrm>
            <a:off x="7329748" y="15706693"/>
            <a:ext cx="2861481" cy="86177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Posicionamento + Inspeção </a:t>
            </a:r>
          </a:p>
        </p:txBody>
      </p:sp>
      <p:sp>
        <p:nvSpPr>
          <p:cNvPr id="111" name="TextBox 4">
            <a:extLst>
              <a:ext uri="{FF2B5EF4-FFF2-40B4-BE49-F238E27FC236}">
                <a16:creationId xmlns:a16="http://schemas.microsoft.com/office/drawing/2014/main" id="{27B1ED7D-2E95-BCC8-1BC2-61C2526236B5}"/>
              </a:ext>
            </a:extLst>
          </p:cNvPr>
          <p:cNvSpPr txBox="1"/>
          <p:nvPr/>
        </p:nvSpPr>
        <p:spPr>
          <a:xfrm>
            <a:off x="5752262" y="18221782"/>
            <a:ext cx="188575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>
                <a:solidFill>
                  <a:srgbClr val="E8C58C"/>
                </a:solidFill>
                <a:latin typeface="Maven Pro" pitchFamily="2" charset="0"/>
              </a:rPr>
              <a:t>Processo</a:t>
            </a:r>
            <a:r>
              <a:rPr lang="en-US" sz="5400" dirty="0">
                <a:solidFill>
                  <a:srgbClr val="E8C58C"/>
                </a:solidFill>
                <a:latin typeface="Maven Pro" pitchFamily="2" charset="0"/>
              </a:rPr>
              <a:t> </a:t>
            </a:r>
            <a:r>
              <a:rPr lang="en-US" sz="5400" dirty="0" err="1">
                <a:solidFill>
                  <a:srgbClr val="E8C58C"/>
                </a:solidFill>
                <a:latin typeface="Maven Pro" pitchFamily="2" charset="0"/>
              </a:rPr>
              <a:t>integrado</a:t>
            </a:r>
            <a:r>
              <a:rPr lang="en-US" sz="5400" dirty="0">
                <a:solidFill>
                  <a:srgbClr val="E8C58C"/>
                </a:solidFill>
                <a:latin typeface="Maven Pro" pitchFamily="2" charset="0"/>
              </a:rPr>
              <a:t>, com </a:t>
            </a:r>
            <a:r>
              <a:rPr lang="en-US" sz="5400" dirty="0" err="1">
                <a:solidFill>
                  <a:srgbClr val="E8C58C"/>
                </a:solidFill>
                <a:latin typeface="Maven Pro" pitchFamily="2" charset="0"/>
              </a:rPr>
              <a:t>controle</a:t>
            </a:r>
            <a:r>
              <a:rPr lang="en-US" sz="5400" dirty="0">
                <a:solidFill>
                  <a:srgbClr val="E8C58C"/>
                </a:solidFill>
                <a:latin typeface="Maven Pro" pitchFamily="2" charset="0"/>
              </a:rPr>
              <a:t> </a:t>
            </a:r>
            <a:r>
              <a:rPr lang="en-US" sz="5400" dirty="0" err="1">
                <a:solidFill>
                  <a:srgbClr val="E8C58C"/>
                </a:solidFill>
                <a:latin typeface="Maven Pro" pitchFamily="2" charset="0"/>
              </a:rPr>
              <a:t>em</a:t>
            </a:r>
            <a:r>
              <a:rPr lang="en-US" sz="5400" dirty="0">
                <a:solidFill>
                  <a:srgbClr val="E8C58C"/>
                </a:solidFill>
                <a:latin typeface="Maven Pro" pitchFamily="2" charset="0"/>
              </a:rPr>
              <a:t> </a:t>
            </a:r>
            <a:r>
              <a:rPr lang="en-US" sz="5400" dirty="0" err="1">
                <a:solidFill>
                  <a:srgbClr val="E8C58C"/>
                </a:solidFill>
                <a:latin typeface="Maven Pro" pitchFamily="2" charset="0"/>
              </a:rPr>
              <a:t>todas</a:t>
            </a:r>
            <a:r>
              <a:rPr lang="en-US" sz="5400" dirty="0">
                <a:solidFill>
                  <a:srgbClr val="E8C58C"/>
                </a:solidFill>
                <a:latin typeface="Maven Pro" pitchFamily="2" charset="0"/>
              </a:rPr>
              <a:t> as </a:t>
            </a:r>
            <a:r>
              <a:rPr lang="en-US" sz="5400" dirty="0" err="1">
                <a:solidFill>
                  <a:srgbClr val="E8C58C"/>
                </a:solidFill>
                <a:latin typeface="Maven Pro" pitchFamily="2" charset="0"/>
              </a:rPr>
              <a:t>etapas</a:t>
            </a:r>
            <a:r>
              <a:rPr lang="en-US" sz="5400" dirty="0">
                <a:solidFill>
                  <a:srgbClr val="E8C58C"/>
                </a:solidFill>
                <a:latin typeface="Maven Pro" pitchFamily="2" charset="0"/>
              </a:rPr>
              <a:t>. </a:t>
            </a:r>
            <a:endParaRPr lang="pt-BR" sz="5400" dirty="0">
              <a:solidFill>
                <a:srgbClr val="E8C58C"/>
              </a:solidFill>
              <a:latin typeface="Maven Pro" pitchFamily="2" charset="0"/>
            </a:endParaRPr>
          </a:p>
        </p:txBody>
      </p:sp>
      <p:sp>
        <p:nvSpPr>
          <p:cNvPr id="114" name="Retângulo: Cantos Arredondados 113">
            <a:extLst>
              <a:ext uri="{FF2B5EF4-FFF2-40B4-BE49-F238E27FC236}">
                <a16:creationId xmlns:a16="http://schemas.microsoft.com/office/drawing/2014/main" id="{FB1786CC-4642-5BDE-2AE5-1957BEC9C7B8}"/>
              </a:ext>
            </a:extLst>
          </p:cNvPr>
          <p:cNvSpPr/>
          <p:nvPr/>
        </p:nvSpPr>
        <p:spPr>
          <a:xfrm>
            <a:off x="11312975" y="14258174"/>
            <a:ext cx="3371850" cy="2652248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5" name="Elipse 114">
            <a:extLst>
              <a:ext uri="{FF2B5EF4-FFF2-40B4-BE49-F238E27FC236}">
                <a16:creationId xmlns:a16="http://schemas.microsoft.com/office/drawing/2014/main" id="{777F94C4-FB87-99E3-F0C8-1261AEEB8D87}"/>
              </a:ext>
            </a:extLst>
          </p:cNvPr>
          <p:cNvSpPr/>
          <p:nvPr/>
        </p:nvSpPr>
        <p:spPr>
          <a:xfrm>
            <a:off x="12455975" y="13819182"/>
            <a:ext cx="942975" cy="923330"/>
          </a:xfrm>
          <a:prstGeom prst="ellipse">
            <a:avLst/>
          </a:prstGeom>
          <a:solidFill>
            <a:srgbClr val="07103B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6" name="TextBox 4">
            <a:extLst>
              <a:ext uri="{FF2B5EF4-FFF2-40B4-BE49-F238E27FC236}">
                <a16:creationId xmlns:a16="http://schemas.microsoft.com/office/drawing/2014/main" id="{4C5D1C11-6AC6-9528-A876-3DE3E202E01D}"/>
              </a:ext>
            </a:extLst>
          </p:cNvPr>
          <p:cNvSpPr txBox="1"/>
          <p:nvPr/>
        </p:nvSpPr>
        <p:spPr>
          <a:xfrm>
            <a:off x="12577825" y="13893347"/>
            <a:ext cx="8826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E8C58C"/>
                </a:solidFill>
                <a:latin typeface="Maven Pro" pitchFamily="2" charset="0"/>
              </a:rPr>
              <a:t>11</a:t>
            </a:r>
            <a:endParaRPr lang="pt-BR" sz="4000" b="1" dirty="0">
              <a:solidFill>
                <a:srgbClr val="E8C58C"/>
              </a:solidFill>
              <a:latin typeface="Maven Pro" pitchFamily="2" charset="0"/>
            </a:endParaRPr>
          </a:p>
        </p:txBody>
      </p:sp>
      <p:sp>
        <p:nvSpPr>
          <p:cNvPr id="119" name="TextBox 100">
            <a:extLst>
              <a:ext uri="{FF2B5EF4-FFF2-40B4-BE49-F238E27FC236}">
                <a16:creationId xmlns:a16="http://schemas.microsoft.com/office/drawing/2014/main" id="{83878EBA-7DAD-26AF-B009-BA040BB14BA5}"/>
              </a:ext>
            </a:extLst>
          </p:cNvPr>
          <p:cNvSpPr txBox="1"/>
          <p:nvPr/>
        </p:nvSpPr>
        <p:spPr>
          <a:xfrm>
            <a:off x="11555715" y="15736015"/>
            <a:ext cx="2861481" cy="86177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Liberação do Órgão</a:t>
            </a:r>
          </a:p>
        </p:txBody>
      </p:sp>
      <p:cxnSp>
        <p:nvCxnSpPr>
          <p:cNvPr id="124" name="Conector de Seta Reta 123">
            <a:extLst>
              <a:ext uri="{FF2B5EF4-FFF2-40B4-BE49-F238E27FC236}">
                <a16:creationId xmlns:a16="http://schemas.microsoft.com/office/drawing/2014/main" id="{1F464CAD-F4C4-C56A-6F3B-B9224BB6F5EF}"/>
              </a:ext>
            </a:extLst>
          </p:cNvPr>
          <p:cNvCxnSpPr>
            <a:cxnSpLocks/>
          </p:cNvCxnSpPr>
          <p:nvPr/>
        </p:nvCxnSpPr>
        <p:spPr>
          <a:xfrm>
            <a:off x="21886517" y="15659968"/>
            <a:ext cx="365760" cy="0"/>
          </a:xfrm>
          <a:prstGeom prst="straightConnector1">
            <a:avLst/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tângulo: Cantos Arredondados 129">
            <a:extLst>
              <a:ext uri="{FF2B5EF4-FFF2-40B4-BE49-F238E27FC236}">
                <a16:creationId xmlns:a16="http://schemas.microsoft.com/office/drawing/2014/main" id="{482B13FB-D883-89FF-9AEE-DC9F81945147}"/>
              </a:ext>
            </a:extLst>
          </p:cNvPr>
          <p:cNvSpPr/>
          <p:nvPr/>
        </p:nvSpPr>
        <p:spPr>
          <a:xfrm>
            <a:off x="22549970" y="15194643"/>
            <a:ext cx="3855742" cy="1113942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2" name="TextBox 100">
            <a:extLst>
              <a:ext uri="{FF2B5EF4-FFF2-40B4-BE49-F238E27FC236}">
                <a16:creationId xmlns:a16="http://schemas.microsoft.com/office/drawing/2014/main" id="{C9C0978F-E048-3A99-FEE7-62266B0ED7A3}"/>
              </a:ext>
            </a:extLst>
          </p:cNvPr>
          <p:cNvSpPr txBox="1"/>
          <p:nvPr/>
        </p:nvSpPr>
        <p:spPr>
          <a:xfrm>
            <a:off x="22837815" y="15308914"/>
            <a:ext cx="3163879" cy="86177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b="1" dirty="0">
                <a:solidFill>
                  <a:schemeClr val="bg1"/>
                </a:solidFill>
                <a:latin typeface="Maven Pro" pitchFamily="2" charset="0"/>
              </a:rPr>
              <a:t>Gate Out: Entrega da Unidade</a:t>
            </a:r>
          </a:p>
        </p:txBody>
      </p:sp>
      <p:cxnSp>
        <p:nvCxnSpPr>
          <p:cNvPr id="133" name="Conector de Seta Reta 132">
            <a:extLst>
              <a:ext uri="{FF2B5EF4-FFF2-40B4-BE49-F238E27FC236}">
                <a16:creationId xmlns:a16="http://schemas.microsoft.com/office/drawing/2014/main" id="{E5A7FB2C-9143-C0C9-7235-C02DE41E2EC2}"/>
              </a:ext>
            </a:extLst>
          </p:cNvPr>
          <p:cNvCxnSpPr>
            <a:cxnSpLocks/>
          </p:cNvCxnSpPr>
          <p:nvPr/>
        </p:nvCxnSpPr>
        <p:spPr>
          <a:xfrm>
            <a:off x="5100637" y="13004268"/>
            <a:ext cx="0" cy="1911882"/>
          </a:xfrm>
          <a:prstGeom prst="straightConnector1">
            <a:avLst/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ector: Angulado 134">
            <a:extLst>
              <a:ext uri="{FF2B5EF4-FFF2-40B4-BE49-F238E27FC236}">
                <a16:creationId xmlns:a16="http://schemas.microsoft.com/office/drawing/2014/main" id="{C6EB27C0-8CD2-D13A-46B2-82C70BA33A02}"/>
              </a:ext>
            </a:extLst>
          </p:cNvPr>
          <p:cNvCxnSpPr>
            <a:cxnSpLocks/>
            <a:endCxn id="103" idx="1"/>
          </p:cNvCxnSpPr>
          <p:nvPr/>
        </p:nvCxnSpPr>
        <p:spPr>
          <a:xfrm rot="16200000" flipH="1">
            <a:off x="16765638" y="13339703"/>
            <a:ext cx="2397036" cy="2321518"/>
          </a:xfrm>
          <a:prstGeom prst="bentConnector2">
            <a:avLst/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ector de Seta Reta 145">
            <a:extLst>
              <a:ext uri="{FF2B5EF4-FFF2-40B4-BE49-F238E27FC236}">
                <a16:creationId xmlns:a16="http://schemas.microsoft.com/office/drawing/2014/main" id="{66DD7903-D4D0-8F11-7C7F-A024DF9D3AD4}"/>
              </a:ext>
            </a:extLst>
          </p:cNvPr>
          <p:cNvCxnSpPr>
            <a:cxnSpLocks/>
          </p:cNvCxnSpPr>
          <p:nvPr/>
        </p:nvCxnSpPr>
        <p:spPr>
          <a:xfrm>
            <a:off x="24099465" y="13300342"/>
            <a:ext cx="0" cy="1462648"/>
          </a:xfrm>
          <a:prstGeom prst="straightConnector1">
            <a:avLst/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ector reto 165">
            <a:extLst>
              <a:ext uri="{FF2B5EF4-FFF2-40B4-BE49-F238E27FC236}">
                <a16:creationId xmlns:a16="http://schemas.microsoft.com/office/drawing/2014/main" id="{A5AA55F8-42C9-B10D-5124-E97E2E553834}"/>
              </a:ext>
            </a:extLst>
          </p:cNvPr>
          <p:cNvCxnSpPr>
            <a:cxnSpLocks/>
          </p:cNvCxnSpPr>
          <p:nvPr/>
        </p:nvCxnSpPr>
        <p:spPr>
          <a:xfrm flipH="1">
            <a:off x="5100637" y="9320981"/>
            <a:ext cx="23356888" cy="0"/>
          </a:xfrm>
          <a:prstGeom prst="line">
            <a:avLst/>
          </a:prstGeom>
          <a:ln>
            <a:solidFill>
              <a:srgbClr val="1D36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ector reto 171">
            <a:extLst>
              <a:ext uri="{FF2B5EF4-FFF2-40B4-BE49-F238E27FC236}">
                <a16:creationId xmlns:a16="http://schemas.microsoft.com/office/drawing/2014/main" id="{018F3FCD-630F-7307-781E-A12254C1CE0C}"/>
              </a:ext>
            </a:extLst>
          </p:cNvPr>
          <p:cNvCxnSpPr>
            <a:cxnSpLocks/>
          </p:cNvCxnSpPr>
          <p:nvPr/>
        </p:nvCxnSpPr>
        <p:spPr>
          <a:xfrm>
            <a:off x="28432349" y="7038036"/>
            <a:ext cx="25176" cy="2290114"/>
          </a:xfrm>
          <a:prstGeom prst="line">
            <a:avLst/>
          </a:prstGeom>
          <a:ln>
            <a:solidFill>
              <a:srgbClr val="1D36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onector reto 180">
            <a:extLst>
              <a:ext uri="{FF2B5EF4-FFF2-40B4-BE49-F238E27FC236}">
                <a16:creationId xmlns:a16="http://schemas.microsoft.com/office/drawing/2014/main" id="{F58C5274-9BAC-1E91-B257-FDCF8ACC8D1F}"/>
              </a:ext>
            </a:extLst>
          </p:cNvPr>
          <p:cNvCxnSpPr>
            <a:cxnSpLocks/>
          </p:cNvCxnSpPr>
          <p:nvPr/>
        </p:nvCxnSpPr>
        <p:spPr>
          <a:xfrm>
            <a:off x="5100637" y="9299575"/>
            <a:ext cx="0" cy="472137"/>
          </a:xfrm>
          <a:prstGeom prst="line">
            <a:avLst/>
          </a:prstGeom>
          <a:ln>
            <a:solidFill>
              <a:srgbClr val="1D36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5" name="Imagem 184">
            <a:extLst>
              <a:ext uri="{FF2B5EF4-FFF2-40B4-BE49-F238E27FC236}">
                <a16:creationId xmlns:a16="http://schemas.microsoft.com/office/drawing/2014/main" id="{3AB65710-B3C4-2B51-64C5-DE96FB09A298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tretch>
            <a:fillRect/>
          </a:stretch>
        </p:blipFill>
        <p:spPr>
          <a:xfrm>
            <a:off x="12618292" y="14930873"/>
            <a:ext cx="705867" cy="705867"/>
          </a:xfrm>
          <a:prstGeom prst="rect">
            <a:avLst/>
          </a:prstGeom>
        </p:spPr>
      </p:pic>
      <p:cxnSp>
        <p:nvCxnSpPr>
          <p:cNvPr id="186" name="Conector de Seta Reta 185">
            <a:extLst>
              <a:ext uri="{FF2B5EF4-FFF2-40B4-BE49-F238E27FC236}">
                <a16:creationId xmlns:a16="http://schemas.microsoft.com/office/drawing/2014/main" id="{4AA7DA9A-305E-6784-BCEC-20BCC5C5D596}"/>
              </a:ext>
            </a:extLst>
          </p:cNvPr>
          <p:cNvCxnSpPr>
            <a:cxnSpLocks/>
          </p:cNvCxnSpPr>
          <p:nvPr/>
        </p:nvCxnSpPr>
        <p:spPr>
          <a:xfrm>
            <a:off x="6384518" y="15757200"/>
            <a:ext cx="365760" cy="0"/>
          </a:xfrm>
          <a:prstGeom prst="straightConnector1">
            <a:avLst/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de Seta Reta 186">
            <a:extLst>
              <a:ext uri="{FF2B5EF4-FFF2-40B4-BE49-F238E27FC236}">
                <a16:creationId xmlns:a16="http://schemas.microsoft.com/office/drawing/2014/main" id="{ADF81EBF-DA81-7F0C-1839-CA459EA2C718}"/>
              </a:ext>
            </a:extLst>
          </p:cNvPr>
          <p:cNvCxnSpPr>
            <a:cxnSpLocks/>
          </p:cNvCxnSpPr>
          <p:nvPr/>
        </p:nvCxnSpPr>
        <p:spPr>
          <a:xfrm>
            <a:off x="21585826" y="11288959"/>
            <a:ext cx="365760" cy="0"/>
          </a:xfrm>
          <a:prstGeom prst="straightConnector1">
            <a:avLst/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ector de Seta Reta 187">
            <a:extLst>
              <a:ext uri="{FF2B5EF4-FFF2-40B4-BE49-F238E27FC236}">
                <a16:creationId xmlns:a16="http://schemas.microsoft.com/office/drawing/2014/main" id="{71DBFB1B-D6DD-DB65-D72A-C313584FB527}"/>
              </a:ext>
            </a:extLst>
          </p:cNvPr>
          <p:cNvCxnSpPr>
            <a:cxnSpLocks/>
          </p:cNvCxnSpPr>
          <p:nvPr/>
        </p:nvCxnSpPr>
        <p:spPr>
          <a:xfrm rot="16200000">
            <a:off x="12701720" y="13292494"/>
            <a:ext cx="365760" cy="0"/>
          </a:xfrm>
          <a:prstGeom prst="straightConnector1">
            <a:avLst/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áfico 3">
            <a:extLst>
              <a:ext uri="{FF2B5EF4-FFF2-40B4-BE49-F238E27FC236}">
                <a16:creationId xmlns:a16="http://schemas.microsoft.com/office/drawing/2014/main" id="{2E10DFB6-E9A0-19CB-1F36-7CFA7C4F39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78728" y="14893818"/>
            <a:ext cx="725006" cy="7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381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38E4F-6431-8598-3850-44F3C5906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E9258BC-211D-CFD6-CDEF-3EC79FA5B859}"/>
              </a:ext>
            </a:extLst>
          </p:cNvPr>
          <p:cNvSpPr/>
          <p:nvPr/>
        </p:nvSpPr>
        <p:spPr>
          <a:xfrm>
            <a:off x="-4348843" y="-4772025"/>
            <a:ext cx="42691047" cy="22489431"/>
          </a:xfrm>
          <a:prstGeom prst="roundRect">
            <a:avLst>
              <a:gd name="adj" fmla="val 40850"/>
            </a:avLst>
          </a:prstGeom>
          <a:solidFill>
            <a:srgbClr val="0710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dirty="0"/>
          </a:p>
        </p:txBody>
      </p:sp>
      <p:sp>
        <p:nvSpPr>
          <p:cNvPr id="96" name="TextBox 121">
            <a:extLst>
              <a:ext uri="{FF2B5EF4-FFF2-40B4-BE49-F238E27FC236}">
                <a16:creationId xmlns:a16="http://schemas.microsoft.com/office/drawing/2014/main" id="{8E26CE59-F186-E6C3-42E7-6029CC1C2C27}"/>
              </a:ext>
            </a:extLst>
          </p:cNvPr>
          <p:cNvSpPr txBox="1"/>
          <p:nvPr/>
        </p:nvSpPr>
        <p:spPr>
          <a:xfrm>
            <a:off x="1897070" y="1282716"/>
            <a:ext cx="13467126" cy="998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6856"/>
              </a:lnSpc>
              <a:spcBef>
                <a:spcPct val="0"/>
              </a:spcBef>
            </a:pPr>
            <a:r>
              <a:rPr lang="en-US" sz="6600" b="1" dirty="0" err="1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Fluxograma</a:t>
            </a:r>
            <a:r>
              <a:rPr lang="en-US" sz="6600" b="1" dirty="0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 Exportação</a:t>
            </a:r>
          </a:p>
        </p:txBody>
      </p:sp>
      <p:sp>
        <p:nvSpPr>
          <p:cNvPr id="98" name="TextBox 122">
            <a:extLst>
              <a:ext uri="{FF2B5EF4-FFF2-40B4-BE49-F238E27FC236}">
                <a16:creationId xmlns:a16="http://schemas.microsoft.com/office/drawing/2014/main" id="{09D9F8DF-D989-C5A5-E664-C21432ADE458}"/>
              </a:ext>
            </a:extLst>
          </p:cNvPr>
          <p:cNvSpPr txBox="1"/>
          <p:nvPr/>
        </p:nvSpPr>
        <p:spPr>
          <a:xfrm>
            <a:off x="1897070" y="2199765"/>
            <a:ext cx="260284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>
                <a:solidFill>
                  <a:srgbClr val="E8C58C"/>
                </a:solidFill>
                <a:latin typeface="Maven Pro" pitchFamily="2" charset="0"/>
              </a:rPr>
              <a:t>As cargas podem chegar ao terminal amparadas por NF, DAT ou TS</a:t>
            </a:r>
          </a:p>
        </p:txBody>
      </p:sp>
      <p:sp>
        <p:nvSpPr>
          <p:cNvPr id="3" name="Rectangle 19">
            <a:extLst>
              <a:ext uri="{FF2B5EF4-FFF2-40B4-BE49-F238E27FC236}">
                <a16:creationId xmlns:a16="http://schemas.microsoft.com/office/drawing/2014/main" id="{B47137F2-9A4C-3EF8-56B3-E4B91A0152A3}"/>
              </a:ext>
            </a:extLst>
          </p:cNvPr>
          <p:cNvSpPr/>
          <p:nvPr/>
        </p:nvSpPr>
        <p:spPr>
          <a:xfrm>
            <a:off x="-5399795" y="14762990"/>
            <a:ext cx="21858995" cy="2954416"/>
          </a:xfrm>
          <a:prstGeom prst="roundRect">
            <a:avLst>
              <a:gd name="adj" fmla="val 40850"/>
            </a:avLst>
          </a:prstGeom>
          <a:solidFill>
            <a:srgbClr val="0710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FE38C25-2E39-BE8C-D073-13D7B7752B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5224" y="487822"/>
            <a:ext cx="34964913" cy="19491468"/>
          </a:xfrm>
          <a:prstGeom prst="rect">
            <a:avLst/>
          </a:prstGeom>
        </p:spPr>
      </p:pic>
      <p:sp>
        <p:nvSpPr>
          <p:cNvPr id="5" name="Freeform 52">
            <a:extLst>
              <a:ext uri="{FF2B5EF4-FFF2-40B4-BE49-F238E27FC236}">
                <a16:creationId xmlns:a16="http://schemas.microsoft.com/office/drawing/2014/main" id="{467F6500-4AB3-0532-5579-BAF7D5D79A3C}"/>
              </a:ext>
            </a:extLst>
          </p:cNvPr>
          <p:cNvSpPr/>
          <p:nvPr/>
        </p:nvSpPr>
        <p:spPr>
          <a:xfrm>
            <a:off x="783048" y="18616371"/>
            <a:ext cx="2863232" cy="1362919"/>
          </a:xfrm>
          <a:custGeom>
            <a:avLst/>
            <a:gdLst/>
            <a:ahLst/>
            <a:cxnLst/>
            <a:rect l="l" t="t" r="r" b="b"/>
            <a:pathLst>
              <a:path w="3941518" h="1853888">
                <a:moveTo>
                  <a:pt x="0" y="0"/>
                </a:moveTo>
                <a:lnTo>
                  <a:pt x="3941518" y="0"/>
                </a:lnTo>
                <a:lnTo>
                  <a:pt x="3941518" y="1853888"/>
                </a:lnTo>
                <a:lnTo>
                  <a:pt x="0" y="1853888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80150" b="-43157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1C49A21-CA61-A1F5-6CD2-3D6CA6B83BF2}"/>
              </a:ext>
            </a:extLst>
          </p:cNvPr>
          <p:cNvSpPr/>
          <p:nvPr/>
        </p:nvSpPr>
        <p:spPr>
          <a:xfrm>
            <a:off x="3486150" y="4429125"/>
            <a:ext cx="3371850" cy="2652255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23CCBE32-CBE7-495F-33AA-029D82010B67}"/>
              </a:ext>
            </a:extLst>
          </p:cNvPr>
          <p:cNvSpPr/>
          <p:nvPr/>
        </p:nvSpPr>
        <p:spPr>
          <a:xfrm>
            <a:off x="4629150" y="3990133"/>
            <a:ext cx="942975" cy="923330"/>
          </a:xfrm>
          <a:prstGeom prst="ellipse">
            <a:avLst/>
          </a:prstGeom>
          <a:solidFill>
            <a:srgbClr val="07103B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A1F52D37-03AE-3DC9-7751-8A87EA07ECDB}"/>
              </a:ext>
            </a:extLst>
          </p:cNvPr>
          <p:cNvSpPr txBox="1"/>
          <p:nvPr/>
        </p:nvSpPr>
        <p:spPr>
          <a:xfrm>
            <a:off x="4875591" y="4064199"/>
            <a:ext cx="696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E8C58C"/>
                </a:solidFill>
                <a:latin typeface="Maven Pro" pitchFamily="2" charset="0"/>
              </a:rPr>
              <a:t>1</a:t>
            </a:r>
            <a:endParaRPr lang="pt-BR" sz="4000" b="1" dirty="0">
              <a:solidFill>
                <a:srgbClr val="E8C58C"/>
              </a:solidFill>
              <a:latin typeface="Maven Pro" pitchFamily="2" charset="0"/>
            </a:endParaRP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38C30504-E97C-A20E-05CC-837F0F17C7B8}"/>
              </a:ext>
            </a:extLst>
          </p:cNvPr>
          <p:cNvCxnSpPr>
            <a:cxnSpLocks/>
          </p:cNvCxnSpPr>
          <p:nvPr/>
        </p:nvCxnSpPr>
        <p:spPr>
          <a:xfrm>
            <a:off x="6987540" y="5500687"/>
            <a:ext cx="365760" cy="0"/>
          </a:xfrm>
          <a:prstGeom prst="straightConnector1">
            <a:avLst/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D76462D-121B-6B48-417C-E8A9E1C86110}"/>
              </a:ext>
            </a:extLst>
          </p:cNvPr>
          <p:cNvSpPr/>
          <p:nvPr/>
        </p:nvSpPr>
        <p:spPr>
          <a:xfrm>
            <a:off x="7598231" y="4429124"/>
            <a:ext cx="3371850" cy="2652253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D0A6E32-69B1-4685-9BD1-9F623AC4EF99}"/>
              </a:ext>
            </a:extLst>
          </p:cNvPr>
          <p:cNvSpPr/>
          <p:nvPr/>
        </p:nvSpPr>
        <p:spPr>
          <a:xfrm>
            <a:off x="8741231" y="3990132"/>
            <a:ext cx="942975" cy="923330"/>
          </a:xfrm>
          <a:prstGeom prst="ellipse">
            <a:avLst/>
          </a:prstGeom>
          <a:solidFill>
            <a:srgbClr val="07103B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0E6E1A4C-07A5-2B73-B6A1-9DB41B15AC72}"/>
              </a:ext>
            </a:extLst>
          </p:cNvPr>
          <p:cNvSpPr txBox="1"/>
          <p:nvPr/>
        </p:nvSpPr>
        <p:spPr>
          <a:xfrm>
            <a:off x="8987672" y="4064198"/>
            <a:ext cx="696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E8C58C"/>
                </a:solidFill>
                <a:latin typeface="Maven Pro" pitchFamily="2" charset="0"/>
              </a:rPr>
              <a:t>2</a:t>
            </a:r>
            <a:endParaRPr lang="pt-BR" sz="4000" b="1" dirty="0">
              <a:solidFill>
                <a:srgbClr val="E8C58C"/>
              </a:solidFill>
              <a:latin typeface="Maven Pro" pitchFamily="2" charset="0"/>
            </a:endParaRP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C6A06F9D-D9E4-2117-FD1D-FD7F0D6D714E}"/>
              </a:ext>
            </a:extLst>
          </p:cNvPr>
          <p:cNvCxnSpPr>
            <a:cxnSpLocks/>
          </p:cNvCxnSpPr>
          <p:nvPr/>
        </p:nvCxnSpPr>
        <p:spPr>
          <a:xfrm>
            <a:off x="11099621" y="5500686"/>
            <a:ext cx="365760" cy="0"/>
          </a:xfrm>
          <a:prstGeom prst="straightConnector1">
            <a:avLst/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AB4EB84-DC1F-168E-830B-80D54BBE7A53}"/>
              </a:ext>
            </a:extLst>
          </p:cNvPr>
          <p:cNvSpPr/>
          <p:nvPr/>
        </p:nvSpPr>
        <p:spPr>
          <a:xfrm>
            <a:off x="11741600" y="4429125"/>
            <a:ext cx="3371850" cy="2652251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F7A53600-FAF8-9373-1CAA-D5966206582D}"/>
              </a:ext>
            </a:extLst>
          </p:cNvPr>
          <p:cNvSpPr/>
          <p:nvPr/>
        </p:nvSpPr>
        <p:spPr>
          <a:xfrm>
            <a:off x="12884600" y="3990133"/>
            <a:ext cx="942975" cy="923330"/>
          </a:xfrm>
          <a:prstGeom prst="ellipse">
            <a:avLst/>
          </a:prstGeom>
          <a:solidFill>
            <a:srgbClr val="07103B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CA39923B-37FB-AF17-7C6C-1015ACBCFBB6}"/>
              </a:ext>
            </a:extLst>
          </p:cNvPr>
          <p:cNvSpPr txBox="1"/>
          <p:nvPr/>
        </p:nvSpPr>
        <p:spPr>
          <a:xfrm>
            <a:off x="13131041" y="4064199"/>
            <a:ext cx="696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E8C58C"/>
                </a:solidFill>
                <a:latin typeface="Maven Pro" pitchFamily="2" charset="0"/>
              </a:rPr>
              <a:t>3</a:t>
            </a:r>
            <a:endParaRPr lang="pt-BR" sz="4000" b="1" dirty="0">
              <a:solidFill>
                <a:srgbClr val="E8C58C"/>
              </a:solidFill>
              <a:latin typeface="Maven Pro" pitchFamily="2" charset="0"/>
            </a:endParaRP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3E9A0AF1-7102-52BA-3079-49936478F725}"/>
              </a:ext>
            </a:extLst>
          </p:cNvPr>
          <p:cNvCxnSpPr>
            <a:cxnSpLocks/>
          </p:cNvCxnSpPr>
          <p:nvPr/>
        </p:nvCxnSpPr>
        <p:spPr>
          <a:xfrm>
            <a:off x="15242990" y="5500687"/>
            <a:ext cx="365760" cy="0"/>
          </a:xfrm>
          <a:prstGeom prst="straightConnector1">
            <a:avLst/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786AB816-7AAD-4E20-678E-5C740B533103}"/>
              </a:ext>
            </a:extLst>
          </p:cNvPr>
          <p:cNvSpPr/>
          <p:nvPr/>
        </p:nvSpPr>
        <p:spPr>
          <a:xfrm>
            <a:off x="15853681" y="4429124"/>
            <a:ext cx="3371850" cy="2652248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CDEB223B-E702-2ECD-6629-D6D4B1EC8EF5}"/>
              </a:ext>
            </a:extLst>
          </p:cNvPr>
          <p:cNvSpPr/>
          <p:nvPr/>
        </p:nvSpPr>
        <p:spPr>
          <a:xfrm>
            <a:off x="16996681" y="3990132"/>
            <a:ext cx="942975" cy="923330"/>
          </a:xfrm>
          <a:prstGeom prst="ellipse">
            <a:avLst/>
          </a:prstGeom>
          <a:solidFill>
            <a:srgbClr val="07103B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60D5F1C3-336B-B640-2D68-A8D940D26363}"/>
              </a:ext>
            </a:extLst>
          </p:cNvPr>
          <p:cNvSpPr txBox="1"/>
          <p:nvPr/>
        </p:nvSpPr>
        <p:spPr>
          <a:xfrm>
            <a:off x="17243122" y="4064198"/>
            <a:ext cx="696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E8C58C"/>
                </a:solidFill>
                <a:latin typeface="Maven Pro" pitchFamily="2" charset="0"/>
              </a:rPr>
              <a:t>4</a:t>
            </a:r>
            <a:endParaRPr lang="pt-BR" sz="4000" b="1" dirty="0">
              <a:solidFill>
                <a:srgbClr val="E8C58C"/>
              </a:solidFill>
              <a:latin typeface="Maven Pro" pitchFamily="2" charset="0"/>
            </a:endParaRPr>
          </a:p>
        </p:txBody>
      </p:sp>
      <p:sp>
        <p:nvSpPr>
          <p:cNvPr id="25" name="TextBox 100">
            <a:extLst>
              <a:ext uri="{FF2B5EF4-FFF2-40B4-BE49-F238E27FC236}">
                <a16:creationId xmlns:a16="http://schemas.microsoft.com/office/drawing/2014/main" id="{F7830B31-6B16-FEAD-1AFC-992240CE5870}"/>
              </a:ext>
            </a:extLst>
          </p:cNvPr>
          <p:cNvSpPr txBox="1"/>
          <p:nvPr/>
        </p:nvSpPr>
        <p:spPr>
          <a:xfrm>
            <a:off x="3723697" y="5906965"/>
            <a:ext cx="2861481" cy="43088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Agendamento</a:t>
            </a:r>
          </a:p>
        </p:txBody>
      </p:sp>
      <p:sp>
        <p:nvSpPr>
          <p:cNvPr id="26" name="TextBox 100">
            <a:extLst>
              <a:ext uri="{FF2B5EF4-FFF2-40B4-BE49-F238E27FC236}">
                <a16:creationId xmlns:a16="http://schemas.microsoft.com/office/drawing/2014/main" id="{90F85A90-B03E-7A27-43EE-D2D8358FFF66}"/>
              </a:ext>
            </a:extLst>
          </p:cNvPr>
          <p:cNvSpPr txBox="1"/>
          <p:nvPr/>
        </p:nvSpPr>
        <p:spPr>
          <a:xfrm>
            <a:off x="7853415" y="5906965"/>
            <a:ext cx="2861481" cy="86177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Conferência </a:t>
            </a:r>
            <a:r>
              <a:rPr lang="pt-BR" altLang="zh-CN" sz="2800" dirty="0" err="1">
                <a:solidFill>
                  <a:schemeClr val="bg1"/>
                </a:solidFill>
                <a:latin typeface="Maven Pro" pitchFamily="2" charset="0"/>
              </a:rPr>
              <a:t>Pré</a:t>
            </a:r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 Gate</a:t>
            </a:r>
          </a:p>
        </p:txBody>
      </p:sp>
      <p:sp>
        <p:nvSpPr>
          <p:cNvPr id="27" name="TextBox 100">
            <a:extLst>
              <a:ext uri="{FF2B5EF4-FFF2-40B4-BE49-F238E27FC236}">
                <a16:creationId xmlns:a16="http://schemas.microsoft.com/office/drawing/2014/main" id="{466389FC-C306-840F-C946-76129ED431D6}"/>
              </a:ext>
            </a:extLst>
          </p:cNvPr>
          <p:cNvSpPr txBox="1"/>
          <p:nvPr/>
        </p:nvSpPr>
        <p:spPr>
          <a:xfrm>
            <a:off x="11996784" y="5906965"/>
            <a:ext cx="2861481" cy="86177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Recebimento: Gate </a:t>
            </a:r>
          </a:p>
        </p:txBody>
      </p:sp>
      <p:sp>
        <p:nvSpPr>
          <p:cNvPr id="28" name="TextBox 100">
            <a:extLst>
              <a:ext uri="{FF2B5EF4-FFF2-40B4-BE49-F238E27FC236}">
                <a16:creationId xmlns:a16="http://schemas.microsoft.com/office/drawing/2014/main" id="{62B4ED52-675D-4D6B-1391-2C285C4D5E5E}"/>
              </a:ext>
            </a:extLst>
          </p:cNvPr>
          <p:cNvSpPr txBox="1"/>
          <p:nvPr/>
        </p:nvSpPr>
        <p:spPr>
          <a:xfrm>
            <a:off x="16096421" y="5906965"/>
            <a:ext cx="2861481" cy="43088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Escaneamento</a:t>
            </a: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D98535A9-474E-1D0D-58CF-D73B7802650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tretch>
            <a:fillRect/>
          </a:stretch>
        </p:blipFill>
        <p:spPr>
          <a:xfrm>
            <a:off x="17139556" y="5073414"/>
            <a:ext cx="710320" cy="710320"/>
          </a:xfrm>
          <a:prstGeom prst="rect">
            <a:avLst/>
          </a:prstGeom>
        </p:spPr>
      </p:pic>
      <p:sp>
        <p:nvSpPr>
          <p:cNvPr id="111" name="TextBox 4">
            <a:extLst>
              <a:ext uri="{FF2B5EF4-FFF2-40B4-BE49-F238E27FC236}">
                <a16:creationId xmlns:a16="http://schemas.microsoft.com/office/drawing/2014/main" id="{48F05396-1A6C-B8D8-F27D-F71B2C0C771E}"/>
              </a:ext>
            </a:extLst>
          </p:cNvPr>
          <p:cNvSpPr txBox="1"/>
          <p:nvPr/>
        </p:nvSpPr>
        <p:spPr>
          <a:xfrm>
            <a:off x="5752262" y="18221782"/>
            <a:ext cx="188575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>
                <a:solidFill>
                  <a:srgbClr val="E8C58C"/>
                </a:solidFill>
                <a:latin typeface="Maven Pro" pitchFamily="2" charset="0"/>
              </a:rPr>
              <a:t>Processo</a:t>
            </a:r>
            <a:r>
              <a:rPr lang="en-US" sz="5400" dirty="0">
                <a:solidFill>
                  <a:srgbClr val="E8C58C"/>
                </a:solidFill>
                <a:latin typeface="Maven Pro" pitchFamily="2" charset="0"/>
              </a:rPr>
              <a:t> </a:t>
            </a:r>
            <a:r>
              <a:rPr lang="en-US" sz="5400" dirty="0" err="1">
                <a:solidFill>
                  <a:srgbClr val="E8C58C"/>
                </a:solidFill>
                <a:latin typeface="Maven Pro" pitchFamily="2" charset="0"/>
              </a:rPr>
              <a:t>integrado</a:t>
            </a:r>
            <a:r>
              <a:rPr lang="en-US" sz="5400" dirty="0">
                <a:solidFill>
                  <a:srgbClr val="E8C58C"/>
                </a:solidFill>
                <a:latin typeface="Maven Pro" pitchFamily="2" charset="0"/>
              </a:rPr>
              <a:t>, com </a:t>
            </a:r>
            <a:r>
              <a:rPr lang="en-US" sz="5400" dirty="0" err="1">
                <a:solidFill>
                  <a:srgbClr val="E8C58C"/>
                </a:solidFill>
                <a:latin typeface="Maven Pro" pitchFamily="2" charset="0"/>
              </a:rPr>
              <a:t>controle</a:t>
            </a:r>
            <a:r>
              <a:rPr lang="en-US" sz="5400" dirty="0">
                <a:solidFill>
                  <a:srgbClr val="E8C58C"/>
                </a:solidFill>
                <a:latin typeface="Maven Pro" pitchFamily="2" charset="0"/>
              </a:rPr>
              <a:t> </a:t>
            </a:r>
            <a:r>
              <a:rPr lang="en-US" sz="5400" dirty="0" err="1">
                <a:solidFill>
                  <a:srgbClr val="E8C58C"/>
                </a:solidFill>
                <a:latin typeface="Maven Pro" pitchFamily="2" charset="0"/>
              </a:rPr>
              <a:t>em</a:t>
            </a:r>
            <a:r>
              <a:rPr lang="en-US" sz="5400" dirty="0">
                <a:solidFill>
                  <a:srgbClr val="E8C58C"/>
                </a:solidFill>
                <a:latin typeface="Maven Pro" pitchFamily="2" charset="0"/>
              </a:rPr>
              <a:t> </a:t>
            </a:r>
            <a:r>
              <a:rPr lang="en-US" sz="5400" dirty="0" err="1">
                <a:solidFill>
                  <a:srgbClr val="E8C58C"/>
                </a:solidFill>
                <a:latin typeface="Maven Pro" pitchFamily="2" charset="0"/>
              </a:rPr>
              <a:t>todas</a:t>
            </a:r>
            <a:r>
              <a:rPr lang="en-US" sz="5400" dirty="0">
                <a:solidFill>
                  <a:srgbClr val="E8C58C"/>
                </a:solidFill>
                <a:latin typeface="Maven Pro" pitchFamily="2" charset="0"/>
              </a:rPr>
              <a:t> as </a:t>
            </a:r>
            <a:r>
              <a:rPr lang="en-US" sz="5400" dirty="0" err="1">
                <a:solidFill>
                  <a:srgbClr val="E8C58C"/>
                </a:solidFill>
                <a:latin typeface="Maven Pro" pitchFamily="2" charset="0"/>
              </a:rPr>
              <a:t>etapas</a:t>
            </a:r>
            <a:r>
              <a:rPr lang="en-US" sz="5400" dirty="0">
                <a:solidFill>
                  <a:srgbClr val="E8C58C"/>
                </a:solidFill>
                <a:latin typeface="Maven Pro" pitchFamily="2" charset="0"/>
              </a:rPr>
              <a:t>. </a:t>
            </a:r>
            <a:endParaRPr lang="pt-BR" sz="5400" dirty="0">
              <a:solidFill>
                <a:srgbClr val="E8C58C"/>
              </a:solidFill>
              <a:latin typeface="Maven Pro" pitchFamily="2" charset="0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C098D2C7-ED1E-8BFB-A0D6-3B4CA2942077}"/>
              </a:ext>
            </a:extLst>
          </p:cNvPr>
          <p:cNvSpPr/>
          <p:nvPr/>
        </p:nvSpPr>
        <p:spPr>
          <a:xfrm>
            <a:off x="2767166" y="9621785"/>
            <a:ext cx="6220506" cy="2652255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B521EA69-488A-5FE9-88D5-4137221A8F46}"/>
              </a:ext>
            </a:extLst>
          </p:cNvPr>
          <p:cNvSpPr/>
          <p:nvPr/>
        </p:nvSpPr>
        <p:spPr>
          <a:xfrm>
            <a:off x="5332566" y="9182793"/>
            <a:ext cx="942975" cy="923330"/>
          </a:xfrm>
          <a:prstGeom prst="ellipse">
            <a:avLst/>
          </a:prstGeom>
          <a:solidFill>
            <a:srgbClr val="07103B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TextBox 4">
            <a:extLst>
              <a:ext uri="{FF2B5EF4-FFF2-40B4-BE49-F238E27FC236}">
                <a16:creationId xmlns:a16="http://schemas.microsoft.com/office/drawing/2014/main" id="{BB3B5ECC-1870-BD86-6988-0522DE485CC0}"/>
              </a:ext>
            </a:extLst>
          </p:cNvPr>
          <p:cNvSpPr txBox="1"/>
          <p:nvPr/>
        </p:nvSpPr>
        <p:spPr>
          <a:xfrm>
            <a:off x="5579007" y="9256859"/>
            <a:ext cx="696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E8C58C"/>
                </a:solidFill>
                <a:latin typeface="Maven Pro" pitchFamily="2" charset="0"/>
              </a:rPr>
              <a:t>5</a:t>
            </a:r>
            <a:endParaRPr lang="pt-BR" sz="4000" b="1" dirty="0">
              <a:solidFill>
                <a:srgbClr val="E8C58C"/>
              </a:solidFill>
              <a:latin typeface="Maven Pro" pitchFamily="2" charset="0"/>
            </a:endParaRPr>
          </a:p>
        </p:txBody>
      </p:sp>
      <p:sp>
        <p:nvSpPr>
          <p:cNvPr id="53" name="TextBox 100">
            <a:extLst>
              <a:ext uri="{FF2B5EF4-FFF2-40B4-BE49-F238E27FC236}">
                <a16:creationId xmlns:a16="http://schemas.microsoft.com/office/drawing/2014/main" id="{F87DDA41-7B98-053C-5B6C-F3452E04A834}"/>
              </a:ext>
            </a:extLst>
          </p:cNvPr>
          <p:cNvSpPr txBox="1"/>
          <p:nvPr/>
        </p:nvSpPr>
        <p:spPr>
          <a:xfrm>
            <a:off x="3004713" y="11099625"/>
            <a:ext cx="5753263" cy="86177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Armazenagem: Unidade direcionada ao bloco</a:t>
            </a:r>
          </a:p>
        </p:txBody>
      </p:sp>
      <p:pic>
        <p:nvPicPr>
          <p:cNvPr id="55" name="Imagem 54">
            <a:extLst>
              <a:ext uri="{FF2B5EF4-FFF2-40B4-BE49-F238E27FC236}">
                <a16:creationId xmlns:a16="http://schemas.microsoft.com/office/drawing/2014/main" id="{84857DD5-CB65-5781-E13E-2D779088CB92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tretch>
            <a:fillRect/>
          </a:stretch>
        </p:blipFill>
        <p:spPr>
          <a:xfrm>
            <a:off x="5523476" y="10304319"/>
            <a:ext cx="707886" cy="707886"/>
          </a:xfrm>
          <a:prstGeom prst="rect">
            <a:avLst/>
          </a:prstGeom>
        </p:spPr>
      </p:pic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2EEFA0C7-6204-49F0-0ABD-E0F88803114A}"/>
              </a:ext>
            </a:extLst>
          </p:cNvPr>
          <p:cNvSpPr/>
          <p:nvPr/>
        </p:nvSpPr>
        <p:spPr>
          <a:xfrm>
            <a:off x="10055675" y="9643815"/>
            <a:ext cx="3371850" cy="2652255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5C384C39-A492-D2AA-D663-0C4FCB3C1252}"/>
              </a:ext>
            </a:extLst>
          </p:cNvPr>
          <p:cNvSpPr/>
          <p:nvPr/>
        </p:nvSpPr>
        <p:spPr>
          <a:xfrm>
            <a:off x="11198675" y="9204823"/>
            <a:ext cx="942975" cy="923330"/>
          </a:xfrm>
          <a:prstGeom prst="ellipse">
            <a:avLst/>
          </a:prstGeom>
          <a:solidFill>
            <a:srgbClr val="07103B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TextBox 4">
            <a:extLst>
              <a:ext uri="{FF2B5EF4-FFF2-40B4-BE49-F238E27FC236}">
                <a16:creationId xmlns:a16="http://schemas.microsoft.com/office/drawing/2014/main" id="{3AD170D6-27FB-58A2-5DB4-6E5AB60E7BA1}"/>
              </a:ext>
            </a:extLst>
          </p:cNvPr>
          <p:cNvSpPr txBox="1"/>
          <p:nvPr/>
        </p:nvSpPr>
        <p:spPr>
          <a:xfrm>
            <a:off x="11445116" y="9278889"/>
            <a:ext cx="696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E8C58C"/>
                </a:solidFill>
                <a:latin typeface="Maven Pro" pitchFamily="2" charset="0"/>
              </a:rPr>
              <a:t>6</a:t>
            </a:r>
            <a:endParaRPr lang="pt-BR" sz="4000" b="1" dirty="0">
              <a:solidFill>
                <a:srgbClr val="E8C58C"/>
              </a:solidFill>
              <a:latin typeface="Maven Pro" pitchFamily="2" charset="0"/>
            </a:endParaRPr>
          </a:p>
        </p:txBody>
      </p:sp>
      <p:cxnSp>
        <p:nvCxnSpPr>
          <p:cNvPr id="66" name="Conector de Seta Reta 65">
            <a:extLst>
              <a:ext uri="{FF2B5EF4-FFF2-40B4-BE49-F238E27FC236}">
                <a16:creationId xmlns:a16="http://schemas.microsoft.com/office/drawing/2014/main" id="{E89ADDE5-6EE7-8E48-B1D6-1146E09EC6BB}"/>
              </a:ext>
            </a:extLst>
          </p:cNvPr>
          <p:cNvCxnSpPr>
            <a:cxnSpLocks/>
          </p:cNvCxnSpPr>
          <p:nvPr/>
        </p:nvCxnSpPr>
        <p:spPr>
          <a:xfrm>
            <a:off x="13557065" y="10715377"/>
            <a:ext cx="365760" cy="0"/>
          </a:xfrm>
          <a:prstGeom prst="straightConnector1">
            <a:avLst/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100">
            <a:extLst>
              <a:ext uri="{FF2B5EF4-FFF2-40B4-BE49-F238E27FC236}">
                <a16:creationId xmlns:a16="http://schemas.microsoft.com/office/drawing/2014/main" id="{CABBCCF3-DA0B-DF9E-EFB3-1C70B1844FDE}"/>
              </a:ext>
            </a:extLst>
          </p:cNvPr>
          <p:cNvSpPr txBox="1"/>
          <p:nvPr/>
        </p:nvSpPr>
        <p:spPr>
          <a:xfrm>
            <a:off x="10293222" y="11121655"/>
            <a:ext cx="2861481" cy="43088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Inspeção Órgão?</a:t>
            </a:r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E84C166E-BF80-F72E-E6D8-7F762490F3E2}"/>
              </a:ext>
            </a:extLst>
          </p:cNvPr>
          <p:cNvSpPr/>
          <p:nvPr/>
        </p:nvSpPr>
        <p:spPr>
          <a:xfrm>
            <a:off x="14187108" y="10385464"/>
            <a:ext cx="2111764" cy="852233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4" name="Conector de Seta Reta 73">
            <a:extLst>
              <a:ext uri="{FF2B5EF4-FFF2-40B4-BE49-F238E27FC236}">
                <a16:creationId xmlns:a16="http://schemas.microsoft.com/office/drawing/2014/main" id="{95307BF9-24C8-0415-1730-ED18C749676A}"/>
              </a:ext>
            </a:extLst>
          </p:cNvPr>
          <p:cNvCxnSpPr>
            <a:cxnSpLocks/>
          </p:cNvCxnSpPr>
          <p:nvPr/>
        </p:nvCxnSpPr>
        <p:spPr>
          <a:xfrm>
            <a:off x="16573851" y="10726977"/>
            <a:ext cx="365760" cy="0"/>
          </a:xfrm>
          <a:prstGeom prst="straightConnector1">
            <a:avLst/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tângulo: Cantos Arredondados 112">
            <a:extLst>
              <a:ext uri="{FF2B5EF4-FFF2-40B4-BE49-F238E27FC236}">
                <a16:creationId xmlns:a16="http://schemas.microsoft.com/office/drawing/2014/main" id="{8FE0341F-3107-A3AA-BC3B-13419BB3E33A}"/>
              </a:ext>
            </a:extLst>
          </p:cNvPr>
          <p:cNvSpPr/>
          <p:nvPr/>
        </p:nvSpPr>
        <p:spPr>
          <a:xfrm>
            <a:off x="17209686" y="9581722"/>
            <a:ext cx="3371850" cy="2652255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7" name="Elipse 116">
            <a:extLst>
              <a:ext uri="{FF2B5EF4-FFF2-40B4-BE49-F238E27FC236}">
                <a16:creationId xmlns:a16="http://schemas.microsoft.com/office/drawing/2014/main" id="{6C30E4A4-C014-0091-1DDD-6A368ACF3977}"/>
              </a:ext>
            </a:extLst>
          </p:cNvPr>
          <p:cNvSpPr/>
          <p:nvPr/>
        </p:nvSpPr>
        <p:spPr>
          <a:xfrm>
            <a:off x="18352686" y="9142730"/>
            <a:ext cx="942975" cy="923330"/>
          </a:xfrm>
          <a:prstGeom prst="ellipse">
            <a:avLst/>
          </a:prstGeom>
          <a:solidFill>
            <a:srgbClr val="07103B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8" name="TextBox 4">
            <a:extLst>
              <a:ext uri="{FF2B5EF4-FFF2-40B4-BE49-F238E27FC236}">
                <a16:creationId xmlns:a16="http://schemas.microsoft.com/office/drawing/2014/main" id="{2472976A-6215-ED98-E924-47DB93FBE98B}"/>
              </a:ext>
            </a:extLst>
          </p:cNvPr>
          <p:cNvSpPr txBox="1"/>
          <p:nvPr/>
        </p:nvSpPr>
        <p:spPr>
          <a:xfrm>
            <a:off x="18599127" y="9216796"/>
            <a:ext cx="696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E8C58C"/>
                </a:solidFill>
                <a:latin typeface="Maven Pro" pitchFamily="2" charset="0"/>
              </a:rPr>
              <a:t>8</a:t>
            </a:r>
            <a:endParaRPr lang="pt-BR" sz="4000" b="1" dirty="0">
              <a:solidFill>
                <a:srgbClr val="E8C58C"/>
              </a:solidFill>
              <a:latin typeface="Maven Pro" pitchFamily="2" charset="0"/>
            </a:endParaRPr>
          </a:p>
        </p:txBody>
      </p:sp>
      <p:cxnSp>
        <p:nvCxnSpPr>
          <p:cNvPr id="120" name="Conector de Seta Reta 119">
            <a:extLst>
              <a:ext uri="{FF2B5EF4-FFF2-40B4-BE49-F238E27FC236}">
                <a16:creationId xmlns:a16="http://schemas.microsoft.com/office/drawing/2014/main" id="{A08D323C-E69E-AD16-30FA-390F4A905388}"/>
              </a:ext>
            </a:extLst>
          </p:cNvPr>
          <p:cNvCxnSpPr>
            <a:cxnSpLocks/>
          </p:cNvCxnSpPr>
          <p:nvPr/>
        </p:nvCxnSpPr>
        <p:spPr>
          <a:xfrm>
            <a:off x="20711076" y="10653284"/>
            <a:ext cx="365760" cy="0"/>
          </a:xfrm>
          <a:prstGeom prst="straightConnector1">
            <a:avLst/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tângulo: Cantos Arredondados 120">
            <a:extLst>
              <a:ext uri="{FF2B5EF4-FFF2-40B4-BE49-F238E27FC236}">
                <a16:creationId xmlns:a16="http://schemas.microsoft.com/office/drawing/2014/main" id="{4DD52DD3-D142-2FD9-4C26-9BC9EA720301}"/>
              </a:ext>
            </a:extLst>
          </p:cNvPr>
          <p:cNvSpPr/>
          <p:nvPr/>
        </p:nvSpPr>
        <p:spPr>
          <a:xfrm>
            <a:off x="21321767" y="9581721"/>
            <a:ext cx="3371850" cy="2652253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2" name="Elipse 121">
            <a:extLst>
              <a:ext uri="{FF2B5EF4-FFF2-40B4-BE49-F238E27FC236}">
                <a16:creationId xmlns:a16="http://schemas.microsoft.com/office/drawing/2014/main" id="{44406394-B9CB-E0D3-5F67-082CFE41C5A8}"/>
              </a:ext>
            </a:extLst>
          </p:cNvPr>
          <p:cNvSpPr/>
          <p:nvPr/>
        </p:nvSpPr>
        <p:spPr>
          <a:xfrm>
            <a:off x="22464767" y="9142729"/>
            <a:ext cx="942975" cy="923330"/>
          </a:xfrm>
          <a:prstGeom prst="ellipse">
            <a:avLst/>
          </a:prstGeom>
          <a:solidFill>
            <a:srgbClr val="07103B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3" name="TextBox 4">
            <a:extLst>
              <a:ext uri="{FF2B5EF4-FFF2-40B4-BE49-F238E27FC236}">
                <a16:creationId xmlns:a16="http://schemas.microsoft.com/office/drawing/2014/main" id="{7DCF1DE8-3AF0-2178-9466-F798551FBA9B}"/>
              </a:ext>
            </a:extLst>
          </p:cNvPr>
          <p:cNvSpPr txBox="1"/>
          <p:nvPr/>
        </p:nvSpPr>
        <p:spPr>
          <a:xfrm>
            <a:off x="22711208" y="9216795"/>
            <a:ext cx="696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E8C58C"/>
                </a:solidFill>
                <a:latin typeface="Maven Pro" pitchFamily="2" charset="0"/>
              </a:rPr>
              <a:t>9</a:t>
            </a:r>
            <a:endParaRPr lang="pt-BR" sz="4000" b="1" dirty="0">
              <a:solidFill>
                <a:srgbClr val="E8C58C"/>
              </a:solidFill>
              <a:latin typeface="Maven Pro" pitchFamily="2" charset="0"/>
            </a:endParaRPr>
          </a:p>
        </p:txBody>
      </p:sp>
      <p:cxnSp>
        <p:nvCxnSpPr>
          <p:cNvPr id="125" name="Conector de Seta Reta 124">
            <a:extLst>
              <a:ext uri="{FF2B5EF4-FFF2-40B4-BE49-F238E27FC236}">
                <a16:creationId xmlns:a16="http://schemas.microsoft.com/office/drawing/2014/main" id="{062696E6-3DC8-CAED-A586-B532A4B839DB}"/>
              </a:ext>
            </a:extLst>
          </p:cNvPr>
          <p:cNvCxnSpPr>
            <a:cxnSpLocks/>
          </p:cNvCxnSpPr>
          <p:nvPr/>
        </p:nvCxnSpPr>
        <p:spPr>
          <a:xfrm>
            <a:off x="24823157" y="10653283"/>
            <a:ext cx="365760" cy="0"/>
          </a:xfrm>
          <a:prstGeom prst="straightConnector1">
            <a:avLst/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00">
            <a:extLst>
              <a:ext uri="{FF2B5EF4-FFF2-40B4-BE49-F238E27FC236}">
                <a16:creationId xmlns:a16="http://schemas.microsoft.com/office/drawing/2014/main" id="{E5D8A584-E5DD-5F99-194E-738C28757C2A}"/>
              </a:ext>
            </a:extLst>
          </p:cNvPr>
          <p:cNvSpPr txBox="1"/>
          <p:nvPr/>
        </p:nvSpPr>
        <p:spPr>
          <a:xfrm>
            <a:off x="17447233" y="11059562"/>
            <a:ext cx="2861481" cy="86177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Bloco de armazenagem</a:t>
            </a:r>
          </a:p>
        </p:txBody>
      </p:sp>
      <p:sp>
        <p:nvSpPr>
          <p:cNvPr id="128" name="TextBox 100">
            <a:extLst>
              <a:ext uri="{FF2B5EF4-FFF2-40B4-BE49-F238E27FC236}">
                <a16:creationId xmlns:a16="http://schemas.microsoft.com/office/drawing/2014/main" id="{E7D3B7FC-1D97-934B-FCBC-010DE733F9F7}"/>
              </a:ext>
            </a:extLst>
          </p:cNvPr>
          <p:cNvSpPr txBox="1"/>
          <p:nvPr/>
        </p:nvSpPr>
        <p:spPr>
          <a:xfrm>
            <a:off x="21576951" y="11059562"/>
            <a:ext cx="2861481" cy="86177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Movimentação ao Costado</a:t>
            </a:r>
          </a:p>
        </p:txBody>
      </p:sp>
      <p:pic>
        <p:nvPicPr>
          <p:cNvPr id="129" name="Imagem 128">
            <a:extLst>
              <a:ext uri="{FF2B5EF4-FFF2-40B4-BE49-F238E27FC236}">
                <a16:creationId xmlns:a16="http://schemas.microsoft.com/office/drawing/2014/main" id="{1DAA515D-DDD6-E646-1B65-3CAC8F3481D1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tretch>
            <a:fillRect/>
          </a:stretch>
        </p:blipFill>
        <p:spPr>
          <a:xfrm>
            <a:off x="22586617" y="10085309"/>
            <a:ext cx="821125" cy="821125"/>
          </a:xfrm>
          <a:prstGeom prst="rect">
            <a:avLst/>
          </a:prstGeom>
        </p:spPr>
      </p:pic>
      <p:sp>
        <p:nvSpPr>
          <p:cNvPr id="134" name="Retângulo: Cantos Arredondados 133">
            <a:extLst>
              <a:ext uri="{FF2B5EF4-FFF2-40B4-BE49-F238E27FC236}">
                <a16:creationId xmlns:a16="http://schemas.microsoft.com/office/drawing/2014/main" id="{E5604746-24BA-44C1-EAD8-E75099EEF087}"/>
              </a:ext>
            </a:extLst>
          </p:cNvPr>
          <p:cNvSpPr/>
          <p:nvPr/>
        </p:nvSpPr>
        <p:spPr>
          <a:xfrm>
            <a:off x="25938300" y="10280982"/>
            <a:ext cx="3855742" cy="1113942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7" name="TextBox 100">
            <a:extLst>
              <a:ext uri="{FF2B5EF4-FFF2-40B4-BE49-F238E27FC236}">
                <a16:creationId xmlns:a16="http://schemas.microsoft.com/office/drawing/2014/main" id="{0F1E2107-CE92-D024-F0F6-1A9F1EAE1053}"/>
              </a:ext>
            </a:extLst>
          </p:cNvPr>
          <p:cNvSpPr txBox="1"/>
          <p:nvPr/>
        </p:nvSpPr>
        <p:spPr>
          <a:xfrm>
            <a:off x="26343589" y="10596136"/>
            <a:ext cx="3163879" cy="43088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b="1" dirty="0">
                <a:solidFill>
                  <a:schemeClr val="bg1"/>
                </a:solidFill>
                <a:latin typeface="Maven Pro" pitchFamily="2" charset="0"/>
              </a:rPr>
              <a:t>Embarque</a:t>
            </a:r>
          </a:p>
        </p:txBody>
      </p:sp>
      <p:sp>
        <p:nvSpPr>
          <p:cNvPr id="139" name="Retângulo: Cantos Arredondados 138">
            <a:extLst>
              <a:ext uri="{FF2B5EF4-FFF2-40B4-BE49-F238E27FC236}">
                <a16:creationId xmlns:a16="http://schemas.microsoft.com/office/drawing/2014/main" id="{4262F73F-0B14-FD66-8C6C-4910197A0567}"/>
              </a:ext>
            </a:extLst>
          </p:cNvPr>
          <p:cNvSpPr/>
          <p:nvPr/>
        </p:nvSpPr>
        <p:spPr>
          <a:xfrm>
            <a:off x="10951906" y="14223538"/>
            <a:ext cx="2111764" cy="852233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1" name="Retângulo: Cantos Arredondados 140">
            <a:extLst>
              <a:ext uri="{FF2B5EF4-FFF2-40B4-BE49-F238E27FC236}">
                <a16:creationId xmlns:a16="http://schemas.microsoft.com/office/drawing/2014/main" id="{EB847908-0CF8-B55A-F4FC-153250BCAB7E}"/>
              </a:ext>
            </a:extLst>
          </p:cNvPr>
          <p:cNvSpPr/>
          <p:nvPr/>
        </p:nvSpPr>
        <p:spPr>
          <a:xfrm>
            <a:off x="14143607" y="13534423"/>
            <a:ext cx="3371850" cy="2652255"/>
          </a:xfrm>
          <a:prstGeom prst="roundRect">
            <a:avLst/>
          </a:prstGeom>
          <a:solidFill>
            <a:srgbClr val="1D366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3" name="Elipse 142">
            <a:extLst>
              <a:ext uri="{FF2B5EF4-FFF2-40B4-BE49-F238E27FC236}">
                <a16:creationId xmlns:a16="http://schemas.microsoft.com/office/drawing/2014/main" id="{431A8388-34AB-C883-3859-251CE3F94955}"/>
              </a:ext>
            </a:extLst>
          </p:cNvPr>
          <p:cNvSpPr/>
          <p:nvPr/>
        </p:nvSpPr>
        <p:spPr>
          <a:xfrm>
            <a:off x="15286607" y="13095431"/>
            <a:ext cx="942975" cy="923330"/>
          </a:xfrm>
          <a:prstGeom prst="ellipse">
            <a:avLst/>
          </a:prstGeom>
          <a:solidFill>
            <a:srgbClr val="07103B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5" name="TextBox 4">
            <a:extLst>
              <a:ext uri="{FF2B5EF4-FFF2-40B4-BE49-F238E27FC236}">
                <a16:creationId xmlns:a16="http://schemas.microsoft.com/office/drawing/2014/main" id="{B8F7195D-4590-493E-4E5F-E4206CC90118}"/>
              </a:ext>
            </a:extLst>
          </p:cNvPr>
          <p:cNvSpPr txBox="1"/>
          <p:nvPr/>
        </p:nvSpPr>
        <p:spPr>
          <a:xfrm>
            <a:off x="15533048" y="13169497"/>
            <a:ext cx="696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E8C58C"/>
                </a:solidFill>
                <a:latin typeface="Maven Pro" pitchFamily="2" charset="0"/>
              </a:rPr>
              <a:t>7</a:t>
            </a:r>
            <a:endParaRPr lang="pt-BR" sz="4000" b="1" dirty="0">
              <a:solidFill>
                <a:srgbClr val="E8C58C"/>
              </a:solidFill>
              <a:latin typeface="Maven Pro" pitchFamily="2" charset="0"/>
            </a:endParaRPr>
          </a:p>
        </p:txBody>
      </p:sp>
      <p:sp>
        <p:nvSpPr>
          <p:cNvPr id="150" name="TextBox 100">
            <a:extLst>
              <a:ext uri="{FF2B5EF4-FFF2-40B4-BE49-F238E27FC236}">
                <a16:creationId xmlns:a16="http://schemas.microsoft.com/office/drawing/2014/main" id="{01CB5E27-016D-D78C-7545-8B32D682618B}"/>
              </a:ext>
            </a:extLst>
          </p:cNvPr>
          <p:cNvSpPr txBox="1"/>
          <p:nvPr/>
        </p:nvSpPr>
        <p:spPr>
          <a:xfrm>
            <a:off x="14381154" y="15012263"/>
            <a:ext cx="2861481" cy="86177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Posicionamento + Inspeção </a:t>
            </a:r>
          </a:p>
        </p:txBody>
      </p:sp>
      <p:sp>
        <p:nvSpPr>
          <p:cNvPr id="152" name="TextBox 100">
            <a:extLst>
              <a:ext uri="{FF2B5EF4-FFF2-40B4-BE49-F238E27FC236}">
                <a16:creationId xmlns:a16="http://schemas.microsoft.com/office/drawing/2014/main" id="{EBFF6A89-C960-017D-BEA7-C688B52D071D}"/>
              </a:ext>
            </a:extLst>
          </p:cNvPr>
          <p:cNvSpPr txBox="1"/>
          <p:nvPr/>
        </p:nvSpPr>
        <p:spPr>
          <a:xfrm>
            <a:off x="13810678" y="10581002"/>
            <a:ext cx="2861481" cy="43088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Não </a:t>
            </a:r>
          </a:p>
        </p:txBody>
      </p:sp>
      <p:sp>
        <p:nvSpPr>
          <p:cNvPr id="154" name="TextBox 100">
            <a:extLst>
              <a:ext uri="{FF2B5EF4-FFF2-40B4-BE49-F238E27FC236}">
                <a16:creationId xmlns:a16="http://schemas.microsoft.com/office/drawing/2014/main" id="{CF4B01EC-7AB8-EEB9-CFF7-A9E07E748F3B}"/>
              </a:ext>
            </a:extLst>
          </p:cNvPr>
          <p:cNvSpPr txBox="1"/>
          <p:nvPr/>
        </p:nvSpPr>
        <p:spPr>
          <a:xfrm>
            <a:off x="10631275" y="14465960"/>
            <a:ext cx="2861481" cy="43088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2800" dirty="0">
                <a:solidFill>
                  <a:schemeClr val="bg1"/>
                </a:solidFill>
                <a:latin typeface="Maven Pro" pitchFamily="2" charset="0"/>
              </a:rPr>
              <a:t>Sim</a:t>
            </a:r>
          </a:p>
        </p:txBody>
      </p:sp>
      <p:cxnSp>
        <p:nvCxnSpPr>
          <p:cNvPr id="155" name="Conector reto 154">
            <a:extLst>
              <a:ext uri="{FF2B5EF4-FFF2-40B4-BE49-F238E27FC236}">
                <a16:creationId xmlns:a16="http://schemas.microsoft.com/office/drawing/2014/main" id="{0934BEFD-F95E-5DF4-C875-1083F242609D}"/>
              </a:ext>
            </a:extLst>
          </p:cNvPr>
          <p:cNvCxnSpPr>
            <a:cxnSpLocks/>
          </p:cNvCxnSpPr>
          <p:nvPr/>
        </p:nvCxnSpPr>
        <p:spPr>
          <a:xfrm flipH="1">
            <a:off x="5804053" y="8668558"/>
            <a:ext cx="11761643" cy="0"/>
          </a:xfrm>
          <a:prstGeom prst="line">
            <a:avLst/>
          </a:prstGeom>
          <a:ln>
            <a:solidFill>
              <a:srgbClr val="1D36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ector reto 155">
            <a:extLst>
              <a:ext uri="{FF2B5EF4-FFF2-40B4-BE49-F238E27FC236}">
                <a16:creationId xmlns:a16="http://schemas.microsoft.com/office/drawing/2014/main" id="{20F1183F-0B42-F955-5141-23D8770A03A4}"/>
              </a:ext>
            </a:extLst>
          </p:cNvPr>
          <p:cNvCxnSpPr>
            <a:cxnSpLocks/>
          </p:cNvCxnSpPr>
          <p:nvPr/>
        </p:nvCxnSpPr>
        <p:spPr>
          <a:xfrm>
            <a:off x="17540520" y="7109513"/>
            <a:ext cx="25176" cy="1559045"/>
          </a:xfrm>
          <a:prstGeom prst="line">
            <a:avLst/>
          </a:prstGeom>
          <a:ln>
            <a:solidFill>
              <a:srgbClr val="1D36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reto 159">
            <a:extLst>
              <a:ext uri="{FF2B5EF4-FFF2-40B4-BE49-F238E27FC236}">
                <a16:creationId xmlns:a16="http://schemas.microsoft.com/office/drawing/2014/main" id="{15B7C139-BB98-0B9E-4857-4E0A73029FAF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5804053" y="8668558"/>
            <a:ext cx="1" cy="514235"/>
          </a:xfrm>
          <a:prstGeom prst="line">
            <a:avLst/>
          </a:prstGeom>
          <a:ln>
            <a:solidFill>
              <a:srgbClr val="1D36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1" name="Imagem 170">
            <a:extLst>
              <a:ext uri="{FF2B5EF4-FFF2-40B4-BE49-F238E27FC236}">
                <a16:creationId xmlns:a16="http://schemas.microsoft.com/office/drawing/2014/main" id="{8432D11F-6924-BDCF-B42F-3334FCBF28A7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tretch>
            <a:fillRect/>
          </a:stretch>
        </p:blipFill>
        <p:spPr>
          <a:xfrm>
            <a:off x="4760296" y="5049201"/>
            <a:ext cx="724251" cy="724251"/>
          </a:xfrm>
          <a:prstGeom prst="rect">
            <a:avLst/>
          </a:prstGeom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E5833E68-4A9F-D896-91D6-CD305D75EAA5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tretch>
            <a:fillRect/>
          </a:stretch>
        </p:blipFill>
        <p:spPr>
          <a:xfrm>
            <a:off x="8978527" y="5124235"/>
            <a:ext cx="609600" cy="609600"/>
          </a:xfrm>
          <a:prstGeom prst="rect">
            <a:avLst/>
          </a:prstGeom>
        </p:spPr>
      </p:pic>
      <p:pic>
        <p:nvPicPr>
          <p:cNvPr id="178" name="Gráfico 177">
            <a:extLst>
              <a:ext uri="{FF2B5EF4-FFF2-40B4-BE49-F238E27FC236}">
                <a16:creationId xmlns:a16="http://schemas.microsoft.com/office/drawing/2014/main" id="{D819E4E8-A10A-F51D-F28F-E072EF1A77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059890" y="5068023"/>
            <a:ext cx="750788" cy="750788"/>
          </a:xfrm>
          <a:prstGeom prst="rect">
            <a:avLst/>
          </a:prstGeom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3778220-0DD2-C999-6461-5847A9DD11C9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tretch>
            <a:fillRect/>
          </a:stretch>
        </p:blipFill>
        <p:spPr>
          <a:xfrm>
            <a:off x="11380537" y="10287477"/>
            <a:ext cx="686850" cy="686850"/>
          </a:xfrm>
          <a:prstGeom prst="rect">
            <a:avLst/>
          </a:prstGeom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F36654AA-15B9-F309-5E33-1B06ADF8AE9F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tretch>
            <a:fillRect/>
          </a:stretch>
        </p:blipFill>
        <p:spPr>
          <a:xfrm>
            <a:off x="18499006" y="10256753"/>
            <a:ext cx="707886" cy="707886"/>
          </a:xfrm>
          <a:prstGeom prst="rect">
            <a:avLst/>
          </a:prstGeom>
        </p:spPr>
      </p:pic>
      <p:pic>
        <p:nvPicPr>
          <p:cNvPr id="189" name="Gráfico 188">
            <a:extLst>
              <a:ext uri="{FF2B5EF4-FFF2-40B4-BE49-F238E27FC236}">
                <a16:creationId xmlns:a16="http://schemas.microsoft.com/office/drawing/2014/main" id="{15F697A6-C602-45B5-7F5A-18A1FE0129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395591" y="14174413"/>
            <a:ext cx="725006" cy="725006"/>
          </a:xfrm>
          <a:prstGeom prst="rect">
            <a:avLst/>
          </a:prstGeom>
        </p:spPr>
      </p:pic>
      <p:cxnSp>
        <p:nvCxnSpPr>
          <p:cNvPr id="190" name="Conector de Seta Reta 189">
            <a:extLst>
              <a:ext uri="{FF2B5EF4-FFF2-40B4-BE49-F238E27FC236}">
                <a16:creationId xmlns:a16="http://schemas.microsoft.com/office/drawing/2014/main" id="{8B0BBA17-9FA2-7194-E5DB-2ED0DB986BCC}"/>
              </a:ext>
            </a:extLst>
          </p:cNvPr>
          <p:cNvCxnSpPr>
            <a:cxnSpLocks/>
          </p:cNvCxnSpPr>
          <p:nvPr/>
        </p:nvCxnSpPr>
        <p:spPr>
          <a:xfrm>
            <a:off x="9147912" y="10715129"/>
            <a:ext cx="365760" cy="0"/>
          </a:xfrm>
          <a:prstGeom prst="straightConnector1">
            <a:avLst/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ector de Seta Reta 190">
            <a:extLst>
              <a:ext uri="{FF2B5EF4-FFF2-40B4-BE49-F238E27FC236}">
                <a16:creationId xmlns:a16="http://schemas.microsoft.com/office/drawing/2014/main" id="{4EB055E2-15B4-D2DC-6488-22CB5C8FB00B}"/>
              </a:ext>
            </a:extLst>
          </p:cNvPr>
          <p:cNvCxnSpPr>
            <a:cxnSpLocks/>
          </p:cNvCxnSpPr>
          <p:nvPr/>
        </p:nvCxnSpPr>
        <p:spPr>
          <a:xfrm>
            <a:off x="11793383" y="12546044"/>
            <a:ext cx="14334" cy="1398153"/>
          </a:xfrm>
          <a:prstGeom prst="straightConnector1">
            <a:avLst/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ector de Seta Reta 193">
            <a:extLst>
              <a:ext uri="{FF2B5EF4-FFF2-40B4-BE49-F238E27FC236}">
                <a16:creationId xmlns:a16="http://schemas.microsoft.com/office/drawing/2014/main" id="{64B01314-4DDD-BEAB-E695-47525992EA64}"/>
              </a:ext>
            </a:extLst>
          </p:cNvPr>
          <p:cNvCxnSpPr>
            <a:cxnSpLocks/>
          </p:cNvCxnSpPr>
          <p:nvPr/>
        </p:nvCxnSpPr>
        <p:spPr>
          <a:xfrm>
            <a:off x="13271315" y="14563477"/>
            <a:ext cx="365760" cy="0"/>
          </a:xfrm>
          <a:prstGeom prst="straightConnector1">
            <a:avLst/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ector: Angulado 194">
            <a:extLst>
              <a:ext uri="{FF2B5EF4-FFF2-40B4-BE49-F238E27FC236}">
                <a16:creationId xmlns:a16="http://schemas.microsoft.com/office/drawing/2014/main" id="{FECDCB19-591D-FB12-1727-A357FE00626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7491875" y="13057871"/>
            <a:ext cx="2123304" cy="1484268"/>
          </a:xfrm>
          <a:prstGeom prst="bentConnector3">
            <a:avLst>
              <a:gd name="adj1" fmla="val -11"/>
            </a:avLst>
          </a:prstGeom>
          <a:ln w="57150">
            <a:solidFill>
              <a:srgbClr val="C6A8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3370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D7CF16B6-4A3C-9725-00B9-494AFCCC7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Vista aérea de cidade com prédios e água ao fundo&#10;&#10;Descrição gerada automaticamente">
            <a:extLst>
              <a:ext uri="{FF2B5EF4-FFF2-40B4-BE49-F238E27FC236}">
                <a16:creationId xmlns:a16="http://schemas.microsoft.com/office/drawing/2014/main" id="{3DF501C9-3649-8612-4AAD-0B668EA1FB2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664" b="-4709"/>
          <a:stretch/>
        </p:blipFill>
        <p:spPr>
          <a:xfrm>
            <a:off x="2388" y="-49830"/>
            <a:ext cx="36571224" cy="21688420"/>
          </a:xfrm>
          <a:prstGeom prst="rect">
            <a:avLst/>
          </a:prstGeom>
        </p:spPr>
      </p:pic>
      <p:sp>
        <p:nvSpPr>
          <p:cNvPr id="5" name="Freeform 3">
            <a:extLst>
              <a:ext uri="{FF2B5EF4-FFF2-40B4-BE49-F238E27FC236}">
                <a16:creationId xmlns:a16="http://schemas.microsoft.com/office/drawing/2014/main" id="{424573FF-1C7D-0387-E9EB-D4CB00126E2A}"/>
              </a:ext>
            </a:extLst>
          </p:cNvPr>
          <p:cNvSpPr/>
          <p:nvPr/>
        </p:nvSpPr>
        <p:spPr>
          <a:xfrm>
            <a:off x="-10088054" y="1662232"/>
            <a:ext cx="25148222" cy="1653090"/>
          </a:xfrm>
          <a:prstGeom prst="roundRect">
            <a:avLst/>
          </a:prstGeom>
          <a:solidFill>
            <a:srgbClr val="07103B"/>
          </a:solidFill>
        </p:spPr>
        <p:txBody>
          <a:bodyPr/>
          <a:lstStyle/>
          <a:p>
            <a:endParaRPr lang="pt-BR"/>
          </a:p>
        </p:txBody>
      </p:sp>
      <p:sp>
        <p:nvSpPr>
          <p:cNvPr id="29" name="TextBox 4">
            <a:extLst>
              <a:ext uri="{FF2B5EF4-FFF2-40B4-BE49-F238E27FC236}">
                <a16:creationId xmlns:a16="http://schemas.microsoft.com/office/drawing/2014/main" id="{C20B3450-E85F-9579-7CFC-987F79BCD761}"/>
              </a:ext>
            </a:extLst>
          </p:cNvPr>
          <p:cNvSpPr txBox="1"/>
          <p:nvPr/>
        </p:nvSpPr>
        <p:spPr>
          <a:xfrm>
            <a:off x="2486057" y="2089597"/>
            <a:ext cx="14324103" cy="812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856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FFFFFF"/>
                </a:solidFill>
                <a:latin typeface="Maven Pro Bold"/>
                <a:ea typeface="Maven Pro"/>
                <a:cs typeface="Maven Pro Bold"/>
                <a:sym typeface="Maven Pro Bold"/>
              </a:rPr>
              <a:t>Temas </a:t>
            </a:r>
            <a:r>
              <a:rPr lang="en-US" sz="5400" b="1" dirty="0" err="1">
                <a:solidFill>
                  <a:srgbClr val="FFFFFF"/>
                </a:solidFill>
                <a:latin typeface="Maven Pro Bold"/>
                <a:ea typeface="Maven Pro"/>
                <a:cs typeface="Maven Pro Bold"/>
                <a:sym typeface="Maven Pro Bold"/>
              </a:rPr>
              <a:t>atualmente</a:t>
            </a:r>
            <a:r>
              <a:rPr lang="en-US" sz="5400" b="1" dirty="0">
                <a:solidFill>
                  <a:srgbClr val="FFFFFF"/>
                </a:solidFill>
                <a:latin typeface="Maven Pro Bold"/>
                <a:ea typeface="Maven Pro"/>
                <a:cs typeface="Maven Pro Bold"/>
                <a:sym typeface="Maven Pro Bold"/>
              </a:rPr>
              <a:t> </a:t>
            </a:r>
            <a:r>
              <a:rPr lang="en-US" sz="5400" b="1" dirty="0" err="1">
                <a:solidFill>
                  <a:srgbClr val="FFFFFF"/>
                </a:solidFill>
                <a:latin typeface="Maven Pro Bold"/>
                <a:ea typeface="Maven Pro"/>
                <a:cs typeface="Maven Pro Bold"/>
                <a:sym typeface="Maven Pro Bold"/>
              </a:rPr>
              <a:t>fiscalizados</a:t>
            </a:r>
            <a:endParaRPr lang="en-US" sz="5400" b="1" dirty="0">
              <a:solidFill>
                <a:srgbClr val="FFFFFF"/>
              </a:solidFill>
              <a:latin typeface="Maven Pro Bold"/>
              <a:ea typeface="Maven Pro"/>
              <a:cs typeface="Maven Pro Bold"/>
              <a:sym typeface="Maven Pro Bold"/>
            </a:endParaRPr>
          </a:p>
        </p:txBody>
      </p:sp>
      <p:sp>
        <p:nvSpPr>
          <p:cNvPr id="46" name="Rounded Rectangle 4">
            <a:extLst>
              <a:ext uri="{FF2B5EF4-FFF2-40B4-BE49-F238E27FC236}">
                <a16:creationId xmlns:a16="http://schemas.microsoft.com/office/drawing/2014/main" id="{444C582A-4121-9513-E12A-92DCD1BA9098}"/>
              </a:ext>
            </a:extLst>
          </p:cNvPr>
          <p:cNvSpPr/>
          <p:nvPr/>
        </p:nvSpPr>
        <p:spPr>
          <a:xfrm>
            <a:off x="14676120" y="4848294"/>
            <a:ext cx="7214616" cy="1653090"/>
          </a:xfrm>
          <a:prstGeom prst="roundRect">
            <a:avLst/>
          </a:prstGeom>
          <a:solidFill>
            <a:srgbClr val="001642"/>
          </a:solidFill>
          <a:ln>
            <a:solidFill>
              <a:srgbClr val="10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 dirty="0">
                <a:solidFill>
                  <a:srgbClr val="FFFFFF"/>
                </a:solidFill>
                <a:latin typeface="Maven Pro Bold"/>
              </a:rPr>
              <a:t>FOCO DA FISCALIZAÇÃO</a:t>
            </a:r>
          </a:p>
          <a:p>
            <a:pPr algn="ctr"/>
            <a:r>
              <a:rPr sz="3471" spc="111" dirty="0">
                <a:solidFill>
                  <a:schemeClr val="bg1"/>
                </a:solidFill>
                <a:latin typeface="Maven Pro" panose="020B0604020202020204" charset="0"/>
              </a:rPr>
              <a:t>Operações de </a:t>
            </a:r>
            <a:r>
              <a:rPr sz="3471" spc="111" dirty="0" err="1">
                <a:solidFill>
                  <a:schemeClr val="bg1"/>
                </a:solidFill>
                <a:latin typeface="Maven Pro" panose="020B0604020202020204" charset="0"/>
              </a:rPr>
              <a:t>exportação</a:t>
            </a:r>
            <a:endParaRPr sz="3471" spc="111" dirty="0">
              <a:solidFill>
                <a:schemeClr val="bg1"/>
              </a:solidFill>
              <a:latin typeface="Maven Pro" panose="020B0604020202020204" charset="0"/>
            </a:endParaRPr>
          </a:p>
        </p:txBody>
      </p:sp>
      <p:cxnSp>
        <p:nvCxnSpPr>
          <p:cNvPr id="47" name="Connector 5">
            <a:extLst>
              <a:ext uri="{FF2B5EF4-FFF2-40B4-BE49-F238E27FC236}">
                <a16:creationId xmlns:a16="http://schemas.microsoft.com/office/drawing/2014/main" id="{44397FA9-14AA-987B-4BB3-89B4FFDB1FA1}"/>
              </a:ext>
            </a:extLst>
          </p:cNvPr>
          <p:cNvCxnSpPr/>
          <p:nvPr/>
        </p:nvCxnSpPr>
        <p:spPr>
          <a:xfrm flipH="1">
            <a:off x="6446520" y="6501384"/>
            <a:ext cx="11836908" cy="960120"/>
          </a:xfrm>
          <a:prstGeom prst="line">
            <a:avLst/>
          </a:prstGeom>
          <a:ln w="25400">
            <a:solidFill>
              <a:srgbClr val="37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">
            <a:extLst>
              <a:ext uri="{FF2B5EF4-FFF2-40B4-BE49-F238E27FC236}">
                <a16:creationId xmlns:a16="http://schemas.microsoft.com/office/drawing/2014/main" id="{A00BA308-BCFC-B7A4-43D8-5344F9E0417B}"/>
              </a:ext>
            </a:extLst>
          </p:cNvPr>
          <p:cNvCxnSpPr/>
          <p:nvPr/>
        </p:nvCxnSpPr>
        <p:spPr>
          <a:xfrm flipH="1">
            <a:off x="18269712" y="6501384"/>
            <a:ext cx="13716" cy="960120"/>
          </a:xfrm>
          <a:prstGeom prst="line">
            <a:avLst/>
          </a:prstGeom>
          <a:ln w="25400">
            <a:solidFill>
              <a:srgbClr val="37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7">
            <a:extLst>
              <a:ext uri="{FF2B5EF4-FFF2-40B4-BE49-F238E27FC236}">
                <a16:creationId xmlns:a16="http://schemas.microsoft.com/office/drawing/2014/main" id="{34595CF8-27C4-5F60-BE2F-951CE76572D1}"/>
              </a:ext>
            </a:extLst>
          </p:cNvPr>
          <p:cNvCxnSpPr/>
          <p:nvPr/>
        </p:nvCxnSpPr>
        <p:spPr>
          <a:xfrm>
            <a:off x="18283428" y="6501384"/>
            <a:ext cx="11809476" cy="960120"/>
          </a:xfrm>
          <a:prstGeom prst="line">
            <a:avLst/>
          </a:prstGeom>
          <a:ln w="25400">
            <a:solidFill>
              <a:srgbClr val="37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8">
            <a:extLst>
              <a:ext uri="{FF2B5EF4-FFF2-40B4-BE49-F238E27FC236}">
                <a16:creationId xmlns:a16="http://schemas.microsoft.com/office/drawing/2014/main" id="{08E35291-445B-898E-7531-11CA02E10237}"/>
              </a:ext>
            </a:extLst>
          </p:cNvPr>
          <p:cNvSpPr/>
          <p:nvPr/>
        </p:nvSpPr>
        <p:spPr>
          <a:xfrm>
            <a:off x="1508760" y="7461504"/>
            <a:ext cx="10479024" cy="10369296"/>
          </a:xfrm>
          <a:prstGeom prst="round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64" name="Rectangle 9">
            <a:extLst>
              <a:ext uri="{FF2B5EF4-FFF2-40B4-BE49-F238E27FC236}">
                <a16:creationId xmlns:a16="http://schemas.microsoft.com/office/drawing/2014/main" id="{CD2F3A8B-9F7A-D572-D118-82F36F01195F}"/>
              </a:ext>
            </a:extLst>
          </p:cNvPr>
          <p:cNvSpPr/>
          <p:nvPr/>
        </p:nvSpPr>
        <p:spPr>
          <a:xfrm>
            <a:off x="1508760" y="7461504"/>
            <a:ext cx="246888" cy="10369296"/>
          </a:xfrm>
          <a:prstGeom prst="rect">
            <a:avLst/>
          </a:prstGeom>
          <a:solidFill>
            <a:srgbClr val="001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65" name="Oval 10">
            <a:extLst>
              <a:ext uri="{FF2B5EF4-FFF2-40B4-BE49-F238E27FC236}">
                <a16:creationId xmlns:a16="http://schemas.microsoft.com/office/drawing/2014/main" id="{BA9FB129-7E1D-BE6A-C260-FA0154B7C0CD}"/>
              </a:ext>
            </a:extLst>
          </p:cNvPr>
          <p:cNvSpPr/>
          <p:nvPr/>
        </p:nvSpPr>
        <p:spPr>
          <a:xfrm>
            <a:off x="2194560" y="8174736"/>
            <a:ext cx="1316736" cy="1316736"/>
          </a:xfrm>
          <a:prstGeom prst="ellipse">
            <a:avLst/>
          </a:prstGeom>
          <a:solidFill>
            <a:srgbClr val="001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6" name="TextBox 11">
            <a:extLst>
              <a:ext uri="{FF2B5EF4-FFF2-40B4-BE49-F238E27FC236}">
                <a16:creationId xmlns:a16="http://schemas.microsoft.com/office/drawing/2014/main" id="{E8D480D2-60CC-D073-C6E7-D665EDF00A0B}"/>
              </a:ext>
            </a:extLst>
          </p:cNvPr>
          <p:cNvSpPr txBox="1"/>
          <p:nvPr/>
        </p:nvSpPr>
        <p:spPr>
          <a:xfrm>
            <a:off x="3742730" y="8331936"/>
            <a:ext cx="740779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2D52"/>
                </a:solidFill>
                <a:latin typeface="Aptos Display"/>
              </a:defRPr>
            </a:pPr>
            <a:r>
              <a:rPr sz="4000" dirty="0" err="1">
                <a:latin typeface="Maven Pro Bold" panose="020B0604020202020204" charset="0"/>
              </a:rPr>
              <a:t>Armazenagem</a:t>
            </a:r>
            <a:r>
              <a:rPr sz="4000" dirty="0">
                <a:latin typeface="Maven Pro Bold" panose="020B0604020202020204" charset="0"/>
              </a:rPr>
              <a:t> do </a:t>
            </a:r>
            <a:r>
              <a:rPr sz="4000" dirty="0" err="1">
                <a:latin typeface="Maven Pro Bold" panose="020B0604020202020204" charset="0"/>
              </a:rPr>
              <a:t>Exportador</a:t>
            </a:r>
            <a:endParaRPr sz="4000" dirty="0">
              <a:latin typeface="Maven Pro Bold" panose="020B0604020202020204" charset="0"/>
            </a:endParaRPr>
          </a:p>
        </p:txBody>
      </p:sp>
      <p:sp>
        <p:nvSpPr>
          <p:cNvPr id="67" name="TextBox 12">
            <a:extLst>
              <a:ext uri="{FF2B5EF4-FFF2-40B4-BE49-F238E27FC236}">
                <a16:creationId xmlns:a16="http://schemas.microsoft.com/office/drawing/2014/main" id="{EBCC3AF0-EBB7-ADCB-AEFD-CC79AE99DC6B}"/>
              </a:ext>
            </a:extLst>
          </p:cNvPr>
          <p:cNvSpPr txBox="1"/>
          <p:nvPr/>
        </p:nvSpPr>
        <p:spPr>
          <a:xfrm>
            <a:off x="2386584" y="9738360"/>
            <a:ext cx="872337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0"/>
              </a:spcAft>
              <a:defRPr sz="1050">
                <a:solidFill>
                  <a:srgbClr val="52606C"/>
                </a:solidFill>
                <a:latin typeface="Aptos"/>
              </a:defRPr>
            </a:pPr>
            <a:r>
              <a:rPr sz="3150" b="1" dirty="0">
                <a:solidFill>
                  <a:srgbClr val="C6A878"/>
                </a:solidFill>
                <a:latin typeface="Maven Pro" panose="020B0604020202020204" charset="0"/>
              </a:rPr>
              <a:t>ETB </a:t>
            </a:r>
            <a:r>
              <a:rPr sz="3150" b="1" dirty="0" err="1">
                <a:solidFill>
                  <a:srgbClr val="C6A878"/>
                </a:solidFill>
                <a:latin typeface="Maven Pro" panose="020B0604020202020204" charset="0"/>
              </a:rPr>
              <a:t>vigente</a:t>
            </a:r>
            <a:r>
              <a:rPr sz="3150" b="1" dirty="0">
                <a:solidFill>
                  <a:srgbClr val="C6A878"/>
                </a:solidFill>
                <a:latin typeface="Maven Pro" panose="020B0604020202020204" charset="0"/>
              </a:rPr>
              <a:t> ≠ </a:t>
            </a:r>
            <a:r>
              <a:rPr sz="3150" b="1" dirty="0" err="1">
                <a:solidFill>
                  <a:srgbClr val="C6A878"/>
                </a:solidFill>
                <a:latin typeface="Maven Pro" panose="020B0604020202020204" charset="0"/>
              </a:rPr>
              <a:t>responsabilidade</a:t>
            </a:r>
            <a:r>
              <a:rPr sz="3150" b="1" dirty="0">
                <a:solidFill>
                  <a:srgbClr val="C6A878"/>
                </a:solidFill>
                <a:latin typeface="Maven Pro" panose="020B0604020202020204" charset="0"/>
              </a:rPr>
              <a:t> </a:t>
            </a:r>
            <a:r>
              <a:rPr sz="3150" b="1" dirty="0" err="1">
                <a:solidFill>
                  <a:srgbClr val="C6A878"/>
                </a:solidFill>
                <a:latin typeface="Maven Pro" panose="020B0604020202020204" charset="0"/>
              </a:rPr>
              <a:t>automática</a:t>
            </a:r>
            <a:r>
              <a:rPr sz="3150" b="1" dirty="0">
                <a:solidFill>
                  <a:srgbClr val="C6A878"/>
                </a:solidFill>
                <a:latin typeface="Maven Pro" panose="020B0604020202020204" charset="0"/>
              </a:rPr>
              <a:t>. 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É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preciso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comprovar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qual ETB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foi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informado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no Gate In.</a:t>
            </a:r>
          </a:p>
          <a:p>
            <a:pPr>
              <a:spcAft>
                <a:spcPts val="2700"/>
              </a:spcAft>
              <a:defRPr sz="1050">
                <a:solidFill>
                  <a:srgbClr val="52606C"/>
                </a:solidFill>
                <a:latin typeface="Aptos"/>
              </a:defRPr>
            </a:pPr>
            <a:r>
              <a:rPr sz="3150" b="1" dirty="0" err="1">
                <a:solidFill>
                  <a:srgbClr val="C6A878"/>
                </a:solidFill>
                <a:latin typeface="Maven Pro" panose="020B0604020202020204" charset="0"/>
              </a:rPr>
              <a:t>Alterações</a:t>
            </a:r>
            <a:r>
              <a:rPr sz="3150" b="1" dirty="0">
                <a:solidFill>
                  <a:srgbClr val="C6A878"/>
                </a:solidFill>
                <a:latin typeface="Maven Pro" panose="020B0604020202020204" charset="0"/>
              </a:rPr>
              <a:t> posteriores. 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O terminal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deve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demonstrar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como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e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quando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foram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comunicadas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.</a:t>
            </a:r>
          </a:p>
          <a:p>
            <a:pPr>
              <a:spcAft>
                <a:spcPts val="2700"/>
              </a:spcAft>
              <a:defRPr sz="1050">
                <a:solidFill>
                  <a:srgbClr val="52606C"/>
                </a:solidFill>
                <a:latin typeface="Aptos"/>
              </a:defRPr>
            </a:pPr>
            <a:r>
              <a:rPr sz="3150" b="1" dirty="0">
                <a:solidFill>
                  <a:srgbClr val="C6A878"/>
                </a:solidFill>
                <a:latin typeface="Maven Pro" panose="020B0604020202020204" charset="0"/>
              </a:rPr>
              <a:t>Risco </a:t>
            </a:r>
            <a:r>
              <a:rPr sz="3150" b="1" dirty="0" err="1">
                <a:solidFill>
                  <a:srgbClr val="C6A878"/>
                </a:solidFill>
                <a:latin typeface="Maven Pro" panose="020B0604020202020204" charset="0"/>
              </a:rPr>
              <a:t>regulatório</a:t>
            </a:r>
            <a:r>
              <a:rPr sz="3150" b="1" dirty="0">
                <a:solidFill>
                  <a:srgbClr val="C6A878"/>
                </a:solidFill>
                <a:latin typeface="Maven Pro" panose="020B0604020202020204" charset="0"/>
              </a:rPr>
              <a:t>. 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Sem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comprovação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, a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cobrança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pode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ser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considerada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irregular e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gerar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auto de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infração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.</a:t>
            </a:r>
          </a:p>
        </p:txBody>
      </p:sp>
      <p:sp>
        <p:nvSpPr>
          <p:cNvPr id="68" name="Rounded Rectangle 13">
            <a:extLst>
              <a:ext uri="{FF2B5EF4-FFF2-40B4-BE49-F238E27FC236}">
                <a16:creationId xmlns:a16="http://schemas.microsoft.com/office/drawing/2014/main" id="{9F62B6D6-9D37-66F3-604E-58D6DDF30326}"/>
              </a:ext>
            </a:extLst>
          </p:cNvPr>
          <p:cNvSpPr/>
          <p:nvPr/>
        </p:nvSpPr>
        <p:spPr>
          <a:xfrm>
            <a:off x="13057632" y="7461504"/>
            <a:ext cx="10479024" cy="10369296"/>
          </a:xfrm>
          <a:prstGeom prst="round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69" name="Rectangle 14">
            <a:extLst>
              <a:ext uri="{FF2B5EF4-FFF2-40B4-BE49-F238E27FC236}">
                <a16:creationId xmlns:a16="http://schemas.microsoft.com/office/drawing/2014/main" id="{E9013DF1-F8EF-E3DA-FEFD-DCCCB802A9E4}"/>
              </a:ext>
            </a:extLst>
          </p:cNvPr>
          <p:cNvSpPr/>
          <p:nvPr/>
        </p:nvSpPr>
        <p:spPr>
          <a:xfrm>
            <a:off x="13057632" y="7461504"/>
            <a:ext cx="246888" cy="1036929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70" name="Oval 15">
            <a:extLst>
              <a:ext uri="{FF2B5EF4-FFF2-40B4-BE49-F238E27FC236}">
                <a16:creationId xmlns:a16="http://schemas.microsoft.com/office/drawing/2014/main" id="{41980856-B838-8D2E-AA28-F8E9440C511E}"/>
              </a:ext>
            </a:extLst>
          </p:cNvPr>
          <p:cNvSpPr/>
          <p:nvPr/>
        </p:nvSpPr>
        <p:spPr>
          <a:xfrm>
            <a:off x="13743432" y="8174736"/>
            <a:ext cx="1316736" cy="1316736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1" name="TextBox 16">
            <a:extLst>
              <a:ext uri="{FF2B5EF4-FFF2-40B4-BE49-F238E27FC236}">
                <a16:creationId xmlns:a16="http://schemas.microsoft.com/office/drawing/2014/main" id="{159985DD-84CA-8EF8-A060-E373C5EC81DC}"/>
              </a:ext>
            </a:extLst>
          </p:cNvPr>
          <p:cNvSpPr txBox="1"/>
          <p:nvPr/>
        </p:nvSpPr>
        <p:spPr>
          <a:xfrm>
            <a:off x="15424101" y="8357028"/>
            <a:ext cx="487505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2D52"/>
                </a:solidFill>
                <a:latin typeface="Aptos Display"/>
              </a:defRPr>
            </a:pPr>
            <a:r>
              <a:rPr sz="4000" b="1" dirty="0">
                <a:solidFill>
                  <a:srgbClr val="082D52"/>
                </a:solidFill>
                <a:latin typeface="Maven Pro Bold" panose="020B0604020202020204" charset="0"/>
              </a:rPr>
              <a:t>Custos de </a:t>
            </a:r>
            <a:r>
              <a:rPr sz="4000" b="1" dirty="0" err="1">
                <a:solidFill>
                  <a:srgbClr val="082D52"/>
                </a:solidFill>
                <a:latin typeface="Maven Pro Bold" panose="020B0604020202020204" charset="0"/>
              </a:rPr>
              <a:t>Rolagem</a:t>
            </a:r>
            <a:endParaRPr sz="4000" b="1" dirty="0">
              <a:solidFill>
                <a:srgbClr val="082D52"/>
              </a:solidFill>
              <a:latin typeface="Maven Pro Bold" panose="020B0604020202020204" charset="0"/>
            </a:endParaRPr>
          </a:p>
        </p:txBody>
      </p:sp>
      <p:sp>
        <p:nvSpPr>
          <p:cNvPr id="72" name="TextBox 17">
            <a:extLst>
              <a:ext uri="{FF2B5EF4-FFF2-40B4-BE49-F238E27FC236}">
                <a16:creationId xmlns:a16="http://schemas.microsoft.com/office/drawing/2014/main" id="{7F80197B-274E-6D91-0275-11FE5471C598}"/>
              </a:ext>
            </a:extLst>
          </p:cNvPr>
          <p:cNvSpPr txBox="1"/>
          <p:nvPr/>
        </p:nvSpPr>
        <p:spPr>
          <a:xfrm>
            <a:off x="13935456" y="9738360"/>
            <a:ext cx="8723376" cy="472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0"/>
              </a:spcAft>
              <a:defRPr sz="1050">
                <a:solidFill>
                  <a:srgbClr val="52606C"/>
                </a:solidFill>
                <a:latin typeface="Aptos"/>
              </a:defRPr>
            </a:pPr>
            <a:r>
              <a:rPr sz="3150" b="1" dirty="0" err="1">
                <a:solidFill>
                  <a:srgbClr val="C6A878"/>
                </a:solidFill>
                <a:latin typeface="Maven Pro" panose="020B0604020202020204" charset="0"/>
              </a:rPr>
              <a:t>Decisão</a:t>
            </a:r>
            <a:r>
              <a:rPr sz="3150" b="1" dirty="0">
                <a:solidFill>
                  <a:srgbClr val="C6A878"/>
                </a:solidFill>
                <a:latin typeface="Maven Pro" panose="020B0604020202020204" charset="0"/>
              </a:rPr>
              <a:t> </a:t>
            </a:r>
            <a:r>
              <a:rPr sz="3150" b="1" dirty="0" err="1">
                <a:solidFill>
                  <a:srgbClr val="C6A878"/>
                </a:solidFill>
                <a:latin typeface="Maven Pro" panose="020B0604020202020204" charset="0"/>
              </a:rPr>
              <a:t>favorável</a:t>
            </a:r>
            <a:r>
              <a:rPr sz="3150" b="1" dirty="0">
                <a:solidFill>
                  <a:srgbClr val="C6A878"/>
                </a:solidFill>
                <a:latin typeface="Maven Pro" panose="020B0604020202020204" charset="0"/>
              </a:rPr>
              <a:t> à TCP.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Há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decisão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favorável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no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único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caso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já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julgado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sobre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o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tema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.</a:t>
            </a:r>
          </a:p>
          <a:p>
            <a:pPr>
              <a:spcAft>
                <a:spcPts val="2700"/>
              </a:spcAft>
              <a:defRPr sz="1050">
                <a:solidFill>
                  <a:srgbClr val="52606C"/>
                </a:solidFill>
                <a:latin typeface="Aptos"/>
              </a:defRPr>
            </a:pPr>
            <a:r>
              <a:rPr sz="3150" b="1" dirty="0">
                <a:solidFill>
                  <a:srgbClr val="C6A878"/>
                </a:solidFill>
                <a:latin typeface="Maven Pro" panose="020B0604020202020204" charset="0"/>
              </a:rPr>
              <a:t>Ponto </a:t>
            </a:r>
            <a:r>
              <a:rPr sz="3150" b="1" dirty="0" err="1">
                <a:solidFill>
                  <a:srgbClr val="C6A878"/>
                </a:solidFill>
                <a:latin typeface="Maven Pro" panose="020B0604020202020204" charset="0"/>
              </a:rPr>
              <a:t>crítico</a:t>
            </a:r>
            <a:r>
              <a:rPr sz="3150" b="1" dirty="0">
                <a:solidFill>
                  <a:srgbClr val="C6A878"/>
                </a:solidFill>
                <a:latin typeface="Maven Pro" panose="020B0604020202020204" charset="0"/>
              </a:rPr>
              <a:t>.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Dificuldade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de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validar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, de forma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independente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, a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justificativa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do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armador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.</a:t>
            </a:r>
            <a:r>
              <a:rPr lang="pt-BR" sz="3200" dirty="0">
                <a:solidFill>
                  <a:srgbClr val="002060"/>
                </a:solidFill>
                <a:latin typeface="Maven Pro" panose="020B0604020202020204" charset="0"/>
              </a:rPr>
              <a:t> (Terminal não possui Poder de Polícia)</a:t>
            </a:r>
            <a:endParaRPr sz="3200" dirty="0">
              <a:solidFill>
                <a:srgbClr val="002060"/>
              </a:solidFill>
              <a:latin typeface="Maven Pro" panose="020B0604020202020204" charset="0"/>
            </a:endParaRPr>
          </a:p>
          <a:p>
            <a:pPr>
              <a:spcAft>
                <a:spcPts val="2700"/>
              </a:spcAft>
              <a:defRPr sz="1050">
                <a:solidFill>
                  <a:srgbClr val="52606C"/>
                </a:solidFill>
                <a:latin typeface="Aptos"/>
              </a:defRPr>
            </a:pPr>
            <a:r>
              <a:rPr sz="3150" b="1" dirty="0" err="1">
                <a:solidFill>
                  <a:srgbClr val="C6A878"/>
                </a:solidFill>
                <a:latin typeface="Maven Pro" panose="020B0604020202020204" charset="0"/>
              </a:rPr>
              <a:t>Questão</a:t>
            </a:r>
            <a:r>
              <a:rPr sz="3150" b="1" dirty="0">
                <a:solidFill>
                  <a:srgbClr val="C6A878"/>
                </a:solidFill>
                <a:latin typeface="Maven Pro" panose="020B0604020202020204" charset="0"/>
              </a:rPr>
              <a:t> </a:t>
            </a:r>
            <a:r>
              <a:rPr sz="3150" b="1" dirty="0" err="1">
                <a:solidFill>
                  <a:srgbClr val="C6A878"/>
                </a:solidFill>
                <a:latin typeface="Maven Pro" panose="020B0604020202020204" charset="0"/>
              </a:rPr>
              <a:t>em</a:t>
            </a:r>
            <a:r>
              <a:rPr sz="3150" b="1" dirty="0">
                <a:solidFill>
                  <a:srgbClr val="C6A878"/>
                </a:solidFill>
                <a:latin typeface="Maven Pro" panose="020B0604020202020204" charset="0"/>
              </a:rPr>
              <a:t> </a:t>
            </a:r>
            <a:r>
              <a:rPr sz="3150" b="1" dirty="0" err="1">
                <a:solidFill>
                  <a:srgbClr val="C6A878"/>
                </a:solidFill>
                <a:latin typeface="Maven Pro" panose="020B0604020202020204" charset="0"/>
              </a:rPr>
              <a:t>aberto</a:t>
            </a:r>
            <a:r>
              <a:rPr sz="3150" b="1" dirty="0">
                <a:solidFill>
                  <a:srgbClr val="C6A878"/>
                </a:solidFill>
                <a:latin typeface="Maven Pro" panose="020B0604020202020204" charset="0"/>
              </a:rPr>
              <a:t>.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Não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está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claro se a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declaração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formal do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armador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afasta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eventual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responsabilidade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da TCP.</a:t>
            </a:r>
          </a:p>
        </p:txBody>
      </p:sp>
      <p:sp>
        <p:nvSpPr>
          <p:cNvPr id="73" name="Rounded Rectangle 18">
            <a:extLst>
              <a:ext uri="{FF2B5EF4-FFF2-40B4-BE49-F238E27FC236}">
                <a16:creationId xmlns:a16="http://schemas.microsoft.com/office/drawing/2014/main" id="{A76CA003-979D-E520-5F33-9D139EC7EBE5}"/>
              </a:ext>
            </a:extLst>
          </p:cNvPr>
          <p:cNvSpPr/>
          <p:nvPr/>
        </p:nvSpPr>
        <p:spPr>
          <a:xfrm>
            <a:off x="24606504" y="7461504"/>
            <a:ext cx="10479024" cy="10369296"/>
          </a:xfrm>
          <a:prstGeom prst="round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74" name="Rectangle 19">
            <a:extLst>
              <a:ext uri="{FF2B5EF4-FFF2-40B4-BE49-F238E27FC236}">
                <a16:creationId xmlns:a16="http://schemas.microsoft.com/office/drawing/2014/main" id="{A893814A-EA29-F75B-FC3E-0AB1FF658358}"/>
              </a:ext>
            </a:extLst>
          </p:cNvPr>
          <p:cNvSpPr/>
          <p:nvPr/>
        </p:nvSpPr>
        <p:spPr>
          <a:xfrm>
            <a:off x="24606504" y="7461504"/>
            <a:ext cx="246888" cy="10369296"/>
          </a:xfrm>
          <a:prstGeom prst="rect">
            <a:avLst/>
          </a:prstGeom>
          <a:solidFill>
            <a:srgbClr val="37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75" name="Oval 20">
            <a:extLst>
              <a:ext uri="{FF2B5EF4-FFF2-40B4-BE49-F238E27FC236}">
                <a16:creationId xmlns:a16="http://schemas.microsoft.com/office/drawing/2014/main" id="{561564D6-6CA5-4BBD-8CAD-7EAD415BDD12}"/>
              </a:ext>
            </a:extLst>
          </p:cNvPr>
          <p:cNvSpPr/>
          <p:nvPr/>
        </p:nvSpPr>
        <p:spPr>
          <a:xfrm>
            <a:off x="25292304" y="8174736"/>
            <a:ext cx="1316736" cy="1316736"/>
          </a:xfrm>
          <a:prstGeom prst="ellipse">
            <a:avLst/>
          </a:prstGeom>
          <a:solidFill>
            <a:srgbClr val="37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76" name="TextBox 21">
            <a:extLst>
              <a:ext uri="{FF2B5EF4-FFF2-40B4-BE49-F238E27FC236}">
                <a16:creationId xmlns:a16="http://schemas.microsoft.com/office/drawing/2014/main" id="{B2B1108F-0C96-61D9-CDB0-67D69CB3FF46}"/>
              </a:ext>
            </a:extLst>
          </p:cNvPr>
          <p:cNvSpPr txBox="1"/>
          <p:nvPr/>
        </p:nvSpPr>
        <p:spPr>
          <a:xfrm>
            <a:off x="26918109" y="8396865"/>
            <a:ext cx="501451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2D52"/>
                </a:solidFill>
                <a:latin typeface="Aptos Display"/>
              </a:defRPr>
            </a:pPr>
            <a:r>
              <a:rPr sz="4000" b="1" dirty="0">
                <a:solidFill>
                  <a:srgbClr val="082D52"/>
                </a:solidFill>
                <a:latin typeface="Maven Pro Bold" panose="020B0604020202020204" charset="0"/>
              </a:rPr>
              <a:t>Detention + </a:t>
            </a:r>
            <a:r>
              <a:rPr sz="4000" b="1" dirty="0" err="1">
                <a:solidFill>
                  <a:srgbClr val="082D52"/>
                </a:solidFill>
                <a:latin typeface="Maven Pro Bold" panose="020B0604020202020204" charset="0"/>
              </a:rPr>
              <a:t>Janelas</a:t>
            </a:r>
            <a:endParaRPr sz="4000" b="1" dirty="0">
              <a:solidFill>
                <a:srgbClr val="082D52"/>
              </a:solidFill>
              <a:latin typeface="Maven Pro Bold" panose="020B0604020202020204" charset="0"/>
            </a:endParaRPr>
          </a:p>
        </p:txBody>
      </p:sp>
      <p:sp>
        <p:nvSpPr>
          <p:cNvPr id="77" name="TextBox 22">
            <a:extLst>
              <a:ext uri="{FF2B5EF4-FFF2-40B4-BE49-F238E27FC236}">
                <a16:creationId xmlns:a16="http://schemas.microsoft.com/office/drawing/2014/main" id="{1C48A211-CD17-90C0-9029-8D843B93F13B}"/>
              </a:ext>
            </a:extLst>
          </p:cNvPr>
          <p:cNvSpPr txBox="1"/>
          <p:nvPr/>
        </p:nvSpPr>
        <p:spPr>
          <a:xfrm>
            <a:off x="25484328" y="9738362"/>
            <a:ext cx="8723376" cy="521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0"/>
              </a:spcAft>
              <a:defRPr sz="1050">
                <a:solidFill>
                  <a:srgbClr val="52606C"/>
                </a:solidFill>
                <a:latin typeface="Aptos"/>
              </a:defRPr>
            </a:pPr>
            <a:r>
              <a:rPr sz="3150" b="1" dirty="0">
                <a:solidFill>
                  <a:srgbClr val="C6A878"/>
                </a:solidFill>
                <a:latin typeface="Maven Pro" panose="020B0604020202020204" charset="0"/>
              </a:rPr>
              <a:t>Foco das </a:t>
            </a:r>
            <a:r>
              <a:rPr sz="3150" b="1" dirty="0" err="1">
                <a:solidFill>
                  <a:srgbClr val="C6A878"/>
                </a:solidFill>
                <a:latin typeface="Maven Pro" panose="020B0604020202020204" charset="0"/>
              </a:rPr>
              <a:t>investigações</a:t>
            </a:r>
            <a:r>
              <a:rPr sz="3150" b="1" dirty="0">
                <a:solidFill>
                  <a:srgbClr val="C6A878"/>
                </a:solidFill>
                <a:latin typeface="Maven Pro" panose="020B0604020202020204" charset="0"/>
              </a:rPr>
              <a:t>.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Falhas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operacionais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ou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indisponibilidade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de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janelas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podem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impactar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lang="pt-BR" sz="3200" dirty="0">
                <a:solidFill>
                  <a:srgbClr val="002060"/>
                </a:solidFill>
                <a:latin typeface="Maven Pro" panose="020B0604020202020204" charset="0"/>
              </a:rPr>
              <a:t>a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detention.</a:t>
            </a:r>
          </a:p>
          <a:p>
            <a:pPr>
              <a:spcAft>
                <a:spcPts val="2700"/>
              </a:spcAft>
              <a:defRPr sz="1050">
                <a:solidFill>
                  <a:srgbClr val="52606C"/>
                </a:solidFill>
                <a:latin typeface="Aptos"/>
              </a:defRPr>
            </a:pPr>
            <a:r>
              <a:rPr sz="3150" b="1" dirty="0">
                <a:solidFill>
                  <a:srgbClr val="C6A878"/>
                </a:solidFill>
                <a:latin typeface="Maven Pro" panose="020B0604020202020204" charset="0"/>
              </a:rPr>
              <a:t>Free time.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Indícios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apontam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para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suspensão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diante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de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tentativa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frustrada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de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entrega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e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retomada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após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nova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oportunidade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de Gate In.</a:t>
            </a:r>
          </a:p>
          <a:p>
            <a:pPr>
              <a:spcAft>
                <a:spcPts val="2700"/>
              </a:spcAft>
              <a:defRPr sz="1050">
                <a:solidFill>
                  <a:srgbClr val="52606C"/>
                </a:solidFill>
                <a:latin typeface="Aptos"/>
              </a:defRPr>
            </a:pPr>
            <a:r>
              <a:rPr sz="3150" b="1" dirty="0">
                <a:solidFill>
                  <a:srgbClr val="C6A878"/>
                </a:solidFill>
                <a:latin typeface="Maven Pro" panose="020B0604020202020204" charset="0"/>
              </a:rPr>
              <a:t>TCP.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Até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o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momento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,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não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há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orientação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específica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exigindo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alteração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do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modelo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 de </a:t>
            </a:r>
            <a:r>
              <a:rPr sz="3200" dirty="0" err="1">
                <a:solidFill>
                  <a:srgbClr val="002060"/>
                </a:solidFill>
                <a:latin typeface="Maven Pro" panose="020B0604020202020204" charset="0"/>
              </a:rPr>
              <a:t>agendamento</a:t>
            </a:r>
            <a:r>
              <a:rPr lang="pt-BR" sz="3200" dirty="0">
                <a:solidFill>
                  <a:srgbClr val="002060"/>
                </a:solidFill>
                <a:latin typeface="Maven Pro" panose="020B0604020202020204" charset="0"/>
              </a:rPr>
              <a:t>, que mostra-se eficiente</a:t>
            </a:r>
            <a:r>
              <a:rPr sz="3200" dirty="0">
                <a:solidFill>
                  <a:srgbClr val="002060"/>
                </a:solidFill>
                <a:latin typeface="Maven Pro" panose="020B0604020202020204" charset="0"/>
              </a:rPr>
              <a:t>.</a:t>
            </a:r>
          </a:p>
        </p:txBody>
      </p:sp>
      <p:sp>
        <p:nvSpPr>
          <p:cNvPr id="81" name="Freeform 52">
            <a:extLst>
              <a:ext uri="{FF2B5EF4-FFF2-40B4-BE49-F238E27FC236}">
                <a16:creationId xmlns:a16="http://schemas.microsoft.com/office/drawing/2014/main" id="{E28DFD34-BE39-0AB1-113B-DA2C72E18E25}"/>
              </a:ext>
            </a:extLst>
          </p:cNvPr>
          <p:cNvSpPr/>
          <p:nvPr/>
        </p:nvSpPr>
        <p:spPr>
          <a:xfrm>
            <a:off x="32092506" y="313841"/>
            <a:ext cx="3941518" cy="1853888"/>
          </a:xfrm>
          <a:custGeom>
            <a:avLst/>
            <a:gdLst/>
            <a:ahLst/>
            <a:cxnLst/>
            <a:rect l="l" t="t" r="r" b="b"/>
            <a:pathLst>
              <a:path w="3941518" h="1853888">
                <a:moveTo>
                  <a:pt x="0" y="0"/>
                </a:moveTo>
                <a:lnTo>
                  <a:pt x="3941518" y="0"/>
                </a:lnTo>
                <a:lnTo>
                  <a:pt x="3941518" y="1853888"/>
                </a:lnTo>
                <a:lnTo>
                  <a:pt x="0" y="1853888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80150" b="-43157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3" name="Rounded Rectangle 23">
            <a:extLst>
              <a:ext uri="{FF2B5EF4-FFF2-40B4-BE49-F238E27FC236}">
                <a16:creationId xmlns:a16="http://schemas.microsoft.com/office/drawing/2014/main" id="{9BCAD1AD-3245-78DE-7550-1206AF495DBC}"/>
              </a:ext>
            </a:extLst>
          </p:cNvPr>
          <p:cNvSpPr/>
          <p:nvPr/>
        </p:nvSpPr>
        <p:spPr>
          <a:xfrm>
            <a:off x="1783080" y="18516600"/>
            <a:ext cx="33000696" cy="1316736"/>
          </a:xfrm>
          <a:prstGeom prst="round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150" b="1" dirty="0">
                <a:solidFill>
                  <a:srgbClr val="082D52"/>
                </a:solidFill>
              </a:rPr>
              <a:t>O cenário é positivo para a TCP, </a:t>
            </a:r>
            <a:r>
              <a:rPr lang="pt-BR" sz="3150" dirty="0">
                <a:solidFill>
                  <a:srgbClr val="082D52"/>
                </a:solidFill>
              </a:rPr>
              <a:t>que apresenta baixo volume de denúncias diretas, vem evoluindo continuamente na adequação de suas cobranças às diretrizes da ANTAQ e mantém uma postura colaborativa junto a fiscalização.</a:t>
            </a:r>
            <a:endParaRPr sz="3150" dirty="0">
              <a:solidFill>
                <a:srgbClr val="5260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9742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31F57-EEC0-722C-852A-1095B234B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: Single Corner Rounded 80">
            <a:extLst>
              <a:ext uri="{FF2B5EF4-FFF2-40B4-BE49-F238E27FC236}">
                <a16:creationId xmlns:a16="http://schemas.microsoft.com/office/drawing/2014/main" id="{DFCA5531-FF8F-B952-96B1-671ED3700305}"/>
              </a:ext>
            </a:extLst>
          </p:cNvPr>
          <p:cNvSpPr/>
          <p:nvPr/>
        </p:nvSpPr>
        <p:spPr>
          <a:xfrm flipV="1">
            <a:off x="2" y="-6"/>
            <a:ext cx="38551102" cy="15398502"/>
          </a:xfrm>
          <a:prstGeom prst="round1Rect">
            <a:avLst>
              <a:gd name="adj" fmla="val 50000"/>
            </a:avLst>
          </a:prstGeom>
          <a:solidFill>
            <a:srgbClr val="0710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3E924F7-5730-328F-4B61-525992B705BA}"/>
              </a:ext>
            </a:extLst>
          </p:cNvPr>
          <p:cNvSpPr txBox="1"/>
          <p:nvPr/>
        </p:nvSpPr>
        <p:spPr>
          <a:xfrm>
            <a:off x="1897071" y="1624556"/>
            <a:ext cx="134671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solidFill>
                  <a:srgbClr val="FFFFFF"/>
                </a:solidFill>
                <a:latin typeface="Maven Pro Bold"/>
              </a:rPr>
              <a:t>TCP</a:t>
            </a:r>
            <a:endParaRPr lang="pt-BR" sz="8800" b="1" dirty="0">
              <a:solidFill>
                <a:srgbClr val="FFFFFF"/>
              </a:solidFill>
              <a:latin typeface="Maven Pro Bold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0D93491-25C0-597A-556A-E6426D053BFE}"/>
              </a:ext>
            </a:extLst>
          </p:cNvPr>
          <p:cNvSpPr txBox="1"/>
          <p:nvPr/>
        </p:nvSpPr>
        <p:spPr>
          <a:xfrm>
            <a:off x="1897070" y="2856594"/>
            <a:ext cx="260284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rgbClr val="E8C58C"/>
                </a:solidFill>
                <a:latin typeface="Maven Pro" pitchFamily="2" charset="0"/>
              </a:rPr>
              <a:t>Fiscalização ANTAQ · Oferta de janelas em terminais de contêineres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5CB37CC4-83D9-2B4F-713D-F27B18B8594D}"/>
              </a:ext>
            </a:extLst>
          </p:cNvPr>
          <p:cNvSpPr txBox="1"/>
          <p:nvPr/>
        </p:nvSpPr>
        <p:spPr>
          <a:xfrm>
            <a:off x="1897073" y="4557279"/>
            <a:ext cx="260561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</a:t>
            </a: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terminal e </a:t>
            </a:r>
            <a:r>
              <a:rPr lang="en-US" sz="4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causas</a:t>
            </a: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dos </a:t>
            </a:r>
            <a:r>
              <a:rPr lang="en-US" sz="4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atrasos</a:t>
            </a: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</a:t>
            </a: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2023–2025</a:t>
            </a:r>
            <a:endParaRPr lang="en-US" sz="4400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0AEA302F-55AD-C98F-5522-24931929C9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0231" y="494703"/>
            <a:ext cx="34964913" cy="19491468"/>
          </a:xfrm>
          <a:prstGeom prst="rect">
            <a:avLst/>
          </a:prstGeom>
        </p:spPr>
      </p:pic>
      <p:sp>
        <p:nvSpPr>
          <p:cNvPr id="8" name="Rectangle: Rounded Corners 5">
            <a:extLst>
              <a:ext uri="{FF2B5EF4-FFF2-40B4-BE49-F238E27FC236}">
                <a16:creationId xmlns:a16="http://schemas.microsoft.com/office/drawing/2014/main" id="{55B3887A-7B04-94AC-AD43-83131D45B5B9}"/>
              </a:ext>
            </a:extLst>
          </p:cNvPr>
          <p:cNvSpPr/>
          <p:nvPr/>
        </p:nvSpPr>
        <p:spPr>
          <a:xfrm>
            <a:off x="1318254" y="11948601"/>
            <a:ext cx="8566108" cy="4687048"/>
          </a:xfrm>
          <a:prstGeom prst="roundRect">
            <a:avLst>
              <a:gd name="adj" fmla="val 5633"/>
            </a:avLst>
          </a:prstGeom>
          <a:solidFill>
            <a:srgbClr val="1D36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22" name="Rectangle: Rounded Corners 5">
            <a:extLst>
              <a:ext uri="{FF2B5EF4-FFF2-40B4-BE49-F238E27FC236}">
                <a16:creationId xmlns:a16="http://schemas.microsoft.com/office/drawing/2014/main" id="{B9AB04D3-3701-9570-A821-103904D1A0F5}"/>
              </a:ext>
            </a:extLst>
          </p:cNvPr>
          <p:cNvSpPr/>
          <p:nvPr/>
        </p:nvSpPr>
        <p:spPr>
          <a:xfrm>
            <a:off x="9968723" y="11948601"/>
            <a:ext cx="8566108" cy="4687048"/>
          </a:xfrm>
          <a:prstGeom prst="roundRect">
            <a:avLst>
              <a:gd name="adj" fmla="val 7974"/>
            </a:avLst>
          </a:prstGeom>
          <a:solidFill>
            <a:srgbClr val="1D36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24" name="Rectangle: Rounded Corners 5">
            <a:extLst>
              <a:ext uri="{FF2B5EF4-FFF2-40B4-BE49-F238E27FC236}">
                <a16:creationId xmlns:a16="http://schemas.microsoft.com/office/drawing/2014/main" id="{036EA5CF-BAFF-6656-E674-E2F721CACB40}"/>
              </a:ext>
            </a:extLst>
          </p:cNvPr>
          <p:cNvSpPr/>
          <p:nvPr/>
        </p:nvSpPr>
        <p:spPr>
          <a:xfrm>
            <a:off x="18619192" y="11973215"/>
            <a:ext cx="8566108" cy="4687048"/>
          </a:xfrm>
          <a:prstGeom prst="roundRect">
            <a:avLst>
              <a:gd name="adj" fmla="val 6413"/>
            </a:avLst>
          </a:prstGeom>
          <a:solidFill>
            <a:srgbClr val="1D36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26" name="Rectangle: Rounded Corners 5">
            <a:extLst>
              <a:ext uri="{FF2B5EF4-FFF2-40B4-BE49-F238E27FC236}">
                <a16:creationId xmlns:a16="http://schemas.microsoft.com/office/drawing/2014/main" id="{29C2810C-55E1-0C7B-F354-85A086659CAD}"/>
              </a:ext>
            </a:extLst>
          </p:cNvPr>
          <p:cNvSpPr/>
          <p:nvPr/>
        </p:nvSpPr>
        <p:spPr>
          <a:xfrm>
            <a:off x="27269661" y="11973215"/>
            <a:ext cx="8566108" cy="4687048"/>
          </a:xfrm>
          <a:prstGeom prst="roundRect">
            <a:avLst>
              <a:gd name="adj" fmla="val 5633"/>
            </a:avLst>
          </a:prstGeom>
          <a:solidFill>
            <a:srgbClr val="1D36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sp>
        <p:nvSpPr>
          <p:cNvPr id="28" name="TextBox 122">
            <a:extLst>
              <a:ext uri="{FF2B5EF4-FFF2-40B4-BE49-F238E27FC236}">
                <a16:creationId xmlns:a16="http://schemas.microsoft.com/office/drawing/2014/main" id="{BA4F4B55-BDFB-707A-CEFF-033C4B995921}"/>
              </a:ext>
            </a:extLst>
          </p:cNvPr>
          <p:cNvSpPr txBox="1"/>
          <p:nvPr/>
        </p:nvSpPr>
        <p:spPr>
          <a:xfrm>
            <a:off x="1869336" y="10202366"/>
            <a:ext cx="188049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E8C58C"/>
                </a:solidFill>
                <a:latin typeface="Maven Pro" pitchFamily="2" charset="0"/>
              </a:rPr>
              <a:t>Causa Raiz apontada pela TCP:</a:t>
            </a:r>
          </a:p>
        </p:txBody>
      </p:sp>
      <p:sp>
        <p:nvSpPr>
          <p:cNvPr id="30" name="TextBox 100">
            <a:extLst>
              <a:ext uri="{FF2B5EF4-FFF2-40B4-BE49-F238E27FC236}">
                <a16:creationId xmlns:a16="http://schemas.microsoft.com/office/drawing/2014/main" id="{9DFFC049-5527-C001-FD9F-143EE4B8E9B6}"/>
              </a:ext>
            </a:extLst>
          </p:cNvPr>
          <p:cNvSpPr txBox="1"/>
          <p:nvPr/>
        </p:nvSpPr>
        <p:spPr>
          <a:xfrm>
            <a:off x="1824842" y="13737177"/>
            <a:ext cx="7179942" cy="184665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4000" dirty="0">
                <a:solidFill>
                  <a:schemeClr val="bg1"/>
                </a:solidFill>
                <a:latin typeface="Maven Pro" pitchFamily="2" charset="0"/>
              </a:rPr>
              <a:t>Navios que deixaram de escalar Paranaguá, com aumento de backlog.</a:t>
            </a:r>
          </a:p>
        </p:txBody>
      </p:sp>
      <p:sp>
        <p:nvSpPr>
          <p:cNvPr id="32" name="TextBox 100">
            <a:extLst>
              <a:ext uri="{FF2B5EF4-FFF2-40B4-BE49-F238E27FC236}">
                <a16:creationId xmlns:a16="http://schemas.microsoft.com/office/drawing/2014/main" id="{9B1C6717-6B79-2719-1230-D734CB235889}"/>
              </a:ext>
            </a:extLst>
          </p:cNvPr>
          <p:cNvSpPr txBox="1"/>
          <p:nvPr/>
        </p:nvSpPr>
        <p:spPr>
          <a:xfrm>
            <a:off x="10925228" y="13737177"/>
            <a:ext cx="7179942" cy="123110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4000" dirty="0">
                <a:solidFill>
                  <a:schemeClr val="bg1"/>
                </a:solidFill>
                <a:latin typeface="Maven Pro" pitchFamily="2" charset="0"/>
              </a:rPr>
              <a:t>Cargas transferidas para navios futuros.</a:t>
            </a:r>
          </a:p>
        </p:txBody>
      </p:sp>
      <p:sp>
        <p:nvSpPr>
          <p:cNvPr id="34" name="TextBox 100">
            <a:extLst>
              <a:ext uri="{FF2B5EF4-FFF2-40B4-BE49-F238E27FC236}">
                <a16:creationId xmlns:a16="http://schemas.microsoft.com/office/drawing/2014/main" id="{DAB52696-2F7E-798D-20AD-6D8C4C856219}"/>
              </a:ext>
            </a:extLst>
          </p:cNvPr>
          <p:cNvSpPr txBox="1"/>
          <p:nvPr/>
        </p:nvSpPr>
        <p:spPr>
          <a:xfrm>
            <a:off x="19929465" y="13771446"/>
            <a:ext cx="7179942" cy="123110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defTabSz="2743200" hangingPunct="0"/>
            <a:r>
              <a:rPr lang="pt-BR" altLang="zh-CN" sz="4000" dirty="0">
                <a:solidFill>
                  <a:schemeClr val="bg1"/>
                </a:solidFill>
                <a:latin typeface="Maven Pro" pitchFamily="2" charset="0"/>
              </a:rPr>
              <a:t>Mudanças frequentes de informação pelos armadores.</a:t>
            </a:r>
          </a:p>
        </p:txBody>
      </p:sp>
      <p:sp>
        <p:nvSpPr>
          <p:cNvPr id="36" name="TextBox 100">
            <a:extLst>
              <a:ext uri="{FF2B5EF4-FFF2-40B4-BE49-F238E27FC236}">
                <a16:creationId xmlns:a16="http://schemas.microsoft.com/office/drawing/2014/main" id="{2584A976-E7CF-7F82-C1E1-6DC81D743F0C}"/>
              </a:ext>
            </a:extLst>
          </p:cNvPr>
          <p:cNvSpPr txBox="1"/>
          <p:nvPr/>
        </p:nvSpPr>
        <p:spPr>
          <a:xfrm>
            <a:off x="28133974" y="13470326"/>
            <a:ext cx="7179942" cy="123110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defTabSz="2743200" hangingPunct="0"/>
            <a:r>
              <a:rPr lang="pt-BR" altLang="zh-CN" sz="4000" dirty="0">
                <a:solidFill>
                  <a:schemeClr val="bg1"/>
                </a:solidFill>
                <a:latin typeface="Maven Pro" pitchFamily="2" charset="0"/>
              </a:rPr>
              <a:t>Reprogramações constantes do planejamento.</a:t>
            </a:r>
          </a:p>
        </p:txBody>
      </p:sp>
      <p:sp>
        <p:nvSpPr>
          <p:cNvPr id="38" name="TextBox 100">
            <a:extLst>
              <a:ext uri="{FF2B5EF4-FFF2-40B4-BE49-F238E27FC236}">
                <a16:creationId xmlns:a16="http://schemas.microsoft.com/office/drawing/2014/main" id="{8B672729-25AA-DAC3-21FE-ED174B327282}"/>
              </a:ext>
            </a:extLst>
          </p:cNvPr>
          <p:cNvSpPr txBox="1"/>
          <p:nvPr/>
        </p:nvSpPr>
        <p:spPr>
          <a:xfrm>
            <a:off x="1869336" y="8644395"/>
            <a:ext cx="32781860" cy="55399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3600" i="1" dirty="0" err="1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</a:t>
            </a:r>
            <a:r>
              <a:rPr lang="en-US" sz="360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600" i="1" dirty="0" err="1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contínua</a:t>
            </a:r>
            <a:r>
              <a:rPr lang="en-US" sz="360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3600" i="1" dirty="0" err="1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</a:t>
            </a:r>
            <a:r>
              <a:rPr lang="en-US" sz="360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600" i="1" dirty="0" err="1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r>
              <a:rPr lang="en-US" sz="360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terminal </a:t>
            </a:r>
            <a:r>
              <a:rPr lang="en-US" sz="3600" i="1" dirty="0" err="1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</a:t>
            </a:r>
            <a:r>
              <a:rPr lang="en-US" sz="360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600" i="1" dirty="0" err="1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períodos</a:t>
            </a:r>
            <a:r>
              <a:rPr lang="en-US" sz="360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600" i="1" dirty="0" err="1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críticos</a:t>
            </a:r>
            <a:r>
              <a:rPr lang="en-US" sz="360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600" i="1" dirty="0" err="1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analisados</a:t>
            </a:r>
            <a:r>
              <a:rPr lang="en-US" sz="360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O </a:t>
            </a:r>
            <a:r>
              <a:rPr lang="en-US" sz="3600" i="1" dirty="0" err="1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limitador</a:t>
            </a:r>
            <a:r>
              <a:rPr lang="en-US" sz="360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principal era a </a:t>
            </a:r>
            <a:r>
              <a:rPr lang="en-US" sz="3600" i="1" dirty="0" err="1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ocupação</a:t>
            </a:r>
            <a:r>
              <a:rPr lang="en-US" sz="360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</a:t>
            </a:r>
            <a:r>
              <a:rPr lang="en-US" sz="3600" i="1" dirty="0" err="1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pátio</a:t>
            </a:r>
            <a:r>
              <a:rPr lang="en-US" sz="360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en-US" sz="3600" i="1" dirty="0" err="1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r>
              <a:rPr lang="en-US" sz="360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3600" i="1" dirty="0" err="1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</a:t>
            </a:r>
            <a:r>
              <a:rPr lang="en-US" sz="360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dos gates.</a:t>
            </a:r>
            <a:endParaRPr lang="en-US" sz="3600" dirty="0"/>
          </a:p>
        </p:txBody>
      </p:sp>
      <p:sp>
        <p:nvSpPr>
          <p:cNvPr id="40" name="TextBox 122">
            <a:extLst>
              <a:ext uri="{FF2B5EF4-FFF2-40B4-BE49-F238E27FC236}">
                <a16:creationId xmlns:a16="http://schemas.microsoft.com/office/drawing/2014/main" id="{9DA688D9-041D-F946-3BCB-45FCBFB70254}"/>
              </a:ext>
            </a:extLst>
          </p:cNvPr>
          <p:cNvSpPr txBox="1"/>
          <p:nvPr/>
        </p:nvSpPr>
        <p:spPr>
          <a:xfrm>
            <a:off x="3364116" y="6171611"/>
            <a:ext cx="41013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C58C"/>
                </a:solidFill>
                <a:latin typeface="Maven Pro" pitchFamily="2" charset="0"/>
              </a:rPr>
              <a:t>477 mil m²</a:t>
            </a:r>
          </a:p>
        </p:txBody>
      </p:sp>
      <p:sp>
        <p:nvSpPr>
          <p:cNvPr id="42" name="TextBox 122">
            <a:extLst>
              <a:ext uri="{FF2B5EF4-FFF2-40B4-BE49-F238E27FC236}">
                <a16:creationId xmlns:a16="http://schemas.microsoft.com/office/drawing/2014/main" id="{6E84ECC4-5590-84F4-BC13-DC9D4A6D03EC}"/>
              </a:ext>
            </a:extLst>
          </p:cNvPr>
          <p:cNvSpPr txBox="1"/>
          <p:nvPr/>
        </p:nvSpPr>
        <p:spPr>
          <a:xfrm>
            <a:off x="9499487" y="6171611"/>
            <a:ext cx="41013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C58C"/>
                </a:solidFill>
                <a:latin typeface="Maven Pro" pitchFamily="2" charset="0"/>
              </a:rPr>
              <a:t>1.099 m</a:t>
            </a:r>
          </a:p>
        </p:txBody>
      </p:sp>
      <p:sp>
        <p:nvSpPr>
          <p:cNvPr id="44" name="TextBox 122">
            <a:extLst>
              <a:ext uri="{FF2B5EF4-FFF2-40B4-BE49-F238E27FC236}">
                <a16:creationId xmlns:a16="http://schemas.microsoft.com/office/drawing/2014/main" id="{D30F6A91-41C7-D5BF-172B-0B58BE5EF712}"/>
              </a:ext>
            </a:extLst>
          </p:cNvPr>
          <p:cNvSpPr txBox="1"/>
          <p:nvPr/>
        </p:nvSpPr>
        <p:spPr>
          <a:xfrm>
            <a:off x="15396705" y="6171611"/>
            <a:ext cx="41013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C58C"/>
                </a:solidFill>
                <a:latin typeface="Maven Pro" pitchFamily="2" charset="0"/>
              </a:rPr>
              <a:t>8 </a:t>
            </a:r>
            <a:r>
              <a:rPr lang="pt-BR" sz="4400" dirty="0" err="1">
                <a:solidFill>
                  <a:srgbClr val="E8C58C"/>
                </a:solidFill>
                <a:latin typeface="Maven Pro" pitchFamily="2" charset="0"/>
              </a:rPr>
              <a:t>gates</a:t>
            </a:r>
            <a:endParaRPr lang="pt-BR" sz="4400" dirty="0">
              <a:solidFill>
                <a:srgbClr val="E8C58C"/>
              </a:solidFill>
              <a:latin typeface="Maven Pro" pitchFamily="2" charset="0"/>
            </a:endParaRPr>
          </a:p>
        </p:txBody>
      </p:sp>
      <p:sp>
        <p:nvSpPr>
          <p:cNvPr id="46" name="TextBox 122">
            <a:extLst>
              <a:ext uri="{FF2B5EF4-FFF2-40B4-BE49-F238E27FC236}">
                <a16:creationId xmlns:a16="http://schemas.microsoft.com/office/drawing/2014/main" id="{C46DB3F8-75AE-E8C8-6253-2B0770BFC315}"/>
              </a:ext>
            </a:extLst>
          </p:cNvPr>
          <p:cNvSpPr txBox="1"/>
          <p:nvPr/>
        </p:nvSpPr>
        <p:spPr>
          <a:xfrm>
            <a:off x="21743632" y="6171611"/>
            <a:ext cx="41013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C58C"/>
                </a:solidFill>
                <a:latin typeface="Maven Pro" pitchFamily="2" charset="0"/>
              </a:rPr>
              <a:t>~15.59%</a:t>
            </a:r>
          </a:p>
        </p:txBody>
      </p:sp>
      <p:sp>
        <p:nvSpPr>
          <p:cNvPr id="48" name="TextBox 122">
            <a:extLst>
              <a:ext uri="{FF2B5EF4-FFF2-40B4-BE49-F238E27FC236}">
                <a16:creationId xmlns:a16="http://schemas.microsoft.com/office/drawing/2014/main" id="{498CEC33-6559-A5E2-6F83-4C866D496B76}"/>
              </a:ext>
            </a:extLst>
          </p:cNvPr>
          <p:cNvSpPr txBox="1"/>
          <p:nvPr/>
        </p:nvSpPr>
        <p:spPr>
          <a:xfrm>
            <a:off x="28004418" y="6162725"/>
            <a:ext cx="41013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C58C"/>
                </a:solidFill>
                <a:latin typeface="Maven Pro" pitchFamily="2" charset="0"/>
              </a:rPr>
              <a:t>~3.000/dia</a:t>
            </a:r>
          </a:p>
        </p:txBody>
      </p:sp>
      <p:sp>
        <p:nvSpPr>
          <p:cNvPr id="52" name="TextBox 123">
            <a:extLst>
              <a:ext uri="{FF2B5EF4-FFF2-40B4-BE49-F238E27FC236}">
                <a16:creationId xmlns:a16="http://schemas.microsoft.com/office/drawing/2014/main" id="{63A9C6D5-BDFD-10C8-5F8D-AC9F6A651E5F}"/>
              </a:ext>
            </a:extLst>
          </p:cNvPr>
          <p:cNvSpPr txBox="1"/>
          <p:nvPr/>
        </p:nvSpPr>
        <p:spPr>
          <a:xfrm>
            <a:off x="2138793" y="12226863"/>
            <a:ext cx="75019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Omissões</a:t>
            </a: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4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escalas</a:t>
            </a:r>
            <a:endParaRPr lang="en-US" sz="4800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4" name="TextBox 123">
            <a:extLst>
              <a:ext uri="{FF2B5EF4-FFF2-40B4-BE49-F238E27FC236}">
                <a16:creationId xmlns:a16="http://schemas.microsoft.com/office/drawing/2014/main" id="{51D554B1-2ED1-5437-F4C2-CAF775AC6210}"/>
              </a:ext>
            </a:extLst>
          </p:cNvPr>
          <p:cNvSpPr txBox="1"/>
          <p:nvPr/>
        </p:nvSpPr>
        <p:spPr>
          <a:xfrm>
            <a:off x="11321613" y="12192676"/>
            <a:ext cx="75019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Rolagens</a:t>
            </a: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carga</a:t>
            </a:r>
          </a:p>
        </p:txBody>
      </p:sp>
      <p:sp>
        <p:nvSpPr>
          <p:cNvPr id="56" name="TextBox 123">
            <a:extLst>
              <a:ext uri="{FF2B5EF4-FFF2-40B4-BE49-F238E27FC236}">
                <a16:creationId xmlns:a16="http://schemas.microsoft.com/office/drawing/2014/main" id="{056AAB57-8361-6C22-4597-9B5E2C6B0A7D}"/>
              </a:ext>
            </a:extLst>
          </p:cNvPr>
          <p:cNvSpPr txBox="1"/>
          <p:nvPr/>
        </p:nvSpPr>
        <p:spPr>
          <a:xfrm>
            <a:off x="18335315" y="12015402"/>
            <a:ext cx="94972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Alterações</a:t>
            </a: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ETA/ETC/deadline</a:t>
            </a:r>
          </a:p>
        </p:txBody>
      </p:sp>
      <p:sp>
        <p:nvSpPr>
          <p:cNvPr id="58" name="TextBox 123">
            <a:extLst>
              <a:ext uri="{FF2B5EF4-FFF2-40B4-BE49-F238E27FC236}">
                <a16:creationId xmlns:a16="http://schemas.microsoft.com/office/drawing/2014/main" id="{99EFFC34-3742-F41A-A1B8-CC080675994D}"/>
              </a:ext>
            </a:extLst>
          </p:cNvPr>
          <p:cNvSpPr txBox="1"/>
          <p:nvPr/>
        </p:nvSpPr>
        <p:spPr>
          <a:xfrm>
            <a:off x="29457754" y="12277169"/>
            <a:ext cx="75019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Overbooking</a:t>
            </a:r>
          </a:p>
        </p:txBody>
      </p:sp>
      <p:sp>
        <p:nvSpPr>
          <p:cNvPr id="60" name="TextBox 100">
            <a:extLst>
              <a:ext uri="{FF2B5EF4-FFF2-40B4-BE49-F238E27FC236}">
                <a16:creationId xmlns:a16="http://schemas.microsoft.com/office/drawing/2014/main" id="{5A3E1797-520D-91B6-34D7-07B2FA7B71C4}"/>
              </a:ext>
            </a:extLst>
          </p:cNvPr>
          <p:cNvSpPr txBox="1"/>
          <p:nvPr/>
        </p:nvSpPr>
        <p:spPr>
          <a:xfrm>
            <a:off x="1831757" y="17302682"/>
            <a:ext cx="32781860" cy="123110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just"/>
            <a:r>
              <a:rPr lang="pt-BR" sz="4000" b="1" i="1" dirty="0">
                <a:solidFill>
                  <a:srgbClr val="9AA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contêineres permaneceram mais tempo no pátio, ocupando espaço destinado a novas cargas — agravado por fatores externos (conflitos geopolíticos, fechamento de portos em SC, obras portuárias, nevoeiro na barra de Paranaguá, seca na Amazônia).</a:t>
            </a:r>
          </a:p>
        </p:txBody>
      </p:sp>
      <p:sp>
        <p:nvSpPr>
          <p:cNvPr id="62" name="TextBox 100">
            <a:extLst>
              <a:ext uri="{FF2B5EF4-FFF2-40B4-BE49-F238E27FC236}">
                <a16:creationId xmlns:a16="http://schemas.microsoft.com/office/drawing/2014/main" id="{17F33B05-DFF6-91A5-1925-9673A53778A3}"/>
              </a:ext>
            </a:extLst>
          </p:cNvPr>
          <p:cNvSpPr txBox="1"/>
          <p:nvPr/>
        </p:nvSpPr>
        <p:spPr>
          <a:xfrm>
            <a:off x="3305060" y="6962326"/>
            <a:ext cx="3625761" cy="492443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defTabSz="2743200" hangingPunct="0"/>
            <a:r>
              <a:rPr lang="pt-BR" altLang="zh-CN" sz="3200" dirty="0">
                <a:solidFill>
                  <a:schemeClr val="bg1"/>
                </a:solidFill>
                <a:latin typeface="Maven Pro" pitchFamily="2" charset="0"/>
              </a:rPr>
              <a:t>de área de pátio</a:t>
            </a:r>
          </a:p>
        </p:txBody>
      </p:sp>
      <p:sp>
        <p:nvSpPr>
          <p:cNvPr id="64" name="TextBox 100">
            <a:extLst>
              <a:ext uri="{FF2B5EF4-FFF2-40B4-BE49-F238E27FC236}">
                <a16:creationId xmlns:a16="http://schemas.microsoft.com/office/drawing/2014/main" id="{BE5F0CF5-C825-F772-8F61-5CF4C17C1ACD}"/>
              </a:ext>
            </a:extLst>
          </p:cNvPr>
          <p:cNvSpPr txBox="1"/>
          <p:nvPr/>
        </p:nvSpPr>
        <p:spPr>
          <a:xfrm>
            <a:off x="9948495" y="6968328"/>
            <a:ext cx="2478466" cy="9848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defTabSz="2743200" hangingPunct="0"/>
            <a:r>
              <a:rPr lang="pt-BR" altLang="zh-CN" sz="3200" dirty="0">
                <a:solidFill>
                  <a:schemeClr val="bg1"/>
                </a:solidFill>
                <a:latin typeface="Maven Pro" pitchFamily="2" charset="0"/>
              </a:rPr>
              <a:t>de cais público</a:t>
            </a:r>
          </a:p>
        </p:txBody>
      </p:sp>
      <p:sp>
        <p:nvSpPr>
          <p:cNvPr id="66" name="TextBox 100">
            <a:extLst>
              <a:ext uri="{FF2B5EF4-FFF2-40B4-BE49-F238E27FC236}">
                <a16:creationId xmlns:a16="http://schemas.microsoft.com/office/drawing/2014/main" id="{256E2BC1-CC4D-B158-FFA7-860B01423089}"/>
              </a:ext>
            </a:extLst>
          </p:cNvPr>
          <p:cNvSpPr txBox="1"/>
          <p:nvPr/>
        </p:nvSpPr>
        <p:spPr>
          <a:xfrm>
            <a:off x="14414263" y="6968328"/>
            <a:ext cx="7179942" cy="492443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defTabSz="2743200" hangingPunct="0"/>
            <a:r>
              <a:rPr lang="pt-BR" altLang="zh-CN" sz="3200" dirty="0">
                <a:solidFill>
                  <a:schemeClr val="bg1"/>
                </a:solidFill>
                <a:latin typeface="Maven Pro" pitchFamily="2" charset="0"/>
              </a:rPr>
              <a:t>operando 24h, 7 dias</a:t>
            </a:r>
          </a:p>
        </p:txBody>
      </p:sp>
      <p:sp>
        <p:nvSpPr>
          <p:cNvPr id="68" name="TextBox 100">
            <a:extLst>
              <a:ext uri="{FF2B5EF4-FFF2-40B4-BE49-F238E27FC236}">
                <a16:creationId xmlns:a16="http://schemas.microsoft.com/office/drawing/2014/main" id="{69810EC6-1F78-328A-077E-ADF6985BC45B}"/>
              </a:ext>
            </a:extLst>
          </p:cNvPr>
          <p:cNvSpPr txBox="1"/>
          <p:nvPr/>
        </p:nvSpPr>
        <p:spPr>
          <a:xfrm>
            <a:off x="21400691" y="6971953"/>
            <a:ext cx="7179942" cy="492443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defTabSz="2743200" hangingPunct="0"/>
            <a:r>
              <a:rPr lang="pt-BR" altLang="zh-CN" sz="3200" dirty="0">
                <a:solidFill>
                  <a:schemeClr val="bg1"/>
                </a:solidFill>
                <a:latin typeface="Maven Pro" pitchFamily="2" charset="0"/>
              </a:rPr>
              <a:t>de </a:t>
            </a:r>
            <a:r>
              <a:rPr lang="pt-BR" altLang="zh-CN" sz="3200" dirty="0" err="1">
                <a:solidFill>
                  <a:schemeClr val="bg1"/>
                </a:solidFill>
                <a:latin typeface="Maven Pro" pitchFamily="2" charset="0"/>
              </a:rPr>
              <a:t>market</a:t>
            </a:r>
            <a:r>
              <a:rPr lang="pt-BR" altLang="zh-CN" sz="3200" dirty="0">
                <a:solidFill>
                  <a:schemeClr val="bg1"/>
                </a:solidFill>
                <a:latin typeface="Maven Pro" pitchFamily="2" charset="0"/>
              </a:rPr>
              <a:t> </a:t>
            </a:r>
            <a:r>
              <a:rPr lang="pt-BR" altLang="zh-CN" sz="3200" dirty="0" err="1">
                <a:solidFill>
                  <a:schemeClr val="bg1"/>
                </a:solidFill>
                <a:latin typeface="Maven Pro" pitchFamily="2" charset="0"/>
              </a:rPr>
              <a:t>share</a:t>
            </a:r>
            <a:endParaRPr lang="pt-BR" altLang="zh-CN" sz="3200" dirty="0">
              <a:solidFill>
                <a:schemeClr val="bg1"/>
              </a:solidFill>
              <a:latin typeface="Maven Pro" pitchFamily="2" charset="0"/>
            </a:endParaRPr>
          </a:p>
        </p:txBody>
      </p:sp>
      <p:sp>
        <p:nvSpPr>
          <p:cNvPr id="70" name="TextBox 100">
            <a:extLst>
              <a:ext uri="{FF2B5EF4-FFF2-40B4-BE49-F238E27FC236}">
                <a16:creationId xmlns:a16="http://schemas.microsoft.com/office/drawing/2014/main" id="{7C9E1803-C5F7-FEA3-BED5-5F3475E4695B}"/>
              </a:ext>
            </a:extLst>
          </p:cNvPr>
          <p:cNvSpPr txBox="1"/>
          <p:nvPr/>
        </p:nvSpPr>
        <p:spPr>
          <a:xfrm>
            <a:off x="27832530" y="6971953"/>
            <a:ext cx="7179942" cy="492443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defTabSz="2743200" hangingPunct="0"/>
            <a:r>
              <a:rPr lang="pt-BR" altLang="zh-CN" sz="3200" dirty="0">
                <a:solidFill>
                  <a:schemeClr val="bg1"/>
                </a:solidFill>
                <a:latin typeface="Maven Pro" pitchFamily="2" charset="0"/>
              </a:rPr>
              <a:t>capacidade de </a:t>
            </a:r>
            <a:r>
              <a:rPr lang="pt-BR" altLang="zh-CN" sz="3200" dirty="0" err="1">
                <a:solidFill>
                  <a:schemeClr val="bg1"/>
                </a:solidFill>
                <a:latin typeface="Maven Pro" pitchFamily="2" charset="0"/>
              </a:rPr>
              <a:t>gate</a:t>
            </a:r>
            <a:endParaRPr lang="pt-BR" altLang="zh-CN" sz="3200" dirty="0">
              <a:solidFill>
                <a:schemeClr val="bg1"/>
              </a:solidFill>
              <a:latin typeface="Maven P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384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0AA9D-07E5-A127-F332-1507E3D32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9525DA2-AE08-F5F3-0B3F-DFCFFD30781C}"/>
              </a:ext>
            </a:extLst>
          </p:cNvPr>
          <p:cNvSpPr/>
          <p:nvPr/>
        </p:nvSpPr>
        <p:spPr>
          <a:xfrm>
            <a:off x="-236079" y="-1355872"/>
            <a:ext cx="37048157" cy="16308060"/>
          </a:xfrm>
          <a:prstGeom prst="rect">
            <a:avLst/>
          </a:prstGeom>
          <a:solidFill>
            <a:srgbClr val="0710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dirty="0"/>
          </a:p>
        </p:txBody>
      </p:sp>
      <p:sp>
        <p:nvSpPr>
          <p:cNvPr id="60" name="Rectangle: Single Corner Rounded 59">
            <a:extLst>
              <a:ext uri="{FF2B5EF4-FFF2-40B4-BE49-F238E27FC236}">
                <a16:creationId xmlns:a16="http://schemas.microsoft.com/office/drawing/2014/main" id="{6A00026D-5729-1167-71B9-8CE9F29EC04E}"/>
              </a:ext>
            </a:extLst>
          </p:cNvPr>
          <p:cNvSpPr/>
          <p:nvPr/>
        </p:nvSpPr>
        <p:spPr>
          <a:xfrm flipH="1">
            <a:off x="-236079" y="8067348"/>
            <a:ext cx="36575997" cy="13088175"/>
          </a:xfrm>
          <a:prstGeom prst="round1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D4ABE9F9-92FB-F5EA-C132-70D6424090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5224" y="487822"/>
            <a:ext cx="34964913" cy="19491468"/>
          </a:xfrm>
          <a:prstGeom prst="rect">
            <a:avLst/>
          </a:prstGeom>
        </p:spPr>
      </p:pic>
      <p:sp>
        <p:nvSpPr>
          <p:cNvPr id="118" name="TextBox 14">
            <a:extLst>
              <a:ext uri="{FF2B5EF4-FFF2-40B4-BE49-F238E27FC236}">
                <a16:creationId xmlns:a16="http://schemas.microsoft.com/office/drawing/2014/main" id="{20558361-2F7F-7871-B809-3D6827983196}"/>
              </a:ext>
            </a:extLst>
          </p:cNvPr>
          <p:cNvSpPr txBox="1"/>
          <p:nvPr/>
        </p:nvSpPr>
        <p:spPr>
          <a:xfrm>
            <a:off x="1897070" y="4682913"/>
            <a:ext cx="2120468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b="1" dirty="0">
                <a:solidFill>
                  <a:schemeClr val="bg1"/>
                </a:solidFill>
                <a:latin typeface="Maven Pro Bold"/>
              </a:rPr>
              <a:t>Evolução do caso e medidas adotadas pela TCP</a:t>
            </a:r>
          </a:p>
        </p:txBody>
      </p:sp>
      <p:grpSp>
        <p:nvGrpSpPr>
          <p:cNvPr id="175" name="Group 8">
            <a:extLst>
              <a:ext uri="{FF2B5EF4-FFF2-40B4-BE49-F238E27FC236}">
                <a16:creationId xmlns:a16="http://schemas.microsoft.com/office/drawing/2014/main" id="{F8E80578-698D-B4DB-44A8-DBC15BDE9315}"/>
              </a:ext>
            </a:extLst>
          </p:cNvPr>
          <p:cNvGrpSpPr/>
          <p:nvPr/>
        </p:nvGrpSpPr>
        <p:grpSpPr>
          <a:xfrm>
            <a:off x="32153636" y="-794549"/>
            <a:ext cx="4860170" cy="2453270"/>
            <a:chOff x="0" y="62062"/>
            <a:chExt cx="2507310" cy="1179076"/>
          </a:xfrm>
        </p:grpSpPr>
        <p:sp>
          <p:nvSpPr>
            <p:cNvPr id="176" name="Freeform 9">
              <a:extLst>
                <a:ext uri="{FF2B5EF4-FFF2-40B4-BE49-F238E27FC236}">
                  <a16:creationId xmlns:a16="http://schemas.microsoft.com/office/drawing/2014/main" id="{EF58CC21-617B-7125-DF55-C3292CE27DC6}"/>
                </a:ext>
              </a:extLst>
            </p:cNvPr>
            <p:cNvSpPr/>
            <p:nvPr/>
          </p:nvSpPr>
          <p:spPr>
            <a:xfrm>
              <a:off x="0" y="62062"/>
              <a:ext cx="2507310" cy="1179076"/>
            </a:xfrm>
            <a:custGeom>
              <a:avLst/>
              <a:gdLst/>
              <a:ahLst/>
              <a:cxnLst/>
              <a:rect l="l" t="t" r="r" b="b"/>
              <a:pathLst>
                <a:path w="2671572" h="1348232">
                  <a:moveTo>
                    <a:pt x="0" y="0"/>
                  </a:moveTo>
                  <a:lnTo>
                    <a:pt x="2671572" y="0"/>
                  </a:lnTo>
                  <a:lnTo>
                    <a:pt x="2671572" y="1348232"/>
                  </a:lnTo>
                  <a:lnTo>
                    <a:pt x="0" y="1348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t="-20131" r="-1" b="-20130"/>
              </a:stretch>
            </a:blipFill>
          </p:spPr>
          <p:txBody>
            <a:bodyPr/>
            <a:lstStyle/>
            <a:p>
              <a:endParaRPr lang="pt-BR" sz="3600"/>
            </a:p>
          </p:txBody>
        </p:sp>
      </p:grpSp>
      <p:sp>
        <p:nvSpPr>
          <p:cNvPr id="64" name="Text 8">
            <a:extLst>
              <a:ext uri="{FF2B5EF4-FFF2-40B4-BE49-F238E27FC236}">
                <a16:creationId xmlns:a16="http://schemas.microsoft.com/office/drawing/2014/main" id="{8BFF88C4-83EE-2EF9-D88F-C56733098DBF}"/>
              </a:ext>
            </a:extLst>
          </p:cNvPr>
          <p:cNvSpPr txBox="1"/>
          <p:nvPr/>
        </p:nvSpPr>
        <p:spPr>
          <a:xfrm>
            <a:off x="3746773" y="9016080"/>
            <a:ext cx="1563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97" b="1" dirty="0" err="1">
                <a:solidFill>
                  <a:srgbClr val="002060"/>
                </a:solidFill>
                <a:latin typeface="Maven Pro Bold"/>
              </a:rPr>
              <a:t>Medidas</a:t>
            </a:r>
            <a:r>
              <a:rPr lang="en-US" sz="4897" b="1" dirty="0">
                <a:solidFill>
                  <a:srgbClr val="002060"/>
                </a:solidFill>
                <a:latin typeface="Maven Pro Bold"/>
              </a:rPr>
              <a:t> </a:t>
            </a:r>
            <a:r>
              <a:rPr lang="en-US" sz="4897" b="1" dirty="0" err="1">
                <a:solidFill>
                  <a:srgbClr val="002060"/>
                </a:solidFill>
                <a:latin typeface="Maven Pro Bold"/>
              </a:rPr>
              <a:t>adotadas</a:t>
            </a:r>
            <a:r>
              <a:rPr lang="en-US" sz="4897" b="1" dirty="0">
                <a:solidFill>
                  <a:srgbClr val="002060"/>
                </a:solidFill>
                <a:latin typeface="Maven Pro Bold"/>
              </a:rPr>
              <a:t> pela TCP</a:t>
            </a:r>
          </a:p>
        </p:txBody>
      </p:sp>
      <p:sp>
        <p:nvSpPr>
          <p:cNvPr id="66" name="Shape 9">
            <a:extLst>
              <a:ext uri="{FF2B5EF4-FFF2-40B4-BE49-F238E27FC236}">
                <a16:creationId xmlns:a16="http://schemas.microsoft.com/office/drawing/2014/main" id="{2379D384-572D-DBA7-CBC5-EF0BF6C4F2B0}"/>
              </a:ext>
            </a:extLst>
          </p:cNvPr>
          <p:cNvSpPr/>
          <p:nvPr/>
        </p:nvSpPr>
        <p:spPr>
          <a:xfrm>
            <a:off x="3828614" y="10923636"/>
            <a:ext cx="0" cy="6858000"/>
          </a:xfrm>
          <a:prstGeom prst="line">
            <a:avLst/>
          </a:prstGeom>
          <a:noFill/>
          <a:ln w="19050">
            <a:solidFill>
              <a:srgbClr val="3A4E70"/>
            </a:solidFill>
            <a:prstDash val="solid"/>
          </a:ln>
        </p:spPr>
        <p:txBody>
          <a:bodyPr/>
          <a:lstStyle/>
          <a:p>
            <a:endParaRPr lang="pt-BR" sz="54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68" name="Shape 10">
            <a:extLst>
              <a:ext uri="{FF2B5EF4-FFF2-40B4-BE49-F238E27FC236}">
                <a16:creationId xmlns:a16="http://schemas.microsoft.com/office/drawing/2014/main" id="{4FBD804B-46C8-6EA6-1A74-8B9F8C042AC2}"/>
              </a:ext>
            </a:extLst>
          </p:cNvPr>
          <p:cNvSpPr/>
          <p:nvPr/>
        </p:nvSpPr>
        <p:spPr>
          <a:xfrm>
            <a:off x="3444566" y="10567020"/>
            <a:ext cx="768096" cy="768096"/>
          </a:xfrm>
          <a:prstGeom prst="ellipse">
            <a:avLst/>
          </a:prstGeom>
          <a:solidFill>
            <a:srgbClr val="07103B"/>
          </a:solidFill>
          <a:ln/>
        </p:spPr>
        <p:txBody>
          <a:bodyPr/>
          <a:lstStyle/>
          <a:p>
            <a:endParaRPr lang="pt-BR" sz="540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70" name="Text 11">
            <a:extLst>
              <a:ext uri="{FF2B5EF4-FFF2-40B4-BE49-F238E27FC236}">
                <a16:creationId xmlns:a16="http://schemas.microsoft.com/office/drawing/2014/main" id="{839AD6EC-6310-EB8D-F376-94DE7DF078CC}"/>
              </a:ext>
            </a:extLst>
          </p:cNvPr>
          <p:cNvSpPr txBox="1"/>
          <p:nvPr/>
        </p:nvSpPr>
        <p:spPr>
          <a:xfrm>
            <a:off x="3434987" y="105670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300" dirty="0">
              <a:solidFill>
                <a:schemeClr val="bg1"/>
              </a:solidFill>
            </a:endParaRPr>
          </a:p>
        </p:txBody>
      </p:sp>
      <p:sp>
        <p:nvSpPr>
          <p:cNvPr id="72" name="Text 12">
            <a:extLst>
              <a:ext uri="{FF2B5EF4-FFF2-40B4-BE49-F238E27FC236}">
                <a16:creationId xmlns:a16="http://schemas.microsoft.com/office/drawing/2014/main" id="{893011F1-3708-91E7-D2A3-F36A89683B90}"/>
              </a:ext>
            </a:extLst>
          </p:cNvPr>
          <p:cNvSpPr txBox="1"/>
          <p:nvPr/>
        </p:nvSpPr>
        <p:spPr>
          <a:xfrm>
            <a:off x="4560676" y="10361280"/>
            <a:ext cx="1453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900" b="1" dirty="0">
                <a:solidFill>
                  <a:srgbClr val="002060"/>
                </a:solidFill>
                <a:latin typeface="Maven Pro" panose="020B0604020202020204" charset="0"/>
                <a:ea typeface="Arial" pitchFamily="34" charset="-122"/>
                <a:cs typeface="Arial" pitchFamily="34" charset="-120"/>
              </a:rPr>
              <a:t>Restrição gradual</a:t>
            </a:r>
            <a:endParaRPr lang="en-US" sz="3900" dirty="0">
              <a:solidFill>
                <a:srgbClr val="002060"/>
              </a:solidFill>
              <a:latin typeface="Maven Pro" panose="020B0604020202020204" charset="0"/>
            </a:endParaRPr>
          </a:p>
        </p:txBody>
      </p:sp>
      <p:sp>
        <p:nvSpPr>
          <p:cNvPr id="74" name="Text 13">
            <a:extLst>
              <a:ext uri="{FF2B5EF4-FFF2-40B4-BE49-F238E27FC236}">
                <a16:creationId xmlns:a16="http://schemas.microsoft.com/office/drawing/2014/main" id="{137FA0B4-911B-3E72-F73F-782666741908}"/>
              </a:ext>
            </a:extLst>
          </p:cNvPr>
          <p:cNvSpPr txBox="1"/>
          <p:nvPr/>
        </p:nvSpPr>
        <p:spPr>
          <a:xfrm>
            <a:off x="4606288" y="10954535"/>
            <a:ext cx="19204687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150" dirty="0">
                <a:solidFill>
                  <a:srgbClr val="002060"/>
                </a:solidFill>
                <a:latin typeface="Maven Pro" panose="020B0604020202020204" charset="0"/>
                <a:ea typeface="Arial" pitchFamily="34" charset="-122"/>
                <a:cs typeface="Arial" pitchFamily="34" charset="-120"/>
              </a:rPr>
              <a:t>O Terminal </a:t>
            </a:r>
            <a:r>
              <a:rPr lang="en-US" sz="3150" dirty="0" err="1">
                <a:solidFill>
                  <a:srgbClr val="002060"/>
                </a:solidFill>
                <a:latin typeface="Maven Pro" panose="020B0604020202020204" charset="0"/>
                <a:ea typeface="Arial" pitchFamily="34" charset="-122"/>
                <a:cs typeface="Arial" pitchFamily="34" charset="-120"/>
              </a:rPr>
              <a:t>limitou</a:t>
            </a:r>
            <a:r>
              <a:rPr lang="en-US" sz="3150" dirty="0">
                <a:solidFill>
                  <a:srgbClr val="002060"/>
                </a:solidFill>
                <a:latin typeface="Maven Pro" panose="020B0604020202020204" charset="0"/>
                <a:ea typeface="Arial" pitchFamily="34" charset="-122"/>
                <a:cs typeface="Arial" pitchFamily="34" charset="-120"/>
              </a:rPr>
              <a:t> inicialmente a entrada de cargas </a:t>
            </a:r>
            <a:r>
              <a:rPr lang="en-US" sz="3150" dirty="0" err="1">
                <a:solidFill>
                  <a:srgbClr val="002060"/>
                </a:solidFill>
                <a:latin typeface="Maven Pro" panose="020B0604020202020204" charset="0"/>
                <a:ea typeface="Arial" pitchFamily="34" charset="-122"/>
                <a:cs typeface="Arial" pitchFamily="34" charset="-120"/>
              </a:rPr>
              <a:t>por</a:t>
            </a:r>
            <a:r>
              <a:rPr lang="en-US" sz="3150" dirty="0">
                <a:solidFill>
                  <a:srgbClr val="002060"/>
                </a:solidFill>
                <a:latin typeface="Maven Pro" panose="020B060402020202020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150" dirty="0" err="1">
                <a:solidFill>
                  <a:srgbClr val="002060"/>
                </a:solidFill>
                <a:latin typeface="Maven Pro" panose="020B0604020202020204" charset="0"/>
                <a:ea typeface="Arial" pitchFamily="34" charset="-122"/>
                <a:cs typeface="Arial" pitchFamily="34" charset="-120"/>
              </a:rPr>
              <a:t>prazo</a:t>
            </a:r>
            <a:r>
              <a:rPr lang="en-US" sz="3150" dirty="0">
                <a:solidFill>
                  <a:srgbClr val="002060"/>
                </a:solidFill>
                <a:latin typeface="Maven Pro" panose="020B0604020202020204" charset="0"/>
                <a:ea typeface="Arial" pitchFamily="34" charset="-122"/>
                <a:cs typeface="Arial" pitchFamily="34" charset="-120"/>
              </a:rPr>
              <a:t> (</a:t>
            </a:r>
            <a:r>
              <a:rPr lang="pt-BR" sz="3150" dirty="0">
                <a:solidFill>
                  <a:srgbClr val="002060"/>
                </a:solidFill>
                <a:latin typeface="Maven Pro" panose="020B0604020202020204" charset="0"/>
                <a:ea typeface="Arial" pitchFamily="34" charset="-122"/>
                <a:cs typeface="Arial" pitchFamily="34" charset="-120"/>
              </a:rPr>
              <a:t>14 dias anteriores ao deadline)</a:t>
            </a:r>
            <a:r>
              <a:rPr lang="en-US" sz="3150" dirty="0">
                <a:solidFill>
                  <a:srgbClr val="002060"/>
                </a:solidFill>
                <a:latin typeface="Maven Pro" panose="020B0604020202020204" charset="0"/>
                <a:ea typeface="Arial" pitchFamily="34" charset="-122"/>
                <a:cs typeface="Arial" pitchFamily="34" charset="-120"/>
              </a:rPr>
              <a:t>;</a:t>
            </a:r>
            <a:endParaRPr lang="en-US" sz="3150" dirty="0">
              <a:solidFill>
                <a:srgbClr val="002060"/>
              </a:solidFill>
              <a:latin typeface="Maven Pro" panose="020B0604020202020204" charset="0"/>
            </a:endParaRPr>
          </a:p>
        </p:txBody>
      </p:sp>
      <p:sp>
        <p:nvSpPr>
          <p:cNvPr id="76" name="Shape 14">
            <a:extLst>
              <a:ext uri="{FF2B5EF4-FFF2-40B4-BE49-F238E27FC236}">
                <a16:creationId xmlns:a16="http://schemas.microsoft.com/office/drawing/2014/main" id="{607235D8-05B0-6D86-307B-EFBC3F92ACBB}"/>
              </a:ext>
            </a:extLst>
          </p:cNvPr>
          <p:cNvSpPr/>
          <p:nvPr/>
        </p:nvSpPr>
        <p:spPr>
          <a:xfrm>
            <a:off x="3444566" y="13996020"/>
            <a:ext cx="768096" cy="768096"/>
          </a:xfrm>
          <a:prstGeom prst="ellipse">
            <a:avLst/>
          </a:prstGeom>
          <a:solidFill>
            <a:srgbClr val="07103B"/>
          </a:solidFill>
          <a:ln/>
        </p:spPr>
        <p:txBody>
          <a:bodyPr/>
          <a:lstStyle/>
          <a:p>
            <a:endParaRPr lang="pt-BR" sz="540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78" name="Text 15">
            <a:extLst>
              <a:ext uri="{FF2B5EF4-FFF2-40B4-BE49-F238E27FC236}">
                <a16:creationId xmlns:a16="http://schemas.microsoft.com/office/drawing/2014/main" id="{F50203E1-8D33-9114-9E90-E58D012FCFC8}"/>
              </a:ext>
            </a:extLst>
          </p:cNvPr>
          <p:cNvSpPr txBox="1"/>
          <p:nvPr/>
        </p:nvSpPr>
        <p:spPr>
          <a:xfrm>
            <a:off x="3444566" y="139960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300" dirty="0">
              <a:solidFill>
                <a:schemeClr val="bg1"/>
              </a:solidFill>
            </a:endParaRPr>
          </a:p>
        </p:txBody>
      </p:sp>
      <p:sp>
        <p:nvSpPr>
          <p:cNvPr id="80" name="Text 16">
            <a:extLst>
              <a:ext uri="{FF2B5EF4-FFF2-40B4-BE49-F238E27FC236}">
                <a16:creationId xmlns:a16="http://schemas.microsoft.com/office/drawing/2014/main" id="{E4DE2D92-E440-CCD0-8C4C-F4912AE67D50}"/>
              </a:ext>
            </a:extLst>
          </p:cNvPr>
          <p:cNvSpPr txBox="1"/>
          <p:nvPr/>
        </p:nvSpPr>
        <p:spPr>
          <a:xfrm>
            <a:off x="4560676" y="13895510"/>
            <a:ext cx="1453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900" b="1" dirty="0">
                <a:solidFill>
                  <a:srgbClr val="002060"/>
                </a:solidFill>
                <a:latin typeface="Maven Pro" panose="020B0604020202020204" charset="0"/>
                <a:ea typeface="Arial" pitchFamily="34" charset="-122"/>
                <a:cs typeface="Arial" pitchFamily="34" charset="-120"/>
              </a:rPr>
              <a:t>Troca de referência</a:t>
            </a:r>
            <a:endParaRPr lang="en-US" sz="3900" dirty="0">
              <a:solidFill>
                <a:srgbClr val="002060"/>
              </a:solidFill>
              <a:latin typeface="Maven Pro" panose="020B0604020202020204" charset="0"/>
            </a:endParaRPr>
          </a:p>
        </p:txBody>
      </p:sp>
      <p:sp>
        <p:nvSpPr>
          <p:cNvPr id="82" name="Text 17">
            <a:extLst>
              <a:ext uri="{FF2B5EF4-FFF2-40B4-BE49-F238E27FC236}">
                <a16:creationId xmlns:a16="http://schemas.microsoft.com/office/drawing/2014/main" id="{70842461-699A-4755-ADEB-1A5DB1479BE1}"/>
              </a:ext>
            </a:extLst>
          </p:cNvPr>
          <p:cNvSpPr txBox="1"/>
          <p:nvPr/>
        </p:nvSpPr>
        <p:spPr>
          <a:xfrm>
            <a:off x="4609188" y="14585808"/>
            <a:ext cx="1986015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900"/>
              </a:lnSpc>
            </a:pPr>
            <a:r>
              <a:rPr lang="en-US" sz="3150" dirty="0">
                <a:solidFill>
                  <a:srgbClr val="002060"/>
                </a:solidFill>
                <a:latin typeface="Maven Pro" panose="020B0604020202020204" charset="0"/>
                <a:ea typeface="Arial" pitchFamily="34" charset="-122"/>
                <a:cs typeface="Arial" pitchFamily="34" charset="-120"/>
              </a:rPr>
              <a:t>Deixou de usar o deadline do armador; passou a usar o ETB (previsão de </a:t>
            </a:r>
            <a:r>
              <a:rPr lang="en-US" sz="3150" dirty="0" err="1">
                <a:solidFill>
                  <a:srgbClr val="002060"/>
                </a:solidFill>
                <a:latin typeface="Maven Pro" panose="020B0604020202020204" charset="0"/>
                <a:ea typeface="Arial" pitchFamily="34" charset="-122"/>
                <a:cs typeface="Arial" pitchFamily="34" charset="-120"/>
              </a:rPr>
              <a:t>atracação</a:t>
            </a:r>
            <a:r>
              <a:rPr lang="en-US" sz="3150" dirty="0">
                <a:solidFill>
                  <a:srgbClr val="002060"/>
                </a:solidFill>
                <a:latin typeface="Maven Pro" panose="020B0604020202020204" charset="0"/>
                <a:ea typeface="Arial" pitchFamily="34" charset="-122"/>
                <a:cs typeface="Arial" pitchFamily="34" charset="-120"/>
              </a:rPr>
              <a:t>);</a:t>
            </a:r>
            <a:endParaRPr lang="en-US" sz="3150" dirty="0">
              <a:solidFill>
                <a:srgbClr val="002060"/>
              </a:solidFill>
              <a:latin typeface="Maven Pro" panose="020B0604020202020204" charset="0"/>
            </a:endParaRPr>
          </a:p>
        </p:txBody>
      </p:sp>
      <p:sp>
        <p:nvSpPr>
          <p:cNvPr id="84" name="Shape 18">
            <a:extLst>
              <a:ext uri="{FF2B5EF4-FFF2-40B4-BE49-F238E27FC236}">
                <a16:creationId xmlns:a16="http://schemas.microsoft.com/office/drawing/2014/main" id="{6A9CF793-81A5-C35F-10BA-606C79A1E1DA}"/>
              </a:ext>
            </a:extLst>
          </p:cNvPr>
          <p:cNvSpPr/>
          <p:nvPr/>
        </p:nvSpPr>
        <p:spPr>
          <a:xfrm>
            <a:off x="3444566" y="17425020"/>
            <a:ext cx="768096" cy="768096"/>
          </a:xfrm>
          <a:prstGeom prst="ellipse">
            <a:avLst/>
          </a:prstGeom>
          <a:solidFill>
            <a:srgbClr val="07103B"/>
          </a:solidFill>
          <a:ln/>
        </p:spPr>
        <p:txBody>
          <a:bodyPr/>
          <a:lstStyle/>
          <a:p>
            <a:endParaRPr lang="pt-BR" sz="540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D33C4FBC-CC61-8D9A-762D-64C7B0502364}"/>
              </a:ext>
            </a:extLst>
          </p:cNvPr>
          <p:cNvSpPr txBox="1"/>
          <p:nvPr/>
        </p:nvSpPr>
        <p:spPr>
          <a:xfrm>
            <a:off x="3444566" y="1741627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300" dirty="0">
              <a:solidFill>
                <a:schemeClr val="bg1"/>
              </a:solidFill>
            </a:endParaRPr>
          </a:p>
        </p:txBody>
      </p:sp>
      <p:sp>
        <p:nvSpPr>
          <p:cNvPr id="88" name="Text 20">
            <a:extLst>
              <a:ext uri="{FF2B5EF4-FFF2-40B4-BE49-F238E27FC236}">
                <a16:creationId xmlns:a16="http://schemas.microsoft.com/office/drawing/2014/main" id="{C780C79E-A3CC-182D-9C85-43656B6C6407}"/>
              </a:ext>
            </a:extLst>
          </p:cNvPr>
          <p:cNvSpPr txBox="1"/>
          <p:nvPr/>
        </p:nvSpPr>
        <p:spPr>
          <a:xfrm>
            <a:off x="4560676" y="17051006"/>
            <a:ext cx="1453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900" b="1" dirty="0" err="1">
                <a:solidFill>
                  <a:srgbClr val="002060"/>
                </a:solidFill>
                <a:latin typeface="Maven Pro" panose="020B0604020202020204" charset="0"/>
                <a:ea typeface="Arial" pitchFamily="34" charset="-122"/>
                <a:cs typeface="Arial" pitchFamily="34" charset="-120"/>
              </a:rPr>
              <a:t>Regra</a:t>
            </a:r>
            <a:r>
              <a:rPr lang="en-US" sz="3900" b="1" dirty="0">
                <a:solidFill>
                  <a:srgbClr val="002060"/>
                </a:solidFill>
                <a:latin typeface="Maven Pro" panose="020B0604020202020204" charset="0"/>
                <a:ea typeface="Arial" pitchFamily="34" charset="-122"/>
                <a:cs typeface="Arial" pitchFamily="34" charset="-120"/>
              </a:rPr>
              <a:t> final</a:t>
            </a:r>
            <a:endParaRPr lang="en-US" sz="3900" dirty="0">
              <a:solidFill>
                <a:srgbClr val="002060"/>
              </a:solidFill>
              <a:latin typeface="Maven Pro" panose="020B0604020202020204" charset="0"/>
            </a:endParaRPr>
          </a:p>
        </p:txBody>
      </p:sp>
      <p:sp>
        <p:nvSpPr>
          <p:cNvPr id="90" name="Text 21">
            <a:extLst>
              <a:ext uri="{FF2B5EF4-FFF2-40B4-BE49-F238E27FC236}">
                <a16:creationId xmlns:a16="http://schemas.microsoft.com/office/drawing/2014/main" id="{3D720EA4-F796-DEDA-10CA-327919DF6C6E}"/>
              </a:ext>
            </a:extLst>
          </p:cNvPr>
          <p:cNvSpPr txBox="1"/>
          <p:nvPr/>
        </p:nvSpPr>
        <p:spPr>
          <a:xfrm>
            <a:off x="4606289" y="17795358"/>
            <a:ext cx="300229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900"/>
              </a:lnSpc>
            </a:pPr>
            <a:r>
              <a:rPr lang="pt-BR" sz="3150" dirty="0">
                <a:solidFill>
                  <a:srgbClr val="002060"/>
                </a:solidFill>
                <a:latin typeface="Maven Pro" panose="020B0604020202020204" charset="0"/>
                <a:ea typeface="Arial" pitchFamily="34" charset="-122"/>
                <a:cs typeface="Arial" pitchFamily="34" charset="-120"/>
              </a:rPr>
              <a:t>A previsão de abertura de janelas é realizada com base no ETB do navio, tipo de contêiner (</a:t>
            </a:r>
            <a:r>
              <a:rPr lang="pt-BR" sz="3150" dirty="0" err="1">
                <a:solidFill>
                  <a:srgbClr val="002060"/>
                </a:solidFill>
                <a:latin typeface="Maven Pro" panose="020B0604020202020204" charset="0"/>
                <a:ea typeface="Arial" pitchFamily="34" charset="-122"/>
                <a:cs typeface="Arial" pitchFamily="34" charset="-120"/>
              </a:rPr>
              <a:t>dry</a:t>
            </a:r>
            <a:r>
              <a:rPr lang="pt-BR" sz="3150" dirty="0">
                <a:solidFill>
                  <a:srgbClr val="002060"/>
                </a:solidFill>
                <a:latin typeface="Maven Pro" panose="020B0604020202020204" charset="0"/>
                <a:ea typeface="Arial" pitchFamily="34" charset="-122"/>
                <a:cs typeface="Arial" pitchFamily="34" charset="-120"/>
              </a:rPr>
              <a:t> ou </a:t>
            </a:r>
            <a:r>
              <a:rPr lang="pt-BR" sz="3150" dirty="0" err="1">
                <a:solidFill>
                  <a:srgbClr val="002060"/>
                </a:solidFill>
                <a:latin typeface="Maven Pro" panose="020B0604020202020204" charset="0"/>
                <a:ea typeface="Arial" pitchFamily="34" charset="-122"/>
                <a:cs typeface="Arial" pitchFamily="34" charset="-120"/>
              </a:rPr>
              <a:t>reefer</a:t>
            </a:r>
            <a:r>
              <a:rPr lang="pt-BR" sz="3150" dirty="0">
                <a:solidFill>
                  <a:srgbClr val="002060"/>
                </a:solidFill>
                <a:latin typeface="Maven Pro" panose="020B0604020202020204" charset="0"/>
                <a:ea typeface="Arial" pitchFamily="34" charset="-122"/>
                <a:cs typeface="Arial" pitchFamily="34" charset="-120"/>
              </a:rPr>
              <a:t>) e vinculada ao primeiro navio de cada serviço (“navio da vez”). </a:t>
            </a:r>
            <a:endParaRPr lang="en-US" sz="3150" dirty="0">
              <a:solidFill>
                <a:srgbClr val="002060"/>
              </a:solidFill>
              <a:latin typeface="Maven Pro" panose="020B0604020202020204" charset="0"/>
            </a:endParaRPr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256BDFF8-A5B3-7254-C8ED-64637546F0AB}"/>
              </a:ext>
            </a:extLst>
          </p:cNvPr>
          <p:cNvSpPr txBox="1"/>
          <p:nvPr/>
        </p:nvSpPr>
        <p:spPr>
          <a:xfrm>
            <a:off x="1990949" y="6045509"/>
            <a:ext cx="3263826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150" i="1" dirty="0" err="1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Efeito</a:t>
            </a:r>
            <a:r>
              <a:rPr lang="en-US" sz="3150" i="1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150" i="1" dirty="0" err="1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reportado</a:t>
            </a:r>
            <a:r>
              <a:rPr lang="en-US" sz="3150" i="1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3150" i="1" dirty="0" err="1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</a:t>
            </a:r>
            <a:r>
              <a:rPr lang="en-US" sz="3150" i="1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</a:t>
            </a:r>
            <a:r>
              <a:rPr lang="en-US" sz="3150" i="1" dirty="0" err="1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ocupação</a:t>
            </a:r>
            <a:r>
              <a:rPr lang="en-US" sz="3150" i="1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3150" i="1" dirty="0" err="1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pátio</a:t>
            </a:r>
            <a:r>
              <a:rPr lang="en-US" sz="3150" i="1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do tempo de </a:t>
            </a:r>
            <a:r>
              <a:rPr lang="en-US" sz="3150" i="1" dirty="0" err="1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permanência</a:t>
            </a:r>
            <a:r>
              <a:rPr lang="en-US" sz="3150" i="1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dos </a:t>
            </a:r>
            <a:r>
              <a:rPr lang="en-US" sz="3150" i="1" dirty="0" err="1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contêineres</a:t>
            </a:r>
            <a:r>
              <a:rPr lang="en-US" sz="3150" i="1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dos </a:t>
            </a:r>
            <a:r>
              <a:rPr lang="en-US" sz="3150" i="1" dirty="0" err="1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problemas</a:t>
            </a:r>
            <a:r>
              <a:rPr lang="en-US" sz="3150" i="1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3150" i="1" dirty="0" err="1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janelas</a:t>
            </a:r>
            <a:r>
              <a:rPr lang="en-US" sz="3150" i="1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3150" i="1" dirty="0" err="1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agendamento</a:t>
            </a:r>
            <a:r>
              <a:rPr lang="en-US" sz="3150" i="1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via Portal do </a:t>
            </a:r>
            <a:r>
              <a:rPr lang="en-US" sz="3150" i="1" dirty="0" err="1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r>
              <a:rPr lang="en-US" sz="3150" i="1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 </a:t>
            </a:r>
            <a:r>
              <a:rPr lang="en-US" sz="3150" i="1" dirty="0" err="1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melhorias</a:t>
            </a:r>
            <a:r>
              <a:rPr lang="en-US" sz="3150" i="1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150" i="1" dirty="0" err="1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contínuas</a:t>
            </a:r>
            <a:r>
              <a:rPr lang="en-US" sz="3150" i="1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3150" dirty="0"/>
          </a:p>
        </p:txBody>
      </p:sp>
      <p:sp>
        <p:nvSpPr>
          <p:cNvPr id="96" name="TextBox 121">
            <a:extLst>
              <a:ext uri="{FF2B5EF4-FFF2-40B4-BE49-F238E27FC236}">
                <a16:creationId xmlns:a16="http://schemas.microsoft.com/office/drawing/2014/main" id="{C275DBCC-9A50-25C5-9A61-534D15776185}"/>
              </a:ext>
            </a:extLst>
          </p:cNvPr>
          <p:cNvSpPr txBox="1"/>
          <p:nvPr/>
        </p:nvSpPr>
        <p:spPr>
          <a:xfrm>
            <a:off x="1897071" y="1624556"/>
            <a:ext cx="134671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solidFill>
                  <a:srgbClr val="FFFFFF"/>
                </a:solidFill>
                <a:latin typeface="Maven Pro Bold"/>
              </a:rPr>
              <a:t>TCP</a:t>
            </a:r>
            <a:endParaRPr lang="pt-BR" sz="8800" b="1" dirty="0">
              <a:solidFill>
                <a:srgbClr val="FFFFFF"/>
              </a:solidFill>
              <a:latin typeface="Maven Pro Bold"/>
            </a:endParaRPr>
          </a:p>
        </p:txBody>
      </p:sp>
      <p:sp>
        <p:nvSpPr>
          <p:cNvPr id="98" name="TextBox 122">
            <a:extLst>
              <a:ext uri="{FF2B5EF4-FFF2-40B4-BE49-F238E27FC236}">
                <a16:creationId xmlns:a16="http://schemas.microsoft.com/office/drawing/2014/main" id="{4FFFD49B-0F73-3817-553C-451F32044B93}"/>
              </a:ext>
            </a:extLst>
          </p:cNvPr>
          <p:cNvSpPr txBox="1"/>
          <p:nvPr/>
        </p:nvSpPr>
        <p:spPr>
          <a:xfrm>
            <a:off x="1897070" y="2856594"/>
            <a:ext cx="260284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rgbClr val="E8C58C"/>
                </a:solidFill>
                <a:latin typeface="Maven Pro" pitchFamily="2" charset="0"/>
              </a:rPr>
              <a:t>Fiscalização ANTAQ · Oferta de janelas em terminais de contêineres</a:t>
            </a:r>
          </a:p>
        </p:txBody>
      </p:sp>
    </p:spTree>
    <p:extLst>
      <p:ext uri="{BB962C8B-B14F-4D97-AF65-F5344CB8AC3E}">
        <p14:creationId xmlns:p14="http://schemas.microsoft.com/office/powerpoint/2010/main" val="1732813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11289" y="-2179192"/>
            <a:ext cx="37696353" cy="25130902"/>
          </a:xfrm>
          <a:custGeom>
            <a:avLst/>
            <a:gdLst/>
            <a:ahLst/>
            <a:cxnLst/>
            <a:rect l="l" t="t" r="r" b="b"/>
            <a:pathLst>
              <a:path w="37696353" h="25130902">
                <a:moveTo>
                  <a:pt x="0" y="0"/>
                </a:moveTo>
                <a:lnTo>
                  <a:pt x="37696354" y="0"/>
                </a:lnTo>
                <a:lnTo>
                  <a:pt x="37696354" y="25130902"/>
                </a:lnTo>
                <a:lnTo>
                  <a:pt x="0" y="251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 rot="-10800000">
            <a:off x="1046425" y="1208012"/>
            <a:ext cx="33930701" cy="18577059"/>
          </a:xfrm>
          <a:custGeom>
            <a:avLst/>
            <a:gdLst/>
            <a:ahLst/>
            <a:cxnLst/>
            <a:rect l="l" t="t" r="r" b="b"/>
            <a:pathLst>
              <a:path w="33930701" h="18577059">
                <a:moveTo>
                  <a:pt x="0" y="0"/>
                </a:moveTo>
                <a:lnTo>
                  <a:pt x="33930700" y="0"/>
                </a:lnTo>
                <a:lnTo>
                  <a:pt x="33930700" y="18577059"/>
                </a:lnTo>
                <a:lnTo>
                  <a:pt x="0" y="185770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30969719" y="17762745"/>
            <a:ext cx="4007407" cy="2022326"/>
          </a:xfrm>
          <a:custGeom>
            <a:avLst/>
            <a:gdLst/>
            <a:ahLst/>
            <a:cxnLst/>
            <a:rect l="l" t="t" r="r" b="b"/>
            <a:pathLst>
              <a:path w="4007407" h="2022326">
                <a:moveTo>
                  <a:pt x="0" y="0"/>
                </a:moveTo>
                <a:lnTo>
                  <a:pt x="4007406" y="0"/>
                </a:lnTo>
                <a:lnTo>
                  <a:pt x="4007406" y="2022326"/>
                </a:lnTo>
                <a:lnTo>
                  <a:pt x="0" y="20223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6536" t="-113839" r="-57754" b="-86734"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18849</TotalTime>
  <Words>2012</Words>
  <Application>Microsoft Office PowerPoint</Application>
  <PresentationFormat>Personalizar</PresentationFormat>
  <Paragraphs>548</Paragraphs>
  <Slides>20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33" baseType="lpstr">
      <vt:lpstr>Trebuchet MS</vt:lpstr>
      <vt:lpstr>Arial Narrow</vt:lpstr>
      <vt:lpstr>Maven Pro Bold</vt:lpstr>
      <vt:lpstr>Helvetica</vt:lpstr>
      <vt:lpstr>Aptos</vt:lpstr>
      <vt:lpstr>Yu Gothic UI Semilight</vt:lpstr>
      <vt:lpstr>Calibri</vt:lpstr>
      <vt:lpstr>Maven Pro</vt:lpstr>
      <vt:lpstr>Arial Black</vt:lpstr>
      <vt:lpstr>宋体</vt:lpstr>
      <vt:lpstr>Aptos Narrow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- TCP / HPP</dc:title>
  <dc:creator>Ana Carolina Duarte</dc:creator>
  <cp:lastModifiedBy>Lígia da Luz Fontes Bahr</cp:lastModifiedBy>
  <cp:revision>69</cp:revision>
  <dcterms:created xsi:type="dcterms:W3CDTF">2006-08-16T00:00:00Z</dcterms:created>
  <dcterms:modified xsi:type="dcterms:W3CDTF">2026-09-24T09:43:28Z</dcterms:modified>
  <dc:identifier>DAGxw7JC5gY</dc:identifier>
</cp:coreProperties>
</file>