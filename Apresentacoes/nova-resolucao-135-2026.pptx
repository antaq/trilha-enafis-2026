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8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555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CE5-5D41-088C-C423-E2CD64EB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EF29F-308D-6764-4DB3-12A882FC4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8DE28-C63D-D16A-2FEE-3EA0D0758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B195-7F0B-9068-8CF2-A148ABE3C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4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5486400" cy="5486400"/>
          </a:xfrm>
          <a:prstGeom prst="ellipse">
            <a:avLst/>
          </a:prstGeom>
          <a:solidFill>
            <a:srgbClr val="1B2A55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512064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698480" y="5943600"/>
            <a:ext cx="2743200" cy="274320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Resolução ANTAQ nº 135/2026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no exercício das atividades fiscalizatórias e no processo sancionador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40080" y="4709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a Resolução nº 3.259/2014 (compilada) e a Resolução nº 135/2026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 25 de 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— TOTALMENTE NOVO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de solução consensual pré-fiscalizatória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principal destaque estrutural da nova Resolução: antes de qualquer ação fiscalizadora, o setor regulado pode resolver controvérsias de forma autônoma e consensual, sem a intervenção imediata da Agência (arts. 5º e 6º).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define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Superintendência de Fiscalização (SFC) define, por ato específico, quais demandas podem ser objeto de solução consensual e os procedimentos aplicáveis.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5720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566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Autocomposição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02336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regulado busca resolver a controvérsia de forma autônoma, sem abertura imediata de processo fiscalizatório.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321040" y="29260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3210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66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resolver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02336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não resolução da demanda pela via consensual implica a instauração de ação fiscalizadora regular.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para o fiscal: novo filtro procedimental antes da </a:t>
            </a:r>
            <a:r>
              <a:rPr lang="en-US" sz="1200" i="1" dirty="0" err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instauração</a:t>
            </a:r>
            <a:r>
              <a:rPr lang="en-US" sz="1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fiscalizadora: equipe mínima de 2 agentes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(Res. 3.259)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havia exigência expressa de número mínimo de agentes para compor a equipe de fiscalização. A ordem de serviço definia apenas o objeto, as datas e a designação da equipe, sem quantitativo mínimo.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424160" y="17647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10424160" y="1764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783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(Res. 135/2026)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402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 fiscalização deve ser formada por dois ou mais agentes (§2º). A alocação de apenas um agente é excepcional e exige autorização da SFC, somente em: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632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Situações de urgência, com indisponibilidade comprovada de outros servidores e garantia de segurança do agente; ou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886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Ações de natureza meramente documental, sem diligências presenciais, preservando-se a rastreabilidade do processo.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8º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ação fiscalizadora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Ordinária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 no âmbito do PAF — mesma lógica da norma anterior (art. 5º da Res. 3.259).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Extraordinária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Iniciada por denúncia, representação, demandas de outras unidades, achados de ofício e demais demandas extraordinárias — conceito ampliado em relação à norma anterior.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0515600" y="18105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10515600" y="18105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1874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231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específico na prestação do serviço adequado, executada de forma presencial. Dispensa ordem de serviço e a instauração de processo administrativo fiscalizatório; basta registro eletrônico com os requisitos mínimos.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7º 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Diligências: inclusão da apuração telemática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de ação fiscalizadora passa a admitir expressamente a apuração telemática (digital/remota), além da física e documental já previstas.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presencial de instalações, embarcações e equipamentos — já prevista na norma anterior.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 txBox="1"/>
          <p:nvPr/>
        </p:nvSpPr>
        <p:spPr>
          <a:xfrm>
            <a:off x="457200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718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documentos e dados — já prevista na norma anterior.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ECD8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Shape 10"/>
          <p:cNvSpPr/>
          <p:nvPr/>
        </p:nvSpPr>
        <p:spPr>
          <a:xfrm>
            <a:off x="10515600" y="25420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 txBox="1"/>
          <p:nvPr/>
        </p:nvSpPr>
        <p:spPr>
          <a:xfrm>
            <a:off x="10515600" y="25420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Telemática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718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por meios digitais e remotos — modalidade agora expressamente reconhecida.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11 A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Identificada a infração: dois caminhos possíveis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identificar autoria e materialidade de infração, a equipe de fiscalização escolhe entre notificar para correção ou já lavrar auto de </a:t>
            </a:r>
            <a:r>
              <a:rPr lang="en-US" sz="1600" dirty="0" err="1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Notificação para correção (art. 12)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ao fiscalizado a autoria e a materialidade da infração e concede prazo para regularização, conforme critérios definidos pela SFC.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Auto de infração (art. 13)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Lavrado preferencialmente em meio eletrônico, já indicando o prazo de defesa dentro do próprio auto.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 txBox="1"/>
          <p:nvPr/>
        </p:nvSpPr>
        <p:spPr>
          <a:xfrm>
            <a:off x="836676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Conclusão (art. 15)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30632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Arquivamento (sem irregularidade ou com regularização) OU conversão em processo administrativo sancionador (com auto de infração).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7ECD8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5" name="Shape 13"/>
          <p:cNvSpPr/>
          <p:nvPr/>
        </p:nvSpPr>
        <p:spPr>
          <a:xfrm>
            <a:off x="10561320" y="48920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6" name="Text 14"/>
          <p:cNvSpPr txBox="1"/>
          <p:nvPr/>
        </p:nvSpPr>
        <p:spPr>
          <a:xfrm>
            <a:off x="10561320" y="48920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fiscalização (art. 14): ao final de toda ação fiscalizadora, a equipe deve elaborar relatório com procedimentos adotados, diligências, irregularidades, notificações, cautelares e autos de infração lavrados — exigência formal e sistemática que não existia como tal na norma anterior.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 (ANTIGO ART. 18)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000" b="1" dirty="0" err="1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Fiscalização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02920" y="1600200"/>
            <a:ext cx="11109960" cy="4480560"/>
          </a:xfrm>
          <a:prstGeom prst="roundRect">
            <a:avLst>
              <a:gd name="adj" fmla="val 1633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424160" y="17647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10424160" y="1764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3920" y="1600200"/>
            <a:ext cx="104546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600" dirty="0">
                <a:solidFill>
                  <a:schemeClr val="bg1"/>
                </a:solidFill>
              </a:rPr>
              <a:t>Art. 14. Ao final da ação fiscalizadora, a equipe de fiscalização </a:t>
            </a:r>
            <a:r>
              <a:rPr lang="pt-BR" sz="1600" dirty="0">
                <a:solidFill>
                  <a:srgbClr val="FFC000"/>
                </a:solidFill>
              </a:rPr>
              <a:t>deverá</a:t>
            </a:r>
            <a:r>
              <a:rPr lang="pt-BR" sz="1600" dirty="0">
                <a:solidFill>
                  <a:schemeClr val="bg1"/>
                </a:solidFill>
              </a:rPr>
              <a:t> elaborar relatório de fiscalização, contendo informações </a:t>
            </a:r>
            <a:r>
              <a:rPr lang="pt-BR" sz="1600" dirty="0" err="1">
                <a:solidFill>
                  <a:schemeClr val="bg1"/>
                </a:solidFill>
              </a:rPr>
              <a:t>objetivassobre</a:t>
            </a:r>
            <a:r>
              <a:rPr lang="pt-BR" sz="1600" dirty="0">
                <a:solidFill>
                  <a:schemeClr val="bg1"/>
                </a:solidFill>
              </a:rPr>
              <a:t>, no que for cabível:</a:t>
            </a:r>
          </a:p>
          <a:p>
            <a:r>
              <a:rPr lang="pt-BR" sz="1600" dirty="0">
                <a:solidFill>
                  <a:schemeClr val="bg1"/>
                </a:solidFill>
              </a:rPr>
              <a:t>I - os procedimentos adotados pela equipe de fiscalização;</a:t>
            </a:r>
          </a:p>
          <a:p>
            <a:r>
              <a:rPr lang="pt-BR" sz="1600" dirty="0">
                <a:solidFill>
                  <a:schemeClr val="bg1"/>
                </a:solidFill>
              </a:rPr>
              <a:t>II - as diligências realizadas;</a:t>
            </a:r>
          </a:p>
          <a:p>
            <a:r>
              <a:rPr lang="pt-BR" sz="1600" dirty="0">
                <a:solidFill>
                  <a:schemeClr val="bg1"/>
                </a:solidFill>
              </a:rPr>
              <a:t>III - as reuniões realizadas com o fiscalizado ou terceiros envolvidos;</a:t>
            </a:r>
          </a:p>
          <a:p>
            <a:r>
              <a:rPr lang="pt-BR" sz="1600" dirty="0">
                <a:solidFill>
                  <a:schemeClr val="bg1"/>
                </a:solidFill>
              </a:rPr>
              <a:t>IV - as irregularidades observadas;</a:t>
            </a:r>
          </a:p>
          <a:p>
            <a:r>
              <a:rPr lang="pt-BR" sz="1600" dirty="0">
                <a:solidFill>
                  <a:schemeClr val="bg1"/>
                </a:solidFill>
              </a:rPr>
              <a:t>V - as notificações para correção de irregularidade emitidas, bem como o cumprimento ou não de tais notificações;</a:t>
            </a:r>
          </a:p>
          <a:p>
            <a:r>
              <a:rPr lang="pt-BR" sz="1600" dirty="0">
                <a:solidFill>
                  <a:schemeClr val="bg1"/>
                </a:solidFill>
              </a:rPr>
              <a:t>VI - as medidas cautelares aplicadas, com as razões que as fundamentaram e recomendações quanto a sua manutenção;</a:t>
            </a:r>
          </a:p>
          <a:p>
            <a:r>
              <a:rPr lang="pt-BR" sz="1600" dirty="0">
                <a:solidFill>
                  <a:schemeClr val="bg1"/>
                </a:solidFill>
              </a:rPr>
              <a:t>VII - os autos de infração lavrados, com as razões que os fundamentaram e os documentos que sustentam a materialidade das infrações;</a:t>
            </a:r>
          </a:p>
          <a:p>
            <a:r>
              <a:rPr lang="pt-BR" sz="1600" dirty="0">
                <a:solidFill>
                  <a:schemeClr val="bg1"/>
                </a:solidFill>
              </a:rPr>
              <a:t>VIII - registros fotográficos; e</a:t>
            </a:r>
          </a:p>
          <a:p>
            <a:r>
              <a:rPr lang="pt-BR" sz="1600" dirty="0">
                <a:solidFill>
                  <a:schemeClr val="bg1"/>
                </a:solidFill>
              </a:rPr>
              <a:t>IX - outras informações que julgar pertinentes.</a:t>
            </a:r>
          </a:p>
          <a:p>
            <a:r>
              <a:rPr lang="pt-BR" sz="1600" dirty="0">
                <a:solidFill>
                  <a:schemeClr val="bg1"/>
                </a:solidFill>
              </a:rPr>
              <a:t>Parágrafo único. Os documentos referentes à ação fiscalizadora devem ser inseridos nos autos do processo administrativo fiscalizatório preferencialmente em ordem </a:t>
            </a:r>
            <a:r>
              <a:rPr lang="pt-BR" sz="1600" dirty="0">
                <a:solidFill>
                  <a:srgbClr val="FFC000"/>
                </a:solidFill>
              </a:rPr>
              <a:t>cronológica</a:t>
            </a:r>
            <a:r>
              <a:rPr lang="pt-BR" sz="1600" dirty="0">
                <a:solidFill>
                  <a:schemeClr val="bg1"/>
                </a:solidFill>
              </a:rPr>
              <a:t> de elaboração.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96CCC-2332-F2C7-9DAA-165140B5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42C901-BAFE-EAD7-8C4D-983763D6873B}"/>
              </a:ext>
            </a:extLst>
          </p:cNvPr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 (ANTIGO ART. 18)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93A89C-3461-55EF-4FB6-A4B2313D3615}"/>
              </a:ext>
            </a:extLst>
          </p:cNvPr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de infração: o que muda nos requisitos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ACEB1F-AF01-3C64-D9E1-6EF3CBE6CCF8}"/>
              </a:ext>
            </a:extLst>
          </p:cNvPr>
          <p:cNvSpPr/>
          <p:nvPr/>
        </p:nvSpPr>
        <p:spPr>
          <a:xfrm>
            <a:off x="502920" y="1600200"/>
            <a:ext cx="11109960" cy="4480560"/>
          </a:xfrm>
          <a:prstGeom prst="roundRect">
            <a:avLst>
              <a:gd name="adj" fmla="val 1633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8B9A9B6-798C-068B-81EF-72E2FD07534B}"/>
              </a:ext>
            </a:extLst>
          </p:cNvPr>
          <p:cNvSpPr/>
          <p:nvPr/>
        </p:nvSpPr>
        <p:spPr>
          <a:xfrm>
            <a:off x="10424160" y="17647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559B4E4-43AE-B44E-8D22-C16576237605}"/>
              </a:ext>
            </a:extLst>
          </p:cNvPr>
          <p:cNvSpPr txBox="1"/>
          <p:nvPr/>
        </p:nvSpPr>
        <p:spPr>
          <a:xfrm>
            <a:off x="10424160" y="1764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0E8643-9F11-CD3A-991B-AFFB2064A0FD}"/>
              </a:ext>
            </a:extLst>
          </p:cNvPr>
          <p:cNvSpPr txBox="1"/>
          <p:nvPr/>
        </p:nvSpPr>
        <p:spPr>
          <a:xfrm>
            <a:off x="883920" y="2194560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Lavrado preferencialmente em meio eletrônico — sem exigência de blocos físicos numerados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8E215F-7995-91F0-F1A3-E58DA087177F}"/>
              </a:ext>
            </a:extLst>
          </p:cNvPr>
          <p:cNvSpPr txBox="1"/>
          <p:nvPr/>
        </p:nvSpPr>
        <p:spPr>
          <a:xfrm>
            <a:off x="883920" y="2852928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Numeração sequencial; CPF/CNPJ (matriz ou filial); endereço eletrônico, se disponível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7356015-C83D-AEC1-B92A-50CEFEC0406B}"/>
              </a:ext>
            </a:extLst>
          </p:cNvPr>
          <p:cNvSpPr txBox="1"/>
          <p:nvPr/>
        </p:nvSpPr>
        <p:spPr>
          <a:xfrm>
            <a:off x="883920" y="3511296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Descrição </a:t>
            </a:r>
            <a:r>
              <a:rPr lang="en-US" sz="16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objetiva, direta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facilite o entendimento da conduta irregular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CD1E1AB-109B-F89D-97D7-850D9C30A8BE}"/>
              </a:ext>
            </a:extLst>
          </p:cNvPr>
          <p:cNvSpPr txBox="1"/>
          <p:nvPr/>
        </p:nvSpPr>
        <p:spPr>
          <a:xfrm>
            <a:off x="883920" y="4169664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Indicação expressa do prazo para apresentação de defesa dentro do próprio auto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42419C2-1963-D0E4-2E82-DEBF48077223}"/>
              </a:ext>
            </a:extLst>
          </p:cNvPr>
          <p:cNvSpPr txBox="1"/>
          <p:nvPr/>
        </p:nvSpPr>
        <p:spPr>
          <a:xfrm>
            <a:off x="883920" y="4828032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lavrado de ofício, exige relatório técnico fundamentando autoria e materialidade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633D89A-9676-37E7-BDA2-3D5554B2C5B1}"/>
              </a:ext>
            </a:extLst>
          </p:cNvPr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BD024F0-1A2B-E1CC-BA3E-213810CA93DB}"/>
              </a:ext>
            </a:extLst>
          </p:cNvPr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4722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16 A 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</a:t>
            </a: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cautelares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interdição deixa de ser a única medida cautelar prevista. A Resolução 135/2026 cria, ao lado dela, a obrigação de fazer e de não fazer, ambas fundamentadas em perigo da demora e probabilidade do direito.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Interdição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0060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 parcial de áreas, instalações, estabelecimentos, operações, atividades, embarcações ou equipamentos. Mantém a lógica da norma anterior: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0561320" y="25420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561320" y="25420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603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Obrigação de fazer / </a:t>
            </a:r>
            <a:r>
              <a:rPr lang="en-US" sz="15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</a:t>
            </a: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fazer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95244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Cabível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quando: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preciso cessar imediatamente a infração;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houver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descumprimento de solicitação da equipe;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risco de danos irreversíveis aos usuários, ao mercado, à segurança, ao meio ambiente ou ao patrimônio público.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clara, objetiva, individualizada e sem determinações impossíveis de cumprir.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são autoexecutórias e não impedem a lavratura do auto de infração nem o andamento do processo (art. 17, §3º).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18, 27 A 29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das cautelares e multa diária coercitiva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de comunicação em cadeia (art. 18)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12h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</a:t>
            </a:r>
            <a:r>
              <a:rPr lang="en-US" sz="14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SFC, com análise de impacto ao mercado e aos usuários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9080" y="2587752"/>
            <a:ext cx="228600" cy="0"/>
          </a:xfrm>
          <a:prstGeom prst="line">
            <a:avLst/>
          </a:prstGeom>
          <a:noFill/>
          <a:ln w="19050">
            <a:solidFill>
              <a:srgbClr val="58607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3 dias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comunica a Diretoria Colegiada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2587752"/>
            <a:ext cx="228600" cy="0"/>
          </a:xfrm>
          <a:prstGeom prst="line">
            <a:avLst/>
          </a:prstGeom>
          <a:noFill/>
          <a:ln w="19050">
            <a:solidFill>
              <a:srgbClr val="58607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qualquer tempo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468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Colegiada pode suspender a medida cautelar, motivadamente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39"/>
            <a:ext cx="11064240" cy="2798063"/>
          </a:xfrm>
          <a:prstGeom prst="roundRect">
            <a:avLst>
              <a:gd name="adj" fmla="val 3019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0607040" y="36850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10607040" y="36850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Multa diária de caráter coercitivo (arts. 27 a 29)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206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inteiramente novo para forçar o cumprimento de medida cautelar. Fixada pela autoridade julgadora, no valor de 5% do valor teto da infração tipificada, por dia. A contagem dos dias-multa: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" y="50749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Cessa no efetivo cumprimento comprovado da obrigação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" y="54330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 ausência de comunicação formal de cumprimento, usa-se a data do julgamento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" y="5779007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Reinicia a contagem caso a obrigação não seja cumprida integralmente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31 A 39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Defesa e provas no processo sancionador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Defesa em 30 dias, podia ser protocolada em qualquer unidade organizacional da Antaq (física)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Provas requeridas na defesa deveriam ser produzidas até o encaminhamento à autoridade julgadora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Prova de fatos alegados cabia ao autuado, ressalvado art. 37 da Lei 9.784/1999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Comunicação predominantemente por via postal ou pessoal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0424160" y="17647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 txBox="1"/>
          <p:nvPr/>
        </p:nvSpPr>
        <p:spPr>
          <a:xfrm>
            <a:off x="10424160" y="1764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7830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945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Defesa mantém prazo de 30 dias, mas é protocolada digitalmente no processo eletrônico (SEI); físico só em indisponibilidade do sistema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2232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Provas devem ser indicadas já na defesa/recurso, sob pena de preclusão — só admite exceção em força maior, fato superveniente ou contraponto a fato novo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2748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Prova cabe ao autuado, ressalvado o que constar em base de dados oficial da Administração Pública Federal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029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Comunicações preferencialmente eletrônicas, consideradas pessoais para todos os efeitos legais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40 E 41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Competência para julgamento: faixas mantidas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aseline="-250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faixas de valor que definem a natureza da infração (leve, média, grave, gravíssima) permanecem idênticas às da norma anterior — o que muda é a nomenclatura entre multa "em abstrato" (valor máximo previsto) e "em concreto" (valor após a dosimetria), agora formalizada no art. 41.</a:t>
            </a:r>
            <a:endParaRPr lang="en-US" sz="2400" baseline="-25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em abstrato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julgadora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56692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0632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R$ 150.000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632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 da Unidade Regional / Gerente Regional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3016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2960" y="36301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63016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R$ 150.000 a R$ 300.000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63016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Regional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11064240" cy="56692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22960" y="419709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419709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R$ 300.000 a R$ 600.000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9709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Superintendente de Fiscalização (SFC)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64024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822960" y="47640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Gravíssima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7640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R$ 600.000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7640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Colegiada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44 A 47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dosimétrico: critérios atualizados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dosimetria passa a seguir modelo definido pela SFC, considerando gravidade, faturamento bruto anual, agravantes e atenuantes.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Atenuantes (art. 45)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Comunicação espontânea da infração antes da identificação pela Antaq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92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Correção espontânea e eficaz da irregularidade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4106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Adoção espontânea de medidas reparadoras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6285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Infração cometida para impedir acidente, desastre ou crime de terceiros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846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Primariedade do infrator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 txBox="1"/>
          <p:nvPr/>
        </p:nvSpPr>
        <p:spPr>
          <a:xfrm>
            <a:off x="653796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Agravantes (art. 46)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6974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Exposição a risco ou prejuízo à segurança, saúde, meio ambiente, serviço, patrimônio ou usuários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319272"/>
            <a:ext cx="4800600" cy="437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Dano a bens públicos ou particulares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822192"/>
            <a:ext cx="4800600" cy="437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Facilitação ou acobertamento de outra infração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4196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Prática em calamidade pública ou com incidente diplomático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00176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Reincidência genérica ou específica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378440" y="22677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0" name="Text 18"/>
          <p:cNvSpPr txBox="1"/>
          <p:nvPr/>
        </p:nvSpPr>
        <p:spPr>
          <a:xfrm>
            <a:off x="10378440" y="22677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532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Novidade: descumprimento de medida cautelar referente ao mesmo fato passa a ser agravante expresso (art. 46, VIII).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69 A 73 — NOVA TIPOLOGIA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Concurso de infrações: quatro figuras agora disciplinadas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881360" y="38404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 anterior só tratava do concurso material (art. 22, §único). Agora, quatro figuras distintas orientam a dosimetria: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Concurso material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uma ação/omissão gera duas ou mais infrações. Penalidades aplicadas cumulativamente — regra já existia.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2402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1" name="Text 9"/>
          <p:cNvSpPr txBox="1"/>
          <p:nvPr/>
        </p:nvSpPr>
        <p:spPr>
          <a:xfrm>
            <a:off x="640080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Concurso formal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só ação/omissão gera duas ou mais infrações. Aplica-se a mais grave, exasperada por fórmula técnica da Diretoria.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Infração continuada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de infrações da mesma espécie, em circunstâncias semelhantes. Penalidade única, majorada; autuação interrompe a continuidade.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7" name="Text 15"/>
          <p:cNvSpPr txBox="1"/>
          <p:nvPr/>
        </p:nvSpPr>
        <p:spPr>
          <a:xfrm>
            <a:off x="6400800" y="4251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Infração permanente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6634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 que se prolonga no tempo. Consuma-se na constatação; prescrição só corre após cessar a permanência.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65 E 66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Cassação: critérios objetivos e quantificados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 anterior condicionava a cassação a conceitos abertos (reincidência reiterada, prejuízo relevante). A Resolução 135/2026 fixa gatilhos numéricos objetivos, reduzindo a margem de discricionariedade: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EC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560320"/>
            <a:ext cx="3337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Reincidência específica em infração idêntica, no intervalo de 2 anos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2423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EC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400800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560320"/>
            <a:ext cx="3337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Reincidências genéricas no intervalo de 3 anos, com prejuízo a serviços, usuários, mercado, segurança, meio ambiente, patrimônio ou interesse público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gatilhos mantidos (também cumuláveis com multa):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Transferência irregular da execução das atividades outorgadas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566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Impedimento ou dificuldade relevante/duradoura ao exercício da fiscalização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04104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Descumprimento de penalidade de suspensão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Impedimento em licitações após cassação/inidoneidade/caducidade: reduzido de 5 para 3 anos (art. 68).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51 E 62-63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incentivo: desconto de 30% na multa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91840" y="1828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3291840" y="182880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6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desconto sobre a multa em caso de pagamento na primeira instância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2880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autuado que optar por pagar a multa (ou parcelá-la) logo após a decisão de primeira instância recebe desconto de 30% sobre o valor. Em contrapartida, isso importa aceitação do julgamento — tanto quanto à subsistência da infração quanto ao cálculo dosimétrico — e renúncia ao direito de recurso (art. 63, §2º).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520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352044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no prazo de 30 dias após a notificação, sem previsão de desconto (art. 45, II, da Res. 3.259).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44805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Agora: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448056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de 30% ou parcelamento facultado já na primeira instância, condicionado à renúncia ao recurso.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74 A 82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Recursos: instância única e novos embargos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 administrativo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Prazo de 30 dias, efeito suspensivo e devolutivo — mantido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Interposição suspende a exigibilidade da multa (novidade expressa)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Tramita no máximo em uma instância recursal, salvo disposição legal diversa (novo limite formal)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Autoridades recursais: Gerente de Recursos e Apoio Técnico (antigo Gerente de Apoio Técnico) e Diretoria Colegiada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1" name="Shape 9"/>
          <p:cNvSpPr/>
          <p:nvPr/>
        </p:nvSpPr>
        <p:spPr>
          <a:xfrm>
            <a:off x="10561320" y="18105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 txBox="1"/>
          <p:nvPr/>
        </p:nvSpPr>
        <p:spPr>
          <a:xfrm>
            <a:off x="10561320" y="18105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8288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Embargos de declaração (art. 82)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Cabíveis por obscuridade, omissão ou contradição em julgamentos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3375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Prazo de 10 dias; decididos pela própria autoridade julgadora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1605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Não suspendem prazos de cumprimento, mas interrompem prazos recursais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9834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protelatórios: multa de 2% do valor teto, podendo chegar a 10% em reiteração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VIII — INTEIRAMENTE NOVO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 revisão do processo sancionador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881360" y="38404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sem equivalente na Resolução 3.259: permite reabrir excepcionalmente uma decisão já definitiva.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anos, contados do trânsito em julgado da decisão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00800" y="2468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803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novos ou circunstâncias relevantes que justifiquem a inadequação da sanção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efeito suspensivo; não pode agravar a sanção já aplicada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0" y="4251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Julgamento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6634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mesma autoridade que proferiu a decisão final, originária ou recursal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uma única vez, é autuado em autos apartados, relacionado ao processo sancionador de origem.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88 A 91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Comunicações: prioridade ao meio eletrônico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geral: correspondência postal com aviso de recebimento. Intimação eletrônica era possível apenas em caráter excepcional, condicionada à existência de tecnologia disponível e à anuência expressa do autuado, formalizada em termo próprio.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A55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8" name="Shape 6"/>
          <p:cNvSpPr/>
          <p:nvPr/>
        </p:nvSpPr>
        <p:spPr>
          <a:xfrm>
            <a:off x="10424160" y="17647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 txBox="1"/>
          <p:nvPr/>
        </p:nvSpPr>
        <p:spPr>
          <a:xfrm>
            <a:off x="10424160" y="1764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7830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geral: comunicação preferencialmente eletrônica (sistema, mensagens ou correio eletrônico), considerada pessoal para todos os efeitos legais. Via postal, pessoal, protocolo ou edital passam a ser alternativas subsidiárias, usadas apenas quando o meio eletrônico for inviável ou indisponível.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do regulado: manter os dados cadastrais sempre atualizados junto à Antaq (art. 88, §1º).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99 A 101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Vigência e revogações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EC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vacância entre a publicação e a entrada em vigor da Resolução 135/2026 (art. 101)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37960" y="1737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é o prazo para a SFC editar os atos normativos complementares necessários à plena eficácia da Resolução (art. 99)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expressamente revogadas (art. 100):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Antaq nº 3.259, de 30/01/2014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2960" y="45994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Normativa nº 6, de 17/05/2016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2960" y="5038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Antaq nº 78, de 28/06/2022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77256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5E9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22960" y="547725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30 da Resolução Antaq nº 92, de 15/12/2022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transição (art. 97): a Resolução 135/2026 aplica-se aos processos em curso, respeitados os atos já praticados e as situações jurídicas consolidadas sob as normas anteriores.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|  Resolução ANTAQ nº 135/2026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B2A55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D9A441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discussão sobre a aplicação prática da Resolução ANTAQ nº 135/2026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7724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2026  ·  Encontro Nacional de Fiscais  ·  21 a 25 de setembro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2724</Words>
  <Application>Microsoft Office PowerPoint</Application>
  <PresentationFormat>Widescreen</PresentationFormat>
  <Paragraphs>299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Flavia Mendonça de Araujo Pontilhão</cp:lastModifiedBy>
  <cp:revision>4</cp:revision>
  <dcterms:created xsi:type="dcterms:W3CDTF">2026-09-19T20:36:37Z</dcterms:created>
  <dcterms:modified xsi:type="dcterms:W3CDTF">2026-09-20T01:21:28Z</dcterms:modified>
</cp:coreProperties>
</file>