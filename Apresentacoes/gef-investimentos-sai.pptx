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57" r:id="rId6"/>
    <p:sldId id="259" r:id="rId7"/>
    <p:sldId id="260" r:id="rId8"/>
    <p:sldId id="261" r:id="rId9"/>
    <p:sldId id="278" r:id="rId10"/>
    <p:sldId id="288" r:id="rId11"/>
    <p:sldId id="289" r:id="rId12"/>
    <p:sldId id="262" r:id="rId13"/>
    <p:sldId id="263" r:id="rId14"/>
    <p:sldId id="264" r:id="rId15"/>
    <p:sldId id="265" r:id="rId16"/>
    <p:sldId id="266" r:id="rId17"/>
    <p:sldId id="268" r:id="rId18"/>
    <p:sldId id="269" r:id="rId19"/>
    <p:sldId id="286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9" r:id="rId28"/>
    <p:sldId id="280" r:id="rId29"/>
    <p:sldId id="281" r:id="rId30"/>
    <p:sldId id="287" r:id="rId31"/>
    <p:sldId id="282" r:id="rId32"/>
    <p:sldId id="283" r:id="rId33"/>
    <p:sldId id="258" r:id="rId34"/>
    <p:sldId id="285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A70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003A70"/>
                </a:solidFill>
                <a:latin typeface="Calibri"/>
              </a:rPr>
              <a:t>Distribuição regional mapeada (110 contratos)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Contratos</c:v>
                </c:pt>
              </c:strCache>
            </c:strRef>
          </c:tx>
          <c:spPr>
            <a:solidFill>
              <a:srgbClr val="003A7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F5B66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Nordeste</c:v>
                </c:pt>
                <c:pt idx="1">
                  <c:v>Sudeste</c:v>
                </c:pt>
                <c:pt idx="2">
                  <c:v>Sul</c:v>
                </c:pt>
                <c:pt idx="3">
                  <c:v>Norte</c:v>
                </c:pt>
                <c:pt idx="4">
                  <c:v>Centro-Oeste / Outros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32</c:v>
                </c:pt>
                <c:pt idx="2">
                  <c:v>20</c:v>
                </c:pt>
                <c:pt idx="3">
                  <c:v>17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9C-4D8E-83F1-0D9A702069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F5B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  <c:showDLblsOverMax val="1"/>
  </c:chart>
  <c:spPr>
    <a:noFill/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168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AB95F-A2CA-8B74-54A0-D99A88DD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EB976-2EAA-AC1A-115B-58666A023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8E9DA-C30F-892B-0D32-0E13DA6F5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ECBC8-7E77-57CE-12BC-B729F8D83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6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EE419-B134-06EC-CCFD-CCC9A8105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C5175-79FA-CE7E-070B-F50B19F55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B9001-17E2-0D9D-003C-7B87B6387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3BAC7-26A2-BCEF-D9B5-77620D314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72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5F00C-882D-0DD3-51B2-366E5C621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713D4-71CA-66BE-18C0-265F2A0BF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0E7DC-C63F-4801-B658-AAA263160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BF8D3-C263-0144-8258-9D48AF2D8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42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56FA8-2EE9-3552-DECA-9F62D187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993F4-B529-949A-1158-521315611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D14C1-18D9-C82A-35DC-8B884B302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05953-A242-35B4-D336-142E7A213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069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logo/antaq_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639" y="365760"/>
            <a:ext cx="462416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6400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9F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NACIONAL DE TRANSPORTES AQUAVIÁRIOS  ·  SFC / GCOR / GEF INVESTIMENTOS</a:t>
            </a:r>
            <a:endParaRPr lang="en-US" sz="1600" b="1" dirty="0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Fiscalizar melhor começa por receber melhor informação.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4251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padronização e a rastreabilidade dos dados ampliam a capacidade fiscalizatória da ANTAQ sobre os investimentos portuários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97880"/>
            <a:ext cx="2926080" cy="0"/>
          </a:xfrm>
          <a:prstGeom prst="line">
            <a:avLst/>
          </a:prstGeom>
          <a:noFill/>
          <a:ln w="19050">
            <a:solidFill>
              <a:srgbClr val="B88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ENAFIS  ·  Encontro Nacional de Fiscais  ·  ANTAQ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nesta apresentação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9659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55448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GEF Investimentos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23317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fiscalizado, modelo de especialização e mercado regulado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554480" y="2743200"/>
            <a:ext cx="9966960" cy="0"/>
          </a:xfrm>
          <a:prstGeom prst="line">
            <a:avLst/>
          </a:prstGeom>
          <a:noFill/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554480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e a mudança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54480" y="32461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RAPIR em papel ao relatório eletrônico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554480" y="3657600"/>
            <a:ext cx="9966960" cy="0"/>
          </a:xfrm>
          <a:prstGeom prst="line">
            <a:avLst/>
          </a:prstGeom>
          <a:noFill/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48640" y="37947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554480" y="3794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SAI funciona na prática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54480" y="41605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Fluxo, papéis, princípios de qualidade e arquitetura do sistema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554480" y="4572000"/>
            <a:ext cx="9966960" cy="0"/>
          </a:xfrm>
          <a:prstGeom prst="line">
            <a:avLst/>
          </a:prstGeom>
          <a:noFill/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48640" y="47091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55448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ganhos e o panorama nacional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54480" y="50749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ganhos concretos e o mapeamento dos 110 contratos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554480" y="5486400"/>
            <a:ext cx="9966960" cy="0"/>
          </a:xfrm>
          <a:prstGeom prst="line">
            <a:avLst/>
          </a:prstGeom>
          <a:noFill/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48640" y="56235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554480" y="5623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espera do SAI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554480" y="59893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institucional e próximos passos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1554480" y="6400800"/>
            <a:ext cx="9966960" cy="0"/>
          </a:xfrm>
          <a:prstGeom prst="line">
            <a:avLst/>
          </a:prstGeom>
          <a:noFill/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cs typeface="Calibri" pitchFamily="34" charset="-120"/>
              </a:rPr>
              <a:t>UNIVERSO FISCALIZATÓRIO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GEF Investimentos fiscaliza um </a:t>
            </a:r>
            <a:r>
              <a:rPr lang="en-US" sz="3000" b="1" dirty="0" err="1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universo</a:t>
            </a: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amplo</a:t>
            </a: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contratos: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2670048" cy="3291840"/>
          </a:xfrm>
          <a:prstGeom prst="roundRect">
            <a:avLst>
              <a:gd name="adj" fmla="val 2055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49808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 obrigatórios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2304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Cumprimento dos planos de investimento previstos em contratos de arrendamento</a:t>
            </a:r>
            <a:endParaRPr lang="en-US" sz="105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3346704" y="1965960"/>
            <a:ext cx="2670048" cy="3291840"/>
          </a:xfrm>
          <a:prstGeom prst="roundRect">
            <a:avLst>
              <a:gd name="adj" fmla="val 2055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547872" y="2167128"/>
            <a:ext cx="384048" cy="384048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547872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29584" y="27432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debêntures incentivadas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529584" y="3520440"/>
            <a:ext cx="2304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projetos financiados por debêntures vinculadas à infraestrutura portuária</a:t>
            </a:r>
            <a:endParaRPr lang="en-US" sz="105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144768" y="1965960"/>
            <a:ext cx="2670048" cy="3291840"/>
          </a:xfrm>
          <a:prstGeom prst="roundRect">
            <a:avLst>
              <a:gd name="adj" fmla="val 2055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6345936" y="2167128"/>
            <a:ext cx="384048" cy="384048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345936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27648" y="27432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 por revisão tarifária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327648" y="3520440"/>
            <a:ext cx="2304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investimentos que embasam processos de revisão de tarifas portuárias</a:t>
            </a:r>
            <a:endParaRPr lang="en-US" sz="105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942832" y="1965960"/>
            <a:ext cx="2670048" cy="3291840"/>
          </a:xfrm>
          <a:prstGeom prst="roundRect">
            <a:avLst>
              <a:gd name="adj" fmla="val 2055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9144000" y="2167128"/>
            <a:ext cx="384048" cy="384048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914400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125712" y="27432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de investimentos ("as built")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125712" y="3520440"/>
            <a:ext cx="23042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de que a obra executada corresponde ao que foi aprovado e autorizado</a:t>
            </a:r>
            <a:endParaRPr lang="en-US" sz="105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639" y="365760"/>
            <a:ext cx="462416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regulado sob fiscalização do GEF, em números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37744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1F50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8640" y="2697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instalações portuárias privadas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237744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1F50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337560" y="2697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352044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arrendamento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237744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1F50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126480" y="2697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630936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autoridades portuárias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15400" y="237744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1F50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915400" y="2697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909828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emissões de debêntures incentivadas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desses números representa contratos, instalações e emissões que hoje são acompanhados de forma padronizada pelo SAI.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MODELO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Especialização que vem dando certo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783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GEF permitiu uma curva de aprendizagem significativa ao longo de dois anos de existência: cada fiscal acompanha, nesse período, um mesmo bloco de investimentos obrigatórios (7 ou 15 contratos).</a:t>
            </a:r>
            <a:endParaRPr lang="en-US" sz="1600" b="1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77240" y="2971800"/>
            <a:ext cx="420624" cy="420624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expertise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trabalho, eficiência e produtividade ampliadas ao longo do acompanhamento contínuo.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27432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526280" y="2971800"/>
            <a:ext cx="420624" cy="420624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52628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2628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capacidade analítica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26280" y="41605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padronizados, disponíveis para consulta e análise a qualquer momento.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46720" y="27432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8275320" y="2971800"/>
            <a:ext cx="420624" cy="420624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827532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75320" y="3611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275320" y="416052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Cada fiscal </a:t>
            </a:r>
            <a:r>
              <a:rPr lang="en-US" sz="1200" dirty="0" err="1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conhece</a:t>
            </a:r>
            <a:r>
              <a:rPr lang="en-US" sz="1200" dirty="0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bem</a:t>
            </a:r>
            <a:r>
              <a:rPr lang="en-US" sz="1200" dirty="0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 o </a:t>
            </a:r>
            <a:r>
              <a:rPr lang="en-US" sz="1200" dirty="0" err="1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rito</a:t>
            </a:r>
            <a:r>
              <a:rPr lang="en-US" sz="1200" dirty="0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definido</a:t>
            </a:r>
            <a:r>
              <a:rPr lang="en-US" sz="1200" dirty="0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além</a:t>
            </a:r>
            <a:r>
              <a:rPr lang="en-US" sz="1200" dirty="0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 das </a:t>
            </a:r>
            <a:r>
              <a:rPr lang="en-US" sz="1200" dirty="0" err="1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particularidades</a:t>
            </a:r>
            <a:r>
              <a:rPr lang="en-US" sz="1200" dirty="0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 dos </a:t>
            </a:r>
            <a:r>
              <a:rPr lang="en-US" sz="1200" dirty="0" err="1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terminais</a:t>
            </a:r>
            <a:r>
              <a:rPr lang="en-US" sz="1200" dirty="0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 sob </a:t>
            </a:r>
            <a:r>
              <a:rPr lang="en-US" sz="1200" dirty="0" err="1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seu</a:t>
            </a:r>
            <a:r>
              <a:rPr lang="en-US" sz="1200" dirty="0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F5B66"/>
                </a:solidFill>
                <a:latin typeface="Calibri" pitchFamily="34" charset="0"/>
                <a:cs typeface="Calibri" pitchFamily="34" charset="-120"/>
              </a:rPr>
              <a:t>acopanhamento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cs typeface="Calibri" pitchFamily="34" charset="-120"/>
              </a:rPr>
              <a:t>FLUXO ATUAL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80956"/>
            <a:ext cx="11064240" cy="1657185"/>
          </a:xfrm>
          <a:prstGeom prst="roundRect">
            <a:avLst>
              <a:gd name="adj" fmla="val 1818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Text 3"/>
          <p:cNvSpPr/>
          <p:nvPr/>
        </p:nvSpPr>
        <p:spPr>
          <a:xfrm>
            <a:off x="3953163" y="20208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Ordem de Serviço nº 2/2026/SFC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257800" y="2661552"/>
            <a:ext cx="1554480" cy="365760"/>
          </a:xfrm>
          <a:prstGeom prst="rect">
            <a:avLst/>
          </a:prstGeom>
          <a:solidFill>
            <a:srgbClr val="B8892B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4023360"/>
            <a:ext cx="9692640" cy="0"/>
          </a:xfrm>
          <a:prstGeom prst="line">
            <a:avLst/>
          </a:prstGeom>
          <a:noFill/>
          <a:ln w="9525">
            <a:solidFill>
              <a:srgbClr val="C7D2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D05EF90-DFFB-2794-2953-225699C6C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56" y="3675888"/>
            <a:ext cx="11065199" cy="1688738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6B2E1C87-4C5D-23E5-0931-D0FFEB8BD78A}"/>
              </a:ext>
            </a:extLst>
          </p:cNvPr>
          <p:cNvSpPr txBox="1"/>
          <p:nvPr/>
        </p:nvSpPr>
        <p:spPr>
          <a:xfrm>
            <a:off x="2821709" y="3899357"/>
            <a:ext cx="65485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3A7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Transição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9DA95375-35F4-194B-A568-4E2BDB72F4F3}"/>
              </a:ext>
            </a:extLst>
          </p:cNvPr>
          <p:cNvSpPr/>
          <p:nvPr/>
        </p:nvSpPr>
        <p:spPr>
          <a:xfrm>
            <a:off x="5303520" y="4422927"/>
            <a:ext cx="1554480" cy="365760"/>
          </a:xfrm>
          <a:prstGeom prst="rect">
            <a:avLst/>
          </a:prstGeom>
          <a:solidFill>
            <a:srgbClr val="B8892B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 2027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B2F98-119E-F76C-9CCF-E95210C7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>
            <a:extLst>
              <a:ext uri="{FF2B5EF4-FFF2-40B4-BE49-F238E27FC236}">
                <a16:creationId xmlns:a16="http://schemas.microsoft.com/office/drawing/2014/main" id="{2F1F292E-3FC4-FB51-897B-1FF0E1A67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208DC3-4A63-08BF-B989-DB3AC2E4C4CA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cs typeface="Calibri" pitchFamily="34" charset="-120"/>
              </a:rPr>
              <a:t>FLUXO ATUAL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F77AC29-AE8B-D191-F440-6A34B080D269}"/>
              </a:ext>
            </a:extLst>
          </p:cNvPr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EE2D5B1-6DA2-1869-A807-0992FB084C54}"/>
              </a:ext>
            </a:extLst>
          </p:cNvPr>
          <p:cNvSpPr/>
          <p:nvPr/>
        </p:nvSpPr>
        <p:spPr>
          <a:xfrm>
            <a:off x="548640" y="1780956"/>
            <a:ext cx="11064240" cy="1657185"/>
          </a:xfrm>
          <a:prstGeom prst="roundRect">
            <a:avLst>
              <a:gd name="adj" fmla="val 1818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B937413-C5F7-1D51-E1A8-2040C92B2BF8}"/>
              </a:ext>
            </a:extLst>
          </p:cNvPr>
          <p:cNvSpPr/>
          <p:nvPr/>
        </p:nvSpPr>
        <p:spPr>
          <a:xfrm>
            <a:off x="3953163" y="20208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Ordem de Serviço nº 2/2026/SFC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DE5F018-B0D6-21B0-FB8B-2C3902E8C37A}"/>
              </a:ext>
            </a:extLst>
          </p:cNvPr>
          <p:cNvSpPr/>
          <p:nvPr/>
        </p:nvSpPr>
        <p:spPr>
          <a:xfrm>
            <a:off x="5257800" y="2661552"/>
            <a:ext cx="1554480" cy="365760"/>
          </a:xfrm>
          <a:prstGeom prst="rect">
            <a:avLst/>
          </a:prstGeom>
          <a:solidFill>
            <a:srgbClr val="B8892B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 2026</a:t>
            </a:r>
            <a:endParaRPr lang="en-US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AD7A22D-17DB-8A67-1AE9-91E046F4F4E8}"/>
              </a:ext>
            </a:extLst>
          </p:cNvPr>
          <p:cNvSpPr/>
          <p:nvPr/>
        </p:nvSpPr>
        <p:spPr>
          <a:xfrm>
            <a:off x="914400" y="4023360"/>
            <a:ext cx="9692640" cy="0"/>
          </a:xfrm>
          <a:prstGeom prst="line">
            <a:avLst/>
          </a:prstGeom>
          <a:noFill/>
          <a:ln w="9525">
            <a:solidFill>
              <a:srgbClr val="C7D2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6EB4569-F767-A541-43CB-09AAEC621360}"/>
              </a:ext>
            </a:extLst>
          </p:cNvPr>
          <p:cNvSpPr/>
          <p:nvPr/>
        </p:nvSpPr>
        <p:spPr>
          <a:xfrm>
            <a:off x="914400" y="42062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5A32290-45DB-CB0C-754A-C476FBDABE78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1F507FD-6A96-D65A-07A7-35A8E3585397}"/>
              </a:ext>
            </a:extLst>
          </p:cNvPr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51EDCE6-93BA-8DA6-3C10-B8AEB2F8B664}"/>
              </a:ext>
            </a:extLst>
          </p:cNvPr>
          <p:cNvSpPr txBox="1"/>
          <p:nvPr/>
        </p:nvSpPr>
        <p:spPr>
          <a:xfrm>
            <a:off x="1584960" y="3965451"/>
            <a:ext cx="1115568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3A7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Uma Fiscalização ao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003A7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ano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3A7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r>
              <a:rPr lang="en-US" sz="2000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dirty="0" err="1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independente</a:t>
            </a:r>
            <a:r>
              <a:rPr lang="en-US" sz="2000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 </a:t>
            </a:r>
            <a:r>
              <a:rPr lang="en-US" sz="2000" dirty="0" err="1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modalidade</a:t>
            </a:r>
            <a:r>
              <a:rPr lang="en-US" sz="2000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003A7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Início</a:t>
            </a:r>
            <a:r>
              <a:rPr lang="en-US" sz="2000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2000" dirty="0" err="1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fevereiro</a:t>
            </a:r>
            <a:r>
              <a:rPr lang="en-US" sz="2000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2026.</a:t>
            </a: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003A7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3A7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:  </a:t>
            </a:r>
            <a:r>
              <a:rPr lang="en-US" sz="2000" dirty="0" err="1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</a:t>
            </a:r>
            <a:r>
              <a:rPr lang="en-US" sz="2000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30/09/2026.</a:t>
            </a: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003A7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Consolidação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3A7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dos dados e </a:t>
            </a:r>
            <a:r>
              <a:rPr lang="en-US" sz="2000" dirty="0" err="1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r>
              <a:rPr lang="en-US" sz="2000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a </a:t>
            </a:r>
            <a:r>
              <a:rPr lang="en-US" sz="2000" dirty="0" err="1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Diretoria</a:t>
            </a:r>
            <a:r>
              <a:rPr lang="en-US" sz="2000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30/10/2026.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003A70"/>
              </a:solidFill>
              <a:effectLst/>
              <a:uLnTx/>
              <a:uFillTx/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346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F8B202-D91A-AF9E-2F9D-90A2AB570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>
            <a:extLst>
              <a:ext uri="{FF2B5EF4-FFF2-40B4-BE49-F238E27FC236}">
                <a16:creationId xmlns:a16="http://schemas.microsoft.com/office/drawing/2014/main" id="{7F3BDF4A-5DE4-DF80-95DD-873408F29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8607961-31F9-D556-5374-3EBBE2DA8EB9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cs typeface="Calibri" pitchFamily="34" charset="-120"/>
              </a:rPr>
              <a:t>FLUXO ATUAL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6CC7E85-F857-67BC-45D9-81BEED7550BB}"/>
              </a:ext>
            </a:extLst>
          </p:cNvPr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30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7EAAAD8-DF4C-3A81-93E1-11C029E4B210}"/>
              </a:ext>
            </a:extLst>
          </p:cNvPr>
          <p:cNvSpPr/>
          <p:nvPr/>
        </p:nvSpPr>
        <p:spPr>
          <a:xfrm>
            <a:off x="914400" y="4023360"/>
            <a:ext cx="9692640" cy="0"/>
          </a:xfrm>
          <a:prstGeom prst="line">
            <a:avLst/>
          </a:prstGeom>
          <a:noFill/>
          <a:ln w="9525">
            <a:solidFill>
              <a:srgbClr val="C7D2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FB97FD1-A07A-9CF4-5E8A-4E1EF6985744}"/>
              </a:ext>
            </a:extLst>
          </p:cNvPr>
          <p:cNvSpPr/>
          <p:nvPr/>
        </p:nvSpPr>
        <p:spPr>
          <a:xfrm>
            <a:off x="914400" y="42062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510CD2C-0689-66B6-DE1E-B9820E6C1929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9B84685-E3A5-B0F6-3BF2-727F08488B17}"/>
              </a:ext>
            </a:extLst>
          </p:cNvPr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9EC85CA-607A-71A9-8BA9-25220F4B3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1" y="1267895"/>
            <a:ext cx="11065199" cy="1688738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57720CF-D823-E124-171A-03090784CB12}"/>
              </a:ext>
            </a:extLst>
          </p:cNvPr>
          <p:cNvSpPr txBox="1"/>
          <p:nvPr/>
        </p:nvSpPr>
        <p:spPr>
          <a:xfrm>
            <a:off x="2760749" y="1504520"/>
            <a:ext cx="654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3A7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Transição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1C2ADB8-A05F-DE02-E18A-49C868FA56AC}"/>
              </a:ext>
            </a:extLst>
          </p:cNvPr>
          <p:cNvSpPr/>
          <p:nvPr/>
        </p:nvSpPr>
        <p:spPr>
          <a:xfrm>
            <a:off x="5257800" y="2242290"/>
            <a:ext cx="1554480" cy="365760"/>
          </a:xfrm>
          <a:prstGeom prst="rect">
            <a:avLst/>
          </a:prstGeom>
          <a:solidFill>
            <a:srgbClr val="B8892B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 2027</a:t>
            </a:r>
            <a:endParaRPr lang="en-US" sz="12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FE7A143-A889-1DE1-8799-5963EEA7DA8F}"/>
              </a:ext>
            </a:extLst>
          </p:cNvPr>
          <p:cNvSpPr txBox="1"/>
          <p:nvPr/>
        </p:nvSpPr>
        <p:spPr>
          <a:xfrm>
            <a:off x="1001221" y="3559326"/>
            <a:ext cx="11277295" cy="185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Coleta dos dados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bimestrais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desde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Janeiro de 2026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através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formulário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eletrônico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partir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do SAI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inserção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dos dados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diretamente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no Sistema.</a:t>
            </a: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Fiscalização 2027 –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todos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dados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estarão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dísponíveis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automaticamente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para o Fiscal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627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relatório em papel limitava a capacidade de análise técnica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11064240" cy="3154680"/>
          </a:xfrm>
          <a:prstGeom prst="roundRect">
            <a:avLst>
              <a:gd name="adj" fmla="val 1739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686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RAPIR em papel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868680" y="2688336"/>
            <a:ext cx="82296" cy="82296"/>
          </a:xfrm>
          <a:prstGeom prst="ellipse">
            <a:avLst/>
          </a:prstGeom>
          <a:solidFill>
            <a:srgbClr val="4F5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097280" y="26060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Tramitação física de documentos</a:t>
            </a:r>
            <a:endParaRPr lang="en-US" sz="1400" b="1" dirty="0"/>
          </a:p>
        </p:txBody>
      </p:sp>
      <p:sp>
        <p:nvSpPr>
          <p:cNvPr id="9" name="Shape 6"/>
          <p:cNvSpPr/>
          <p:nvPr/>
        </p:nvSpPr>
        <p:spPr>
          <a:xfrm>
            <a:off x="868680" y="3145536"/>
            <a:ext cx="82296" cy="82296"/>
          </a:xfrm>
          <a:prstGeom prst="ellipse">
            <a:avLst/>
          </a:prstGeom>
          <a:solidFill>
            <a:srgbClr val="4F5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097280" y="30632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dispersas, formatos não padronizados</a:t>
            </a:r>
            <a:endParaRPr lang="en-US" sz="1400" b="1" dirty="0"/>
          </a:p>
        </p:txBody>
      </p:sp>
      <p:sp>
        <p:nvSpPr>
          <p:cNvPr id="11" name="Shape 8"/>
          <p:cNvSpPr/>
          <p:nvPr/>
        </p:nvSpPr>
        <p:spPr>
          <a:xfrm>
            <a:off x="868680" y="3602736"/>
            <a:ext cx="82296" cy="82296"/>
          </a:xfrm>
          <a:prstGeom prst="ellipse">
            <a:avLst/>
          </a:prstGeom>
          <a:solidFill>
            <a:srgbClr val="4F5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097280" y="35204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na conferência de dados</a:t>
            </a:r>
            <a:endParaRPr lang="en-US" sz="1400" b="1" dirty="0"/>
          </a:p>
        </p:txBody>
      </p:sp>
      <p:sp>
        <p:nvSpPr>
          <p:cNvPr id="13" name="Shape 10"/>
          <p:cNvSpPr/>
          <p:nvPr/>
        </p:nvSpPr>
        <p:spPr>
          <a:xfrm>
            <a:off x="868680" y="4059936"/>
            <a:ext cx="82296" cy="82296"/>
          </a:xfrm>
          <a:prstGeom prst="ellipse">
            <a:avLst/>
          </a:prstGeom>
          <a:solidFill>
            <a:srgbClr val="4F5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097280" y="39776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e divergências difíceis de rastrear</a:t>
            </a:r>
            <a:endParaRPr lang="en-US" sz="1400" b="1" dirty="0"/>
          </a:p>
        </p:txBody>
      </p:sp>
      <p:sp>
        <p:nvSpPr>
          <p:cNvPr id="15" name="Shape 12"/>
          <p:cNvSpPr/>
          <p:nvPr/>
        </p:nvSpPr>
        <p:spPr>
          <a:xfrm>
            <a:off x="868680" y="4517136"/>
            <a:ext cx="82296" cy="82296"/>
          </a:xfrm>
          <a:prstGeom prst="ellipse">
            <a:avLst/>
          </a:prstGeom>
          <a:solidFill>
            <a:srgbClr val="4F5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1097280" y="44348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técnica mais lenta e manual</a:t>
            </a:r>
            <a:endParaRPr lang="en-US" sz="1400" b="1" dirty="0"/>
          </a:p>
        </p:txBody>
      </p:sp>
      <p:sp>
        <p:nvSpPr>
          <p:cNvPr id="17" name="Text 14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400" b="1" i="1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</a:t>
            </a: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padronização multiplicava o esforço de conferência em cada um deles.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MUDANÇA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relatório em papel ao RAPIR eletrônico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383280" cy="3931920"/>
          </a:xfrm>
          <a:prstGeom prst="roundRect">
            <a:avLst>
              <a:gd name="adj" fmla="val 1622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4F5B6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Tramitação física de documentos</a:t>
            </a:r>
            <a:endParaRPr lang="en-US" sz="1400" b="1" dirty="0"/>
          </a:p>
        </p:txBody>
      </p:sp>
      <p:sp>
        <p:nvSpPr>
          <p:cNvPr id="9" name="Text 6"/>
          <p:cNvSpPr/>
          <p:nvPr/>
        </p:nvSpPr>
        <p:spPr>
          <a:xfrm>
            <a:off x="777240" y="33192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não padronizados</a:t>
            </a:r>
            <a:endParaRPr lang="en-US" sz="1400" b="1" dirty="0"/>
          </a:p>
        </p:txBody>
      </p:sp>
      <p:sp>
        <p:nvSpPr>
          <p:cNvPr id="10" name="Text 7"/>
          <p:cNvSpPr/>
          <p:nvPr/>
        </p:nvSpPr>
        <p:spPr>
          <a:xfrm>
            <a:off x="777240" y="39410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na conferência</a:t>
            </a:r>
            <a:endParaRPr lang="en-US" sz="1400" b="1" dirty="0"/>
          </a:p>
        </p:txBody>
      </p:sp>
      <p:sp>
        <p:nvSpPr>
          <p:cNvPr id="11" name="Text 8"/>
          <p:cNvSpPr/>
          <p:nvPr/>
        </p:nvSpPr>
        <p:spPr>
          <a:xfrm>
            <a:off x="777240" y="456285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difíceis de rastrear</a:t>
            </a:r>
            <a:endParaRPr lang="en-US" sz="1400" b="1" dirty="0"/>
          </a:p>
        </p:txBody>
      </p:sp>
      <p:sp>
        <p:nvSpPr>
          <p:cNvPr id="12" name="Text 9"/>
          <p:cNvSpPr/>
          <p:nvPr/>
        </p:nvSpPr>
        <p:spPr>
          <a:xfrm>
            <a:off x="777240" y="51846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lenta e manual</a:t>
            </a:r>
            <a:endParaRPr lang="en-US" sz="1400" b="1" dirty="0"/>
          </a:p>
        </p:txBody>
      </p:sp>
      <p:sp>
        <p:nvSpPr>
          <p:cNvPr id="13" name="Text 10"/>
          <p:cNvSpPr/>
          <p:nvPr/>
        </p:nvSpPr>
        <p:spPr>
          <a:xfrm>
            <a:off x="3931920" y="3657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251960" y="1965960"/>
            <a:ext cx="3383280" cy="3931920"/>
          </a:xfrm>
          <a:prstGeom prst="roundRect">
            <a:avLst>
              <a:gd name="adj" fmla="val 1622"/>
            </a:avLst>
          </a:prstGeom>
          <a:solidFill>
            <a:srgbClr val="FBF4E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251960" y="196596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25196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480560" y="2697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100% digital</a:t>
            </a:r>
            <a:endParaRPr lang="en-US" sz="1400" b="1" dirty="0"/>
          </a:p>
        </p:txBody>
      </p:sp>
      <p:sp>
        <p:nvSpPr>
          <p:cNvPr id="18" name="Text 15"/>
          <p:cNvSpPr/>
          <p:nvPr/>
        </p:nvSpPr>
        <p:spPr>
          <a:xfrm>
            <a:off x="4480560" y="33192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padronizados</a:t>
            </a:r>
            <a:endParaRPr lang="en-US" sz="1400" b="1" dirty="0"/>
          </a:p>
        </p:txBody>
      </p:sp>
      <p:sp>
        <p:nvSpPr>
          <p:cNvPr id="19" name="Text 16"/>
          <p:cNvSpPr/>
          <p:nvPr/>
        </p:nvSpPr>
        <p:spPr>
          <a:xfrm>
            <a:off x="4480560" y="39410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automáticos</a:t>
            </a:r>
            <a:endParaRPr lang="en-US" sz="1400" b="1" dirty="0"/>
          </a:p>
        </p:txBody>
      </p:sp>
      <p:sp>
        <p:nvSpPr>
          <p:cNvPr id="20" name="Text 17"/>
          <p:cNvSpPr/>
          <p:nvPr/>
        </p:nvSpPr>
        <p:spPr>
          <a:xfrm>
            <a:off x="4480560" y="456285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Sinalização automática de atraso</a:t>
            </a:r>
            <a:endParaRPr lang="en-US" sz="1400" b="1" dirty="0"/>
          </a:p>
        </p:txBody>
      </p:sp>
      <p:sp>
        <p:nvSpPr>
          <p:cNvPr id="21" name="Text 18"/>
          <p:cNvSpPr/>
          <p:nvPr/>
        </p:nvSpPr>
        <p:spPr>
          <a:xfrm>
            <a:off x="4480560" y="51846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pronta p/ análise</a:t>
            </a:r>
            <a:endParaRPr lang="en-US" sz="1400" b="1" dirty="0"/>
          </a:p>
        </p:txBody>
      </p:sp>
      <p:sp>
        <p:nvSpPr>
          <p:cNvPr id="22" name="Text 19"/>
          <p:cNvSpPr/>
          <p:nvPr/>
        </p:nvSpPr>
        <p:spPr>
          <a:xfrm>
            <a:off x="7635240" y="36576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955280" y="1965960"/>
            <a:ext cx="3383280" cy="3931920"/>
          </a:xfrm>
          <a:prstGeom prst="roundRect">
            <a:avLst>
              <a:gd name="adj" fmla="val 1622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7955280" y="196596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95528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183880" y="2697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100% digital</a:t>
            </a:r>
            <a:endParaRPr lang="en-US" sz="1400" b="1" dirty="0"/>
          </a:p>
        </p:txBody>
      </p:sp>
      <p:sp>
        <p:nvSpPr>
          <p:cNvPr id="27" name="Text 24"/>
          <p:cNvSpPr/>
          <p:nvPr/>
        </p:nvSpPr>
        <p:spPr>
          <a:xfrm>
            <a:off x="8183880" y="33192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padrão para todo o país</a:t>
            </a:r>
            <a:endParaRPr lang="en-US" sz="1400" b="1" dirty="0"/>
          </a:p>
        </p:txBody>
      </p:sp>
      <p:sp>
        <p:nvSpPr>
          <p:cNvPr id="28" name="Text 25"/>
          <p:cNvSpPr/>
          <p:nvPr/>
        </p:nvSpPr>
        <p:spPr>
          <a:xfrm>
            <a:off x="8183880" y="39410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calculados pelo sistema</a:t>
            </a:r>
            <a:endParaRPr lang="en-US" sz="1400" b="1" dirty="0"/>
          </a:p>
        </p:txBody>
      </p:sp>
      <p:sp>
        <p:nvSpPr>
          <p:cNvPr id="29" name="Text 26"/>
          <p:cNvSpPr/>
          <p:nvPr/>
        </p:nvSpPr>
        <p:spPr>
          <a:xfrm>
            <a:off x="8183880" y="456285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sinalizado automaticamente</a:t>
            </a:r>
            <a:endParaRPr lang="en-US" sz="1400" b="1" dirty="0"/>
          </a:p>
        </p:txBody>
      </p:sp>
      <p:sp>
        <p:nvSpPr>
          <p:cNvPr id="30" name="Text 27"/>
          <p:cNvSpPr/>
          <p:nvPr/>
        </p:nvSpPr>
        <p:spPr>
          <a:xfrm>
            <a:off x="8183880" y="518464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focado na análise técnica</a:t>
            </a:r>
            <a:endParaRPr lang="en-US" sz="1400" b="1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639" y="365760"/>
            <a:ext cx="462416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SAI: uma ferramenta institucional para acompanhar, de forma sistemática, os investimentos portuários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2514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Desenvolvida pela SFC*, a ferramenta acompanha os investimentos vinculados a contratos de arrendamento e adesão nos empreendimentos sob fiscalização da ANTAQ.</a:t>
            </a:r>
            <a:endParaRPr lang="en-US" sz="2000" b="1" dirty="0"/>
          </a:p>
        </p:txBody>
      </p:sp>
      <p:sp>
        <p:nvSpPr>
          <p:cNvPr id="6" name="Shape 3"/>
          <p:cNvSpPr/>
          <p:nvPr/>
        </p:nvSpPr>
        <p:spPr>
          <a:xfrm>
            <a:off x="548640" y="3502152"/>
            <a:ext cx="82296" cy="82296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77240" y="3429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financeiros, físicos e documentais, com justificativas sobre o andamento dos investimentos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123944"/>
            <a:ext cx="82296" cy="82296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77240" y="4050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sobre a execução dos compromissos assumidos em contrato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745736"/>
            <a:ext cx="82296" cy="82296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77240" y="467258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sistêmica e integrada dos investimentos em todo o país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atributos sustentam a confiança no SAI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4871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transparência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009829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padronizados, disponíveis para consulta e análise a qualquer momento.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63640" y="219456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537960" y="2468880"/>
            <a:ext cx="457200" cy="457200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537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78040" y="24871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rastreabilidade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59880" y="2963169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relatório é identificável, versionado e auditável.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etapas conectam o regulado ao fiscal, sem papel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377440"/>
            <a:ext cx="1691640" cy="1417320"/>
          </a:xfrm>
          <a:prstGeom prst="roundRect">
            <a:avLst>
              <a:gd name="adj" fmla="val 4516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1175004" y="1920240"/>
            <a:ext cx="438912" cy="438912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175004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5146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o SAI pelo GOV.BR</a:t>
            </a:r>
            <a:endParaRPr lang="en-US" sz="1050" b="1" dirty="0"/>
          </a:p>
        </p:txBody>
      </p:sp>
      <p:sp>
        <p:nvSpPr>
          <p:cNvPr id="9" name="Text 6"/>
          <p:cNvSpPr/>
          <p:nvPr/>
        </p:nvSpPr>
        <p:spPr>
          <a:xfrm>
            <a:off x="2240280" y="28575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23160" y="2377440"/>
            <a:ext cx="1691640" cy="1417320"/>
          </a:xfrm>
          <a:prstGeom prst="roundRect">
            <a:avLst>
              <a:gd name="adj" fmla="val 4516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049524" y="1920240"/>
            <a:ext cx="438912" cy="438912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049524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14600" y="25146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contrato e período</a:t>
            </a:r>
            <a:endParaRPr lang="en-US" sz="1050" b="1" dirty="0"/>
          </a:p>
        </p:txBody>
      </p:sp>
      <p:sp>
        <p:nvSpPr>
          <p:cNvPr id="14" name="Text 11"/>
          <p:cNvSpPr/>
          <p:nvPr/>
        </p:nvSpPr>
        <p:spPr>
          <a:xfrm>
            <a:off x="4114800" y="28575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97680" y="2377440"/>
            <a:ext cx="1691640" cy="1417320"/>
          </a:xfrm>
          <a:prstGeom prst="roundRect">
            <a:avLst>
              <a:gd name="adj" fmla="val 4516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4924044" y="1920240"/>
            <a:ext cx="438912" cy="438912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924044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389120" y="25146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dados financeiros</a:t>
            </a:r>
            <a:endParaRPr lang="en-US" sz="1050" b="1" dirty="0"/>
          </a:p>
        </p:txBody>
      </p:sp>
      <p:sp>
        <p:nvSpPr>
          <p:cNvPr id="19" name="Text 16"/>
          <p:cNvSpPr/>
          <p:nvPr/>
        </p:nvSpPr>
        <p:spPr>
          <a:xfrm>
            <a:off x="5989320" y="28575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72200" y="2377440"/>
            <a:ext cx="1691640" cy="1417320"/>
          </a:xfrm>
          <a:prstGeom prst="roundRect">
            <a:avLst>
              <a:gd name="adj" fmla="val 4516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6798564" y="1920240"/>
            <a:ext cx="438912" cy="438912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798564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263640" y="25146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e anexar documentação</a:t>
            </a:r>
            <a:endParaRPr lang="en-US" sz="1050" b="1" dirty="0"/>
          </a:p>
        </p:txBody>
      </p:sp>
      <p:sp>
        <p:nvSpPr>
          <p:cNvPr id="24" name="Text 21"/>
          <p:cNvSpPr/>
          <p:nvPr/>
        </p:nvSpPr>
        <p:spPr>
          <a:xfrm>
            <a:off x="7863840" y="28575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046720" y="2377440"/>
            <a:ext cx="1691640" cy="1417320"/>
          </a:xfrm>
          <a:prstGeom prst="roundRect">
            <a:avLst>
              <a:gd name="adj" fmla="val 4516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8673084" y="1920240"/>
            <a:ext cx="438912" cy="438912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8673084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138160" y="25146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 enviar o relatório</a:t>
            </a:r>
            <a:endParaRPr lang="en-US" sz="1050" b="1" dirty="0"/>
          </a:p>
        </p:txBody>
      </p:sp>
      <p:sp>
        <p:nvSpPr>
          <p:cNvPr id="29" name="Text 26"/>
          <p:cNvSpPr/>
          <p:nvPr/>
        </p:nvSpPr>
        <p:spPr>
          <a:xfrm>
            <a:off x="9738360" y="28575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921240" y="2377440"/>
            <a:ext cx="1691640" cy="1417320"/>
          </a:xfrm>
          <a:prstGeom prst="roundRect">
            <a:avLst>
              <a:gd name="adj" fmla="val 4516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10547604" y="1920240"/>
            <a:ext cx="438912" cy="438912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10547604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012680" y="25146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analisa e decide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639" y="365760"/>
            <a:ext cx="462416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fiscal analisa e decide — o SAI organiza, não substitui, a </a:t>
            </a:r>
            <a:r>
              <a:rPr lang="en-US" sz="2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11064240" cy="2926080"/>
          </a:xfrm>
          <a:prstGeom prst="roundRect">
            <a:avLst>
              <a:gd name="adj" fmla="val 1875"/>
            </a:avLst>
          </a:prstGeom>
          <a:solidFill>
            <a:srgbClr val="1F50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91640" y="2606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fiscal recebe um relatório já padronizado, com percentuais calculados e alertas automáticos — e usa esse tempo para focar na análise técnica.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914400" y="3703320"/>
            <a:ext cx="10332720" cy="0"/>
          </a:xfrm>
          <a:prstGeom prst="line">
            <a:avLst/>
          </a:prstGeom>
          <a:noFill/>
          <a:ln w="9525">
            <a:solidFill>
              <a:srgbClr val="3D69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914399" y="3931920"/>
            <a:ext cx="106310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i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SAI não substitui o julgamento técnico: organiza a informação para que ele seja mais rápido e mais preciso.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DO DADO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princípios sustentam a qualidade do dado analisado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2075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objetivas, sem textos genéricos ou ambíguos</a:t>
            </a:r>
            <a:endParaRPr lang="en-US" sz="1200" b="1" dirty="0"/>
          </a:p>
        </p:txBody>
      </p:sp>
      <p:sp>
        <p:nvSpPr>
          <p:cNvPr id="8" name="Shape 5"/>
          <p:cNvSpPr/>
          <p:nvPr/>
        </p:nvSpPr>
        <p:spPr>
          <a:xfrm>
            <a:off x="4297680" y="196596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480560" y="2075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Coerência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8056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financeiros, físicos e documentais compatíveis entre si</a:t>
            </a:r>
            <a:endParaRPr lang="en-US" sz="1200" b="1" dirty="0"/>
          </a:p>
        </p:txBody>
      </p:sp>
      <p:sp>
        <p:nvSpPr>
          <p:cNvPr id="11" name="Shape 8"/>
          <p:cNvSpPr/>
          <p:nvPr/>
        </p:nvSpPr>
        <p:spPr>
          <a:xfrm>
            <a:off x="8046720" y="196596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229600" y="2075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campos obrigatórios preenchidos, sem lacunas</a:t>
            </a:r>
            <a:endParaRPr lang="en-US" sz="1200" b="1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31520" y="3721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apoiadas em documentos e evidências verificáveis</a:t>
            </a:r>
            <a:endParaRPr lang="en-US" sz="1200" b="1" dirty="0"/>
          </a:p>
        </p:txBody>
      </p:sp>
      <p:sp>
        <p:nvSpPr>
          <p:cNvPr id="17" name="Shape 14"/>
          <p:cNvSpPr/>
          <p:nvPr/>
        </p:nvSpPr>
        <p:spPr>
          <a:xfrm>
            <a:off x="4297680" y="361188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480560" y="3721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Atualidade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48056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correspondem exatamente ao período de referência</a:t>
            </a:r>
            <a:endParaRPr lang="en-US" sz="1200" b="1" dirty="0"/>
          </a:p>
        </p:txBody>
      </p:sp>
      <p:sp>
        <p:nvSpPr>
          <p:cNvPr id="20" name="Shape 17"/>
          <p:cNvSpPr/>
          <p:nvPr/>
        </p:nvSpPr>
        <p:spPr>
          <a:xfrm>
            <a:off x="8046720" y="361188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229600" y="3721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960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envio formaliza as informações perante a Administração</a:t>
            </a:r>
            <a:endParaRPr lang="en-US" sz="1200" b="1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A3E85-8856-31F3-48E4-F064CA0F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>
            <a:extLst>
              <a:ext uri="{FF2B5EF4-FFF2-40B4-BE49-F238E27FC236}">
                <a16:creationId xmlns:a16="http://schemas.microsoft.com/office/drawing/2014/main" id="{E0283466-BB19-206B-40F7-64AC69539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5147153-F606-9C46-3B63-B26B43B73A02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163F2A6-7272-1610-E7D9-B9D1AE7B9C09}"/>
              </a:ext>
            </a:extLst>
          </p:cNvPr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ambiente único para consultar, filtrar e acompanhar</a:t>
            </a:r>
            <a:endParaRPr lang="en-US" sz="3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D8226D6-262C-F412-751C-3364CB8BC126}"/>
              </a:ext>
            </a:extLst>
          </p:cNvPr>
          <p:cNvSpPr/>
          <p:nvPr/>
        </p:nvSpPr>
        <p:spPr>
          <a:xfrm>
            <a:off x="548640" y="196596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B973D3E-1EF6-0B58-AEA0-3BC813285DA9}"/>
              </a:ext>
            </a:extLst>
          </p:cNvPr>
          <p:cNvSpPr/>
          <p:nvPr/>
        </p:nvSpPr>
        <p:spPr>
          <a:xfrm>
            <a:off x="749808" y="2194560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Investimento</a:t>
            </a:r>
            <a:endParaRPr lang="en-US" sz="1350" dirty="0">
              <a:solidFill>
                <a:srgbClr val="FFFF0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0C5D7D1-9979-EE15-B60B-12E7F3D0A5B2}"/>
              </a:ext>
            </a:extLst>
          </p:cNvPr>
          <p:cNvSpPr/>
          <p:nvPr/>
        </p:nvSpPr>
        <p:spPr>
          <a:xfrm>
            <a:off x="749808" y="2926080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principal: buscar, visualizar, cadastrar e acompanhar os relatórios apresentados pelos regulados.</a:t>
            </a:r>
            <a:endParaRPr lang="en-US" sz="11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70730EE-19F4-CFB7-D5A4-4D2D0A0D588B}"/>
              </a:ext>
            </a:extLst>
          </p:cNvPr>
          <p:cNvSpPr/>
          <p:nvPr/>
        </p:nvSpPr>
        <p:spPr>
          <a:xfrm>
            <a:off x="4297680" y="196596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46E0CCA-3476-603B-5E4C-37267D7E4564}"/>
              </a:ext>
            </a:extLst>
          </p:cNvPr>
          <p:cNvSpPr/>
          <p:nvPr/>
        </p:nvSpPr>
        <p:spPr>
          <a:xfrm>
            <a:off x="4498848" y="2194560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— REFIN</a:t>
            </a:r>
            <a:endParaRPr lang="en-US" sz="1350" dirty="0">
              <a:solidFill>
                <a:srgbClr val="FFFF00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A3C005C-6C24-56CA-8EBE-A262FC0BDE3F}"/>
              </a:ext>
            </a:extLst>
          </p:cNvPr>
          <p:cNvSpPr/>
          <p:nvPr/>
        </p:nvSpPr>
        <p:spPr>
          <a:xfrm>
            <a:off x="4498848" y="2926080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aos relatórios já encaminhados e aprovados, para consulta ou gestão.</a:t>
            </a:r>
            <a:endParaRPr lang="en-US" sz="11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B9A3907-D673-5691-0424-F4C0ACD0CD9C}"/>
              </a:ext>
            </a:extLst>
          </p:cNvPr>
          <p:cNvSpPr/>
          <p:nvPr/>
        </p:nvSpPr>
        <p:spPr>
          <a:xfrm>
            <a:off x="8046720" y="1965960"/>
            <a:ext cx="3566160" cy="2194560"/>
          </a:xfrm>
          <a:prstGeom prst="roundRect">
            <a:avLst>
              <a:gd name="adj" fmla="val 2500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F0D05AC-BD43-22FE-3AA1-A5FAD521DE0F}"/>
              </a:ext>
            </a:extLst>
          </p:cNvPr>
          <p:cNvSpPr/>
          <p:nvPr/>
        </p:nvSpPr>
        <p:spPr>
          <a:xfrm>
            <a:off x="8247888" y="2194560"/>
            <a:ext cx="31638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Gerenciador de API</a:t>
            </a:r>
            <a:endParaRPr lang="en-US" sz="1350" dirty="0">
              <a:solidFill>
                <a:srgbClr val="FFFF00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01A4FD7-AE27-6BD5-4E13-4506718C0C60}"/>
              </a:ext>
            </a:extLst>
          </p:cNvPr>
          <p:cNvSpPr/>
          <p:nvPr/>
        </p:nvSpPr>
        <p:spPr>
          <a:xfrm>
            <a:off x="8247888" y="2926080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técnica de dados entre o SAI e os sistemas dos regulados.</a:t>
            </a:r>
            <a:endParaRPr lang="en-US" sz="1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E41610C-8B8D-F821-549F-EFD5180203BD}"/>
              </a:ext>
            </a:extLst>
          </p:cNvPr>
          <p:cNvSpPr/>
          <p:nvPr/>
        </p:nvSpPr>
        <p:spPr>
          <a:xfrm>
            <a:off x="548640" y="4480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filtros: restrição por empresa, contrato, instalação, município, UF, período de referência ou status — a mesma lógica já usada em outros sistemas de fiscalização.</a:t>
            </a:r>
            <a:endParaRPr lang="en-US" sz="1400" b="1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0D8BD2F-B7A3-31AE-07C2-F47C3EA3189C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B3F58EB-2EDB-518D-C92D-CA36F0A62598}"/>
              </a:ext>
            </a:extLst>
          </p:cNvPr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80113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abas organizam a informação do RAPIR eletrônico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31520" y="2286000"/>
            <a:ext cx="384048" cy="384048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2918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o RAPIR ao contrato, período e processo SEI</a:t>
            </a:r>
            <a:endParaRPr lang="en-US" sz="1050" b="1" dirty="0"/>
          </a:p>
        </p:txBody>
      </p:sp>
      <p:sp>
        <p:nvSpPr>
          <p:cNvPr id="10" name="Shape 7"/>
          <p:cNvSpPr/>
          <p:nvPr/>
        </p:nvSpPr>
        <p:spPr>
          <a:xfrm>
            <a:off x="3383280" y="210312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566160" y="2286000"/>
            <a:ext cx="384048" cy="384048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5661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6616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566160" y="32918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valores previstos, programados, executados e corrigidos em 5 seções</a:t>
            </a:r>
            <a:endParaRPr lang="en-US" sz="1050" b="1" dirty="0"/>
          </a:p>
        </p:txBody>
      </p:sp>
      <p:sp>
        <p:nvSpPr>
          <p:cNvPr id="15" name="Shape 12"/>
          <p:cNvSpPr/>
          <p:nvPr/>
        </p:nvSpPr>
        <p:spPr>
          <a:xfrm>
            <a:off x="6217920" y="210312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6400800" y="2286000"/>
            <a:ext cx="384048" cy="384048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4008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00800" y="32918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alterações de projeto, atrasos e divergências</a:t>
            </a:r>
            <a:endParaRPr lang="en-US" sz="1050" b="1" dirty="0"/>
          </a:p>
        </p:txBody>
      </p:sp>
      <p:sp>
        <p:nvSpPr>
          <p:cNvPr id="20" name="Shape 17"/>
          <p:cNvSpPr/>
          <p:nvPr/>
        </p:nvSpPr>
        <p:spPr>
          <a:xfrm>
            <a:off x="9052560" y="210312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9235440" y="2286000"/>
            <a:ext cx="384048" cy="384048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92354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23544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235440" y="32918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que comprovam o que foi declarado</a:t>
            </a:r>
            <a:endParaRPr lang="en-US" sz="1050" b="1" dirty="0"/>
          </a:p>
        </p:txBody>
      </p:sp>
      <p:sp>
        <p:nvSpPr>
          <p:cNvPr id="25" name="Text 22"/>
          <p:cNvSpPr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exatidão nos campos de identificação (aba Geral) evita duplicidades e erros de vinculação que comprometeriam a análise técnica.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status é uma etapa controlada e rastreável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— autoridade portuária</a:t>
            </a:r>
            <a:endParaRPr lang="en-US" sz="1000" b="1" dirty="0"/>
          </a:p>
        </p:txBody>
      </p:sp>
      <p:sp>
        <p:nvSpPr>
          <p:cNvPr id="7" name="Text 4"/>
          <p:cNvSpPr/>
          <p:nvPr/>
        </p:nvSpPr>
        <p:spPr>
          <a:xfrm>
            <a:off x="2240280" y="2679192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423160" y="219456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2514600" y="21945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 — equipe de fiscalização</a:t>
            </a:r>
            <a:endParaRPr lang="en-US" sz="1000" b="1" dirty="0"/>
          </a:p>
        </p:txBody>
      </p:sp>
      <p:sp>
        <p:nvSpPr>
          <p:cNvPr id="10" name="Text 7"/>
          <p:cNvSpPr/>
          <p:nvPr/>
        </p:nvSpPr>
        <p:spPr>
          <a:xfrm>
            <a:off x="4114800" y="2679192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219456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389120" y="21945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Devolvido para ajuste</a:t>
            </a:r>
            <a:endParaRPr lang="en-US" sz="1000" b="1" dirty="0"/>
          </a:p>
        </p:txBody>
      </p:sp>
      <p:sp>
        <p:nvSpPr>
          <p:cNvPr id="13" name="Text 10"/>
          <p:cNvSpPr/>
          <p:nvPr/>
        </p:nvSpPr>
        <p:spPr>
          <a:xfrm>
            <a:off x="5989320" y="2679192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72200" y="219456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63640" y="21945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complementação</a:t>
            </a:r>
            <a:endParaRPr lang="en-US" sz="1000" b="1" dirty="0"/>
          </a:p>
        </p:txBody>
      </p:sp>
      <p:sp>
        <p:nvSpPr>
          <p:cNvPr id="16" name="Text 13"/>
          <p:cNvSpPr/>
          <p:nvPr/>
        </p:nvSpPr>
        <p:spPr>
          <a:xfrm>
            <a:off x="7863840" y="2679192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046720" y="219456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8138160" y="21945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738360" y="2679192"/>
            <a:ext cx="182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921240" y="2194560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10012680" y="21945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mudança de status fica registrada e rastreável no sistema — histórico auditável do início ao fim da análise.</a:t>
            </a:r>
            <a:endParaRPr lang="en-US" sz="1300" b="1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1 / 5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do custo regulatório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874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digitalização do envio e do acompanhamento do RAPIR simplifica procedimentos, elimina a tramitação física de documentos e reduz retrabalhos — para o regulado e para a Agência.</a:t>
            </a:r>
            <a:endParaRPr lang="en-US" sz="2000" b="1" dirty="0"/>
          </a:p>
        </p:txBody>
      </p:sp>
      <p:sp>
        <p:nvSpPr>
          <p:cNvPr id="6" name="Shape 3"/>
          <p:cNvSpPr/>
          <p:nvPr/>
        </p:nvSpPr>
        <p:spPr>
          <a:xfrm>
            <a:off x="548640" y="309981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tramitação física, menos tempo de processo</a:t>
            </a:r>
            <a:endParaRPr lang="en-US" sz="1600" b="1" dirty="0"/>
          </a:p>
        </p:txBody>
      </p:sp>
      <p:sp>
        <p:nvSpPr>
          <p:cNvPr id="8" name="Shape 5"/>
          <p:cNvSpPr/>
          <p:nvPr/>
        </p:nvSpPr>
        <p:spPr>
          <a:xfrm>
            <a:off x="548640" y="364845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r>
              <a:rPr lang="en-US" sz="16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direta</a:t>
            </a:r>
            <a:r>
              <a:rPr lang="en-US" sz="16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regulado e Agência</a:t>
            </a:r>
            <a:endParaRPr lang="en-US" sz="1600" b="1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Agência: menos tempo pedindo documentos e mais tempo analisando o mérito do investimento.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2 / 5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Transparência e rastreabilidade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874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relatório recebe uma identificação rastreável — número de registro e período de referência — vinculada ao contrato e ao processo SEI correspondente.</a:t>
            </a:r>
            <a:endParaRPr lang="en-US" b="1" dirty="0"/>
          </a:p>
        </p:txBody>
      </p:sp>
      <p:sp>
        <p:nvSpPr>
          <p:cNvPr id="6" name="Text 3"/>
          <p:cNvSpPr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 de identificação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5760720" cy="1417320"/>
          </a:xfrm>
          <a:prstGeom prst="roundRect">
            <a:avLst>
              <a:gd name="adj" fmla="val 3226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01603 (05/2026)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 LOGÍSTICA S.A.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CA 07/2022-MINFRA  ·  Versão: Original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Agência: localizar o histórico de um empreendimento em qualquer análise futura fica imediato.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3 / 5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Padronização e comparabilidade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874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SAI padroniza os cálculos de valor global, percentual físico e percentuais programado/executado — o mesmo critério para todos os regulados, em todo o país.</a:t>
            </a:r>
            <a:endParaRPr lang="en-US" b="1" dirty="0"/>
          </a:p>
        </p:txBody>
      </p:sp>
      <p:sp>
        <p:nvSpPr>
          <p:cNvPr id="6" name="Shape 3"/>
          <p:cNvSpPr/>
          <p:nvPr/>
        </p:nvSpPr>
        <p:spPr>
          <a:xfrm>
            <a:off x="548640" y="309981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formato, independente da empresa ou região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64845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calculados automaticamente pelo sistema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Agência: comparar empreendimentos e regionais entre si, com critérios idênticos.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3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639" y="365760"/>
            <a:ext cx="462416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4 / 5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Celeridade na análise e na decisão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920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D6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detecta automaticamente possíveis atrasos e já sinaliza no relatório: se o valor executado for inferior a 90% do programado, o campo de observações é preenchido pelo próprio SAI.</a:t>
            </a:r>
            <a:endParaRPr lang="en-US" b="1" dirty="0"/>
          </a:p>
        </p:txBody>
      </p:sp>
      <p:sp>
        <p:nvSpPr>
          <p:cNvPr id="6" name="Shape 3"/>
          <p:cNvSpPr/>
          <p:nvPr/>
        </p:nvSpPr>
        <p:spPr>
          <a:xfrm>
            <a:off x="548640" y="30632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F50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8680" y="30632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 &lt; 90% do programado  →  o SAI já aponta o atraso automaticamente na aba Observações.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Agência: os pontos de atenção chegam sinalizados antes mesmo de abrir o relatório.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5 / 5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e confiabilidade dos dados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874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Máscaras de preenchimento, cálculos automáticos e campos de evidência reduzem erro humano e garantem que o dado analisado reflita a real situação do empreendimento.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309981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monetários e percentuais com máscara automática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648456"/>
            <a:ext cx="91440" cy="91440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obrigatórios comprovam o que foi declarado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Agência: um dado em que se pode confiar para embasar uma decisão regulatória.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68096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Irregularidades seguem um fluxo formal de apuração e autuação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2084832" cy="1691640"/>
          </a:xfrm>
          <a:prstGeom prst="roundRect">
            <a:avLst>
              <a:gd name="adj" fmla="val 3784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1389888" y="1737360"/>
            <a:ext cx="402336" cy="402336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38988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Consignar irregularidade, tipificação e enquadramento no REFIN</a:t>
            </a:r>
            <a:endParaRPr lang="en-US" sz="1200" b="1" dirty="0"/>
          </a:p>
        </p:txBody>
      </p:sp>
      <p:sp>
        <p:nvSpPr>
          <p:cNvPr id="9" name="Text 6"/>
          <p:cNvSpPr/>
          <p:nvPr/>
        </p:nvSpPr>
        <p:spPr>
          <a:xfrm>
            <a:off x="2633472" y="2793492"/>
            <a:ext cx="160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793492" y="2148840"/>
            <a:ext cx="2084832" cy="1691640"/>
          </a:xfrm>
          <a:prstGeom prst="roundRect">
            <a:avLst>
              <a:gd name="adj" fmla="val 3784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634740" y="1737360"/>
            <a:ext cx="402336" cy="402336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6347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30652" y="2286000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Instaurar processo sancionador apartado na regional de origem</a:t>
            </a:r>
            <a:endParaRPr lang="en-US" sz="1200" b="1" dirty="0"/>
          </a:p>
        </p:txBody>
      </p:sp>
      <p:sp>
        <p:nvSpPr>
          <p:cNvPr id="14" name="Text 11"/>
          <p:cNvSpPr/>
          <p:nvPr/>
        </p:nvSpPr>
        <p:spPr>
          <a:xfrm>
            <a:off x="4878324" y="2793492"/>
            <a:ext cx="160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38344" y="2148840"/>
            <a:ext cx="2084832" cy="1691640"/>
          </a:xfrm>
          <a:prstGeom prst="roundRect">
            <a:avLst>
              <a:gd name="adj" fmla="val 3784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879592" y="1737360"/>
            <a:ext cx="402336" cy="402336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87959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75504" y="2286000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Lavrar o Auto de Infração correspondente</a:t>
            </a:r>
            <a:endParaRPr lang="en-US" sz="1200" b="1" dirty="0"/>
          </a:p>
        </p:txBody>
      </p:sp>
      <p:sp>
        <p:nvSpPr>
          <p:cNvPr id="19" name="Text 16"/>
          <p:cNvSpPr/>
          <p:nvPr/>
        </p:nvSpPr>
        <p:spPr>
          <a:xfrm>
            <a:off x="7123176" y="2793492"/>
            <a:ext cx="160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283196" y="2148840"/>
            <a:ext cx="2084832" cy="1691640"/>
          </a:xfrm>
          <a:prstGeom prst="roundRect">
            <a:avLst>
              <a:gd name="adj" fmla="val 3784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8124444" y="1737360"/>
            <a:ext cx="402336" cy="402336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812444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20356" y="2286000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 ao Chefe da Regional, encaminhando à GEF</a:t>
            </a:r>
            <a:endParaRPr lang="en-US" sz="1200" b="1" dirty="0"/>
          </a:p>
        </p:txBody>
      </p:sp>
      <p:sp>
        <p:nvSpPr>
          <p:cNvPr id="24" name="Text 21"/>
          <p:cNvSpPr/>
          <p:nvPr/>
        </p:nvSpPr>
        <p:spPr>
          <a:xfrm>
            <a:off x="9368028" y="2793492"/>
            <a:ext cx="160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528048" y="2148840"/>
            <a:ext cx="2084832" cy="1691640"/>
          </a:xfrm>
          <a:prstGeom prst="roundRect">
            <a:avLst>
              <a:gd name="adj" fmla="val 3784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10369296" y="1737360"/>
            <a:ext cx="402336" cy="402336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1036929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665208" y="2286000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da GEF distribui o processo para análise</a:t>
            </a:r>
            <a:endParaRPr lang="en-US" sz="1200" b="1" dirty="0"/>
          </a:p>
        </p:txBody>
      </p:sp>
      <p:sp>
        <p:nvSpPr>
          <p:cNvPr id="29" name="Shape 26"/>
          <p:cNvSpPr/>
          <p:nvPr/>
        </p:nvSpPr>
        <p:spPr>
          <a:xfrm>
            <a:off x="548640" y="42062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868680" y="42062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 com prazo vencido e sem prorrogação em tramitação devem ser autuados — o mesmo vale para execução em desacordo com o autorizado, salvo autuação anterior pelo mesmo motivo ou julgamento específico da Diretoria Colegiada.</a:t>
            </a:r>
            <a:endParaRPr lang="en-US" sz="1400" b="1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87375" y="809244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conclusão de investimentos terá regras específicas de fiscalização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2985516"/>
            <a:ext cx="11064240" cy="1568196"/>
          </a:xfrm>
          <a:prstGeom prst="roundRect">
            <a:avLst>
              <a:gd name="adj" fmla="val 4800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508760" y="2382982"/>
            <a:ext cx="9875520" cy="2659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procedimentos de fiscalização de conclusão de investimento serão disciplinados em Ordem de </a:t>
            </a:r>
            <a:r>
              <a:rPr lang="en-US" sz="1600" b="1" dirty="0" err="1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16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</a:t>
            </a:r>
            <a:endParaRPr lang="en-US" sz="1600" b="1" dirty="0">
              <a:solidFill>
                <a:srgbClr val="4F5B66"/>
              </a:solidFill>
              <a:latin typeface="Calibri" pitchFamily="34" charset="0"/>
              <a:cs typeface="Calibri" pitchFamily="34" charset="-120"/>
            </a:endParaRPr>
          </a:p>
          <a:p>
            <a:pPr algn="ctr">
              <a:lnSpc>
                <a:spcPct val="125000"/>
              </a:lnSpc>
            </a:pP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</a:rPr>
              <a:t>Ordem de Serviço 17 (3019261)</a:t>
            </a:r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45295" y="31045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NACIONAL  DOS INVESTIMENTOS</a:t>
            </a:r>
            <a:endParaRPr lang="en-US" sz="400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FE369-6CA5-78A1-F383-E78A16E8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>
            <a:extLst>
              <a:ext uri="{FF2B5EF4-FFF2-40B4-BE49-F238E27FC236}">
                <a16:creationId xmlns:a16="http://schemas.microsoft.com/office/drawing/2014/main" id="{71D41A07-8FA7-4D97-5809-73CDC9E9C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DC5CB4-03F4-83A9-C1FD-BD870CAA3AAF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NACIONAL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BB7C14A-20AB-96AC-1853-2BC18B084B68}"/>
              </a:ext>
            </a:extLst>
          </p:cNvPr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 contratos mapeados revelam onde a fiscalização se concentra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B49080F-B463-E04F-8012-A38AECDB71AF}"/>
              </a:ext>
            </a:extLst>
          </p:cNvPr>
          <p:cNvSpPr/>
          <p:nvPr/>
        </p:nvSpPr>
        <p:spPr>
          <a:xfrm>
            <a:off x="54864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3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89D426D-AD11-627C-6684-71DF700940E7}"/>
              </a:ext>
            </a:extLst>
          </p:cNvPr>
          <p:cNvSpPr/>
          <p:nvPr/>
        </p:nvSpPr>
        <p:spPr>
          <a:xfrm>
            <a:off x="54864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analisados no total nacional</a:t>
            </a:r>
            <a:endParaRPr lang="en-US" sz="10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6D1571D-2B7C-0CBC-C074-10AC572E1C08}"/>
              </a:ext>
            </a:extLst>
          </p:cNvPr>
          <p:cNvSpPr/>
          <p:nvPr/>
        </p:nvSpPr>
        <p:spPr>
          <a:xfrm>
            <a:off x="429768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3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91D7910-D180-C352-D2EE-2C303B377036}"/>
              </a:ext>
            </a:extLst>
          </p:cNvPr>
          <p:cNvSpPr/>
          <p:nvPr/>
        </p:nvSpPr>
        <p:spPr>
          <a:xfrm>
            <a:off x="429768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mapeados nas 4 principais regiões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AC92232-3876-4FAE-ED99-C30B81509409}"/>
              </a:ext>
            </a:extLst>
          </p:cNvPr>
          <p:cNvSpPr/>
          <p:nvPr/>
        </p:nvSpPr>
        <p:spPr>
          <a:xfrm>
            <a:off x="804672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17EAFCB-594A-F9E4-C6DA-7688F6D5D296}"/>
              </a:ext>
            </a:extLst>
          </p:cNvPr>
          <p:cNvSpPr/>
          <p:nvPr/>
        </p:nvSpPr>
        <p:spPr>
          <a:xfrm>
            <a:off x="804672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remanescentes (Centro-Oeste / Outros)</a:t>
            </a:r>
            <a:endParaRPr lang="en-US" sz="1050" dirty="0"/>
          </a:p>
        </p:txBody>
      </p:sp>
      <p:graphicFrame>
        <p:nvGraphicFramePr>
          <p:cNvPr id="11" name="Chart 0">
            <a:extLst>
              <a:ext uri="{FF2B5EF4-FFF2-40B4-BE49-F238E27FC236}">
                <a16:creationId xmlns:a16="http://schemas.microsoft.com/office/drawing/2014/main" id="{D7DAD6DC-CB94-61A2-766E-E3CC187F878E}"/>
              </a:ext>
            </a:extLst>
          </p:cNvPr>
          <p:cNvGraphicFramePr/>
          <p:nvPr/>
        </p:nvGraphicFramePr>
        <p:xfrm>
          <a:off x="548640" y="2926080"/>
          <a:ext cx="69494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>
            <a:extLst>
              <a:ext uri="{FF2B5EF4-FFF2-40B4-BE49-F238E27FC236}">
                <a16:creationId xmlns:a16="http://schemas.microsoft.com/office/drawing/2014/main" id="{3CB05C70-5612-8704-919D-D7589800A2BA}"/>
              </a:ext>
            </a:extLst>
          </p:cNvPr>
          <p:cNvSpPr/>
          <p:nvPr/>
        </p:nvSpPr>
        <p:spPr>
          <a:xfrm>
            <a:off x="7772400" y="2926080"/>
            <a:ext cx="3840480" cy="3566160"/>
          </a:xfrm>
          <a:prstGeom prst="roundRect">
            <a:avLst>
              <a:gd name="adj" fmla="val 1538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91F2C6C-D0EB-EF90-EE30-99ED1443BC8A}"/>
              </a:ext>
            </a:extLst>
          </p:cNvPr>
          <p:cNvSpPr/>
          <p:nvPr/>
        </p:nvSpPr>
        <p:spPr>
          <a:xfrm>
            <a:off x="80010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en-US" sz="11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09487A0-0E87-66AD-FA88-B37C613FA030}"/>
              </a:ext>
            </a:extLst>
          </p:cNvPr>
          <p:cNvSpPr/>
          <p:nvPr/>
        </p:nvSpPr>
        <p:spPr>
          <a:xfrm>
            <a:off x="1014984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· 31,8%</a:t>
            </a:r>
            <a:endParaRPr lang="en-US" sz="11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C82E834-8EA0-A44C-3505-1BA68885B0BF}"/>
              </a:ext>
            </a:extLst>
          </p:cNvPr>
          <p:cNvSpPr/>
          <p:nvPr/>
        </p:nvSpPr>
        <p:spPr>
          <a:xfrm>
            <a:off x="800100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</a:t>
            </a:r>
            <a:endParaRPr lang="en-US" sz="115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75811F2-6D69-520F-DD6D-515E413F19A1}"/>
              </a:ext>
            </a:extLst>
          </p:cNvPr>
          <p:cNvSpPr/>
          <p:nvPr/>
        </p:nvSpPr>
        <p:spPr>
          <a:xfrm>
            <a:off x="1014984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· 29,1%</a:t>
            </a:r>
            <a:endParaRPr lang="en-US" sz="11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937CE0E-C402-2FC0-B267-4679669CE11E}"/>
              </a:ext>
            </a:extLst>
          </p:cNvPr>
          <p:cNvSpPr/>
          <p:nvPr/>
        </p:nvSpPr>
        <p:spPr>
          <a:xfrm>
            <a:off x="800100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en-US" sz="115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26120D1-B780-8BA2-B59E-46A4E7DECE8B}"/>
              </a:ext>
            </a:extLst>
          </p:cNvPr>
          <p:cNvSpPr/>
          <p:nvPr/>
        </p:nvSpPr>
        <p:spPr>
          <a:xfrm>
            <a:off x="1014984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18,2%</a:t>
            </a:r>
            <a:endParaRPr lang="en-US" sz="11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037CED7-282C-CABB-5591-1F6FCA46A607}"/>
              </a:ext>
            </a:extLst>
          </p:cNvPr>
          <p:cNvSpPr/>
          <p:nvPr/>
        </p:nvSpPr>
        <p:spPr>
          <a:xfrm>
            <a:off x="8001000" y="4800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</a:t>
            </a:r>
            <a:endParaRPr lang="en-US" sz="11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AF1FDC9-75D7-DC85-592B-4AA53644EADD}"/>
              </a:ext>
            </a:extLst>
          </p:cNvPr>
          <p:cNvSpPr/>
          <p:nvPr/>
        </p:nvSpPr>
        <p:spPr>
          <a:xfrm>
            <a:off x="10149840" y="4800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15,5%</a:t>
            </a:r>
            <a:endParaRPr lang="en-US" sz="11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0FC34BB7-2038-08C7-29B4-71FE5D0D4459}"/>
              </a:ext>
            </a:extLst>
          </p:cNvPr>
          <p:cNvSpPr/>
          <p:nvPr/>
        </p:nvSpPr>
        <p:spPr>
          <a:xfrm>
            <a:off x="8001000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Centro-Oeste / Outros</a:t>
            </a:r>
            <a:endParaRPr lang="en-US" sz="115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20E721BB-C905-AF05-21E9-1E41C3A3CB93}"/>
              </a:ext>
            </a:extLst>
          </p:cNvPr>
          <p:cNvSpPr/>
          <p:nvPr/>
        </p:nvSpPr>
        <p:spPr>
          <a:xfrm>
            <a:off x="10149840" y="5394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5,5%</a:t>
            </a:r>
            <a:endParaRPr lang="en-US" sz="115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FB0C0091-7056-695C-43A2-CE9C1EC49016}"/>
              </a:ext>
            </a:extLst>
          </p:cNvPr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ABA4E793-8396-EC3A-B285-FD94345787F5}"/>
              </a:ext>
            </a:extLst>
          </p:cNvPr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390836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REGIONAL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região tem um perfil contratual e pontos de atenção próprios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13232" y="20116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23774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contratos · 31,8%</a:t>
            </a:r>
            <a:endParaRPr lang="en-US" sz="1000" b="1" dirty="0"/>
          </a:p>
        </p:txBody>
      </p:sp>
      <p:sp>
        <p:nvSpPr>
          <p:cNvPr id="8" name="Text 5"/>
          <p:cNvSpPr/>
          <p:nvPr/>
        </p:nvSpPr>
        <p:spPr>
          <a:xfrm>
            <a:off x="713232" y="274320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Arrendamentos 24 (68,6%) · TUPs 11 (31,4%)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13232" y="3337560"/>
            <a:ext cx="23408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 (7) e Maranhão (6) concentram 13 dos 35 contratos — forte peso de infraestrutura pública delegada.</a:t>
            </a:r>
            <a:endParaRPr lang="en-US" sz="1050" b="1" dirty="0"/>
          </a:p>
        </p:txBody>
      </p:sp>
      <p:sp>
        <p:nvSpPr>
          <p:cNvPr id="10" name="Shape 7"/>
          <p:cNvSpPr/>
          <p:nvPr/>
        </p:nvSpPr>
        <p:spPr>
          <a:xfrm>
            <a:off x="3346704" y="187452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511296" y="20116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11296" y="23774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contratos · 15,5%</a:t>
            </a:r>
            <a:endParaRPr lang="en-US" sz="1000" b="1" dirty="0"/>
          </a:p>
        </p:txBody>
      </p:sp>
      <p:sp>
        <p:nvSpPr>
          <p:cNvPr id="13" name="Text 10"/>
          <p:cNvSpPr/>
          <p:nvPr/>
        </p:nvSpPr>
        <p:spPr>
          <a:xfrm>
            <a:off x="3511296" y="274320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Arrendamentos 5 (29,4%) · TUPs 12 (70,6%)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511296" y="3337560"/>
            <a:ext cx="23408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inverso ao Nordeste: predominância de terminais privados, ligados ao escoamento de commodities pela bacia amazônica.</a:t>
            </a:r>
            <a:endParaRPr lang="en-US" sz="1050" b="1" dirty="0"/>
          </a:p>
        </p:txBody>
      </p:sp>
      <p:sp>
        <p:nvSpPr>
          <p:cNvPr id="15" name="Shape 12"/>
          <p:cNvSpPr/>
          <p:nvPr/>
        </p:nvSpPr>
        <p:spPr>
          <a:xfrm>
            <a:off x="6144768" y="187452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FBEFE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309360" y="20116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09360" y="23774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contratos · 18,2%</a:t>
            </a:r>
            <a:endParaRPr lang="en-US" sz="1000" b="1" dirty="0"/>
          </a:p>
        </p:txBody>
      </p:sp>
      <p:sp>
        <p:nvSpPr>
          <p:cNvPr id="18" name="Text 15"/>
          <p:cNvSpPr/>
          <p:nvPr/>
        </p:nvSpPr>
        <p:spPr>
          <a:xfrm>
            <a:off x="6309360" y="274320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Arrendamentos 9 (45,0%) · TUPs 11 (55,0%)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09360" y="3337560"/>
            <a:ext cx="23408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6 empreendimentos parados — 30,0% dos ativos da região exigem atenção regulatória.</a:t>
            </a:r>
            <a:endParaRPr lang="en-US" sz="1050" b="1" dirty="0"/>
          </a:p>
        </p:txBody>
      </p:sp>
      <p:sp>
        <p:nvSpPr>
          <p:cNvPr id="20" name="Shape 17"/>
          <p:cNvSpPr/>
          <p:nvPr/>
        </p:nvSpPr>
        <p:spPr>
          <a:xfrm>
            <a:off x="8942832" y="187452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FBEFE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9107424" y="20116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107424" y="237744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contratos · 29,1%</a:t>
            </a:r>
            <a:endParaRPr lang="en-US" sz="1000" b="1" dirty="0"/>
          </a:p>
        </p:txBody>
      </p:sp>
      <p:sp>
        <p:nvSpPr>
          <p:cNvPr id="23" name="Text 20"/>
          <p:cNvSpPr/>
          <p:nvPr/>
        </p:nvSpPr>
        <p:spPr>
          <a:xfrm>
            <a:off x="9107424" y="274320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Arrendamentos 17 (53,1%) · TUPs 15 (46,9%)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107424" y="3337560"/>
            <a:ext cx="23408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10 empreendimentos parados — 31,3% dos ativos, o maior volume absoluto de paralisações</a:t>
            </a:r>
            <a:r>
              <a:rPr lang="en-US" sz="105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Síntese: Nordeste e Sudeste concentram juntos 64,4% dos contratos mapeados nas quatro regiões; Sul e Sudeste somam 16 empreendimentos parados — ponto central para planos de retomada e fiscalização.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3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639" y="365760"/>
            <a:ext cx="462416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INSTITUCIONAL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SAI move o fiscal para o centro da análise técnica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1F50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77240" y="2514600"/>
            <a:ext cx="438912" cy="438912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320040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tempo organizando e conferindo formato, mais tempo avaliando mérito e risco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228600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1F50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26280" y="2514600"/>
            <a:ext cx="438912" cy="438912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2628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53712" y="320040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e histórico rastreável fortalecem cada decisão de fiscalização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46720" y="228600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1F508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8275320" y="2514600"/>
            <a:ext cx="438912" cy="438912"/>
          </a:xfrm>
          <a:prstGeom prst="ellipse">
            <a:avLst/>
          </a:prstGeom>
          <a:solidFill>
            <a:srgbClr val="B88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27532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02752" y="320040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 mais consistente em todo o país, com o mesmo padrão de dado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conferir papel a fiscalizar com dados.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135" y="365760"/>
            <a:ext cx="502920" cy="50292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SAI transforma dado disperso em capacidade de fiscalização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55320" y="229971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400" dirty="0">
                <a:solidFill>
                  <a:srgbClr val="4F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padroniza o envio e a análise dos relatórios de investimento (RAPIR), elimina a tramitação física e entrega ao fiscal um dado pronto para decisão — com alertas automáticos de atraso e rastreabilidade integral.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63880" y="353415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03A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1058875" y="3523046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</a:t>
            </a:r>
            <a:r>
              <a:rPr lang="en-US" sz="20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mais rastreabilidade e mais tempo do fiscal dedicado à análise de </a:t>
            </a:r>
            <a:r>
              <a:rPr lang="en-US" sz="20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mérito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689CA938-8134-9867-6774-5E2214F0AEE3}"/>
              </a:ext>
            </a:extLst>
          </p:cNvPr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INSTITUCIONAL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3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/antaq_dark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639" y="365760"/>
            <a:ext cx="462416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0218" y="1058766"/>
            <a:ext cx="1162858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qualidade na informação significa mais capacidade de fiscalização.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914400" y="4343400"/>
            <a:ext cx="2743200" cy="0"/>
          </a:xfrm>
          <a:prstGeom prst="line">
            <a:avLst/>
          </a:prstGeom>
          <a:noFill/>
          <a:ln w="19050">
            <a:solidFill>
              <a:srgbClr val="B88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91440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ANTAQ · SFC · GCOR · GEF Investimentos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— Sistema de Acompanhamento de Investimentos  |  ANTAQ / SFC / GEF Investimentos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AA294CAA46834CA6ED4295DDE241EC" ma:contentTypeVersion="15" ma:contentTypeDescription="Crie um novo documento." ma:contentTypeScope="" ma:versionID="fd8a5833674c1b2a9ce96d76204b6fe2">
  <xsd:schema xmlns:xsd="http://www.w3.org/2001/XMLSchema" xmlns:xs="http://www.w3.org/2001/XMLSchema" xmlns:p="http://schemas.microsoft.com/office/2006/metadata/properties" xmlns:ns2="dbea8e96-e311-4237-94bd-2d5e2b91518c" xmlns:ns3="04b4fb2a-0123-4df8-960b-e8c81cad1de3" targetNamespace="http://schemas.microsoft.com/office/2006/metadata/properties" ma:root="true" ma:fieldsID="6203052a544d72debde6daa4b843ead2" ns2:_="" ns3:_="">
    <xsd:import namespace="dbea8e96-e311-4237-94bd-2d5e2b91518c"/>
    <xsd:import namespace="04b4fb2a-0123-4df8-960b-e8c81cad1d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DataeHor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ea8e96-e311-4237-94bd-2d5e2b9151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9a47a05-30c7-4e3a-83e8-a72346a22e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ataeHora" ma:index="21" nillable="true" ma:displayName="Data e Hora" ma:format="DateOnly" ma:internalName="DataeHora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b4fb2a-0123-4df8-960b-e8c81cad1de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c775ee0-54e0-4597-a84f-3a618956a4c5}" ma:internalName="TaxCatchAll" ma:showField="CatchAllData" ma:web="04b4fb2a-0123-4df8-960b-e8c81cad1d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aeHora xmlns="dbea8e96-e311-4237-94bd-2d5e2b91518c" xsi:nil="true"/>
    <lcf76f155ced4ddcb4097134ff3c332f xmlns="dbea8e96-e311-4237-94bd-2d5e2b91518c">
      <Terms xmlns="http://schemas.microsoft.com/office/infopath/2007/PartnerControls"/>
    </lcf76f155ced4ddcb4097134ff3c332f>
    <TaxCatchAll xmlns="04b4fb2a-0123-4df8-960b-e8c81cad1de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3CD0A9-DF45-4E44-B0A4-2BFE46FC7B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ea8e96-e311-4237-94bd-2d5e2b91518c"/>
    <ds:schemaRef ds:uri="04b4fb2a-0123-4df8-960b-e8c81cad1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313093-AA99-4FD5-BB56-E2BCB2C0DBB0}">
  <ds:schemaRefs>
    <ds:schemaRef ds:uri="http://schemas.microsoft.com/office/2006/metadata/properties"/>
    <ds:schemaRef ds:uri="http://schemas.microsoft.com/office/infopath/2007/PartnerControls"/>
    <ds:schemaRef ds:uri="dbea8e96-e311-4237-94bd-2d5e2b91518c"/>
    <ds:schemaRef ds:uri="04b4fb2a-0123-4df8-960b-e8c81cad1de3"/>
  </ds:schemaRefs>
</ds:datastoreItem>
</file>

<file path=customXml/itemProps3.xml><?xml version="1.0" encoding="utf-8"?>
<ds:datastoreItem xmlns:ds="http://schemas.openxmlformats.org/officeDocument/2006/customXml" ds:itemID="{D4EB8B8C-2F1E-486C-A0F3-A3CC2B2CD5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2513</Words>
  <Application>Microsoft Office PowerPoint</Application>
  <PresentationFormat>Widescreen</PresentationFormat>
  <Paragraphs>397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Luiz Carlos de Souza Junior</cp:lastModifiedBy>
  <cp:revision>6</cp:revision>
  <dcterms:created xsi:type="dcterms:W3CDTF">2026-09-22T14:22:27Z</dcterms:created>
  <dcterms:modified xsi:type="dcterms:W3CDTF">2026-09-22T15:59:45Z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0x010100A3AA294CAA46834CA6ED4295DDE241EC</vt:lpwstr>
  </property>
  <property fmtid="{D5CDD505-2E9C-101B-9397-08002B2CF9AE}" pid="3" name="MediaServiceImageTags">
    <vt:lpwstr/>
  </property>
</Properties>
</file>