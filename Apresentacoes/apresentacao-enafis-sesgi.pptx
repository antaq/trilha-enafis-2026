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1A_9E0FD719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69" r:id="rId5"/>
    <p:sldId id="288" r:id="rId6"/>
    <p:sldId id="289" r:id="rId7"/>
    <p:sldId id="290" r:id="rId8"/>
    <p:sldId id="287" r:id="rId9"/>
    <p:sldId id="291" r:id="rId10"/>
    <p:sldId id="268" r:id="rId11"/>
    <p:sldId id="275" r:id="rId12"/>
    <p:sldId id="257" r:id="rId13"/>
    <p:sldId id="276" r:id="rId14"/>
    <p:sldId id="264" r:id="rId15"/>
    <p:sldId id="278" r:id="rId16"/>
    <p:sldId id="281" r:id="rId17"/>
    <p:sldId id="279" r:id="rId18"/>
    <p:sldId id="260" r:id="rId19"/>
    <p:sldId id="265" r:id="rId20"/>
    <p:sldId id="292" r:id="rId21"/>
    <p:sldId id="282" r:id="rId22"/>
    <p:sldId id="293" r:id="rId23"/>
    <p:sldId id="294" r:id="rId24"/>
    <p:sldId id="272" r:id="rId25"/>
    <p:sldId id="280" r:id="rId26"/>
    <p:sldId id="295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CDC44C-F001-7848-39FF-45C7CD60761E}" name="Rodrigo Ayres Alves" initials="RA" userId="S::rodrigo.alves@antaq.gov.br::3c579595-b8de-425e-90a0-bc24b7ff1a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BAE3"/>
    <a:srgbClr val="000000"/>
    <a:srgbClr val="FE7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11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omments/modernComment_11A_9E0FD7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7BB2EE-BA80-42E2-9F1E-02EEF75F3773}" authorId="{9CCDC44C-F001-7848-39FF-45C7CD60761E}" created="2024-07-18T20:37:37.768">
    <pc:sldMkLst xmlns:pc="http://schemas.microsoft.com/office/powerpoint/2013/main/command">
      <pc:docMk/>
      <pc:sldMk cId="3651435842" sldId="260"/>
    </pc:sldMkLst>
    <p188:txBody>
      <a:bodyPr/>
      <a:lstStyle/>
      <a:p>
        <a:r>
          <a:rPr lang="pt-BR"/>
          <a:t>Aguardando informações
[@Renata Machado Santos]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3A9AF-CD6C-412E-856D-62CD444F5B9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E2D14-DEE8-4568-8772-8B985E2C01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85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E2D14-DEE8-4568-8772-8B985E2C013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485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3C3558-ABB8-CD21-AAC3-68B1D1CA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54B39437-72A5-5420-62DE-83369B3EC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250F2938-E3E6-072A-C377-4B14D9879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561BFC4-D53B-C87F-A365-29FA201E8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E2D14-DEE8-4568-8772-8B985E2C013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372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E2D14-DEE8-4568-8772-8B985E2C013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77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7.png"/><Relationship Id="rId7" Type="http://schemas.openxmlformats.org/officeDocument/2006/relationships/image" Target="../media/image11.png"/><Relationship Id="rId12" Type="http://schemas.microsoft.com/office/2018/10/relationships/comments" Target="../comments/modernComment_11A_9E0FD7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9.png"/><Relationship Id="rId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gisis.imo.org/Public/Default.aspx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mo.org/en/OurWork/Environment/Pages/Port-reception-facilities-database.aspx" TargetMode="External"/><Relationship Id="rId5" Type="http://schemas.openxmlformats.org/officeDocument/2006/relationships/hyperlink" Target="https://sophia.antaq.gov.br/Terminal/acervo/detalhe/33577?guid=4f72ab0767cf501b3f72&amp;returnUrl=/Terminal/resultado/listarlegislacao?guid=4f72ab0767cf501b3f72&amp;quantidadePaginas=1&amp;codigoRegistro=33577#33577&amp;i=2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stpandi.com/news-and-resources/news/july-2023/marpol-eu-legislation-and-directive-related-to-was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estpandi.com/getattachment/510cf4a6-5cbb-4095-acab-e424addc4632/marpol-eu-legislation-social.jpg" TargetMode="External"/><Relationship Id="rId5" Type="http://schemas.openxmlformats.org/officeDocument/2006/relationships/image" Target="../media/image40.png"/><Relationship Id="rId10" Type="http://schemas.openxmlformats.org/officeDocument/2006/relationships/hyperlink" Target="https://knowledgeofsea.com/purpose-of-annex-v/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e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e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cristina.castro@antaq.gov.br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="" xmlns:a16="http://schemas.microsoft.com/office/drawing/2014/main" id="{D657A7A0-C31C-3C3D-503C-FD5C99942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283" y="-407896"/>
            <a:ext cx="7998758" cy="7998758"/>
          </a:xfrm>
          <a:prstGeom prst="rect">
            <a:avLst/>
          </a:prstGeom>
        </p:spPr>
      </p:pic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A796903-AE23-8DDB-3270-03059F6FF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495" y="-11206"/>
            <a:ext cx="12335842" cy="6973445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D54402A2-9B61-E39B-EA15-D61E6F9FEEA5}"/>
              </a:ext>
            </a:extLst>
          </p:cNvPr>
          <p:cNvSpPr txBox="1"/>
          <p:nvPr/>
        </p:nvSpPr>
        <p:spPr>
          <a:xfrm>
            <a:off x="6907270" y="3032163"/>
            <a:ext cx="549728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smtClean="0">
                <a:solidFill>
                  <a:srgbClr val="72BAE3"/>
                </a:solidFill>
                <a:latin typeface="Avenir Next LT Pro"/>
                <a:ea typeface="+mn-lt"/>
                <a:cs typeface="+mn-lt"/>
              </a:rPr>
              <a:t>Superintendência de ESG e Inovação</a:t>
            </a:r>
          </a:p>
          <a:p>
            <a:r>
              <a:rPr lang="pt-BR" sz="4000" b="1" dirty="0" smtClean="0">
                <a:solidFill>
                  <a:srgbClr val="72BAE3"/>
                </a:solidFill>
                <a:latin typeface="Avenir Next LT Pro"/>
                <a:ea typeface="+mn-lt"/>
                <a:cs typeface="+mn-lt"/>
              </a:rPr>
              <a:t>SESGI</a:t>
            </a:r>
            <a:endParaRPr lang="pt-BR" sz="4000" dirty="0">
              <a:solidFill>
                <a:srgbClr val="72BAE3"/>
              </a:solidFill>
            </a:endParaRPr>
          </a:p>
          <a:p>
            <a:endParaRPr lang="pt-BR" sz="3200" b="1" dirty="0">
              <a:solidFill>
                <a:srgbClr val="FE7702"/>
              </a:solidFill>
              <a:latin typeface="Avenir Next LT Pro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BCEE2627-8FDA-D671-E0FA-FE33345B3B98}"/>
              </a:ext>
            </a:extLst>
          </p:cNvPr>
          <p:cNvSpPr txBox="1"/>
          <p:nvPr/>
        </p:nvSpPr>
        <p:spPr>
          <a:xfrm>
            <a:off x="6935463" y="4878822"/>
            <a:ext cx="28353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  <a:latin typeface="Avenir Next LT Pro Light"/>
              </a:rPr>
              <a:t>Setembro/2026</a:t>
            </a:r>
            <a:endParaRPr lang="pt-BR" dirty="0">
              <a:solidFill>
                <a:schemeClr val="bg1"/>
              </a:solidFill>
              <a:latin typeface="Avenir Next LT Pro Light"/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737434A0-DFE4-5AD3-02EB-512014C1B873}"/>
              </a:ext>
            </a:extLst>
          </p:cNvPr>
          <p:cNvSpPr txBox="1"/>
          <p:nvPr/>
        </p:nvSpPr>
        <p:spPr>
          <a:xfrm>
            <a:off x="7731079" y="5693776"/>
            <a:ext cx="43257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a typeface="+mn-lt"/>
                <a:cs typeface="+mn-lt"/>
              </a:rPr>
              <a:t>Cristina Castro </a:t>
            </a:r>
          </a:p>
          <a:p>
            <a:r>
              <a:rPr lang="pt-BR" sz="1600" dirty="0">
                <a:solidFill>
                  <a:schemeClr val="bg1"/>
                </a:solidFill>
                <a:ea typeface="+mn-lt"/>
                <a:cs typeface="+mn-lt"/>
              </a:rPr>
              <a:t>Superintendente de ESG e Inovação</a:t>
            </a:r>
          </a:p>
        </p:txBody>
      </p:sp>
      <p:pic>
        <p:nvPicPr>
          <p:cNvPr id="26" name="Imagem 25" descr="Logotipo&#10;&#10;Descrição gerada automaticamente">
            <a:extLst>
              <a:ext uri="{FF2B5EF4-FFF2-40B4-BE49-F238E27FC236}">
                <a16:creationId xmlns="" xmlns:a16="http://schemas.microsoft.com/office/drawing/2014/main" id="{72BC1E6B-B212-B9F8-2771-8EE91B9B1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964" y="5394980"/>
            <a:ext cx="2431055" cy="78571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737" y="5268328"/>
            <a:ext cx="3890804" cy="1039022"/>
          </a:xfrm>
          <a:prstGeom prst="rect">
            <a:avLst/>
          </a:prstGeom>
        </p:spPr>
      </p:pic>
      <p:sp>
        <p:nvSpPr>
          <p:cNvPr id="3" name="AutoShape 2" descr="https://brc-powerpoint.officeapps.live.com/pods/GetClipboardImage.ashx?Id=a832e985-fe33-464e-bb5b-b2c677b93034&amp;DC=PBR1&amp;pkey=d2099493-c365-4e23-b0ca-5dd9f48673c5&amp;wdwaccluster=PBR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4" descr="https://brc-powerpoint.officeapps.live.com/pods/GetClipboardImage.ashx?Id=fd6181f5-0fb8-4b5e-a37d-3484c610d907&amp;DC=PBR1&amp;pkey=ec9cdcc0-c0e3-4f03-b3f0-8cad442ceaee&amp;wdwaccluster=PBR1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69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1950795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 </a:t>
            </a:r>
          </a:p>
        </p:txBody>
      </p:sp>
      <p:sp>
        <p:nvSpPr>
          <p:cNvPr id="3" name="Retângulo 2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 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8DEB0653-9EFF-CABB-DDE1-59ABC3322E1F}"/>
              </a:ext>
            </a:extLst>
          </p:cNvPr>
          <p:cNvSpPr txBox="1"/>
          <p:nvPr/>
        </p:nvSpPr>
        <p:spPr>
          <a:xfrm>
            <a:off x="579632" y="552082"/>
            <a:ext cx="564076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750"/>
              </a:spcAft>
            </a:pPr>
            <a:r>
              <a:rPr lang="pt-BR" sz="2800" dirty="0" smtClean="0">
                <a:solidFill>
                  <a:schemeClr val="bg1"/>
                </a:solidFill>
                <a:latin typeface="Avenir Next LT Pro"/>
              </a:rPr>
              <a:t>Compete </a:t>
            </a:r>
            <a:r>
              <a:rPr lang="pt-BR" sz="2800" dirty="0">
                <a:solidFill>
                  <a:schemeClr val="bg1"/>
                </a:solidFill>
                <a:latin typeface="Avenir Next LT Pro"/>
              </a:rPr>
              <a:t>à Superintendência de ESG e </a:t>
            </a:r>
            <a:r>
              <a:rPr lang="pt-BR" sz="2800" dirty="0" smtClean="0">
                <a:solidFill>
                  <a:schemeClr val="bg1"/>
                </a:solidFill>
                <a:latin typeface="Avenir Next LT Pro"/>
              </a:rPr>
              <a:t>Inovação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BD249FC1-1D2F-2004-A683-EDA23039D8B6}"/>
              </a:ext>
            </a:extLst>
          </p:cNvPr>
          <p:cNvSpPr txBox="1"/>
          <p:nvPr/>
        </p:nvSpPr>
        <p:spPr>
          <a:xfrm>
            <a:off x="6326719" y="2392188"/>
            <a:ext cx="4935720" cy="4903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750"/>
              </a:spcAft>
            </a:pPr>
            <a:r>
              <a:rPr lang="pt-BR" sz="1400" b="1" dirty="0">
                <a:solidFill>
                  <a:srgbClr val="002060"/>
                </a:solidFill>
                <a:latin typeface="Avenir Next LT Pro"/>
              </a:rPr>
              <a:t>III -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 </a:t>
            </a: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participar 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de ações que tratem de inovação dos setores portuário e </a:t>
            </a:r>
            <a:r>
              <a:rPr lang="pt-BR" sz="1400" dirty="0" err="1">
                <a:solidFill>
                  <a:srgbClr val="002060"/>
                </a:solidFill>
                <a:latin typeface="Avenir Next LT Pro"/>
              </a:rPr>
              <a:t>aquaviário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 e de navegação e de novas soluções tecnológicas e de gestão a eles aplicadas;</a:t>
            </a:r>
          </a:p>
          <a:p>
            <a:pPr>
              <a:spcAft>
                <a:spcPts val="750"/>
              </a:spcAft>
            </a:pPr>
            <a:endParaRPr lang="pt-BR" sz="1400" dirty="0">
              <a:solidFill>
                <a:srgbClr val="00206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r>
              <a:rPr lang="pt-BR" sz="1400" b="1" dirty="0">
                <a:solidFill>
                  <a:srgbClr val="002060"/>
                </a:solidFill>
                <a:latin typeface="Avenir Next LT Pro"/>
              </a:rPr>
              <a:t>IV 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- prospectar projetos e ações de inovação nos quais a Agência possa atuar em parceria com instituições nacionais e internacionais, encaminhando as propostas que envolverem ajustes ou desenvolvimento de soluções de tecnologia da informação à </a:t>
            </a:r>
            <a:r>
              <a:rPr lang="pt-BR" sz="1400" dirty="0" err="1">
                <a:solidFill>
                  <a:srgbClr val="002060"/>
                </a:solidFill>
                <a:latin typeface="Avenir Next LT Pro"/>
              </a:rPr>
              <a:t>Secretaria-Geral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, para avaliação e processamento; e</a:t>
            </a:r>
            <a:endParaRPr lang="en-US" sz="1400" dirty="0">
              <a:solidFill>
                <a:srgbClr val="00206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endParaRPr lang="pt-BR" sz="1400" dirty="0">
              <a:solidFill>
                <a:srgbClr val="00206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r>
              <a:rPr lang="pt-BR" sz="1400" b="1" dirty="0">
                <a:solidFill>
                  <a:srgbClr val="002060"/>
                </a:solidFill>
                <a:latin typeface="Avenir Next LT Pro"/>
              </a:rPr>
              <a:t>V 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- identificar e propor o desenvolvimento de índices nas dimensões ambiental, social e de governança (ESG - Environmental, Social </a:t>
            </a:r>
            <a:r>
              <a:rPr lang="pt-BR" sz="1400" dirty="0" err="1">
                <a:solidFill>
                  <a:srgbClr val="002060"/>
                </a:solidFill>
                <a:latin typeface="Avenir Next LT Pro"/>
              </a:rPr>
              <a:t>and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 </a:t>
            </a:r>
            <a:r>
              <a:rPr lang="pt-BR" sz="1400" dirty="0" err="1">
                <a:solidFill>
                  <a:srgbClr val="002060"/>
                </a:solidFill>
                <a:latin typeface="Avenir Next LT Pro"/>
              </a:rPr>
              <a:t>Governance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) focados em inovação e sustentabilidade.</a:t>
            </a:r>
            <a:endParaRPr lang="en-US" sz="1400" dirty="0">
              <a:solidFill>
                <a:srgbClr val="00206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endParaRPr lang="pt-BR" sz="1400" dirty="0">
              <a:solidFill>
                <a:srgbClr val="00206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endParaRPr lang="pt-BR" sz="1400" dirty="0">
              <a:solidFill>
                <a:srgbClr val="002060"/>
              </a:solidFill>
              <a:latin typeface="Avenir Next LT Pro"/>
            </a:endParaRPr>
          </a:p>
          <a:p>
            <a:endParaRPr lang="pt-BR" sz="1400" b="1" dirty="0">
              <a:solidFill>
                <a:srgbClr val="002060"/>
              </a:solidFill>
              <a:latin typeface="Avenir Next LT Pro"/>
              <a:cs typeface="Calibri"/>
            </a:endParaRPr>
          </a:p>
          <a:p>
            <a:endParaRPr lang="pt-BR" sz="1200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89E83EDC-0198-0C19-86D3-15769A9C8818}"/>
              </a:ext>
            </a:extLst>
          </p:cNvPr>
          <p:cNvSpPr txBox="1"/>
          <p:nvPr/>
        </p:nvSpPr>
        <p:spPr>
          <a:xfrm>
            <a:off x="517525" y="2478955"/>
            <a:ext cx="5214452" cy="3518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750"/>
              </a:spcAft>
            </a:pPr>
            <a:r>
              <a:rPr lang="pt-BR" sz="1400" b="1" dirty="0">
                <a:solidFill>
                  <a:srgbClr val="002060"/>
                </a:solidFill>
                <a:latin typeface="Avenir Next LT Pro"/>
              </a:rPr>
              <a:t>I -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 supervisionar as atividades desenvolvidas no âmbito das subunidades que compõem a sua estrutura organizacional;</a:t>
            </a: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>
              <a:spcAft>
                <a:spcPts val="750"/>
              </a:spcAft>
            </a:pPr>
            <a:r>
              <a:rPr lang="pt-BR" sz="1400" b="1" dirty="0">
                <a:solidFill>
                  <a:srgbClr val="002060"/>
                </a:solidFill>
                <a:latin typeface="Avenir Next LT Pro"/>
              </a:rPr>
              <a:t>II -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 acompanhar</a:t>
            </a: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:</a:t>
            </a:r>
            <a:endParaRPr lang="pt-BR" sz="1400" dirty="0">
              <a:solidFill>
                <a:srgbClr val="002060"/>
              </a:solidFill>
              <a:latin typeface="Avenir Next LT Pro"/>
            </a:endParaRPr>
          </a:p>
          <a:p>
            <a:pPr marL="342900" indent="-342900">
              <a:spcAft>
                <a:spcPts val="750"/>
              </a:spcAft>
              <a:buAutoNum type="alphaLcParenR"/>
            </a:pP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e 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propor à Diretoria Colegiada a publicação do resultado das políticas públicas relativas à sustentabilidade ambiental no que tange à exploração das infraestruturas portuária e </a:t>
            </a:r>
            <a:r>
              <a:rPr lang="pt-BR" sz="1400" dirty="0" err="1">
                <a:solidFill>
                  <a:srgbClr val="002060"/>
                </a:solidFill>
                <a:latin typeface="Avenir Next LT Pro"/>
              </a:rPr>
              <a:t>aquaviária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, à navegação interior e à navegação marítima</a:t>
            </a: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;</a:t>
            </a:r>
          </a:p>
          <a:p>
            <a:pPr marL="342900" indent="-342900">
              <a:spcAft>
                <a:spcPts val="750"/>
              </a:spcAft>
              <a:buAutoNum type="alphaLcParenR"/>
            </a:pP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a </a:t>
            </a: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Diretoria Colegiada em fóruns de assuntos relacionados a meio ambiente, sustentabilidade, saúde, capacitação de trabalhadores e segurança; e </a:t>
            </a:r>
            <a:endParaRPr lang="pt-BR" sz="1400" dirty="0" smtClean="0">
              <a:solidFill>
                <a:srgbClr val="002060"/>
              </a:solidFill>
              <a:latin typeface="Avenir Next LT Pro"/>
            </a:endParaRPr>
          </a:p>
          <a:p>
            <a:pPr marL="342900" indent="-342900">
              <a:spcAft>
                <a:spcPts val="750"/>
              </a:spcAft>
              <a:buAutoNum type="alphaLcParenR"/>
            </a:pPr>
            <a:r>
              <a:rPr lang="pt-BR" sz="1400" dirty="0">
                <a:solidFill>
                  <a:srgbClr val="002060"/>
                </a:solidFill>
                <a:latin typeface="Avenir Next LT Pro"/>
              </a:rPr>
              <a:t>a Diretoria Colegiada em fóruns de assuntos relacionados a equidade de gênero, diversidade, acessibilidade e inclusão</a:t>
            </a:r>
            <a:r>
              <a:rPr lang="pt-BR" sz="1400" dirty="0" smtClean="0">
                <a:solidFill>
                  <a:srgbClr val="002060"/>
                </a:solidFill>
                <a:latin typeface="Avenir Next LT Pro"/>
              </a:rPr>
              <a:t>;</a:t>
            </a:r>
            <a:endParaRPr lang="pt-BR" sz="1400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7CD793FF-948F-49D1-4E69-0B813FAD2646}"/>
              </a:ext>
            </a:extLst>
          </p:cNvPr>
          <p:cNvSpPr txBox="1"/>
          <p:nvPr/>
        </p:nvSpPr>
        <p:spPr>
          <a:xfrm>
            <a:off x="2323821" y="7642971"/>
            <a:ext cx="19976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sz="2000" dirty="0">
              <a:solidFill>
                <a:srgbClr val="002060"/>
              </a:solidFill>
              <a:latin typeface="Avenir Next LT Pro"/>
            </a:endParaRPr>
          </a:p>
          <a:p>
            <a:endParaRPr lang="pt-BR" sz="2000" b="1" dirty="0">
              <a:solidFill>
                <a:srgbClr val="002060"/>
              </a:solidFill>
              <a:latin typeface="Avenir Next LT Pro"/>
            </a:endParaRPr>
          </a:p>
          <a:p>
            <a:endParaRPr lang="pt-BR" sz="2000" dirty="0">
              <a:solidFill>
                <a:srgbClr val="00206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737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33" y="1241687"/>
            <a:ext cx="9955438" cy="5589017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9695907" y="1268983"/>
            <a:ext cx="2163171" cy="1187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30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xmlns="" id="{61AEC126-3A25-1F50-0351-5023166B866A}"/>
              </a:ext>
            </a:extLst>
          </p:cNvPr>
          <p:cNvSpPr txBox="1"/>
          <p:nvPr/>
        </p:nvSpPr>
        <p:spPr>
          <a:xfrm>
            <a:off x="517525" y="395385"/>
            <a:ext cx="5733150" cy="1436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44"/>
              </a:lnSpc>
            </a:pPr>
            <a:r>
              <a:rPr lang="en-US" sz="3600" b="1" dirty="0" smtClean="0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ESG: um </a:t>
            </a:r>
            <a:r>
              <a:rPr lang="en-US" sz="3600" b="1" dirty="0" err="1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c</a:t>
            </a:r>
            <a:r>
              <a:rPr lang="en-US" sz="3600" b="1" dirty="0" err="1" smtClean="0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ompromisso</a:t>
            </a:r>
            <a:r>
              <a:rPr lang="en-US" sz="3600" b="1" dirty="0" smtClean="0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 </a:t>
            </a:r>
          </a:p>
          <a:p>
            <a:pPr algn="ctr">
              <a:lnSpc>
                <a:spcPts val="5944"/>
              </a:lnSpc>
            </a:pPr>
            <a:r>
              <a:rPr lang="en-US" sz="3600" b="1" dirty="0" smtClean="0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de </a:t>
            </a:r>
            <a:r>
              <a:rPr lang="en-US" sz="3600" b="1" dirty="0" err="1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t</a:t>
            </a:r>
            <a:r>
              <a:rPr lang="en-US" sz="3600" b="1" dirty="0" err="1" smtClean="0">
                <a:solidFill>
                  <a:schemeClr val="bg1"/>
                </a:solidFill>
                <a:latin typeface="Aptos"/>
                <a:ea typeface="+mn-lt"/>
                <a:cs typeface="+mn-lt"/>
                <a:sym typeface="Garet Bold"/>
              </a:rPr>
              <a:t>odos</a:t>
            </a:r>
            <a:endParaRPr lang="pt-BR" sz="14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5609769D-307D-AC80-370A-5AFDF214BB0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58000"/>
                    </a14:imgEffect>
                  </a14:imgLayer>
                </a14:imgProps>
              </a:ext>
            </a:extLst>
          </a:blip>
          <a:srcRect b="34979"/>
          <a:stretch/>
        </p:blipFill>
        <p:spPr>
          <a:xfrm>
            <a:off x="1400787" y="2053389"/>
            <a:ext cx="8880909" cy="4078442"/>
          </a:xfrm>
          <a:prstGeom prst="rect">
            <a:avLst/>
          </a:prstGeom>
          <a:solidFill>
            <a:srgbClr val="90C5A4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47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xmlns="" id="{C926860D-2652-435C-58CB-38BB6BBC9840}"/>
              </a:ext>
            </a:extLst>
          </p:cNvPr>
          <p:cNvSpPr txBox="1">
            <a:spLocks/>
          </p:cNvSpPr>
          <p:nvPr/>
        </p:nvSpPr>
        <p:spPr>
          <a:xfrm>
            <a:off x="302338" y="629775"/>
            <a:ext cx="7102178" cy="1219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00" b="1" dirty="0" smtClean="0">
                <a:solidFill>
                  <a:schemeClr val="bg1"/>
                </a:solidFill>
                <a:latin typeface="Avenir Next LT Pro"/>
                <a:ea typeface="+mn-ea"/>
                <a:cs typeface="+mn-cs"/>
              </a:rPr>
              <a:t>Meio Ambiente, Sustentabilidade e Inovação</a:t>
            </a:r>
            <a:endParaRPr lang="pt-BR" sz="2800" b="1" dirty="0">
              <a:solidFill>
                <a:schemeClr val="bg1"/>
              </a:solidFill>
              <a:latin typeface="Avenir Next LT Pro"/>
              <a:ea typeface="+mn-ea"/>
              <a:cs typeface="+mn-cs"/>
            </a:endParaRPr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xmlns="" id="{193C2BC6-1C84-5052-F68E-1566C9D0C410}"/>
              </a:ext>
            </a:extLst>
          </p:cNvPr>
          <p:cNvSpPr txBox="1">
            <a:spLocks/>
          </p:cNvSpPr>
          <p:nvPr/>
        </p:nvSpPr>
        <p:spPr>
          <a:xfrm>
            <a:off x="837998" y="2743063"/>
            <a:ext cx="10643165" cy="2062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pt-BR" sz="1800" b="1" dirty="0">
                <a:solidFill>
                  <a:srgbClr val="002060"/>
                </a:solidFill>
                <a:latin typeface="Avenir Next LT Pro" panose="020B0604020202020204" charset="0"/>
                <a:ea typeface="+mn-ea"/>
                <a:cs typeface="+mn-cs"/>
              </a:rPr>
              <a:t>A ANTAQ </a:t>
            </a:r>
            <a:r>
              <a:rPr lang="pt-BR" sz="1800" b="1" dirty="0" smtClean="0">
                <a:solidFill>
                  <a:srgbClr val="002060"/>
                </a:solidFill>
                <a:latin typeface="Avenir Next LT Pro" panose="020B0604020202020204" charset="0"/>
                <a:ea typeface="+mn-ea"/>
                <a:cs typeface="+mn-cs"/>
              </a:rPr>
              <a:t>foi a </a:t>
            </a:r>
            <a:r>
              <a:rPr lang="pt-BR" sz="1800" b="1" dirty="0">
                <a:solidFill>
                  <a:srgbClr val="002060"/>
                </a:solidFill>
                <a:latin typeface="Avenir Next LT Pro" panose="020B0604020202020204" charset="0"/>
                <a:ea typeface="+mn-ea"/>
                <a:cs typeface="+mn-cs"/>
              </a:rPr>
              <a:t>primeira agência reguladora federal a ter uma unidade voltada exclusivamente para a sustentabilidade e foi pioneira na criação do Índice de Desempenho Ambiental (IDA), servindo de exemplo para outras agências reguladoras. </a:t>
            </a:r>
            <a:r>
              <a:rPr lang="pt-BR" sz="1800" b="1" dirty="0">
                <a:solidFill>
                  <a:srgbClr val="002060"/>
                </a:solidFill>
                <a:latin typeface="Avenir Next LT Pro" panose="020B0604020202020204" charset="0"/>
                <a:ea typeface="+mn-ea"/>
                <a:cs typeface="+mn-cs"/>
              </a:rPr>
              <a:t>Além disso, a ANTAQ criou um Inventário de Emissões de Gases de Efeito Estufa (GEE) para quantificar as emissões de carbono e outros gases de efeito estufa gerados pelo transporte marítimo</a:t>
            </a:r>
            <a:r>
              <a:rPr lang="pt-BR" sz="1800" b="1" dirty="0" smtClean="0">
                <a:solidFill>
                  <a:srgbClr val="0C2F4F"/>
                </a:solidFill>
                <a:latin typeface="Avenir Next LT Pro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1800" b="1" dirty="0">
              <a:solidFill>
                <a:srgbClr val="0C2F4F"/>
              </a:solidFill>
              <a:latin typeface="Avenir Next LT Pro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3" name="Agrupar 16">
            <a:extLst>
              <a:ext uri="{FF2B5EF4-FFF2-40B4-BE49-F238E27FC236}">
                <a16:creationId xmlns:a16="http://schemas.microsoft.com/office/drawing/2014/main" xmlns="" id="{92A32C88-8A2B-8966-02C3-96DE5B2BDD24}"/>
              </a:ext>
            </a:extLst>
          </p:cNvPr>
          <p:cNvGrpSpPr/>
          <p:nvPr/>
        </p:nvGrpSpPr>
        <p:grpSpPr>
          <a:xfrm>
            <a:off x="212725" y="4940530"/>
            <a:ext cx="11484488" cy="1021675"/>
            <a:chOff x="353755" y="4119458"/>
            <a:chExt cx="11484488" cy="1021675"/>
          </a:xfrm>
        </p:grpSpPr>
        <p:grpSp>
          <p:nvGrpSpPr>
            <p:cNvPr id="34" name="Agrupar 15">
              <a:extLst>
                <a:ext uri="{FF2B5EF4-FFF2-40B4-BE49-F238E27FC236}">
                  <a16:creationId xmlns:a16="http://schemas.microsoft.com/office/drawing/2014/main" xmlns="" id="{815CCE6E-2D89-7061-2028-15D45FC6CE78}"/>
                </a:ext>
              </a:extLst>
            </p:cNvPr>
            <p:cNvGrpSpPr/>
            <p:nvPr/>
          </p:nvGrpSpPr>
          <p:grpSpPr>
            <a:xfrm>
              <a:off x="353755" y="4119458"/>
              <a:ext cx="11484488" cy="1021675"/>
              <a:chOff x="353756" y="3988663"/>
              <a:chExt cx="11484488" cy="1021675"/>
            </a:xfrm>
          </p:grpSpPr>
          <p:grpSp>
            <p:nvGrpSpPr>
              <p:cNvPr id="36" name="Agrupar 68">
                <a:extLst>
                  <a:ext uri="{FF2B5EF4-FFF2-40B4-BE49-F238E27FC236}">
                    <a16:creationId xmlns:a16="http://schemas.microsoft.com/office/drawing/2014/main" xmlns="" id="{902E7F42-D64D-5D30-82A6-3F00FFCA3CC6}"/>
                  </a:ext>
                </a:extLst>
              </p:cNvPr>
              <p:cNvGrpSpPr/>
              <p:nvPr/>
            </p:nvGrpSpPr>
            <p:grpSpPr>
              <a:xfrm>
                <a:off x="353756" y="3988663"/>
                <a:ext cx="7562595" cy="1017988"/>
                <a:chOff x="1992433" y="3988663"/>
                <a:chExt cx="7562595" cy="1017988"/>
              </a:xfrm>
            </p:grpSpPr>
            <p:grpSp>
              <p:nvGrpSpPr>
                <p:cNvPr id="38" name="Agrupar 65">
                  <a:extLst>
                    <a:ext uri="{FF2B5EF4-FFF2-40B4-BE49-F238E27FC236}">
                      <a16:creationId xmlns:a16="http://schemas.microsoft.com/office/drawing/2014/main" xmlns="" id="{66B9366E-4392-245C-70DE-1F825B301A4C}"/>
                    </a:ext>
                  </a:extLst>
                </p:cNvPr>
                <p:cNvGrpSpPr/>
                <p:nvPr/>
              </p:nvGrpSpPr>
              <p:grpSpPr>
                <a:xfrm>
                  <a:off x="1992433" y="3988663"/>
                  <a:ext cx="7562595" cy="1017988"/>
                  <a:chOff x="1992436" y="3992350"/>
                  <a:chExt cx="7562595" cy="1017988"/>
                </a:xfrm>
                <a:solidFill>
                  <a:srgbClr val="436D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1" name="Fluxograma: Terminação 40">
                    <a:extLst>
                      <a:ext uri="{FF2B5EF4-FFF2-40B4-BE49-F238E27FC236}">
                        <a16:creationId xmlns:a16="http://schemas.microsoft.com/office/drawing/2014/main" xmlns="" id="{F0B0788C-BB42-2404-FB53-91A85662B3EA}"/>
                      </a:ext>
                    </a:extLst>
                  </p:cNvPr>
                  <p:cNvSpPr/>
                  <p:nvPr/>
                </p:nvSpPr>
                <p:spPr>
                  <a:xfrm>
                    <a:off x="1992436" y="3992350"/>
                    <a:ext cx="3640702" cy="1017988"/>
                  </a:xfrm>
                  <a:prstGeom prst="flowChartTerminator">
                    <a:avLst/>
                  </a:prstGeom>
                  <a:grpFill/>
                  <a:ln>
                    <a:solidFill>
                      <a:srgbClr val="72BAE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2" name="Fluxograma: Terminação 41">
                    <a:extLst>
                      <a:ext uri="{FF2B5EF4-FFF2-40B4-BE49-F238E27FC236}">
                        <a16:creationId xmlns:a16="http://schemas.microsoft.com/office/drawing/2014/main" xmlns="" id="{84109557-3A28-1719-4875-D38CD929DE46}"/>
                      </a:ext>
                    </a:extLst>
                  </p:cNvPr>
                  <p:cNvSpPr/>
                  <p:nvPr/>
                </p:nvSpPr>
                <p:spPr>
                  <a:xfrm>
                    <a:off x="5914329" y="3992350"/>
                    <a:ext cx="3640702" cy="1017988"/>
                  </a:xfrm>
                  <a:prstGeom prst="flowChartTerminator">
                    <a:avLst/>
                  </a:prstGeom>
                  <a:grpFill/>
                  <a:ln>
                    <a:solidFill>
                      <a:srgbClr val="72BAE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xmlns="" id="{9819F226-DF62-DBB5-12F2-7E6457CC78D7}"/>
                    </a:ext>
                  </a:extLst>
                </p:cNvPr>
                <p:cNvSpPr txBox="1"/>
                <p:nvPr/>
              </p:nvSpPr>
              <p:spPr>
                <a:xfrm>
                  <a:off x="2125466" y="4205269"/>
                  <a:ext cx="337463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ÍNDICE DE DESEMPENHO AMBIENTAL (IDA)</a:t>
                  </a:r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xmlns="" id="{6C45AA5F-3E7B-4EAD-ACF0-5A0062BD8581}"/>
                    </a:ext>
                  </a:extLst>
                </p:cNvPr>
                <p:cNvSpPr txBox="1"/>
                <p:nvPr/>
              </p:nvSpPr>
              <p:spPr>
                <a:xfrm>
                  <a:off x="6047360" y="4202366"/>
                  <a:ext cx="337463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ADAPTAÇÃO ÀS MUDANÇAS CLIMÁTICAS</a:t>
                  </a:r>
                </a:p>
              </p:txBody>
            </p:sp>
          </p:grpSp>
          <p:sp>
            <p:nvSpPr>
              <p:cNvPr id="37" name="Fluxograma: Terminação 36">
                <a:extLst>
                  <a:ext uri="{FF2B5EF4-FFF2-40B4-BE49-F238E27FC236}">
                    <a16:creationId xmlns:a16="http://schemas.microsoft.com/office/drawing/2014/main" xmlns="" id="{01AF8D94-1432-E2CC-5B7A-5994C4C8972B}"/>
                  </a:ext>
                </a:extLst>
              </p:cNvPr>
              <p:cNvSpPr/>
              <p:nvPr/>
            </p:nvSpPr>
            <p:spPr>
              <a:xfrm>
                <a:off x="8197542" y="3992350"/>
                <a:ext cx="3640702" cy="1017988"/>
              </a:xfrm>
              <a:prstGeom prst="flowChartTerminator">
                <a:avLst/>
              </a:prstGeom>
              <a:solidFill>
                <a:srgbClr val="436D8A"/>
              </a:solidFill>
              <a:ln>
                <a:solidFill>
                  <a:srgbClr val="72BAE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B0A987F8-C454-F3AF-0EF6-F3C0B80A47C5}"/>
                </a:ext>
              </a:extLst>
            </p:cNvPr>
            <p:cNvSpPr txBox="1"/>
            <p:nvPr/>
          </p:nvSpPr>
          <p:spPr>
            <a:xfrm>
              <a:off x="8330577" y="4333161"/>
              <a:ext cx="33746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INVENTÁRIO DE EMISSÕES DE GASES DO EFEITO ESTUFA (GEE)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613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0AC45977-452F-E99F-4298-6F64E12F8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254" y="1603999"/>
            <a:ext cx="3057677" cy="425699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TextBox 32">
            <a:extLst>
              <a:ext uri="{FF2B5EF4-FFF2-40B4-BE49-F238E27FC236}">
                <a16:creationId xmlns:a16="http://schemas.microsoft.com/office/drawing/2014/main" xmlns="" id="{70035917-0C29-B882-0793-435EBC65C071}"/>
              </a:ext>
            </a:extLst>
          </p:cNvPr>
          <p:cNvSpPr txBox="1"/>
          <p:nvPr/>
        </p:nvSpPr>
        <p:spPr>
          <a:xfrm>
            <a:off x="1250224" y="730360"/>
            <a:ext cx="494350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Agenda </a:t>
            </a:r>
            <a:r>
              <a:rPr lang="en-US" sz="2800" b="1" dirty="0" err="1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Ambiental</a:t>
            </a:r>
            <a:r>
              <a:rPr lang="en-US" sz="2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e de </a:t>
            </a:r>
            <a:r>
              <a:rPr lang="en-US" sz="2800" b="1" dirty="0" err="1" smtClean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Segurança</a:t>
            </a:r>
            <a:r>
              <a:rPr lang="en-US" sz="2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Aquaviária</a:t>
            </a:r>
            <a:r>
              <a:rPr lang="en-US" sz="2800" b="1" dirty="0" smtClean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pt-BR" sz="1050" dirty="0">
              <a:solidFill>
                <a:schemeClr val="bg1"/>
              </a:solidFill>
              <a:sym typeface="Garet Bold"/>
            </a:endParaRPr>
          </a:p>
          <a:p>
            <a:pPr algn="ctr"/>
            <a:r>
              <a:rPr lang="en-US" sz="2800" b="1" dirty="0" err="1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Biênio</a:t>
            </a:r>
            <a:r>
              <a:rPr lang="en-US" sz="2800" b="1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2025-2026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618FE20-8824-6CDB-6FD4-F0A0A64E5868}"/>
              </a:ext>
            </a:extLst>
          </p:cNvPr>
          <p:cNvSpPr txBox="1"/>
          <p:nvPr/>
        </p:nvSpPr>
        <p:spPr>
          <a:xfrm>
            <a:off x="517525" y="3400451"/>
            <a:ext cx="645450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>
              <a:spcAft>
                <a:spcPts val="1500"/>
              </a:spcAft>
            </a:pPr>
            <a:r>
              <a:rPr lang="pt-BR" sz="2400" dirty="0">
                <a:latin typeface="Aptos"/>
              </a:rPr>
              <a:t>Consolida os </a:t>
            </a:r>
            <a:r>
              <a:rPr lang="pt-BR" sz="2400" b="1" dirty="0">
                <a:solidFill>
                  <a:schemeClr val="tx2"/>
                </a:solidFill>
                <a:latin typeface="Aptos"/>
              </a:rPr>
              <a:t>8 projetos</a:t>
            </a:r>
            <a:r>
              <a:rPr lang="pt-BR" sz="2400" dirty="0">
                <a:latin typeface="Aptos"/>
              </a:rPr>
              <a:t> e </a:t>
            </a:r>
            <a:r>
              <a:rPr lang="pt-BR" sz="2400" b="1" dirty="0">
                <a:solidFill>
                  <a:schemeClr val="tx2"/>
                </a:solidFill>
                <a:latin typeface="Aptos"/>
              </a:rPr>
              <a:t>11 ações estratégicas </a:t>
            </a:r>
            <a:r>
              <a:rPr lang="pt-BR" sz="2400" dirty="0">
                <a:latin typeface="Aptos"/>
              </a:rPr>
              <a:t>de sustentabilidade ambiental e social no setor </a:t>
            </a:r>
            <a:r>
              <a:rPr lang="pt-BR" sz="2400" dirty="0" err="1">
                <a:latin typeface="Aptos"/>
              </a:rPr>
              <a:t>aquaviário</a:t>
            </a:r>
            <a:r>
              <a:rPr lang="pt-BR" sz="2400" dirty="0">
                <a:latin typeface="Aptos"/>
              </a:rPr>
              <a:t>, em consonância com a Política de Sustentabilidade do MPOR, com a Agenda 2030 e Plano de Integridade da ANTAQ. </a:t>
            </a:r>
          </a:p>
        </p:txBody>
      </p:sp>
    </p:spTree>
    <p:extLst>
      <p:ext uri="{BB962C8B-B14F-4D97-AF65-F5344CB8AC3E}">
        <p14:creationId xmlns:p14="http://schemas.microsoft.com/office/powerpoint/2010/main" val="249253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3301773" y="912263"/>
            <a:ext cx="4129774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Revisão e Atualização</a:t>
            </a:r>
          </a:p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do IDA</a:t>
            </a: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752720" y="1524198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70%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778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474652" y="3641432"/>
            <a:ext cx="35255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400" dirty="0">
                <a:latin typeface="Avenir Next LT Pro"/>
                <a:ea typeface="+mn-lt"/>
                <a:cs typeface="+mn-lt"/>
              </a:rPr>
              <a:t>Revisão e atualização do Índice de Desempenho Ambiental (IDA) da ANTAQ considerando, para tanto, a internalização de conceitos e diretrizes socioambientais a partir de princípios ESG (Environmental, Social </a:t>
            </a:r>
            <a:r>
              <a:rPr lang="pt-BR" sz="1400" dirty="0" err="1">
                <a:latin typeface="Avenir Next LT Pro"/>
                <a:ea typeface="+mn-lt"/>
                <a:cs typeface="+mn-lt"/>
              </a:rPr>
              <a:t>and</a:t>
            </a:r>
            <a:r>
              <a:rPr lang="pt-BR" sz="1400" dirty="0">
                <a:latin typeface="Avenir Next LT Pro"/>
                <a:ea typeface="+mn-lt"/>
                <a:cs typeface="+mn-lt"/>
              </a:rPr>
              <a:t> Governance).</a:t>
            </a:r>
            <a:endParaRPr lang="pt-BR" sz="1000" dirty="0">
              <a:latin typeface="Avenir Next LT Pro"/>
              <a:ea typeface="+mn-lt"/>
              <a:cs typeface="+mn-lt"/>
            </a:endParaRPr>
          </a:p>
          <a:p>
            <a:endParaRPr lang="pt-BR" sz="100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424247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585595" y="3651372"/>
            <a:ext cx="399680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400" dirty="0">
                <a:latin typeface="Avenir Next LT Pro"/>
                <a:ea typeface="+mn-lt"/>
                <a:cs typeface="+mn-lt"/>
              </a:rPr>
              <a:t>Até o momento, foram realizadas as etapas: análise interna das universidades, mapeamento de </a:t>
            </a:r>
            <a:r>
              <a:rPr lang="pt-BR" sz="1400" i="1" dirty="0" err="1">
                <a:latin typeface="Avenir Next LT Pro"/>
                <a:ea typeface="+mn-lt"/>
                <a:cs typeface="+mn-lt"/>
              </a:rPr>
              <a:t>stakeholders</a:t>
            </a:r>
            <a:r>
              <a:rPr lang="pt-BR" sz="1400" dirty="0">
                <a:latin typeface="Avenir Next LT Pro"/>
                <a:ea typeface="+mn-lt"/>
                <a:cs typeface="+mn-lt"/>
              </a:rPr>
              <a:t>, revisão científica, benchmarking, aplicação de formulário eletrônico, oficinas regionais presenciais, entrevistas e proposição da nova estrutura do IDA.</a:t>
            </a:r>
          </a:p>
          <a:p>
            <a:pPr marL="285750" indent="-285750">
              <a:buFont typeface="Symbol"/>
              <a:buChar char="•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A proposta encontra-se em desenvolvimento pela GMS.</a:t>
            </a:r>
          </a:p>
          <a:p>
            <a:endParaRPr lang="pt-BR" sz="1600" dirty="0">
              <a:latin typeface="Avenir Next LT Pro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9E2C1756-D017-D3A4-6D5D-88D97CC5DF9D}"/>
              </a:ext>
            </a:extLst>
          </p:cNvPr>
          <p:cNvSpPr txBox="1"/>
          <p:nvPr/>
        </p:nvSpPr>
        <p:spPr>
          <a:xfrm>
            <a:off x="7781684" y="3222442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SITUAÇÃO</a:t>
            </a:r>
          </a:p>
        </p:txBody>
      </p:sp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="" xmlns:a16="http://schemas.microsoft.com/office/drawing/2014/main" id="{58B5C710-7E04-2CB6-2A0F-E6FCB30FE3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909" t="-41479" r="-46290" b="-39901"/>
          <a:stretch/>
        </p:blipFill>
        <p:spPr>
          <a:xfrm>
            <a:off x="2640648" y="2922020"/>
            <a:ext cx="919554" cy="890972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="" xmlns:a16="http://schemas.microsoft.com/office/drawing/2014/main" id="{E6815BDE-8A83-0145-D935-46C768D9826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35579" t="-38054" r="-48708" b="-43946"/>
          <a:stretch/>
        </p:blipFill>
        <p:spPr>
          <a:xfrm>
            <a:off x="7008633" y="3062063"/>
            <a:ext cx="880335" cy="739296"/>
          </a:xfrm>
          <a:prstGeom prst="rect">
            <a:avLst/>
          </a:prstGeom>
        </p:spPr>
      </p:pic>
      <p:pic>
        <p:nvPicPr>
          <p:cNvPr id="21" name="Imagem 20" descr="Forma, Seta&#10;&#10;Descrição gerada automaticamente">
            <a:extLst>
              <a:ext uri="{FF2B5EF4-FFF2-40B4-BE49-F238E27FC236}">
                <a16:creationId xmlns="" xmlns:a16="http://schemas.microsoft.com/office/drawing/2014/main" id="{9310B5A6-8466-AD47-6F92-1C07509CD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" y="-223520"/>
            <a:ext cx="1868552" cy="333248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457" y="3480463"/>
            <a:ext cx="2379864" cy="2387517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4E4D8255-9E3E-856A-720A-97390E12F53D}"/>
              </a:ext>
            </a:extLst>
          </p:cNvPr>
          <p:cNvSpPr txBox="1"/>
          <p:nvPr/>
        </p:nvSpPr>
        <p:spPr>
          <a:xfrm>
            <a:off x="3560202" y="5889257"/>
            <a:ext cx="283536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latin typeface="Avenir Next LT Pro"/>
                <a:ea typeface="+mn-lt"/>
                <a:cs typeface="+mn-lt"/>
              </a:rPr>
              <a:t>Previsão de conclusão para dezembro/2026 </a:t>
            </a:r>
          </a:p>
          <a:p>
            <a:endParaRPr lang="pt-BR" sz="1600" dirty="0"/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0A4F8B02-E57A-3115-8BD4-187343464117}"/>
              </a:ext>
            </a:extLst>
          </p:cNvPr>
          <p:cNvSpPr txBox="1"/>
          <p:nvPr/>
        </p:nvSpPr>
        <p:spPr>
          <a:xfrm>
            <a:off x="3660337" y="5328060"/>
            <a:ext cx="2201883" cy="440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PRAZO</a:t>
            </a:r>
          </a:p>
        </p:txBody>
      </p:sp>
      <p:pic>
        <p:nvPicPr>
          <p:cNvPr id="30" name="Imagem 29" descr="Ícone&#10;&#10;Descrição gerada automaticamente">
            <a:extLst>
              <a:ext uri="{FF2B5EF4-FFF2-40B4-BE49-F238E27FC236}">
                <a16:creationId xmlns="" xmlns:a16="http://schemas.microsoft.com/office/drawing/2014/main" id="{2FA0DA74-FAB4-7364-3B49-F9922AC3D91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-37974" t="-37392" r="-44778" b="-32375"/>
          <a:stretch/>
        </p:blipFill>
        <p:spPr>
          <a:xfrm>
            <a:off x="2704330" y="5024078"/>
            <a:ext cx="1010204" cy="942732"/>
          </a:xfrm>
          <a:prstGeom prst="rect">
            <a:avLst/>
          </a:prstGeom>
        </p:spPr>
      </p:pic>
      <p:sp>
        <p:nvSpPr>
          <p:cNvPr id="4" name="AutoShape 2" descr="https://brc-powerpoint.officeapps.live.com/pods/GetClipboardImage.ashx?Id=48b16410-19e7-4bca-9aa3-d9bdc45d6b92&amp;DC=PBR1&amp;pkey=dd8aa831-a327-4397-90d0-4d8ac1d1e8a7&amp;wdwaccluster=PBR1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1" name="Imagem 30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44D29E9E-AA43-10ED-5149-EB3F6F2C75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3011" y="1998517"/>
            <a:ext cx="787892" cy="88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8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274D8DF9-3447-CD14-62F7-D12176D3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791763" y="1557953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75%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640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367884" y="3592200"/>
            <a:ext cx="405957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Elaboração da Prática Recomendada referente ao Inventário de Emissões de GEE do Setor Aquaviário, conduzida em parceria entre a ANTAQ, MPOR, ABNT e Associação Brasileira de Descarbonização Portuária.</a:t>
            </a: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541522" y="3108959"/>
            <a:ext cx="2030961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820300" y="2883902"/>
            <a:ext cx="3575065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/>
          </a:p>
          <a:p>
            <a:endParaRPr lang="pt-BR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Em elaboração texto base da PR (Parte Geral e anexos: Marítimo e Portuário).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Texto base será submetido a Consulta Pública no quarto trimestre de 2026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Em andamento: renovação do MOU com a ABNT, incluindo MPOR e ABDP</a:t>
            </a:r>
          </a:p>
          <a:p>
            <a:pPr marL="285750" indent="-285750">
              <a:buFont typeface="Arial"/>
              <a:buChar char="•"/>
            </a:pPr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4E4D8255-9E3E-856A-720A-97390E12F53D}"/>
              </a:ext>
            </a:extLst>
          </p:cNvPr>
          <p:cNvSpPr txBox="1"/>
          <p:nvPr/>
        </p:nvSpPr>
        <p:spPr>
          <a:xfrm>
            <a:off x="3420997" y="5878291"/>
            <a:ext cx="283536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Previsão de conclusão para dezembro/2026 </a:t>
            </a:r>
          </a:p>
          <a:p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0A4F8B02-E57A-3115-8BD4-187343464117}"/>
              </a:ext>
            </a:extLst>
          </p:cNvPr>
          <p:cNvSpPr txBox="1"/>
          <p:nvPr/>
        </p:nvSpPr>
        <p:spPr>
          <a:xfrm>
            <a:off x="3701902" y="5328060"/>
            <a:ext cx="2201883" cy="440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PRAZO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="" xmlns:a16="http://schemas.microsoft.com/office/drawing/2014/main" id="{FDCD1B66-703E-0689-0A41-91D0409C6BFE}"/>
              </a:ext>
            </a:extLst>
          </p:cNvPr>
          <p:cNvSpPr txBox="1"/>
          <p:nvPr/>
        </p:nvSpPr>
        <p:spPr>
          <a:xfrm>
            <a:off x="2211527" y="904785"/>
            <a:ext cx="549728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Prática Recomendada</a:t>
            </a:r>
          </a:p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ABNT</a:t>
            </a:r>
          </a:p>
          <a:p>
            <a:r>
              <a:rPr lang="pt-BR" sz="1600" dirty="0">
                <a:solidFill>
                  <a:srgbClr val="FFFFFF"/>
                </a:solidFill>
                <a:latin typeface="Avenir Next LT Pro"/>
              </a:rPr>
              <a:t>(Comissão Especial de Estudos - CEE nº 262)</a:t>
            </a: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40" name="Imagem 39" descr="Forma&#10;&#10;Descrição gerada automaticamente">
            <a:extLst>
              <a:ext uri="{FF2B5EF4-FFF2-40B4-BE49-F238E27FC236}">
                <a16:creationId xmlns="" xmlns:a16="http://schemas.microsoft.com/office/drawing/2014/main" id="{04065BA1-CE75-2189-0EC6-34D49ACD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C8959392-A5F8-D778-224B-90BB3A1F6B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15" name="Imagem 14" descr="Ícone&#10;&#10;Descrição gerada automaticamente">
            <a:extLst>
              <a:ext uri="{FF2B5EF4-FFF2-40B4-BE49-F238E27FC236}">
                <a16:creationId xmlns="" xmlns:a16="http://schemas.microsoft.com/office/drawing/2014/main" id="{2FA0DA74-FAB4-7364-3B49-F9922AC3D9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37974" t="-37392" r="-44778" b="-32375"/>
          <a:stretch/>
        </p:blipFill>
        <p:spPr>
          <a:xfrm>
            <a:off x="2745895" y="5024078"/>
            <a:ext cx="1010204" cy="942732"/>
          </a:xfrm>
          <a:prstGeom prst="rect">
            <a:avLst/>
          </a:prstGeom>
        </p:spPr>
      </p:pic>
      <p:pic>
        <p:nvPicPr>
          <p:cNvPr id="17" name="Imagem 16" descr="Ícone&#10;&#10;Descrição gerada automaticamente">
            <a:extLst>
              <a:ext uri="{FF2B5EF4-FFF2-40B4-BE49-F238E27FC236}">
                <a16:creationId xmlns="" xmlns:a16="http://schemas.microsoft.com/office/drawing/2014/main" id="{FDF1CFF7-0D84-8ACA-9AB9-3028BBA101A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40909" t="-41479" r="-46290" b="-39901"/>
          <a:stretch/>
        </p:blipFill>
        <p:spPr>
          <a:xfrm>
            <a:off x="2637588" y="2838422"/>
            <a:ext cx="1020800" cy="890972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="" xmlns:a16="http://schemas.microsoft.com/office/drawing/2014/main" id="{3A4E13FF-8B99-55DA-9EA6-F59B3FDCDC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" y="-223519"/>
            <a:ext cx="1868552" cy="3332478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9E2C1756-D017-D3A4-6D5D-88D97CC5DF9D}"/>
              </a:ext>
            </a:extLst>
          </p:cNvPr>
          <p:cNvSpPr txBox="1"/>
          <p:nvPr/>
        </p:nvSpPr>
        <p:spPr>
          <a:xfrm>
            <a:off x="8240123" y="3108959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SITUAÇÃO</a:t>
            </a:r>
          </a:p>
        </p:txBody>
      </p:sp>
      <p:pic>
        <p:nvPicPr>
          <p:cNvPr id="29" name="Imagem 28" descr="Ícone&#10;&#10;Descrição gerada automaticamente">
            <a:extLst>
              <a:ext uri="{FF2B5EF4-FFF2-40B4-BE49-F238E27FC236}">
                <a16:creationId xmlns="" xmlns:a16="http://schemas.microsoft.com/office/drawing/2014/main" id="{E6815BDE-8A83-0145-D935-46C768D9826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35579" t="-38054" r="-48708" b="-43946"/>
          <a:stretch/>
        </p:blipFill>
        <p:spPr>
          <a:xfrm>
            <a:off x="7585858" y="2965797"/>
            <a:ext cx="880335" cy="739296"/>
          </a:xfrm>
          <a:prstGeom prst="rect">
            <a:avLst/>
          </a:prstGeom>
        </p:spPr>
      </p:pic>
      <p:pic>
        <p:nvPicPr>
          <p:cNvPr id="30" name="Imagem 29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44D29E9E-AA43-10ED-5149-EB3F6F2C75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3011" y="1998517"/>
            <a:ext cx="787892" cy="88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4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Descrição gerada automaticamente">
            <a:extLst>
              <a:ext uri="{FF2B5EF4-FFF2-40B4-BE49-F238E27FC236}">
                <a16:creationId xmlns="" xmlns:a16="http://schemas.microsoft.com/office/drawing/2014/main" id="{0229DEFA-E9AE-9E2E-7304-218ADFA6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704178" y="1527649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100%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778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E8BA091D-2CD5-00DF-EECE-533D1C330669}"/>
              </a:ext>
            </a:extLst>
          </p:cNvPr>
          <p:cNvSpPr txBox="1"/>
          <p:nvPr/>
        </p:nvSpPr>
        <p:spPr>
          <a:xfrm>
            <a:off x="3540563" y="3889776"/>
            <a:ext cx="352349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Identificar, analisar e sistematizar os principais riscos globais que podem impactar o setor portuário brasileiro, classificados segundo as dimensões econômica, geopolítica, social, ambiental e tecnológica.</a:t>
            </a:r>
            <a:endParaRPr lang="pt-BR" sz="1600" dirty="0"/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6414E11A-7E11-3375-C07C-A6458B9302FD}"/>
              </a:ext>
            </a:extLst>
          </p:cNvPr>
          <p:cNvSpPr txBox="1"/>
          <p:nvPr/>
        </p:nvSpPr>
        <p:spPr>
          <a:xfrm>
            <a:off x="4111128" y="3208590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"/>
              </a:rPr>
              <a:t>OBJETIVO</a:t>
            </a:r>
          </a:p>
        </p:txBody>
      </p:sp>
      <p:pic>
        <p:nvPicPr>
          <p:cNvPr id="29" name="Imagem 28" descr="Forma&#10;&#10;Descrição gerada automaticamente">
            <a:extLst>
              <a:ext uri="{FF2B5EF4-FFF2-40B4-BE49-F238E27FC236}">
                <a16:creationId xmlns="" xmlns:a16="http://schemas.microsoft.com/office/drawing/2014/main" id="{1D220449-F07B-5FD0-91DA-2E6FADC4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61145E7F-A511-A185-EAA9-311DE0F0C36E}"/>
              </a:ext>
            </a:extLst>
          </p:cNvPr>
          <p:cNvSpPr txBox="1"/>
          <p:nvPr/>
        </p:nvSpPr>
        <p:spPr>
          <a:xfrm>
            <a:off x="2042077" y="1054410"/>
            <a:ext cx="4408938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RISCOS GLOBAIS PORTUÁRIOS</a:t>
            </a:r>
          </a:p>
          <a:p>
            <a:r>
              <a:rPr lang="pt-BR" sz="1400" dirty="0">
                <a:solidFill>
                  <a:srgbClr val="FFFFFF"/>
                </a:solidFill>
                <a:latin typeface="Avenir Next LT Pro"/>
              </a:rPr>
              <a:t>Parceria com UFMA</a:t>
            </a:r>
          </a:p>
        </p:txBody>
      </p:sp>
      <p:pic>
        <p:nvPicPr>
          <p:cNvPr id="5" name="Imagem 4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674A982A-C6AA-AE2F-E943-9998570A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790" y="6143624"/>
            <a:ext cx="1538515" cy="503465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="" xmlns:a16="http://schemas.microsoft.com/office/drawing/2014/main" id="{33598B6C-B14D-00A7-915D-C001A74C3B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000" t="-34195" r="-23590" b="-25641"/>
          <a:stretch/>
        </p:blipFill>
        <p:spPr>
          <a:xfrm>
            <a:off x="3326714" y="3066699"/>
            <a:ext cx="723187" cy="694053"/>
          </a:xfrm>
          <a:prstGeom prst="rect">
            <a:avLst/>
          </a:prstGeom>
        </p:spPr>
      </p:pic>
      <p:pic>
        <p:nvPicPr>
          <p:cNvPr id="4" name="Imagem 3" descr="Logotipo, Ícone, nome da empresa&#10;&#10;Descrição gerada automaticamente">
            <a:extLst>
              <a:ext uri="{FF2B5EF4-FFF2-40B4-BE49-F238E27FC236}">
                <a16:creationId xmlns="" xmlns:a16="http://schemas.microsoft.com/office/drawing/2014/main" id="{5FB332CE-0DDD-AAAF-7A46-6522CBE72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" y="-218974"/>
            <a:ext cx="1863455" cy="3323388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547252" y="3750958"/>
            <a:ext cx="399680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Relatórios aprovados </a:t>
            </a:r>
            <a:r>
              <a:rPr lang="pt-BR" sz="1600" dirty="0" smtClean="0">
                <a:latin typeface="Avenir Next LT Pro"/>
                <a:ea typeface="+mn-lt"/>
                <a:cs typeface="+mn-lt"/>
              </a:rPr>
              <a:t>na ROD 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612.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Em fase de diagramação e ajustes em função do período do defeso eleitoral.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9E2C1756-D017-D3A4-6D5D-88D97CC5DF9D}"/>
              </a:ext>
            </a:extLst>
          </p:cNvPr>
          <p:cNvSpPr txBox="1"/>
          <p:nvPr/>
        </p:nvSpPr>
        <p:spPr>
          <a:xfrm>
            <a:off x="7837104" y="3208591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SITUAÇÃO</a:t>
            </a:r>
          </a:p>
        </p:txBody>
      </p:sp>
      <p:pic>
        <p:nvPicPr>
          <p:cNvPr id="24" name="Imagem 23" descr="Ícone&#10;&#10;Descrição gerada automaticamente">
            <a:extLst>
              <a:ext uri="{FF2B5EF4-FFF2-40B4-BE49-F238E27FC236}">
                <a16:creationId xmlns="" xmlns:a16="http://schemas.microsoft.com/office/drawing/2014/main" id="{E6815BDE-8A83-0145-D935-46C768D982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35579" t="-38054" r="-48708" b="-43946"/>
          <a:stretch/>
        </p:blipFill>
        <p:spPr>
          <a:xfrm>
            <a:off x="7064053" y="3048212"/>
            <a:ext cx="880335" cy="739296"/>
          </a:xfrm>
          <a:prstGeom prst="rect">
            <a:avLst/>
          </a:prstGeom>
        </p:spPr>
      </p:pic>
      <p:pic>
        <p:nvPicPr>
          <p:cNvPr id="25" name="Imagem 24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44D29E9E-AA43-10ED-5149-EB3F6F2C75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3011" y="1998517"/>
            <a:ext cx="787892" cy="88084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972" y="3066699"/>
            <a:ext cx="2934889" cy="347838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8045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Descrição gerada automaticamente">
            <a:extLst>
              <a:ext uri="{FF2B5EF4-FFF2-40B4-BE49-F238E27FC236}">
                <a16:creationId xmlns="" xmlns:a16="http://schemas.microsoft.com/office/drawing/2014/main" id="{0229DEFA-E9AE-9E2E-7304-218ADFA6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704178" y="1527649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40%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778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E8BA091D-2CD5-00DF-EECE-533D1C330669}"/>
              </a:ext>
            </a:extLst>
          </p:cNvPr>
          <p:cNvSpPr txBox="1"/>
          <p:nvPr/>
        </p:nvSpPr>
        <p:spPr>
          <a:xfrm>
            <a:off x="3501954" y="3820748"/>
            <a:ext cx="336175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400" dirty="0">
                <a:latin typeface="Avenir Next LT Pro"/>
                <a:ea typeface="+mn-lt"/>
                <a:cs typeface="+mn-lt"/>
              </a:rPr>
              <a:t>Reconhecer as iniciativas que se destaquem por sua contribuição na melhoria da prestação de serviços de transporte aquaviários à sociedade.</a:t>
            </a:r>
            <a:endParaRPr lang="pt-BR" sz="1600" dirty="0"/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6414E11A-7E11-3375-C07C-A6458B9302FD}"/>
              </a:ext>
            </a:extLst>
          </p:cNvPr>
          <p:cNvSpPr txBox="1"/>
          <p:nvPr/>
        </p:nvSpPr>
        <p:spPr>
          <a:xfrm>
            <a:off x="4033884" y="3316187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b="1">
                <a:solidFill>
                  <a:srgbClr val="0E2841"/>
                </a:solidFill>
                <a:latin typeface="Avenir Next LT Pro"/>
              </a:rPr>
              <a:t>OBJETIVO</a:t>
            </a:r>
          </a:p>
        </p:txBody>
      </p:sp>
      <p:pic>
        <p:nvPicPr>
          <p:cNvPr id="29" name="Imagem 28" descr="Forma&#10;&#10;Descrição gerada automaticamente">
            <a:extLst>
              <a:ext uri="{FF2B5EF4-FFF2-40B4-BE49-F238E27FC236}">
                <a16:creationId xmlns="" xmlns:a16="http://schemas.microsoft.com/office/drawing/2014/main" id="{1D220449-F07B-5FD0-91DA-2E6FADC4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27" name="Imagem 26" descr="Uma imagem contendo Interface gráfica do usuário&#10;&#10;Descrição gerada automaticamente">
            <a:extLst>
              <a:ext uri="{FF2B5EF4-FFF2-40B4-BE49-F238E27FC236}">
                <a16:creationId xmlns="" xmlns:a16="http://schemas.microsoft.com/office/drawing/2014/main" id="{3FEF5DDF-4D02-A932-D66A-BDF54B595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8" y="3820681"/>
            <a:ext cx="2102548" cy="247105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748B016C-230E-AFDC-4D86-1B72153F6C3E}"/>
              </a:ext>
            </a:extLst>
          </p:cNvPr>
          <p:cNvSpPr txBox="1"/>
          <p:nvPr/>
        </p:nvSpPr>
        <p:spPr>
          <a:xfrm>
            <a:off x="535941" y="3201648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>
                <a:solidFill>
                  <a:srgbClr val="0E2841"/>
                </a:solidFill>
                <a:latin typeface="Avenir Next LT Pro"/>
              </a:rPr>
              <a:t>ODS'S</a:t>
            </a:r>
            <a:endParaRPr lang="pt-BR" sz="2800" b="1">
              <a:solidFill>
                <a:srgbClr val="0E284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61145E7F-A511-A185-EAA9-311DE0F0C36E}"/>
              </a:ext>
            </a:extLst>
          </p:cNvPr>
          <p:cNvSpPr txBox="1"/>
          <p:nvPr/>
        </p:nvSpPr>
        <p:spPr>
          <a:xfrm>
            <a:off x="1972268" y="450431"/>
            <a:ext cx="447461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Prêmio ANTAQ</a:t>
            </a:r>
          </a:p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2026</a:t>
            </a: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  <a:p>
            <a:r>
              <a:rPr lang="pt-BR" sz="1600" dirty="0">
                <a:solidFill>
                  <a:srgbClr val="FFFFFF"/>
                </a:solidFill>
                <a:latin typeface="Avenir Next LT Pro"/>
              </a:rPr>
              <a:t>Tema: </a:t>
            </a:r>
            <a:r>
              <a:rPr lang="pt-BR" sz="1600" b="1" dirty="0">
                <a:solidFill>
                  <a:srgbClr val="FFFFFF"/>
                </a:solidFill>
                <a:latin typeface="Avenir Next LT Pro"/>
              </a:rPr>
              <a:t>Inteligência Artificial no </a:t>
            </a:r>
            <a:r>
              <a:rPr lang="pt-BR" sz="1600" b="1" dirty="0" smtClean="0">
                <a:solidFill>
                  <a:srgbClr val="FFFFFF"/>
                </a:solidFill>
                <a:latin typeface="Avenir Next LT Pro"/>
              </a:rPr>
              <a:t>Futuro </a:t>
            </a:r>
            <a:r>
              <a:rPr lang="pt-BR" sz="1600" b="1" dirty="0">
                <a:solidFill>
                  <a:srgbClr val="FFFFFF"/>
                </a:solidFill>
                <a:latin typeface="Avenir Next LT Pro"/>
              </a:rPr>
              <a:t>S</a:t>
            </a:r>
            <a:r>
              <a:rPr lang="pt-BR" sz="1600" b="1" dirty="0" smtClean="0">
                <a:solidFill>
                  <a:srgbClr val="FFFFFF"/>
                </a:solidFill>
                <a:latin typeface="Avenir Next LT Pro"/>
              </a:rPr>
              <a:t>ustentável </a:t>
            </a:r>
            <a:r>
              <a:rPr lang="pt-BR" sz="1600" b="1" dirty="0">
                <a:solidFill>
                  <a:srgbClr val="FFFFFF"/>
                </a:solidFill>
                <a:latin typeface="Avenir Next LT Pro"/>
              </a:rPr>
              <a:t>do Transporte </a:t>
            </a:r>
            <a:r>
              <a:rPr lang="pt-BR" sz="1600" b="1" dirty="0" err="1">
                <a:solidFill>
                  <a:srgbClr val="FFFFFF"/>
                </a:solidFill>
                <a:latin typeface="Avenir Next LT Pro"/>
              </a:rPr>
              <a:t>Aquaviário</a:t>
            </a:r>
            <a:endParaRPr lang="pt-BR" sz="16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5" name="Imagem 4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674A982A-C6AA-AE2F-E943-9998570A6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790" y="6143624"/>
            <a:ext cx="1538515" cy="503465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="" xmlns:a16="http://schemas.microsoft.com/office/drawing/2014/main" id="{33598B6C-B14D-00A7-915D-C001A74C3B7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40000" t="-34195" r="-23590" b="-25641"/>
          <a:stretch/>
        </p:blipFill>
        <p:spPr>
          <a:xfrm>
            <a:off x="3314420" y="3126628"/>
            <a:ext cx="723187" cy="69405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491833" y="3823621"/>
            <a:ext cx="382733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400" dirty="0">
                <a:latin typeface="Avenir Next LT Pro"/>
                <a:ea typeface="+mn-lt"/>
                <a:cs typeface="+mn-lt"/>
              </a:rPr>
              <a:t>Minuta de Edital aperfeiçoada, escolhido o tema: “Inteligência Artificial no F</a:t>
            </a:r>
            <a:r>
              <a:rPr lang="pt-BR" sz="1400" dirty="0" smtClean="0">
                <a:latin typeface="Avenir Next LT Pro"/>
                <a:ea typeface="+mn-lt"/>
                <a:cs typeface="+mn-lt"/>
              </a:rPr>
              <a:t>uturo </a:t>
            </a:r>
            <a:r>
              <a:rPr lang="pt-BR" sz="1400" dirty="0">
                <a:latin typeface="Avenir Next LT Pro"/>
                <a:ea typeface="+mn-lt"/>
                <a:cs typeface="+mn-lt"/>
              </a:rPr>
              <a:t>S</a:t>
            </a:r>
            <a:r>
              <a:rPr lang="pt-BR" sz="1400" dirty="0" smtClean="0">
                <a:latin typeface="Avenir Next LT Pro"/>
                <a:ea typeface="+mn-lt"/>
                <a:cs typeface="+mn-lt"/>
              </a:rPr>
              <a:t>ustentável </a:t>
            </a:r>
            <a:r>
              <a:rPr lang="pt-BR" sz="1400" dirty="0">
                <a:latin typeface="Avenir Next LT Pro"/>
                <a:ea typeface="+mn-lt"/>
                <a:cs typeface="+mn-lt"/>
              </a:rPr>
              <a:t>do Transporte </a:t>
            </a:r>
            <a:r>
              <a:rPr lang="pt-BR" sz="1400" dirty="0" err="1">
                <a:latin typeface="Avenir Next LT Pro"/>
                <a:ea typeface="+mn-lt"/>
                <a:cs typeface="+mn-lt"/>
              </a:rPr>
              <a:t>Aquaviário</a:t>
            </a:r>
            <a:r>
              <a:rPr lang="pt-BR" sz="1400" dirty="0">
                <a:latin typeface="Avenir Next LT Pro"/>
                <a:ea typeface="+mn-lt"/>
                <a:cs typeface="+mn-lt"/>
              </a:rPr>
              <a:t>”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400" dirty="0">
                <a:latin typeface="Avenir Next LT Pro"/>
                <a:ea typeface="+mn-lt"/>
                <a:cs typeface="+mn-lt"/>
              </a:rPr>
              <a:t>Novas subcategorias para Iniciativas Inovadoras: Sustentabilidade, Saúde e Segurança no Trabalho e Operações Portuárias.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Previsão de realização em 2027</a:t>
            </a:r>
            <a:endParaRPr lang="pt-BR" sz="1400" dirty="0">
              <a:latin typeface="Avenir Next LT Pro"/>
              <a:ea typeface="+mn-lt"/>
              <a:cs typeface="+mn-lt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="" xmlns:a16="http://schemas.microsoft.com/office/drawing/2014/main" id="{9E2C1756-D017-D3A4-6D5D-88D97CC5DF9D}"/>
              </a:ext>
            </a:extLst>
          </p:cNvPr>
          <p:cNvSpPr txBox="1"/>
          <p:nvPr/>
        </p:nvSpPr>
        <p:spPr>
          <a:xfrm>
            <a:off x="7781684" y="3222442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SITUAÇÃO</a:t>
            </a:r>
          </a:p>
        </p:txBody>
      </p:sp>
      <p:pic>
        <p:nvPicPr>
          <p:cNvPr id="24" name="Imagem 23" descr="Ícone&#10;&#10;Descrição gerada automaticamente">
            <a:extLst>
              <a:ext uri="{FF2B5EF4-FFF2-40B4-BE49-F238E27FC236}">
                <a16:creationId xmlns="" xmlns:a16="http://schemas.microsoft.com/office/drawing/2014/main" id="{E6815BDE-8A83-0145-D935-46C768D982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35579" t="-38054" r="-48708" b="-43946"/>
          <a:stretch/>
        </p:blipFill>
        <p:spPr>
          <a:xfrm>
            <a:off x="7008633" y="3062063"/>
            <a:ext cx="880335" cy="739296"/>
          </a:xfrm>
          <a:prstGeom prst="rect">
            <a:avLst/>
          </a:prstGeom>
        </p:spPr>
      </p:pic>
      <p:pic>
        <p:nvPicPr>
          <p:cNvPr id="25" name="Imagem 24" descr="Logotipo&#10;&#10;Descrição gerada automaticamente">
            <a:extLst>
              <a:ext uri="{FF2B5EF4-FFF2-40B4-BE49-F238E27FC236}">
                <a16:creationId xmlns="" xmlns:a16="http://schemas.microsoft.com/office/drawing/2014/main" id="{517E556D-18CB-453D-8E79-A9D3880A92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" y="-147184"/>
            <a:ext cx="18669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B2B44DD-B059-6295-3F78-475DC58D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6298" y="1538493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45%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6055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502299" y="3756307"/>
            <a:ext cx="377133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Implementação do Inventário Nacional de Emissões de GEE no Setor Portuário para gerenciamento de emissões de Gases de Efeito Estufa. </a:t>
            </a: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4043781" y="3176867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="" xmlns:a16="http://schemas.microsoft.com/office/drawing/2014/main" id="{FDCD1B66-703E-0689-0A41-91D0409C6BFE}"/>
              </a:ext>
            </a:extLst>
          </p:cNvPr>
          <p:cNvSpPr txBox="1"/>
          <p:nvPr/>
        </p:nvSpPr>
        <p:spPr>
          <a:xfrm>
            <a:off x="1995402" y="797541"/>
            <a:ext cx="4571653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Inventário de Emissões de GEE</a:t>
            </a:r>
            <a:r>
              <a:rPr lang="pt-BR" b="1" dirty="0">
                <a:solidFill>
                  <a:srgbClr val="000000"/>
                </a:solidFill>
                <a:latin typeface="Aptos" panose="020B0004020202020204"/>
              </a:rPr>
              <a:t> </a:t>
            </a:r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no Setor Portuário </a:t>
            </a:r>
            <a:endParaRPr lang="pt-BR" b="1" dirty="0"/>
          </a:p>
          <a:p>
            <a:endParaRPr lang="pt-BR" sz="3200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40" name="Imagem 39" descr="Forma&#10;&#10;Descrição gerada automaticamente">
            <a:extLst>
              <a:ext uri="{FF2B5EF4-FFF2-40B4-BE49-F238E27FC236}">
                <a16:creationId xmlns="" xmlns:a16="http://schemas.microsoft.com/office/drawing/2014/main" id="{04065BA1-CE75-2189-0EC6-34D49ACD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5" name="Imagem 4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0C60422A-D059-C5C9-1ED1-B0E870E78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="" xmlns:a16="http://schemas.microsoft.com/office/drawing/2014/main" id="{B7A22F61-C1AC-0F44-443E-C094474FC3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909" t="-41479" r="-46290" b="-39901"/>
          <a:stretch/>
        </p:blipFill>
        <p:spPr>
          <a:xfrm>
            <a:off x="3319141" y="2896725"/>
            <a:ext cx="919554" cy="890972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="" xmlns:a16="http://schemas.microsoft.com/office/drawing/2014/main" id="{95D111F5-6EA8-43C4-0E61-47B943F3D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7298" y="1923213"/>
            <a:ext cx="1154021" cy="1371006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="" xmlns:a16="http://schemas.microsoft.com/office/drawing/2014/main" id="{BC5D49A8-3AEE-3118-C4D6-23D5781BB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332" y="3046238"/>
            <a:ext cx="474340" cy="510967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="" xmlns:a16="http://schemas.microsoft.com/office/drawing/2014/main" id="{B8538126-7D69-7718-F528-ABCE637AED2E}"/>
              </a:ext>
            </a:extLst>
          </p:cNvPr>
          <p:cNvSpPr txBox="1"/>
          <p:nvPr/>
        </p:nvSpPr>
        <p:spPr>
          <a:xfrm>
            <a:off x="8303731" y="317325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="" xmlns:a16="http://schemas.microsoft.com/office/drawing/2014/main" id="{59D1BA45-9F77-7149-645D-AC6793042DD3}"/>
              </a:ext>
            </a:extLst>
          </p:cNvPr>
          <p:cNvSpPr txBox="1"/>
          <p:nvPr/>
        </p:nvSpPr>
        <p:spPr>
          <a:xfrm>
            <a:off x="7748459" y="3748482"/>
            <a:ext cx="416696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Foi realizada a planilha de metodologia de GEE com base no GHG </a:t>
            </a:r>
            <a:r>
              <a:rPr lang="pt-BR" sz="1600" dirty="0" err="1">
                <a:latin typeface="Avenir Next LT Pro"/>
                <a:ea typeface="+mn-lt"/>
                <a:cs typeface="+mn-lt"/>
              </a:rPr>
              <a:t>Protocol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 conduzido pela FGV. Encaminharam-se as solicitações para: </a:t>
            </a:r>
            <a:r>
              <a:rPr lang="pt-BR" sz="1600" b="1" dirty="0">
                <a:latin typeface="Avenir Next LT Pro"/>
                <a:ea typeface="+mn-lt"/>
                <a:cs typeface="+mn-lt"/>
              </a:rPr>
              <a:t>EMAP, Suape, Portos RS, </a:t>
            </a:r>
            <a:r>
              <a:rPr lang="pt-BR" sz="1600" b="1" dirty="0" err="1">
                <a:latin typeface="Avenir Next LT Pro"/>
                <a:ea typeface="+mn-lt"/>
                <a:cs typeface="+mn-lt"/>
              </a:rPr>
              <a:t>Pecém</a:t>
            </a:r>
            <a:r>
              <a:rPr lang="pt-BR" sz="1600" b="1" dirty="0">
                <a:latin typeface="Avenir Next LT Pro"/>
                <a:ea typeface="+mn-lt"/>
                <a:cs typeface="+mn-lt"/>
              </a:rPr>
              <a:t>, Porto Sudeste e </a:t>
            </a:r>
            <a:r>
              <a:rPr lang="pt-BR" sz="1600" b="1" dirty="0" err="1">
                <a:latin typeface="Avenir Next LT Pro"/>
                <a:ea typeface="+mn-lt"/>
                <a:cs typeface="+mn-lt"/>
              </a:rPr>
              <a:t>Portonave</a:t>
            </a:r>
            <a:r>
              <a:rPr lang="pt-BR" sz="1600" b="1" dirty="0">
                <a:latin typeface="Avenir Next LT Pro"/>
                <a:ea typeface="+mn-lt"/>
                <a:cs typeface="+mn-lt"/>
              </a:rPr>
              <a:t>.</a:t>
            </a: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Estabelecer nova parceria com o ICCT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33" name="Imagem 32" descr="Ícone&#10;&#10;Descrição gerada automaticamente">
            <a:extLst>
              <a:ext uri="{FF2B5EF4-FFF2-40B4-BE49-F238E27FC236}">
                <a16:creationId xmlns="" xmlns:a16="http://schemas.microsoft.com/office/drawing/2014/main" id="{9D782D69-C5FA-0BD3-748F-B3D0F0057F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" y="-221245"/>
            <a:ext cx="1868551" cy="3327930"/>
          </a:xfrm>
          <a:prstGeom prst="rect">
            <a:avLst/>
          </a:prstGeom>
        </p:spPr>
      </p:pic>
      <p:pic>
        <p:nvPicPr>
          <p:cNvPr id="19" name="Imagem 18" descr="Texto&#10;&#10;O conteúdo gerado por IA pode estar incorreto.">
            <a:extLst>
              <a:ext uri="{FF2B5EF4-FFF2-40B4-BE49-F238E27FC236}">
                <a16:creationId xmlns:a16="http://schemas.microsoft.com/office/drawing/2014/main" xmlns="" id="{FFD3FDBC-A47E-C140-D622-4A9A116915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840000">
            <a:off x="458835" y="3294138"/>
            <a:ext cx="2429944" cy="30991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7123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="" xmlns:a16="http://schemas.microsoft.com/office/drawing/2014/main" id="{196C570E-917A-57C9-4264-E01EBA3ED413}"/>
              </a:ext>
            </a:extLst>
          </p:cNvPr>
          <p:cNvSpPr txBox="1"/>
          <p:nvPr/>
        </p:nvSpPr>
        <p:spPr>
          <a:xfrm>
            <a:off x="535941" y="3201648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 err="1">
                <a:solidFill>
                  <a:schemeClr val="tx2"/>
                </a:solidFill>
                <a:latin typeface="Avenir Next LT Pro"/>
              </a:rPr>
              <a:t>ODS's</a:t>
            </a:r>
            <a:endParaRPr lang="pt-BR" sz="2800" b="1" dirty="0" err="1">
              <a:solidFill>
                <a:schemeClr val="tx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1799476" y="880587"/>
            <a:ext cx="478732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Proposta de cláusulas-padrão de sustentabilidade</a:t>
            </a:r>
            <a:endParaRPr lang="pt-BR" sz="1400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6298" y="1687779"/>
            <a:ext cx="204070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chemeClr val="tx2"/>
                </a:solidFill>
                <a:latin typeface="Avenir Next LT Pro"/>
              </a:rPr>
              <a:t>20%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640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474652" y="3641432"/>
            <a:ext cx="352558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Elaboração de proposta de "cláusulas-padrão de sustentabilidade para os novos projetos de investimento em infraestrutura portuária e </a:t>
            </a:r>
            <a:r>
              <a:rPr lang="pt-BR" sz="1600" dirty="0" err="1">
                <a:latin typeface="Avenir Next LT Pro"/>
                <a:ea typeface="+mn-lt"/>
                <a:cs typeface="+mn-lt"/>
              </a:rPr>
              <a:t>aquaviária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 para análise de viabilidade técnica".</a:t>
            </a:r>
            <a:endParaRPr lang="pt-BR" sz="100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424247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785908" y="3627688"/>
            <a:ext cx="367485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Symbol"/>
              <a:buChar char="•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</a:endParaRPr>
          </a:p>
        </p:txBody>
      </p:sp>
      <p:pic>
        <p:nvPicPr>
          <p:cNvPr id="22" name="Imagem 21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084F7BF7-FA41-F569-7271-87082C1D9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40" y="3804921"/>
            <a:ext cx="2102548" cy="235058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="" xmlns:a16="http://schemas.microsoft.com/office/drawing/2014/main" id="{58B5C710-7E04-2CB6-2A0F-E6FCB30FE3B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0909" t="-41479" r="-46290" b="-39901"/>
          <a:stretch/>
        </p:blipFill>
        <p:spPr>
          <a:xfrm>
            <a:off x="2640648" y="2922020"/>
            <a:ext cx="919554" cy="890972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7660229" y="3724868"/>
            <a:ext cx="352558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Levantamento do histórico da adoção de cláusulas de sustentabilidade ambiental nos contratos de arrendamentos e concessões portuárias;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Benchmark nacional e internacional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latin typeface="Avenir Next LT Pro"/>
              <a:ea typeface="+mn-lt"/>
              <a:cs typeface="+mn-lt"/>
            </a:endParaRPr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="" xmlns:a16="http://schemas.microsoft.com/office/drawing/2014/main" id="{BC5D49A8-3AEE-3118-C4D6-23D5781BB4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332" y="3046238"/>
            <a:ext cx="474340" cy="51096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B8538126-7D69-7718-F528-ABCE637AED2E}"/>
              </a:ext>
            </a:extLst>
          </p:cNvPr>
          <p:cNvSpPr txBox="1"/>
          <p:nvPr/>
        </p:nvSpPr>
        <p:spPr>
          <a:xfrm>
            <a:off x="8303731" y="317325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="" xmlns:a16="http://schemas.microsoft.com/office/drawing/2014/main" id="{9D782D69-C5FA-0BD3-748F-B3D0F0057F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" y="-218975"/>
            <a:ext cx="1866001" cy="332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E5976AC-C24F-676A-D82F-66CEEA29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F7EE8AC6-798C-41A5-11BE-B72D38C7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FA341A90-4397-7DFB-1750-0E4AC1A2B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AA79DD53-F468-1C38-1372-2B7B2290FECA}"/>
              </a:ext>
            </a:extLst>
          </p:cNvPr>
          <p:cNvSpPr txBox="1"/>
          <p:nvPr/>
        </p:nvSpPr>
        <p:spPr>
          <a:xfrm>
            <a:off x="1396825" y="1331558"/>
            <a:ext cx="549728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33ª edição do </a:t>
            </a:r>
            <a:r>
              <a:rPr lang="pt-BR" sz="3200" b="1" dirty="0" err="1">
                <a:solidFill>
                  <a:srgbClr val="FFFFFF"/>
                </a:solidFill>
                <a:latin typeface="Avenir Next LT Pro"/>
              </a:rPr>
              <a:t>Cooperaportos</a:t>
            </a:r>
            <a:endParaRPr lang="pt-BR" sz="3200" b="1" dirty="0">
              <a:solidFill>
                <a:srgbClr val="FFFFFF"/>
              </a:solidFill>
              <a:latin typeface="Avenir Next LT Pro"/>
            </a:endParaRPr>
          </a:p>
          <a:p>
            <a:endParaRPr lang="pt-BR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A515DE92-FB63-0166-C575-AADC9897ABC5}"/>
              </a:ext>
            </a:extLst>
          </p:cNvPr>
          <p:cNvSpPr txBox="1"/>
          <p:nvPr/>
        </p:nvSpPr>
        <p:spPr>
          <a:xfrm>
            <a:off x="8836298" y="1531191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100%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3E534FD1-BF36-4726-8AD3-10B984F36D21}"/>
              </a:ext>
            </a:extLst>
          </p:cNvPr>
          <p:cNvSpPr txBox="1"/>
          <p:nvPr/>
        </p:nvSpPr>
        <p:spPr>
          <a:xfrm>
            <a:off x="7372170" y="1712483"/>
            <a:ext cx="15640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5363048F-FFDC-335B-7E98-893B4A0C15AF}"/>
              </a:ext>
            </a:extLst>
          </p:cNvPr>
          <p:cNvSpPr txBox="1"/>
          <p:nvPr/>
        </p:nvSpPr>
        <p:spPr>
          <a:xfrm>
            <a:off x="3074795" y="3641432"/>
            <a:ext cx="393383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Promover o diálogo entre os diversos atores da gestão portuária, possibilitando o debate e a busca de soluções para a atuação dos portos frente aos desafios de sua operação, bem como a troca de experiência e de difusão de boas práticas, além do diálogo interinstitucional. ​</a:t>
            </a:r>
          </a:p>
          <a:p>
            <a:pPr algn="just"/>
            <a:endParaRPr lang="pt-BR" sz="1600" dirty="0">
              <a:latin typeface="Avenir Next LT Pro"/>
              <a:ea typeface="+mn-lt"/>
              <a:cs typeface="+mn-lt"/>
            </a:endParaRPr>
          </a:p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O tema desta Edição foi:</a:t>
            </a:r>
          </a:p>
          <a:p>
            <a:pPr algn="just"/>
            <a:r>
              <a:rPr lang="pt-BR" sz="1600" b="1" dirty="0">
                <a:latin typeface="Avenir Next LT Pro"/>
                <a:ea typeface="+mn-lt"/>
                <a:cs typeface="+mn-lt"/>
              </a:rPr>
              <a:t>Portos na Fronteira ESG</a:t>
            </a:r>
            <a:endParaRPr lang="pt-BR" sz="1000" b="1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7B22E4D9-BE55-C9E0-3380-E42C5AF6140D}"/>
              </a:ext>
            </a:extLst>
          </p:cNvPr>
          <p:cNvSpPr txBox="1"/>
          <p:nvPr/>
        </p:nvSpPr>
        <p:spPr>
          <a:xfrm>
            <a:off x="3424247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B73B702E-5D14-2332-6F43-341E52B2B4DC}"/>
              </a:ext>
            </a:extLst>
          </p:cNvPr>
          <p:cNvSpPr txBox="1"/>
          <p:nvPr/>
        </p:nvSpPr>
        <p:spPr>
          <a:xfrm>
            <a:off x="7785908" y="3627688"/>
            <a:ext cx="367485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Symbol"/>
              <a:buChar char="•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</a:endParaRPr>
          </a:p>
        </p:txBody>
      </p:sp>
      <p:pic>
        <p:nvPicPr>
          <p:cNvPr id="22" name="Imagem 21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3E3D4991-98B0-6537-BDEF-66135EBA7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497" y="2053533"/>
            <a:ext cx="852926" cy="95354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C247F089-A32B-5511-FDF4-98DE62A72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="" xmlns:a16="http://schemas.microsoft.com/office/drawing/2014/main" id="{871DBF9F-9279-6B32-EBB2-C6E7DE19AC9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0909" t="-41479" r="-46290" b="-39901"/>
          <a:stretch/>
        </p:blipFill>
        <p:spPr>
          <a:xfrm>
            <a:off x="2640648" y="2922020"/>
            <a:ext cx="919554" cy="890972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08E284C2-0CED-C05C-933C-E11C3CB71D34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8B76EC3C-DF2B-9002-CDC8-82D6F1AB398E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ADD7BE5E-F494-0FA4-0E5B-85B255C51200}"/>
              </a:ext>
            </a:extLst>
          </p:cNvPr>
          <p:cNvSpPr txBox="1"/>
          <p:nvPr/>
        </p:nvSpPr>
        <p:spPr>
          <a:xfrm>
            <a:off x="7660229" y="3724868"/>
            <a:ext cx="352558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O evento foi realizado entre os dias </a:t>
            </a:r>
            <a:r>
              <a:rPr lang="pt-BR" sz="1600" b="1" dirty="0">
                <a:latin typeface="Avenir Next LT Pro"/>
                <a:ea typeface="+mn-lt"/>
                <a:cs typeface="+mn-lt"/>
              </a:rPr>
              <a:t>26 a 28 de agosto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, em Vitória – ES, com apoio institucional da </a:t>
            </a:r>
            <a:r>
              <a:rPr lang="pt-BR" sz="1600" dirty="0" err="1">
                <a:latin typeface="Avenir Next LT Pro"/>
                <a:ea typeface="+mn-lt"/>
                <a:cs typeface="+mn-lt"/>
              </a:rPr>
              <a:t>Vports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.</a:t>
            </a:r>
          </a:p>
          <a:p>
            <a:endParaRPr lang="pt-BR" sz="1000" dirty="0">
              <a:latin typeface="Avenir Next LT Pro"/>
            </a:endParaRPr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="" xmlns:a16="http://schemas.microsoft.com/office/drawing/2014/main" id="{8CF917DF-7ACD-4699-1C39-1B6D26941C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" y="-221244"/>
            <a:ext cx="1866000" cy="3327928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="" xmlns:a16="http://schemas.microsoft.com/office/drawing/2014/main" id="{01CC2B69-AB9E-DF10-96FA-20DC353F02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9332" y="3046238"/>
            <a:ext cx="474340" cy="51096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04306E58-A2B7-2B58-C3A0-7636B365801B}"/>
              </a:ext>
            </a:extLst>
          </p:cNvPr>
          <p:cNvSpPr txBox="1"/>
          <p:nvPr/>
        </p:nvSpPr>
        <p:spPr>
          <a:xfrm>
            <a:off x="8303731" y="317325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="" xmlns:a16="http://schemas.microsoft.com/office/drawing/2014/main" id="{43EC68C3-EE0E-3164-CC9D-0385B4893B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348" y="3323074"/>
            <a:ext cx="2167850" cy="14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1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81981FF2-5A81-1784-16AC-3D774593F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pic>
        <p:nvPicPr>
          <p:cNvPr id="6" name="Imagem 5" descr="Forma&#10;&#10;Descrição gerada automaticamente">
            <a:extLst>
              <a:ext uri="{FF2B5EF4-FFF2-40B4-BE49-F238E27FC236}">
                <a16:creationId xmlns="" xmlns:a16="http://schemas.microsoft.com/office/drawing/2014/main" id="{3ACAA67A-2C9E-37F5-37B0-5C008D626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="" xmlns:a16="http://schemas.microsoft.com/office/drawing/2014/main" id="{196C570E-917A-57C9-4264-E01EBA3ED413}"/>
              </a:ext>
            </a:extLst>
          </p:cNvPr>
          <p:cNvSpPr txBox="1"/>
          <p:nvPr/>
        </p:nvSpPr>
        <p:spPr>
          <a:xfrm>
            <a:off x="535941" y="3201648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 err="1">
                <a:solidFill>
                  <a:schemeClr val="tx2"/>
                </a:solidFill>
                <a:latin typeface="Avenir Next LT Pro"/>
              </a:rPr>
              <a:t>ODS's</a:t>
            </a:r>
            <a:endParaRPr lang="pt-BR" sz="2800" b="1" dirty="0" err="1">
              <a:solidFill>
                <a:schemeClr val="tx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1890570" y="1327140"/>
            <a:ext cx="549728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Energy Book</a:t>
            </a:r>
          </a:p>
          <a:p>
            <a:endParaRPr lang="pt-BR" dirty="0">
              <a:solidFill>
                <a:srgbClr val="FFFFFF"/>
              </a:solidFill>
              <a:latin typeface="Avenir Next LT Pro"/>
            </a:endParaRPr>
          </a:p>
          <a:p>
            <a:r>
              <a:rPr lang="pt-BR" sz="1400" dirty="0">
                <a:solidFill>
                  <a:srgbClr val="FFFFFF"/>
                </a:solidFill>
                <a:latin typeface="Avenir Next LT Pro"/>
              </a:rPr>
              <a:t>Parceria com AXIA (antiga </a:t>
            </a:r>
            <a:r>
              <a:rPr lang="pt-BR" sz="1400" dirty="0" err="1">
                <a:solidFill>
                  <a:srgbClr val="FFFFFF"/>
                </a:solidFill>
                <a:latin typeface="Avenir Next LT Pro"/>
              </a:rPr>
              <a:t>Eletrobras</a:t>
            </a:r>
            <a:r>
              <a:rPr lang="pt-BR" sz="1400" dirty="0">
                <a:solidFill>
                  <a:srgbClr val="FFFFFF"/>
                </a:solidFill>
                <a:latin typeface="Avenir Next LT Pro"/>
              </a:rPr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6298" y="1531191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100%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640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474652" y="3641432"/>
            <a:ext cx="3525584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Elaborar guia de orientação prática sobre o papel da comercialização de energia no Ambiente de Contratação Livre (ACL) na transformação do setor portuário brasileiro. </a:t>
            </a:r>
          </a:p>
          <a:p>
            <a:endParaRPr lang="pt-BR" sz="100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424247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B396B127-8196-D958-CD2B-A6D93069F2AD}"/>
              </a:ext>
            </a:extLst>
          </p:cNvPr>
          <p:cNvSpPr txBox="1"/>
          <p:nvPr/>
        </p:nvSpPr>
        <p:spPr>
          <a:xfrm>
            <a:off x="7785908" y="3627688"/>
            <a:ext cx="367485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Symbol"/>
              <a:buChar char="•"/>
            </a:pPr>
            <a:endParaRPr lang="pt-BR" sz="1400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9E2C1756-D017-D3A4-6D5D-88D97CC5DF9D}"/>
              </a:ext>
            </a:extLst>
          </p:cNvPr>
          <p:cNvSpPr txBox="1"/>
          <p:nvPr/>
        </p:nvSpPr>
        <p:spPr>
          <a:xfrm>
            <a:off x="7781684" y="3222442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PENDÊNCIA</a:t>
            </a:r>
          </a:p>
        </p:txBody>
      </p:sp>
      <p:pic>
        <p:nvPicPr>
          <p:cNvPr id="22" name="Imagem 21" descr="Uma imagem contendo Aplicativo&#10;&#10;Descrição gerada automaticamente">
            <a:extLst>
              <a:ext uri="{FF2B5EF4-FFF2-40B4-BE49-F238E27FC236}">
                <a16:creationId xmlns="" xmlns:a16="http://schemas.microsoft.com/office/drawing/2014/main" id="{084F7BF7-FA41-F569-7271-87082C1D9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40" y="3804921"/>
            <a:ext cx="2102548" cy="2350585"/>
          </a:xfrm>
          <a:prstGeom prst="rect">
            <a:avLst/>
          </a:prstGeom>
        </p:spPr>
      </p:pic>
      <p:pic>
        <p:nvPicPr>
          <p:cNvPr id="24" name="Imagem 23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2BFAF068-25AA-A68E-D101-C58D09DC4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0563" y="6216195"/>
            <a:ext cx="1538515" cy="503465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="" xmlns:a16="http://schemas.microsoft.com/office/drawing/2014/main" id="{58B5C710-7E04-2CB6-2A0F-E6FCB30FE3B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0909" t="-41479" r="-46290" b="-39901"/>
          <a:stretch/>
        </p:blipFill>
        <p:spPr>
          <a:xfrm>
            <a:off x="2640648" y="2922020"/>
            <a:ext cx="919554" cy="890972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="" xmlns:a16="http://schemas.microsoft.com/office/drawing/2014/main" id="{E6815BDE-8A83-0145-D935-46C768D9826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35579" t="-38054" r="-48708" b="-43946"/>
          <a:stretch/>
        </p:blipFill>
        <p:spPr>
          <a:xfrm>
            <a:off x="7008633" y="3062063"/>
            <a:ext cx="880335" cy="739296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7660229" y="3724868"/>
            <a:ext cx="35255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Aprovação e publicação do documento.</a:t>
            </a:r>
          </a:p>
          <a:p>
            <a:endParaRPr lang="pt-BR" sz="1000" dirty="0">
              <a:latin typeface="Avenir Next LT Pro"/>
            </a:endParaRP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="" xmlns:a16="http://schemas.microsoft.com/office/drawing/2014/main" id="{395D2F40-C9BA-9098-B4D9-C78D5F5EA6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" y="-221244"/>
            <a:ext cx="1866001" cy="332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6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FCB63AF6-3135-FC19-5529-F46E8F7299F9}"/>
              </a:ext>
            </a:extLst>
          </p:cNvPr>
          <p:cNvSpPr txBox="1"/>
          <p:nvPr/>
        </p:nvSpPr>
        <p:spPr>
          <a:xfrm>
            <a:off x="7807602" y="3891485"/>
            <a:ext cx="392278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Questionário elaborado. </a:t>
            </a:r>
          </a:p>
          <a:p>
            <a:pPr marL="285750" indent="-285750">
              <a:buFont typeface="Arial"/>
              <a:buChar char="•"/>
            </a:pPr>
            <a:endParaRPr lang="pt-BR" sz="1600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Aguardando aprovação do projeto para consulta ao setor, por intermédio das associações.</a:t>
            </a:r>
            <a:endParaRPr lang="pt-BR" sz="1600" dirty="0">
              <a:latin typeface="Avenir Next LT Pro"/>
            </a:endParaRP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439FC743-E390-85FD-AE96-F6FBE4556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007480" y="356480"/>
            <a:ext cx="493043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Boas práticas de I</a:t>
            </a:r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novação e ESG no </a:t>
            </a:r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setor </a:t>
            </a:r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portuário –</a:t>
            </a:r>
          </a:p>
          <a:p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25 anos ANTAQ</a:t>
            </a:r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3256" y="1500428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85%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982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pic>
        <p:nvPicPr>
          <p:cNvPr id="29" name="Imagem 28" descr="Forma&#10;&#10;Descrição gerada automaticamente">
            <a:extLst>
              <a:ext uri="{FF2B5EF4-FFF2-40B4-BE49-F238E27FC236}">
                <a16:creationId xmlns="" xmlns:a16="http://schemas.microsoft.com/office/drawing/2014/main" id="{1D220449-F07B-5FD0-91DA-2E6FADC4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748B016C-230E-AFDC-4D86-1B72153F6C3E}"/>
              </a:ext>
            </a:extLst>
          </p:cNvPr>
          <p:cNvSpPr txBox="1"/>
          <p:nvPr/>
        </p:nvSpPr>
        <p:spPr>
          <a:xfrm>
            <a:off x="1185882" y="3235265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>
                <a:solidFill>
                  <a:schemeClr val="tx2"/>
                </a:solidFill>
                <a:latin typeface="Avenir Next LT Pro"/>
              </a:rPr>
              <a:t>ODS'S</a:t>
            </a:r>
            <a:endParaRPr lang="pt-BR" sz="2800" b="1">
              <a:solidFill>
                <a:schemeClr val="tx2"/>
              </a:solidFill>
            </a:endParaRP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9D39C1C9-C226-27C0-C7AB-0E4CADD03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17" name="Imagem 16" descr="Ícone&#10;&#10;Descrição gerada automaticamente">
            <a:extLst>
              <a:ext uri="{FF2B5EF4-FFF2-40B4-BE49-F238E27FC236}">
                <a16:creationId xmlns="" xmlns:a16="http://schemas.microsoft.com/office/drawing/2014/main" id="{6F3CCB8B-970E-7B16-1763-FD7E07DCF7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909" t="-41479" r="-46290" b="-39901"/>
          <a:stretch/>
        </p:blipFill>
        <p:spPr>
          <a:xfrm>
            <a:off x="3475499" y="2916140"/>
            <a:ext cx="919554" cy="890972"/>
          </a:xfrm>
          <a:prstGeom prst="rect">
            <a:avLst/>
          </a:prstGeom>
        </p:spPr>
      </p:pic>
      <p:sp>
        <p:nvSpPr>
          <p:cNvPr id="18" name="CaixaDeTexto 24">
            <a:extLst>
              <a:ext uri="{FF2B5EF4-FFF2-40B4-BE49-F238E27FC236}">
                <a16:creationId xmlns="" xmlns:a16="http://schemas.microsoft.com/office/drawing/2014/main" id="{CE077389-57DB-1341-CC4B-67D97785E9D7}"/>
              </a:ext>
            </a:extLst>
          </p:cNvPr>
          <p:cNvSpPr txBox="1"/>
          <p:nvPr/>
        </p:nvSpPr>
        <p:spPr>
          <a:xfrm>
            <a:off x="4246350" y="3140370"/>
            <a:ext cx="2195285" cy="41027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="" xmlns:a16="http://schemas.microsoft.com/office/drawing/2014/main" id="{FBDCDEC6-BF18-C839-EFBE-412DC686EC7B}"/>
              </a:ext>
            </a:extLst>
          </p:cNvPr>
          <p:cNvSpPr txBox="1"/>
          <p:nvPr/>
        </p:nvSpPr>
        <p:spPr>
          <a:xfrm>
            <a:off x="3872205" y="3891485"/>
            <a:ext cx="358209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 dirty="0">
                <a:latin typeface="Avenir Next LT Pro"/>
                <a:ea typeface="+mn-lt"/>
                <a:cs typeface="+mn-lt"/>
              </a:rPr>
              <a:t>Desenvolver um informativo de incentivo à inovação e de boas práticas de ESG no setor portuário.</a:t>
            </a:r>
            <a:endParaRPr lang="pt-BR" sz="1600" dirty="0"/>
          </a:p>
          <a:p>
            <a:endParaRPr lang="pt-BR" dirty="0"/>
          </a:p>
        </p:txBody>
      </p:sp>
      <p:pic>
        <p:nvPicPr>
          <p:cNvPr id="31" name="Imagem 30">
            <a:extLst>
              <a:ext uri="{FF2B5EF4-FFF2-40B4-BE49-F238E27FC236}">
                <a16:creationId xmlns="" xmlns:a16="http://schemas.microsoft.com/office/drawing/2014/main" id="{6D4E41A2-F7AC-D5A0-FC45-A3DDC7D0B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28" y="3901551"/>
            <a:ext cx="2718871" cy="1976504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="" xmlns:a16="http://schemas.microsoft.com/office/drawing/2014/main" id="{BC5D49A8-3AEE-3118-C4D6-23D5781BB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332" y="3046238"/>
            <a:ext cx="474340" cy="510967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="" xmlns:a16="http://schemas.microsoft.com/office/drawing/2014/main" id="{B8538126-7D69-7718-F528-ABCE637AED2E}"/>
              </a:ext>
            </a:extLst>
          </p:cNvPr>
          <p:cNvSpPr txBox="1"/>
          <p:nvPr/>
        </p:nvSpPr>
        <p:spPr>
          <a:xfrm>
            <a:off x="8303731" y="317325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 dirty="0"/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="" xmlns:a16="http://schemas.microsoft.com/office/drawing/2014/main" id="{10C8EFDC-4706-3AA8-9AAA-2942945859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402" y="-148923"/>
            <a:ext cx="18669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35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1847B745-84E5-2824-4FD6-A6832448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767512" y="927653"/>
            <a:ext cx="4083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3ª Pesquisa </a:t>
            </a:r>
          </a:p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de Equidade de Gênero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903291" y="1513099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20%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311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349690" y="3681850"/>
            <a:ext cx="338918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Consolidar e publicar em painel os resultados de questionário sobre equidade de gênero no setor aquaviário.</a:t>
            </a: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  <a:p>
            <a:r>
              <a:rPr lang="pt-BR" sz="1600" b="1" dirty="0">
                <a:latin typeface="Avenir Next LT Pro"/>
                <a:ea typeface="+mn-lt"/>
                <a:cs typeface="+mn-lt"/>
              </a:rPr>
              <a:t>Nova solução: 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Análise pela RAES do TEM (setor portuário e de navegação cadastrados).</a:t>
            </a: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  <a:p>
            <a:r>
              <a:rPr lang="pt-BR" sz="1600" dirty="0">
                <a:latin typeface="Avenir Next LT Pro"/>
                <a:ea typeface="+mn-lt"/>
                <a:cs typeface="+mn-lt"/>
              </a:rPr>
              <a:t>N amostral: 126 mil e 300 vínculos.</a:t>
            </a:r>
          </a:p>
          <a:p>
            <a:endParaRPr lang="pt-BR" sz="160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576224" y="3271580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CE27B36B-34E2-B1BA-7973-24C6213D8686}"/>
              </a:ext>
            </a:extLst>
          </p:cNvPr>
          <p:cNvSpPr txBox="1"/>
          <p:nvPr/>
        </p:nvSpPr>
        <p:spPr>
          <a:xfrm>
            <a:off x="7429196" y="3766010"/>
            <a:ext cx="338918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Ampliação da análise para abarcar recortes de raça/cor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Utilização do banco de dados do MTE</a:t>
            </a:r>
          </a:p>
          <a:p>
            <a:endParaRPr lang="pt-BR" sz="1600" b="1" dirty="0"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Aperfeiçoamento do questionário de forma complementar</a:t>
            </a:r>
            <a:endParaRPr lang="en-US" sz="1600" b="1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  <a:p>
            <a:endParaRPr lang="pt-BR" sz="1600" dirty="0">
              <a:latin typeface="Avenir Next LT Pro"/>
              <a:ea typeface="+mn-lt"/>
              <a:cs typeface="+mn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="" xmlns:a16="http://schemas.microsoft.com/office/drawing/2014/main" id="{256D891C-DA59-CFDF-53CB-90CB0860CE4A}"/>
              </a:ext>
            </a:extLst>
          </p:cNvPr>
          <p:cNvSpPr txBox="1"/>
          <p:nvPr/>
        </p:nvSpPr>
        <p:spPr>
          <a:xfrm>
            <a:off x="7429196" y="3246908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4CD6BC33-259E-B4A6-69C7-A981673F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="" xmlns:a16="http://schemas.microsoft.com/office/drawing/2014/main" id="{436164C7-324A-15C7-BDBE-C53001E702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40909" t="-41479" r="-46290" b="-39901"/>
          <a:stretch/>
        </p:blipFill>
        <p:spPr>
          <a:xfrm>
            <a:off x="2807662" y="2942897"/>
            <a:ext cx="919554" cy="890972"/>
          </a:xfrm>
          <a:prstGeom prst="rect">
            <a:avLst/>
          </a:prstGeom>
        </p:spPr>
      </p:pic>
      <p:pic>
        <p:nvPicPr>
          <p:cNvPr id="24" name="Imagem 23" descr="Forma&#10;&#10;Descrição gerada automaticamente">
            <a:extLst>
              <a:ext uri="{FF2B5EF4-FFF2-40B4-BE49-F238E27FC236}">
                <a16:creationId xmlns="" xmlns:a16="http://schemas.microsoft.com/office/drawing/2014/main" id="{997E16C7-41B4-CD08-F539-6B3EC69E8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D48B2857-7B02-C860-9B1C-56224E93AF97}"/>
              </a:ext>
            </a:extLst>
          </p:cNvPr>
          <p:cNvSpPr txBox="1"/>
          <p:nvPr/>
        </p:nvSpPr>
        <p:spPr>
          <a:xfrm>
            <a:off x="535941" y="3201648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>
                <a:solidFill>
                  <a:schemeClr val="tx2"/>
                </a:solidFill>
                <a:latin typeface="Avenir Next LT Pro"/>
              </a:rPr>
              <a:t>ODS'S</a:t>
            </a:r>
            <a:endParaRPr lang="pt-BR" sz="2800" b="1">
              <a:solidFill>
                <a:schemeClr val="tx2"/>
              </a:solidFill>
            </a:endParaRPr>
          </a:p>
        </p:txBody>
      </p:sp>
      <p:pic>
        <p:nvPicPr>
          <p:cNvPr id="15" name="Imagem 14" descr="Interface gráfica do usuário, Texto, Aplicativo&#10;&#10;Descrição gerada automaticamente">
            <a:extLst>
              <a:ext uri="{FF2B5EF4-FFF2-40B4-BE49-F238E27FC236}">
                <a16:creationId xmlns="" xmlns:a16="http://schemas.microsoft.com/office/drawing/2014/main" id="{1ECD3498-B01D-3FEA-1CA5-7FF9CF571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1" y="4008700"/>
            <a:ext cx="1872939" cy="1964499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="" xmlns:a16="http://schemas.microsoft.com/office/drawing/2014/main" id="{36FB30F2-C663-6FEE-9F70-D2261B4D93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903" y="3131685"/>
            <a:ext cx="547408" cy="594473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="" xmlns:a16="http://schemas.microsoft.com/office/drawing/2014/main" id="{3C24A8EF-B072-8F6A-C37E-9E1DCA34C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9776" y="139998"/>
            <a:ext cx="2575807" cy="236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46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1847B745-84E5-2824-4FD6-A6832448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568654" y="569173"/>
            <a:ext cx="544397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Resultados da 2ª</a:t>
            </a:r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 Pesquisa </a:t>
            </a:r>
          </a:p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de Equidade de </a:t>
            </a:r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Gênero - 2024</a:t>
            </a:r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4CD6BC33-259E-B4A6-69C7-A981673F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24" name="Imagem 23" descr="Forma&#10;&#10;Descrição gerada automaticamente">
            <a:extLst>
              <a:ext uri="{FF2B5EF4-FFF2-40B4-BE49-F238E27FC236}">
                <a16:creationId xmlns="" xmlns:a16="http://schemas.microsoft.com/office/drawing/2014/main" id="{997E16C7-41B4-CD08-F539-6B3EC69E8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19" name="Imagem 18" descr="Gráfico&#10;&#10;O conteúdo gerado por IA pode estar incorreto.">
            <a:extLst>
              <a:ext uri="{FF2B5EF4-FFF2-40B4-BE49-F238E27FC236}">
                <a16:creationId xmlns:a16="http://schemas.microsoft.com/office/drawing/2014/main" xmlns="" id="{5FC0608F-FC6E-D43E-3E15-E5BA86223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068" y="2712860"/>
            <a:ext cx="3966529" cy="37845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m 1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xmlns="" id="{ABF2F17A-A4F4-9EDD-50C2-5C5256FFD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931" y="2712860"/>
            <a:ext cx="3860976" cy="38002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830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FCB63AF6-3135-FC19-5529-F46E8F7299F9}"/>
              </a:ext>
            </a:extLst>
          </p:cNvPr>
          <p:cNvSpPr txBox="1"/>
          <p:nvPr/>
        </p:nvSpPr>
        <p:spPr>
          <a:xfrm>
            <a:off x="7960384" y="3816295"/>
            <a:ext cx="33602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>
                <a:latin typeface="Avenir Next LT Pro"/>
                <a:ea typeface="+mn-lt"/>
                <a:cs typeface="+mn-lt"/>
              </a:rPr>
              <a:t>Fase final de diagramação da 5ª EDIÇÃO: </a:t>
            </a:r>
            <a:r>
              <a:rPr lang="pt-BR" sz="1600" dirty="0">
                <a:latin typeface="Avenir Next LT Pro"/>
                <a:ea typeface="+mn-lt"/>
                <a:cs typeface="+mn-lt"/>
              </a:rPr>
              <a:t>Referente ao Prêmio ANTAQ 2025</a:t>
            </a:r>
            <a:endParaRPr lang="pt-BR" sz="1600" dirty="0">
              <a:latin typeface="Avenir Next LT Pro"/>
            </a:endParaRP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439FC743-E390-85FD-AE96-F6FBE4556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301667" y="1361205"/>
            <a:ext cx="549728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Avenir Next LT Pro"/>
              </a:rPr>
              <a:t>Revista ANTAQ </a:t>
            </a: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="" xmlns:a16="http://schemas.microsoft.com/office/drawing/2014/main" id="{B9D0DE05-CF4A-06F5-B9AA-8A5F34F04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59" y="246123"/>
            <a:ext cx="1155246" cy="13716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89320" y="1582772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90%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70" y="1712483"/>
            <a:ext cx="15171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 smtClean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  <a:endParaRPr lang="pt-BR" sz="2400" dirty="0">
              <a:solidFill>
                <a:srgbClr val="0E2841"/>
              </a:solidFill>
              <a:ea typeface="+mn-lt"/>
              <a:cs typeface="+mn-lt"/>
            </a:endParaRPr>
          </a:p>
        </p:txBody>
      </p:sp>
      <p:pic>
        <p:nvPicPr>
          <p:cNvPr id="29" name="Imagem 28" descr="Forma&#10;&#10;Descrição gerada automaticamente">
            <a:extLst>
              <a:ext uri="{FF2B5EF4-FFF2-40B4-BE49-F238E27FC236}">
                <a16:creationId xmlns="" xmlns:a16="http://schemas.microsoft.com/office/drawing/2014/main" id="{1D220449-F07B-5FD0-91DA-2E6FADC4B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33" name="CaixaDeTexto 24">
            <a:extLst>
              <a:ext uri="{FF2B5EF4-FFF2-40B4-BE49-F238E27FC236}">
                <a16:creationId xmlns="" xmlns:a16="http://schemas.microsoft.com/office/drawing/2014/main" id="{9960EFDC-32E2-B970-81F6-8532266D663E}"/>
              </a:ext>
            </a:extLst>
          </p:cNvPr>
          <p:cNvSpPr txBox="1"/>
          <p:nvPr/>
        </p:nvSpPr>
        <p:spPr>
          <a:xfrm>
            <a:off x="4290626" y="5492584"/>
            <a:ext cx="2195285" cy="41027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PERIODICIDADE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D7F1F67F-64EE-732F-158C-46F986434C55}"/>
              </a:ext>
            </a:extLst>
          </p:cNvPr>
          <p:cNvSpPr txBox="1"/>
          <p:nvPr/>
        </p:nvSpPr>
        <p:spPr>
          <a:xfrm>
            <a:off x="2306679" y="1852360"/>
            <a:ext cx="28353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Blue </a:t>
            </a: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Research</a:t>
            </a:r>
            <a:endParaRPr lang="pt-BR" dirty="0"/>
          </a:p>
          <a:p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9D39C1C9-C226-27C0-C7AB-0E4CADD03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13" name="Imagem 12" descr="Ícone&#10;&#10;Descrição gerada automaticamente">
            <a:extLst>
              <a:ext uri="{FF2B5EF4-FFF2-40B4-BE49-F238E27FC236}">
                <a16:creationId xmlns="" xmlns:a16="http://schemas.microsoft.com/office/drawing/2014/main" id="{2FEC1596-E318-633C-82BA-20474933382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37974" t="-37392" r="-44778" b="-32375"/>
          <a:stretch/>
        </p:blipFill>
        <p:spPr>
          <a:xfrm>
            <a:off x="3491189" y="5273356"/>
            <a:ext cx="918367" cy="857029"/>
          </a:xfrm>
          <a:prstGeom prst="rect">
            <a:avLst/>
          </a:prstGeom>
        </p:spPr>
      </p:pic>
      <p:pic>
        <p:nvPicPr>
          <p:cNvPr id="17" name="Imagem 16" descr="Ícone&#10;&#10;Descrição gerada automaticamente">
            <a:extLst>
              <a:ext uri="{FF2B5EF4-FFF2-40B4-BE49-F238E27FC236}">
                <a16:creationId xmlns="" xmlns:a16="http://schemas.microsoft.com/office/drawing/2014/main" id="{6F3CCB8B-970E-7B16-1763-FD7E07DCF7F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0909" t="-41479" r="-46290" b="-39901"/>
          <a:stretch/>
        </p:blipFill>
        <p:spPr>
          <a:xfrm>
            <a:off x="3447790" y="2826589"/>
            <a:ext cx="919554" cy="890972"/>
          </a:xfrm>
          <a:prstGeom prst="rect">
            <a:avLst/>
          </a:prstGeom>
        </p:spPr>
      </p:pic>
      <p:sp>
        <p:nvSpPr>
          <p:cNvPr id="18" name="CaixaDeTexto 24">
            <a:extLst>
              <a:ext uri="{FF2B5EF4-FFF2-40B4-BE49-F238E27FC236}">
                <a16:creationId xmlns="" xmlns:a16="http://schemas.microsoft.com/office/drawing/2014/main" id="{CE077389-57DB-1341-CC4B-67D97785E9D7}"/>
              </a:ext>
            </a:extLst>
          </p:cNvPr>
          <p:cNvSpPr txBox="1"/>
          <p:nvPr/>
        </p:nvSpPr>
        <p:spPr>
          <a:xfrm>
            <a:off x="4246350" y="3140983"/>
            <a:ext cx="2195285" cy="41027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8E6C80C6-7F03-0561-8376-F49080B12F3C}"/>
              </a:ext>
            </a:extLst>
          </p:cNvPr>
          <p:cNvSpPr txBox="1"/>
          <p:nvPr/>
        </p:nvSpPr>
        <p:spPr>
          <a:xfrm>
            <a:off x="4295041" y="5904865"/>
            <a:ext cx="283536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latin typeface="Avenir Next LT Pro"/>
                <a:ea typeface="+mn-lt"/>
                <a:cs typeface="+mn-lt"/>
              </a:rPr>
              <a:t>Previstas 2 edições ao ano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="" xmlns:a16="http://schemas.microsoft.com/office/drawing/2014/main" id="{FBDCDEC6-BF18-C839-EFBE-412DC686EC7B}"/>
              </a:ext>
            </a:extLst>
          </p:cNvPr>
          <p:cNvSpPr txBox="1"/>
          <p:nvPr/>
        </p:nvSpPr>
        <p:spPr>
          <a:xfrm>
            <a:off x="3674143" y="3591686"/>
            <a:ext cx="4168077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Manter um periódico de referência para o transporte aquaviário nacional, servindo como fonte científica segura e de qualidade sobre o que há de mais moderno no que tange às áreas de responsabilidade da ANTAQ.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31" name="Imagem 30">
            <a:extLst>
              <a:ext uri="{FF2B5EF4-FFF2-40B4-BE49-F238E27FC236}">
                <a16:creationId xmlns="" xmlns:a16="http://schemas.microsoft.com/office/drawing/2014/main" id="{6D4E41A2-F7AC-D5A0-FC45-A3DDC7D0B1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5344" y="2228254"/>
            <a:ext cx="1291584" cy="938927"/>
          </a:xfrm>
          <a:prstGeom prst="rect">
            <a:avLst/>
          </a:prstGeom>
        </p:spPr>
      </p:pic>
      <p:pic>
        <p:nvPicPr>
          <p:cNvPr id="4" name="Imagem 3" descr="Logotipo&#10;&#10;Descrição gerada automaticamente">
            <a:extLst>
              <a:ext uri="{FF2B5EF4-FFF2-40B4-BE49-F238E27FC236}">
                <a16:creationId xmlns="" xmlns:a16="http://schemas.microsoft.com/office/drawing/2014/main" id="{A11A5CDD-BD67-CD70-FDBC-3FCA13610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3844" y="204630"/>
            <a:ext cx="2528982" cy="225790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EB86E700-8A67-1F8A-EEC9-D58582F40D44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="" xmlns:a16="http://schemas.microsoft.com/office/drawing/2014/main" id="{B894C02E-52E7-47DD-6CA3-4DF16DB60ED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pic>
        <p:nvPicPr>
          <p:cNvPr id="27" name="Imagem 26" descr="Ícone&#10;&#10;Descrição gerada automaticamente">
            <a:extLst>
              <a:ext uri="{FF2B5EF4-FFF2-40B4-BE49-F238E27FC236}">
                <a16:creationId xmlns="" xmlns:a16="http://schemas.microsoft.com/office/drawing/2014/main" id="{EBB8A93D-E5D0-0A1D-CBF8-C3570FA0FE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1361" y="3056286"/>
            <a:ext cx="474340" cy="510967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="" xmlns:a16="http://schemas.microsoft.com/office/drawing/2014/main" id="{901CE5D1-4B32-36C2-0AEF-D3851007259B}"/>
              </a:ext>
            </a:extLst>
          </p:cNvPr>
          <p:cNvSpPr txBox="1"/>
          <p:nvPr/>
        </p:nvSpPr>
        <p:spPr>
          <a:xfrm>
            <a:off x="8725760" y="3183303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xmlns="" id="{ADC09052-2EDA-1852-5AAF-C3BEBD39858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11" r="55433" b="-414"/>
          <a:stretch>
            <a:fillRect/>
          </a:stretch>
        </p:blipFill>
        <p:spPr>
          <a:xfrm rot="-240000">
            <a:off x="600756" y="3342673"/>
            <a:ext cx="2114680" cy="25928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51838233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1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&#10;&#10;Descrição gerada automaticamente">
            <a:extLst>
              <a:ext uri="{FF2B5EF4-FFF2-40B4-BE49-F238E27FC236}">
                <a16:creationId xmlns="" xmlns:a16="http://schemas.microsoft.com/office/drawing/2014/main" id="{ED98F749-D764-513B-906C-F80C1508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E743A600-F347-8E7A-C8A0-EA2426DD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3"/>
            <a:ext cx="11949539" cy="22703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734857" y="819168"/>
            <a:ext cx="549728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Revisão da Resolução 99/2023</a:t>
            </a:r>
            <a:endParaRPr lang="pt-BR" sz="3200" b="1" dirty="0">
              <a:solidFill>
                <a:srgbClr val="FFFFFF"/>
              </a:solidFill>
              <a:latin typeface="Avenir Next LT Pro"/>
            </a:endParaRP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D6FE249F-547D-A336-70D5-EC2A6208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9DCC526F-0324-6EA6-9D7E-9FCDC34612DE}"/>
              </a:ext>
            </a:extLst>
          </p:cNvPr>
          <p:cNvSpPr txBox="1"/>
          <p:nvPr/>
        </p:nvSpPr>
        <p:spPr>
          <a:xfrm>
            <a:off x="0" y="62422"/>
            <a:ext cx="253383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6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xmlns="" id="{61B2F06B-98E9-07FC-15F6-26FB36A0E53E}"/>
              </a:ext>
            </a:extLst>
          </p:cNvPr>
          <p:cNvSpPr txBox="1"/>
          <p:nvPr/>
        </p:nvSpPr>
        <p:spPr>
          <a:xfrm>
            <a:off x="399035" y="2439013"/>
            <a:ext cx="911345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Avenir Next LT Pro"/>
                <a:ea typeface="+mn-lt"/>
                <a:cs typeface="+mn-lt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Resolução</a:t>
            </a:r>
            <a:r>
              <a:rPr lang="en-US" sz="1400" b="1" dirty="0">
                <a:latin typeface="Avenir Next LT Pro"/>
                <a:ea typeface="+mn-lt"/>
                <a:cs typeface="+mn-lt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ANTAQ Nº 99, de 31 de </a:t>
            </a:r>
            <a:r>
              <a:rPr lang="en-US" sz="1400" b="1" dirty="0" err="1">
                <a:latin typeface="Avenir Next LT Pro"/>
                <a:ea typeface="+mn-lt"/>
                <a:cs typeface="+mn-lt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maio</a:t>
            </a:r>
            <a:r>
              <a:rPr lang="en-US" sz="1400" b="1" dirty="0">
                <a:latin typeface="Avenir Next LT Pro"/>
                <a:ea typeface="+mn-lt"/>
                <a:cs typeface="+mn-lt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de 2023</a:t>
            </a:r>
            <a:r>
              <a:rPr lang="en-US" sz="1400" b="1" dirty="0">
                <a:latin typeface="Avenir Next LT Pro"/>
                <a:ea typeface="+mn-lt"/>
                <a:cs typeface="+mn-lt"/>
              </a:rPr>
              <a:t>: </a:t>
            </a:r>
            <a:r>
              <a:rPr lang="pt-BR" sz="1400" b="1" dirty="0">
                <a:latin typeface="Avenir Next LT Pro"/>
                <a:ea typeface="+mn-lt"/>
                <a:cs typeface="+mn-lt"/>
              </a:rPr>
              <a:t>Regulamenta a prestação de serviços de retirada de resíduos de embarcações em águas sob jurisdição nacional em portos públicos e nas instalações portuárias autorizadas pela ANTAQ.</a:t>
            </a:r>
          </a:p>
          <a:p>
            <a:endParaRPr lang="pt-BR" sz="1400" b="1" dirty="0">
              <a:latin typeface="Avenir Next LT Pro"/>
              <a:ea typeface="+mn-lt"/>
              <a:cs typeface="+mn-lt"/>
            </a:endParaRP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Exigência de Chamada Pública para Autoridades Portuárias.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Procedimentos e requisitos de habilitação.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Contratação e prestação de serviços.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Responsabilidade das Empresas de Navegação e Agências Marítimas.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Procedimentos simplificados.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Certificado de Retirada de Resíduos de Embarcação - CRRE e Manifesto de Transporte de Resíduos - MTR.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venir Next LT Pro"/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Port Reception Facility Database</a:t>
            </a:r>
            <a:r>
              <a:rPr lang="en-US" sz="1400" b="1" dirty="0">
                <a:latin typeface="Avenir Next LT Pro"/>
                <a:ea typeface="+mn-lt"/>
                <a:cs typeface="+mn-lt"/>
              </a:rPr>
              <a:t> of </a:t>
            </a:r>
            <a:r>
              <a:rPr lang="en-US" sz="1400" b="1" dirty="0">
                <a:latin typeface="Avenir Next LT Pro"/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Global Integrated Shipping Information System</a:t>
            </a:r>
            <a:r>
              <a:rPr lang="pt-BR" sz="1400" b="1" dirty="0">
                <a:latin typeface="Avenir Next LT Pro"/>
                <a:ea typeface="+mn-lt"/>
                <a:cs typeface="+mn-lt"/>
              </a:rPr>
              <a:t>: instalações para o recebimento de resíduos e inadequações.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Avenir Next LT Pro"/>
                <a:ea typeface="+mn-lt"/>
                <a:cs typeface="+mn-lt"/>
              </a:rPr>
              <a:t>Infrações e penalidades.</a:t>
            </a:r>
            <a:endParaRPr lang="en-US" sz="1400" b="1" dirty="0">
              <a:latin typeface="Avenir Next LT Pr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2764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&#10;&#10;Descrição gerada automaticamente">
            <a:extLst>
              <a:ext uri="{FF2B5EF4-FFF2-40B4-BE49-F238E27FC236}">
                <a16:creationId xmlns="" xmlns:a16="http://schemas.microsoft.com/office/drawing/2014/main" id="{ED98F749-D764-513B-906C-F80C1508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E743A600-F347-8E7A-C8A0-EA2426DD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3"/>
            <a:ext cx="11949539" cy="22703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630265" y="799572"/>
            <a:ext cx="549728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Revisão da Resolução 99/2023</a:t>
            </a:r>
            <a:endParaRPr lang="pt-BR" sz="3200" b="1" dirty="0">
              <a:solidFill>
                <a:srgbClr val="FFFFFF"/>
              </a:solidFill>
              <a:latin typeface="Avenir Next LT Pro"/>
            </a:endParaRP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D6FE249F-547D-A336-70D5-EC2A6208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9DCC526F-0324-6EA6-9D7E-9FCDC34612DE}"/>
              </a:ext>
            </a:extLst>
          </p:cNvPr>
          <p:cNvSpPr txBox="1"/>
          <p:nvPr/>
        </p:nvSpPr>
        <p:spPr>
          <a:xfrm>
            <a:off x="0" y="62422"/>
            <a:ext cx="253383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600" b="1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0B1A497A-E701-A584-24F5-DA98D664F44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1390" y="1972462"/>
            <a:ext cx="5279173" cy="4483055"/>
          </a:xfrm>
          <a:prstGeom prst="rect">
            <a:avLst/>
          </a:prstGeom>
        </p:spPr>
      </p:pic>
      <p:grpSp>
        <p:nvGrpSpPr>
          <p:cNvPr id="11" name="Agrupar 7">
            <a:extLst>
              <a:ext uri="{FF2B5EF4-FFF2-40B4-BE49-F238E27FC236}">
                <a16:creationId xmlns:a16="http://schemas.microsoft.com/office/drawing/2014/main" xmlns="" id="{04222F9D-404D-FB94-F14B-77FDF095BAE2}"/>
              </a:ext>
            </a:extLst>
          </p:cNvPr>
          <p:cNvGrpSpPr/>
          <p:nvPr/>
        </p:nvGrpSpPr>
        <p:grpSpPr>
          <a:xfrm>
            <a:off x="1495911" y="4493702"/>
            <a:ext cx="3449047" cy="1961815"/>
            <a:chOff x="602426" y="1389529"/>
            <a:chExt cx="4871567" cy="3065929"/>
          </a:xfrm>
        </p:grpSpPr>
        <p:pic>
          <p:nvPicPr>
            <p:cNvPr id="12" name="Imagem 11">
              <a:hlinkClick r:id="rId6"/>
              <a:extLst>
                <a:ext uri="{FF2B5EF4-FFF2-40B4-BE49-F238E27FC236}">
                  <a16:creationId xmlns:a16="http://schemas.microsoft.com/office/drawing/2014/main" xmlns="" id="{15ECE57C-15EE-4CE4-6166-4E499E38F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2426" y="1389529"/>
              <a:ext cx="4860040" cy="3065929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5BBE40EB-210A-AE80-6C7E-548AD5D96488}"/>
                </a:ext>
              </a:extLst>
            </p:cNvPr>
            <p:cNvSpPr txBox="1"/>
            <p:nvPr/>
          </p:nvSpPr>
          <p:spPr>
            <a:xfrm>
              <a:off x="4157192" y="4130837"/>
              <a:ext cx="1316801" cy="305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000" b="1">
                  <a:solidFill>
                    <a:srgbClr val="CCECFF"/>
                  </a:solidFill>
                </a:defRPr>
              </a:lvl1pPr>
            </a:lstStyle>
            <a:p>
              <a:r>
                <a:rPr lang="pt-BR" dirty="0">
                  <a:solidFill>
                    <a:srgbClr val="FFFF00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West </a:t>
              </a:r>
              <a:r>
                <a:rPr lang="pt-BR" dirty="0" err="1">
                  <a:solidFill>
                    <a:srgbClr val="FFFF00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of</a:t>
              </a:r>
              <a:r>
                <a:rPr lang="pt-BR" dirty="0">
                  <a:solidFill>
                    <a:srgbClr val="FFFF00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 </a:t>
              </a:r>
              <a:r>
                <a:rPr lang="pt-BR" dirty="0" err="1">
                  <a:solidFill>
                    <a:srgbClr val="FFFF00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England</a:t>
              </a:r>
              <a:endParaRPr lang="pt-BR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4" name="Agrupar 12">
            <a:extLst>
              <a:ext uri="{FF2B5EF4-FFF2-40B4-BE49-F238E27FC236}">
                <a16:creationId xmlns:a16="http://schemas.microsoft.com/office/drawing/2014/main" xmlns="" id="{789F194D-1F4F-7E34-79BB-AB7FA0C0F860}"/>
              </a:ext>
            </a:extLst>
          </p:cNvPr>
          <p:cNvGrpSpPr/>
          <p:nvPr/>
        </p:nvGrpSpPr>
        <p:grpSpPr>
          <a:xfrm>
            <a:off x="1495911" y="2358349"/>
            <a:ext cx="3440886" cy="1846014"/>
            <a:chOff x="7173640" y="2442216"/>
            <a:chExt cx="4958958" cy="2943674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xmlns="" id="{2873BF3C-71E6-CE38-6B3C-0D05C2E80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73640" y="2442216"/>
              <a:ext cx="4958958" cy="2943674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060FFF69-0F40-BAF3-E935-F95C94168CA8}"/>
                </a:ext>
              </a:extLst>
            </p:cNvPr>
            <p:cNvSpPr txBox="1"/>
            <p:nvPr/>
          </p:nvSpPr>
          <p:spPr>
            <a:xfrm>
              <a:off x="10689379" y="5073899"/>
              <a:ext cx="1443219" cy="311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00" b="1" dirty="0" err="1">
                  <a:solidFill>
                    <a:srgbClr val="FFFF00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Knowledge</a:t>
              </a:r>
              <a:r>
                <a:rPr lang="pt-BR" sz="1000" b="1" dirty="0">
                  <a:solidFill>
                    <a:srgbClr val="FFFF00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 </a:t>
              </a:r>
              <a:r>
                <a:rPr lang="pt-BR" sz="1000" b="1" dirty="0" err="1">
                  <a:solidFill>
                    <a:srgbClr val="FFFF00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of</a:t>
              </a:r>
              <a:r>
                <a:rPr lang="pt-BR" sz="1000" b="1" dirty="0">
                  <a:solidFill>
                    <a:srgbClr val="FFFF00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xmlns="" val="tx"/>
                      </a:ext>
                    </a:extLst>
                  </a:hlinkClick>
                </a:rPr>
                <a:t> Sea</a:t>
              </a:r>
              <a:endParaRPr lang="pt-BR" sz="10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230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&#10;&#10;Descrição gerada automaticamente">
            <a:extLst>
              <a:ext uri="{FF2B5EF4-FFF2-40B4-BE49-F238E27FC236}">
                <a16:creationId xmlns="" xmlns:a16="http://schemas.microsoft.com/office/drawing/2014/main" id="{ED98F749-D764-513B-906C-F80C1508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="" xmlns:a16="http://schemas.microsoft.com/office/drawing/2014/main" id="{B3C6D5A2-86C3-8E04-32BE-76DBC0B37AD2}"/>
              </a:ext>
            </a:extLst>
          </p:cNvPr>
          <p:cNvSpPr txBox="1"/>
          <p:nvPr/>
        </p:nvSpPr>
        <p:spPr>
          <a:xfrm>
            <a:off x="1036982" y="3212086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>
                <a:solidFill>
                  <a:schemeClr val="tx2"/>
                </a:solidFill>
                <a:latin typeface="Avenir Next LT Pro"/>
              </a:rPr>
              <a:t>ODS</a:t>
            </a:r>
            <a:endParaRPr lang="pt-BR" sz="2800" b="1">
              <a:solidFill>
                <a:schemeClr val="tx2"/>
              </a:solidFill>
            </a:endParaRPr>
          </a:p>
        </p:txBody>
      </p:sp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E743A600-F347-8E7A-C8A0-EA2426DD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6" y="-4854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587943" y="831863"/>
            <a:ext cx="549728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 smtClean="0">
                <a:solidFill>
                  <a:srgbClr val="FFFFFF"/>
                </a:solidFill>
                <a:latin typeface="Avenir Next LT Pro"/>
              </a:rPr>
              <a:t>Estatístico </a:t>
            </a:r>
            <a:r>
              <a:rPr lang="pt-BR" sz="3200" b="1" dirty="0" err="1" smtClean="0">
                <a:solidFill>
                  <a:srgbClr val="FFFFFF"/>
                </a:solidFill>
                <a:latin typeface="Avenir Next LT Pro"/>
              </a:rPr>
              <a:t>Aquaviário</a:t>
            </a:r>
            <a:endParaRPr lang="pt-BR" sz="3200" b="1" dirty="0" smtClean="0">
              <a:solidFill>
                <a:srgbClr val="FFFFFF"/>
              </a:solidFill>
              <a:latin typeface="Avenir Next LT Pro"/>
            </a:endParaRP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  <a:p>
            <a:r>
              <a:rPr lang="pt-BR" sz="2000" b="1" dirty="0" smtClean="0">
                <a:solidFill>
                  <a:srgbClr val="FFFFFF"/>
                </a:solidFill>
                <a:latin typeface="Avenir Next LT Pro"/>
              </a:rPr>
              <a:t>Migração </a:t>
            </a:r>
            <a:r>
              <a:rPr lang="pt-BR" sz="2000" b="1" dirty="0">
                <a:solidFill>
                  <a:srgbClr val="FFFFFF"/>
                </a:solidFill>
                <a:latin typeface="Avenir Next LT Pro"/>
              </a:rPr>
              <a:t>do antigo SDP/SCP</a:t>
            </a:r>
          </a:p>
          <a:p>
            <a:endParaRPr lang="pt-BR" sz="3200" b="1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6298" y="1549905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90%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69" y="1714176"/>
            <a:ext cx="16055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863978" y="3651870"/>
            <a:ext cx="3411011" cy="246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Permitir a todas as instalações portuárias autorizadas e aos portos organizados que enviem os dados estatísticos referentes à movimentação de cargas e passageiros, registro de omissões de escala e supressão de carga e informações sobre coleta de resíduos, entre outras informações.</a:t>
            </a:r>
            <a:endParaRPr lang="pt-BR" sz="1050" dirty="0">
              <a:latin typeface="Avenir Next LT Pro"/>
              <a:ea typeface="+mn-lt"/>
              <a:cs typeface="+mn-lt"/>
            </a:endParaRPr>
          </a:p>
          <a:p>
            <a:endParaRPr lang="pt-BR" sz="105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847621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CE27B36B-34E2-B1BA-7973-24C6213D8686}"/>
              </a:ext>
            </a:extLst>
          </p:cNvPr>
          <p:cNvSpPr txBox="1"/>
          <p:nvPr/>
        </p:nvSpPr>
        <p:spPr>
          <a:xfrm>
            <a:off x="8301545" y="3730193"/>
            <a:ext cx="27941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venir Next LT Pro"/>
                <a:ea typeface="+mn-lt"/>
                <a:cs typeface="+mn-lt"/>
              </a:rPr>
              <a:t>Fase de testes e homologação finais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="" xmlns:a16="http://schemas.microsoft.com/office/drawing/2014/main" id="{256D891C-DA59-CFDF-53CB-90CB0860CE4A}"/>
              </a:ext>
            </a:extLst>
          </p:cNvPr>
          <p:cNvSpPr txBox="1"/>
          <p:nvPr/>
        </p:nvSpPr>
        <p:spPr>
          <a:xfrm>
            <a:off x="8301545" y="3214508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D6FE249F-547D-A336-70D5-EC2A6208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="" xmlns:a16="http://schemas.microsoft.com/office/drawing/2014/main" id="{A269D425-AE63-7AF1-0960-45F61C5AC3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909" t="-41479" r="-46290" b="-39901"/>
          <a:stretch/>
        </p:blipFill>
        <p:spPr>
          <a:xfrm>
            <a:off x="3079059" y="2932459"/>
            <a:ext cx="919554" cy="890972"/>
          </a:xfrm>
          <a:prstGeom prst="rect">
            <a:avLst/>
          </a:prstGeom>
        </p:spPr>
      </p:pic>
      <p:pic>
        <p:nvPicPr>
          <p:cNvPr id="28" name="Imagem 27" descr="ODS-11 – PNUD – Agenda 2030 Oeste do Paraná">
            <a:extLst>
              <a:ext uri="{FF2B5EF4-FFF2-40B4-BE49-F238E27FC236}">
                <a16:creationId xmlns="" xmlns:a16="http://schemas.microsoft.com/office/drawing/2014/main" id="{14CFF951-CBAE-C3EF-D8A0-249D2220D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49" y="3925866"/>
            <a:ext cx="1824624" cy="1835063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="" xmlns:a16="http://schemas.microsoft.com/office/drawing/2014/main" id="{3B0B285C-4CB0-7CBA-F210-E59DD9E99C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218" y="3079493"/>
            <a:ext cx="547408" cy="59447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2C69A50F-FA8D-6CA4-D16C-CC948BCF915B}"/>
              </a:ext>
            </a:extLst>
          </p:cNvPr>
          <p:cNvSpPr txBox="1"/>
          <p:nvPr/>
        </p:nvSpPr>
        <p:spPr>
          <a:xfrm>
            <a:off x="0" y="62422"/>
            <a:ext cx="253383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600" b="1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9962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Forma&#10;&#10;Descrição gerada automaticamente">
            <a:extLst>
              <a:ext uri="{FF2B5EF4-FFF2-40B4-BE49-F238E27FC236}">
                <a16:creationId xmlns="" xmlns:a16="http://schemas.microsoft.com/office/drawing/2014/main" id="{ED98F749-D764-513B-906C-F80C1508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2171" y="3036740"/>
            <a:ext cx="6096000" cy="361480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="" xmlns:a16="http://schemas.microsoft.com/office/drawing/2014/main" id="{B3C6D5A2-86C3-8E04-32BE-76DBC0B37AD2}"/>
              </a:ext>
            </a:extLst>
          </p:cNvPr>
          <p:cNvSpPr txBox="1"/>
          <p:nvPr/>
        </p:nvSpPr>
        <p:spPr>
          <a:xfrm>
            <a:off x="1036982" y="3212086"/>
            <a:ext cx="2231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>
                <a:solidFill>
                  <a:schemeClr val="tx2"/>
                </a:solidFill>
                <a:latin typeface="Avenir Next LT Pro"/>
              </a:rPr>
              <a:t>ODS</a:t>
            </a:r>
            <a:endParaRPr lang="pt-BR" sz="2800" b="1">
              <a:solidFill>
                <a:schemeClr val="tx2"/>
              </a:solidFill>
            </a:endParaRPr>
          </a:p>
        </p:txBody>
      </p:sp>
      <p:pic>
        <p:nvPicPr>
          <p:cNvPr id="9" name="Imagem 8" descr="Forma&#10;&#10;Descrição gerada automaticamente">
            <a:extLst>
              <a:ext uri="{FF2B5EF4-FFF2-40B4-BE49-F238E27FC236}">
                <a16:creationId xmlns="" xmlns:a16="http://schemas.microsoft.com/office/drawing/2014/main" id="{E743A600-F347-8E7A-C8A0-EA2426DD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3"/>
            <a:ext cx="11949539" cy="26700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B6768A9-BA67-299E-0BF4-F84F254FF40B}"/>
              </a:ext>
            </a:extLst>
          </p:cNvPr>
          <p:cNvSpPr txBox="1"/>
          <p:nvPr/>
        </p:nvSpPr>
        <p:spPr>
          <a:xfrm>
            <a:off x="2622771" y="1250093"/>
            <a:ext cx="40173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FFFFFF"/>
                </a:solidFill>
                <a:latin typeface="Avenir Next LT Pro"/>
              </a:rPr>
              <a:t>33º Encontro Nacional do SDP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4739BA52-0A6D-B656-94E3-328A57A1F481}"/>
              </a:ext>
            </a:extLst>
          </p:cNvPr>
          <p:cNvSpPr txBox="1"/>
          <p:nvPr/>
        </p:nvSpPr>
        <p:spPr>
          <a:xfrm>
            <a:off x="8836298" y="1549905"/>
            <a:ext cx="2040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chemeClr val="tx2"/>
                </a:solidFill>
                <a:latin typeface="Avenir Next LT Pro"/>
              </a:rPr>
              <a:t>50%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="" xmlns:a16="http://schemas.microsoft.com/office/drawing/2014/main" id="{4DED07AC-79EB-2CC2-9056-CE4EEEEC187A}"/>
              </a:ext>
            </a:extLst>
          </p:cNvPr>
          <p:cNvSpPr txBox="1"/>
          <p:nvPr/>
        </p:nvSpPr>
        <p:spPr>
          <a:xfrm>
            <a:off x="7372169" y="1714176"/>
            <a:ext cx="16055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E2841"/>
                </a:solidFill>
                <a:ea typeface="+mn-lt"/>
                <a:cs typeface="+mn-lt"/>
              </a:rPr>
              <a:t>STATUS: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AAD7C3CD-6EA5-1DCE-8114-04F2EDB92231}"/>
              </a:ext>
            </a:extLst>
          </p:cNvPr>
          <p:cNvSpPr txBox="1"/>
          <p:nvPr/>
        </p:nvSpPr>
        <p:spPr>
          <a:xfrm>
            <a:off x="3464213" y="3804464"/>
            <a:ext cx="356004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Avenir Next LT Pro"/>
                <a:ea typeface="+mn-lt"/>
                <a:cs typeface="+mn-lt"/>
              </a:rPr>
              <a:t>Reunir as instalações portuárias autorizadas, os terminais arrendados e os portos organizados para discutir resultados, alterações e evoluções do Sistema Desempenho Portuário - SDP da ANTAQ.</a:t>
            </a:r>
            <a:endParaRPr lang="pt-BR" sz="1050" dirty="0">
              <a:latin typeface="Avenir Next LT Pr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0B2E6533-D0BF-F434-4073-C7D554B8BE28}"/>
              </a:ext>
            </a:extLst>
          </p:cNvPr>
          <p:cNvSpPr txBox="1"/>
          <p:nvPr/>
        </p:nvSpPr>
        <p:spPr>
          <a:xfrm>
            <a:off x="3847621" y="3177635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rgbClr val="0E2841"/>
                </a:solidFill>
                <a:latin typeface="Avenir Next LT Pro Demi"/>
              </a:rPr>
              <a:t>OBJETIVO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CE27B36B-34E2-B1BA-7973-24C6213D8686}"/>
              </a:ext>
            </a:extLst>
          </p:cNvPr>
          <p:cNvSpPr txBox="1"/>
          <p:nvPr/>
        </p:nvSpPr>
        <p:spPr>
          <a:xfrm>
            <a:off x="8082807" y="3883528"/>
            <a:ext cx="297311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 dirty="0">
                <a:latin typeface="Avenir Next LT Pro"/>
                <a:ea typeface="+mn-lt"/>
                <a:cs typeface="+mn-lt"/>
              </a:rPr>
              <a:t>O encontro será realizado nos dias 24/9 e 25/9 na cidade de Joinville/SC, com visita ao Porto de Itapoá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="" xmlns:a16="http://schemas.microsoft.com/office/drawing/2014/main" id="{256D891C-DA59-CFDF-53CB-90CB0860CE4A}"/>
              </a:ext>
            </a:extLst>
          </p:cNvPr>
          <p:cNvSpPr txBox="1"/>
          <p:nvPr/>
        </p:nvSpPr>
        <p:spPr>
          <a:xfrm>
            <a:off x="8301545" y="3214508"/>
            <a:ext cx="1829525" cy="410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solidFill>
                  <a:srgbClr val="0E2841"/>
                </a:solidFill>
                <a:latin typeface="Avenir Next LT Pro Demi"/>
              </a:rPr>
              <a:t>ATIVIDADES</a:t>
            </a:r>
            <a:endParaRPr lang="pt-BR"/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="" xmlns:a16="http://schemas.microsoft.com/office/drawing/2014/main" id="{D6FE249F-547D-A336-70D5-EC2A6208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63" y="6143624"/>
            <a:ext cx="1538515" cy="503465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="" xmlns:a16="http://schemas.microsoft.com/office/drawing/2014/main" id="{A269D425-AE63-7AF1-0960-45F61C5AC3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0909" t="-41479" r="-46290" b="-39901"/>
          <a:stretch/>
        </p:blipFill>
        <p:spPr>
          <a:xfrm>
            <a:off x="3079059" y="2932459"/>
            <a:ext cx="919554" cy="890972"/>
          </a:xfrm>
          <a:prstGeom prst="rect">
            <a:avLst/>
          </a:prstGeom>
        </p:spPr>
      </p:pic>
      <p:pic>
        <p:nvPicPr>
          <p:cNvPr id="28" name="Imagem 27" descr="ODS-11 – PNUD – Agenda 2030 Oeste do Paraná">
            <a:extLst>
              <a:ext uri="{FF2B5EF4-FFF2-40B4-BE49-F238E27FC236}">
                <a16:creationId xmlns="" xmlns:a16="http://schemas.microsoft.com/office/drawing/2014/main" id="{14CFF951-CBAE-C3EF-D8A0-249D2220D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49" y="3925866"/>
            <a:ext cx="1824624" cy="1835063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="" xmlns:a16="http://schemas.microsoft.com/office/drawing/2014/main" id="{3B0B285C-4CB0-7CBA-F210-E59DD9E99C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218" y="3079493"/>
            <a:ext cx="547408" cy="59447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D2B7A7F2-D965-5662-5C82-74F735F82AEF}"/>
              </a:ext>
            </a:extLst>
          </p:cNvPr>
          <p:cNvSpPr txBox="1"/>
          <p:nvPr/>
        </p:nvSpPr>
        <p:spPr>
          <a:xfrm>
            <a:off x="8232142" y="264683"/>
            <a:ext cx="14637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chemeClr val="tx2"/>
                </a:solidFill>
                <a:ea typeface="+mn-lt"/>
                <a:cs typeface="+mn-lt"/>
              </a:rPr>
              <a:t>SESGI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6A5D6A07-1D6F-ACF8-DB65-16FED41CE3AF}"/>
              </a:ext>
            </a:extLst>
          </p:cNvPr>
          <p:cNvSpPr txBox="1"/>
          <p:nvPr/>
        </p:nvSpPr>
        <p:spPr>
          <a:xfrm>
            <a:off x="8232142" y="645684"/>
            <a:ext cx="324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tx2"/>
                </a:solidFill>
                <a:ea typeface="+mn-lt"/>
                <a:cs typeface="+mn-lt"/>
              </a:rPr>
              <a:t>Superintendência de ESG e Inovação</a:t>
            </a:r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="" xmlns:a16="http://schemas.microsoft.com/office/drawing/2014/main" id="{2C69A50F-FA8D-6CA4-D16C-CC948BCF915B}"/>
              </a:ext>
            </a:extLst>
          </p:cNvPr>
          <p:cNvSpPr txBox="1"/>
          <p:nvPr/>
        </p:nvSpPr>
        <p:spPr>
          <a:xfrm>
            <a:off x="0" y="62422"/>
            <a:ext cx="253383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600" b="1" dirty="0" smtClean="0">
                <a:solidFill>
                  <a:schemeClr val="bg1"/>
                </a:solidFill>
              </a:rPr>
              <a:t>14</a:t>
            </a:r>
            <a:endParaRPr lang="pt-BR" sz="1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2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o 22">
            <a:extLst>
              <a:ext uri="{FF2B5EF4-FFF2-40B4-BE49-F238E27FC236}">
                <a16:creationId xmlns:a16="http://schemas.microsoft.com/office/drawing/2014/main" xmlns="" id="{DED497E6-9BE1-7BA2-907A-26D3456E40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 rot="10800000">
            <a:off x="85499" y="-33255"/>
            <a:ext cx="12106501" cy="6882265"/>
            <a:chOff x="-4601433" y="-8389"/>
            <a:chExt cx="8737467" cy="6882265"/>
          </a:xfrm>
        </p:grpSpPr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xmlns="" id="{09B6BABD-FE31-F4F0-69AA-2CE0E368B1DD}"/>
                </a:ext>
              </a:extLst>
            </p:cNvPr>
            <p:cNvSpPr/>
            <p:nvPr/>
          </p:nvSpPr>
          <p:spPr>
            <a:xfrm>
              <a:off x="-596" y="-8389"/>
              <a:ext cx="4136630" cy="6874778"/>
            </a:xfrm>
            <a:custGeom>
              <a:avLst/>
              <a:gdLst>
                <a:gd name="connsiteX0" fmla="*/ 0 w 4750604"/>
                <a:gd name="connsiteY0" fmla="*/ 0 h 6858000"/>
                <a:gd name="connsiteX1" fmla="*/ 4750604 w 4750604"/>
                <a:gd name="connsiteY1" fmla="*/ 0 h 6858000"/>
                <a:gd name="connsiteX2" fmla="*/ 3101407 w 4750604"/>
                <a:gd name="connsiteY2" fmla="*/ 6858000 h 6858000"/>
                <a:gd name="connsiteX3" fmla="*/ 0 w 4750604"/>
                <a:gd name="connsiteY3" fmla="*/ 6858000 h 6858000"/>
                <a:gd name="connsiteX0" fmla="*/ 0 w 4750604"/>
                <a:gd name="connsiteY0" fmla="*/ 0 h 6866389"/>
                <a:gd name="connsiteX1" fmla="*/ 4750604 w 4750604"/>
                <a:gd name="connsiteY1" fmla="*/ 0 h 6866389"/>
                <a:gd name="connsiteX2" fmla="*/ 3101407 w 4750604"/>
                <a:gd name="connsiteY2" fmla="*/ 6858000 h 6866389"/>
                <a:gd name="connsiteX3" fmla="*/ 613974 w 4750604"/>
                <a:gd name="connsiteY3" fmla="*/ 6866389 h 6866389"/>
                <a:gd name="connsiteX4" fmla="*/ 0 w 4750604"/>
                <a:gd name="connsiteY4" fmla="*/ 0 h 6866389"/>
                <a:gd name="connsiteX0" fmla="*/ 0 w 4136630"/>
                <a:gd name="connsiteY0" fmla="*/ 0 h 6874778"/>
                <a:gd name="connsiteX1" fmla="*/ 4136630 w 4136630"/>
                <a:gd name="connsiteY1" fmla="*/ 8389 h 6874778"/>
                <a:gd name="connsiteX2" fmla="*/ 2487433 w 4136630"/>
                <a:gd name="connsiteY2" fmla="*/ 6866389 h 6874778"/>
                <a:gd name="connsiteX3" fmla="*/ 0 w 4136630"/>
                <a:gd name="connsiteY3" fmla="*/ 6874778 h 6874778"/>
                <a:gd name="connsiteX4" fmla="*/ 0 w 4136630"/>
                <a:gd name="connsiteY4" fmla="*/ 0 h 687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6630" h="6874778">
                  <a:moveTo>
                    <a:pt x="0" y="0"/>
                  </a:moveTo>
                  <a:lnTo>
                    <a:pt x="4136630" y="8389"/>
                  </a:lnTo>
                  <a:lnTo>
                    <a:pt x="2487433" y="6866389"/>
                  </a:lnTo>
                  <a:lnTo>
                    <a:pt x="0" y="6874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BAE3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24" name="Forma livre: Forma 17">
              <a:extLst>
                <a:ext uri="{FF2B5EF4-FFF2-40B4-BE49-F238E27FC236}">
                  <a16:creationId xmlns:a16="http://schemas.microsoft.com/office/drawing/2014/main" xmlns="" id="{3872E014-3E9E-296E-9B65-03D179DC5B47}"/>
                </a:ext>
              </a:extLst>
            </p:cNvPr>
            <p:cNvSpPr/>
            <p:nvPr/>
          </p:nvSpPr>
          <p:spPr>
            <a:xfrm>
              <a:off x="1" y="0"/>
              <a:ext cx="3946799" cy="6858000"/>
            </a:xfrm>
            <a:custGeom>
              <a:avLst/>
              <a:gdLst>
                <a:gd name="connsiteX0" fmla="*/ 0 w 3946799"/>
                <a:gd name="connsiteY0" fmla="*/ 0 h 6858000"/>
                <a:gd name="connsiteX1" fmla="*/ 3946799 w 3946799"/>
                <a:gd name="connsiteY1" fmla="*/ 0 h 6858000"/>
                <a:gd name="connsiteX2" fmla="*/ 2297602 w 3946799"/>
                <a:gd name="connsiteY2" fmla="*/ 6858000 h 6858000"/>
                <a:gd name="connsiteX3" fmla="*/ 0 w 394679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46799" h="6858000">
                  <a:moveTo>
                    <a:pt x="0" y="0"/>
                  </a:moveTo>
                  <a:lnTo>
                    <a:pt x="3946799" y="0"/>
                  </a:lnTo>
                  <a:lnTo>
                    <a:pt x="22976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72BA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26" name="Forma livre: Forma 15">
              <a:extLst>
                <a:ext uri="{FF2B5EF4-FFF2-40B4-BE49-F238E27FC236}">
                  <a16:creationId xmlns:a16="http://schemas.microsoft.com/office/drawing/2014/main" xmlns="" id="{DF6427A0-9A78-4716-F51E-DEEE3AFB9840}"/>
                </a:ext>
              </a:extLst>
            </p:cNvPr>
            <p:cNvSpPr/>
            <p:nvPr/>
          </p:nvSpPr>
          <p:spPr>
            <a:xfrm>
              <a:off x="0" y="0"/>
              <a:ext cx="3723822" cy="6858000"/>
            </a:xfrm>
            <a:custGeom>
              <a:avLst/>
              <a:gdLst>
                <a:gd name="connsiteX0" fmla="*/ 0 w 3723822"/>
                <a:gd name="connsiteY0" fmla="*/ 0 h 6858000"/>
                <a:gd name="connsiteX1" fmla="*/ 3723822 w 3723822"/>
                <a:gd name="connsiteY1" fmla="*/ 0 h 6858000"/>
                <a:gd name="connsiteX2" fmla="*/ 2074625 w 3723822"/>
                <a:gd name="connsiteY2" fmla="*/ 6858000 h 6858000"/>
                <a:gd name="connsiteX3" fmla="*/ 0 w 372382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3822" h="6858000">
                  <a:moveTo>
                    <a:pt x="0" y="0"/>
                  </a:moveTo>
                  <a:lnTo>
                    <a:pt x="3723822" y="0"/>
                  </a:lnTo>
                  <a:lnTo>
                    <a:pt x="207462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1485D">
                <a:alpha val="9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28" name="Forma livre: Forma 13">
              <a:extLst>
                <a:ext uri="{FF2B5EF4-FFF2-40B4-BE49-F238E27FC236}">
                  <a16:creationId xmlns:a16="http://schemas.microsoft.com/office/drawing/2014/main" xmlns="" id="{0958D462-3C3C-47A1-C195-F5B49B69D18E}"/>
                </a:ext>
              </a:extLst>
            </p:cNvPr>
            <p:cNvSpPr/>
            <p:nvPr/>
          </p:nvSpPr>
          <p:spPr>
            <a:xfrm>
              <a:off x="-4601433" y="1"/>
              <a:ext cx="7975440" cy="6873875"/>
            </a:xfrm>
            <a:custGeom>
              <a:avLst/>
              <a:gdLst>
                <a:gd name="connsiteX0" fmla="*/ 0 w 3374007"/>
                <a:gd name="connsiteY0" fmla="*/ 0 h 6858000"/>
                <a:gd name="connsiteX1" fmla="*/ 3374007 w 3374007"/>
                <a:gd name="connsiteY1" fmla="*/ 0 h 6858000"/>
                <a:gd name="connsiteX2" fmla="*/ 1659507 w 3374007"/>
                <a:gd name="connsiteY2" fmla="*/ 6858000 h 6858000"/>
                <a:gd name="connsiteX3" fmla="*/ 0 w 3374007"/>
                <a:gd name="connsiteY3" fmla="*/ 6858000 h 6858000"/>
                <a:gd name="connsiteX0" fmla="*/ 4602388 w 7976395"/>
                <a:gd name="connsiteY0" fmla="*/ 0 h 6867525"/>
                <a:gd name="connsiteX1" fmla="*/ 7976395 w 7976395"/>
                <a:gd name="connsiteY1" fmla="*/ 0 h 6867525"/>
                <a:gd name="connsiteX2" fmla="*/ 6261895 w 7976395"/>
                <a:gd name="connsiteY2" fmla="*/ 6858000 h 6867525"/>
                <a:gd name="connsiteX3" fmla="*/ 0 w 7976395"/>
                <a:gd name="connsiteY3" fmla="*/ 6867525 h 6867525"/>
                <a:gd name="connsiteX4" fmla="*/ 4602388 w 7976395"/>
                <a:gd name="connsiteY4" fmla="*/ 0 h 6867525"/>
                <a:gd name="connsiteX0" fmla="*/ 21340 w 7976395"/>
                <a:gd name="connsiteY0" fmla="*/ 0 h 6886575"/>
                <a:gd name="connsiteX1" fmla="*/ 7976395 w 7976395"/>
                <a:gd name="connsiteY1" fmla="*/ 19050 h 6886575"/>
                <a:gd name="connsiteX2" fmla="*/ 6261895 w 7976395"/>
                <a:gd name="connsiteY2" fmla="*/ 6877050 h 6886575"/>
                <a:gd name="connsiteX3" fmla="*/ 0 w 7976395"/>
                <a:gd name="connsiteY3" fmla="*/ 6886575 h 6886575"/>
                <a:gd name="connsiteX4" fmla="*/ 21340 w 7976395"/>
                <a:gd name="connsiteY4" fmla="*/ 0 h 6886575"/>
                <a:gd name="connsiteX0" fmla="*/ 14227 w 7969282"/>
                <a:gd name="connsiteY0" fmla="*/ 0 h 6886575"/>
                <a:gd name="connsiteX1" fmla="*/ 7969282 w 7969282"/>
                <a:gd name="connsiteY1" fmla="*/ 19050 h 6886575"/>
                <a:gd name="connsiteX2" fmla="*/ 6254782 w 7969282"/>
                <a:gd name="connsiteY2" fmla="*/ 6877050 h 6886575"/>
                <a:gd name="connsiteX3" fmla="*/ 0 w 7969282"/>
                <a:gd name="connsiteY3" fmla="*/ 6886575 h 6886575"/>
                <a:gd name="connsiteX4" fmla="*/ 14227 w 7969282"/>
                <a:gd name="connsiteY4" fmla="*/ 0 h 6886575"/>
                <a:gd name="connsiteX0" fmla="*/ 0 w 7955055"/>
                <a:gd name="connsiteY0" fmla="*/ 0 h 6886575"/>
                <a:gd name="connsiteX1" fmla="*/ 7955055 w 7955055"/>
                <a:gd name="connsiteY1" fmla="*/ 19050 h 6886575"/>
                <a:gd name="connsiteX2" fmla="*/ 6240555 w 7955055"/>
                <a:gd name="connsiteY2" fmla="*/ 6877050 h 6886575"/>
                <a:gd name="connsiteX3" fmla="*/ 7113 w 7955055"/>
                <a:gd name="connsiteY3" fmla="*/ 6886575 h 6886575"/>
                <a:gd name="connsiteX4" fmla="*/ 0 w 7955055"/>
                <a:gd name="connsiteY4" fmla="*/ 0 h 6886575"/>
                <a:gd name="connsiteX0" fmla="*/ 6635 w 7961690"/>
                <a:gd name="connsiteY0" fmla="*/ 0 h 6886575"/>
                <a:gd name="connsiteX1" fmla="*/ 7961690 w 7961690"/>
                <a:gd name="connsiteY1" fmla="*/ 19050 h 6886575"/>
                <a:gd name="connsiteX2" fmla="*/ 6247190 w 7961690"/>
                <a:gd name="connsiteY2" fmla="*/ 6877050 h 6886575"/>
                <a:gd name="connsiteX3" fmla="*/ 0 w 7961690"/>
                <a:gd name="connsiteY3" fmla="*/ 6886575 h 6886575"/>
                <a:gd name="connsiteX4" fmla="*/ 6635 w 7961690"/>
                <a:gd name="connsiteY4" fmla="*/ 0 h 6886575"/>
                <a:gd name="connsiteX0" fmla="*/ 20384 w 7975439"/>
                <a:gd name="connsiteY0" fmla="*/ 0 h 6892925"/>
                <a:gd name="connsiteX1" fmla="*/ 7975439 w 7975439"/>
                <a:gd name="connsiteY1" fmla="*/ 19050 h 6892925"/>
                <a:gd name="connsiteX2" fmla="*/ 6260939 w 7975439"/>
                <a:gd name="connsiteY2" fmla="*/ 6877050 h 6892925"/>
                <a:gd name="connsiteX3" fmla="*/ 0 w 7975439"/>
                <a:gd name="connsiteY3" fmla="*/ 6892925 h 6892925"/>
                <a:gd name="connsiteX4" fmla="*/ 20384 w 7975439"/>
                <a:gd name="connsiteY4" fmla="*/ 0 h 6892925"/>
                <a:gd name="connsiteX0" fmla="*/ 6635 w 7975439"/>
                <a:gd name="connsiteY0" fmla="*/ 0 h 6886575"/>
                <a:gd name="connsiteX1" fmla="*/ 7975439 w 7975439"/>
                <a:gd name="connsiteY1" fmla="*/ 12700 h 6886575"/>
                <a:gd name="connsiteX2" fmla="*/ 6260939 w 7975439"/>
                <a:gd name="connsiteY2" fmla="*/ 6870700 h 6886575"/>
                <a:gd name="connsiteX3" fmla="*/ 0 w 7975439"/>
                <a:gd name="connsiteY3" fmla="*/ 6886575 h 6886575"/>
                <a:gd name="connsiteX4" fmla="*/ 6635 w 7975439"/>
                <a:gd name="connsiteY4" fmla="*/ 0 h 6886575"/>
                <a:gd name="connsiteX0" fmla="*/ 2052 w 7975439"/>
                <a:gd name="connsiteY0" fmla="*/ 0 h 6873875"/>
                <a:gd name="connsiteX1" fmla="*/ 7975439 w 7975439"/>
                <a:gd name="connsiteY1" fmla="*/ 0 h 6873875"/>
                <a:gd name="connsiteX2" fmla="*/ 6260939 w 7975439"/>
                <a:gd name="connsiteY2" fmla="*/ 6858000 h 6873875"/>
                <a:gd name="connsiteX3" fmla="*/ 0 w 7975439"/>
                <a:gd name="connsiteY3" fmla="*/ 6873875 h 6873875"/>
                <a:gd name="connsiteX4" fmla="*/ 2052 w 7975439"/>
                <a:gd name="connsiteY4" fmla="*/ 0 h 687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5439" h="6873875">
                  <a:moveTo>
                    <a:pt x="2052" y="0"/>
                  </a:moveTo>
                  <a:lnTo>
                    <a:pt x="7975439" y="0"/>
                  </a:lnTo>
                  <a:lnTo>
                    <a:pt x="6260939" y="6858000"/>
                  </a:lnTo>
                  <a:lnTo>
                    <a:pt x="0" y="6873875"/>
                  </a:lnTo>
                  <a:cubicBezTo>
                    <a:pt x="0" y="4587875"/>
                    <a:pt x="2052" y="2286000"/>
                    <a:pt x="2052" y="0"/>
                  </a:cubicBezTo>
                  <a:close/>
                </a:path>
              </a:pathLst>
            </a:custGeom>
            <a:solidFill>
              <a:srgbClr val="0D30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</p:grpSp>
      <p:pic>
        <p:nvPicPr>
          <p:cNvPr id="4" name="Imagem 3" descr="Uma imagem contendo desenho, texto&#10;&#10;Descrição gerada automaticamente">
            <a:extLst>
              <a:ext uri="{FF2B5EF4-FFF2-40B4-BE49-F238E27FC236}">
                <a16:creationId xmlns:a16="http://schemas.microsoft.com/office/drawing/2014/main" xmlns="" id="{08008052-DD2A-33D6-941B-DB4612B0B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509" y="5281320"/>
            <a:ext cx="3017124" cy="97944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xmlns="" id="{FC9F3378-CFFE-67DC-C75F-D626028A91D0}"/>
              </a:ext>
            </a:extLst>
          </p:cNvPr>
          <p:cNvSpPr txBox="1">
            <a:spLocks/>
          </p:cNvSpPr>
          <p:nvPr/>
        </p:nvSpPr>
        <p:spPr>
          <a:xfrm>
            <a:off x="4887296" y="2007606"/>
            <a:ext cx="2657337" cy="1030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dirty="0" smtClean="0">
                <a:solidFill>
                  <a:schemeClr val="bg2">
                    <a:lumMod val="90000"/>
                  </a:schemeClr>
                </a:solidFill>
              </a:rPr>
              <a:t>Obrigada!</a:t>
            </a:r>
            <a:endParaRPr lang="pt-BR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378036AD-3D9C-747A-FCCC-EC73B2872C8A}"/>
              </a:ext>
            </a:extLst>
          </p:cNvPr>
          <p:cNvSpPr txBox="1"/>
          <p:nvPr/>
        </p:nvSpPr>
        <p:spPr>
          <a:xfrm>
            <a:off x="2874342" y="3403682"/>
            <a:ext cx="650187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</a:rPr>
              <a:t>CRISTINA CASTRO</a:t>
            </a:r>
            <a:r>
              <a:rPr lang="pt-BR" sz="1600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pt-BR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pt-BR" sz="1600" dirty="0" smtClean="0">
                <a:solidFill>
                  <a:schemeClr val="bg1">
                    <a:lumMod val="95000"/>
                  </a:schemeClr>
                </a:solidFill>
              </a:rPr>
              <a:t>Superintendente de ESG e Inovação</a:t>
            </a:r>
            <a:endParaRPr lang="pt-BR" sz="16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pt-BR" sz="1600" dirty="0" smtClean="0">
                <a:solidFill>
                  <a:schemeClr val="accent1">
                    <a:lumMod val="40000"/>
                    <a:lumOff val="60000"/>
                  </a:schemeClr>
                </a:solidFill>
                <a:hlinkClick r:id="rId3"/>
              </a:rPr>
              <a:t>cristina.castro</a:t>
            </a:r>
            <a:r>
              <a:rPr lang="pt-BR" sz="1600" dirty="0" smtClean="0">
                <a:solidFill>
                  <a:schemeClr val="accent1">
                    <a:lumMod val="40000"/>
                    <a:lumOff val="60000"/>
                  </a:schemeClr>
                </a:solidFill>
                <a:hlinkClick r:id="rId3"/>
              </a:rPr>
              <a:t>@antaq.gov.br</a:t>
            </a:r>
            <a:endParaRPr lang="pt-BR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pt-BR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sesgi@antaq.gov.br</a:t>
            </a:r>
            <a:endParaRPr lang="pt-BR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480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F9992007D3594788480AE9BD4CA2CD" ma:contentTypeVersion="4" ma:contentTypeDescription="Crie um novo documento." ma:contentTypeScope="" ma:versionID="54e022ba2c89a3152430220b54b9a650">
  <xsd:schema xmlns:xsd="http://www.w3.org/2001/XMLSchema" xmlns:xs="http://www.w3.org/2001/XMLSchema" xmlns:p="http://schemas.microsoft.com/office/2006/metadata/properties" xmlns:ns2="2f13aa74-2d88-4dc9-83bc-3d76c479ad01" targetNamespace="http://schemas.microsoft.com/office/2006/metadata/properties" ma:root="true" ma:fieldsID="d84b786384bbab2b802df8edf725636d" ns2:_="">
    <xsd:import namespace="2f13aa74-2d88-4dc9-83bc-3d76c479ad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3aa74-2d88-4dc9-83bc-3d76c479ad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2F43C9-2900-40A5-BA20-FA8232BF0D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13aa74-2d88-4dc9-83bc-3d76c479ad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1557D9-D0E1-4A44-AB6B-FE632B4D55F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2f13aa74-2d88-4dc9-83bc-3d76c479ad0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A1F7A25-3F21-4C59-A782-941226456D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1440</Words>
  <Application>Microsoft Office PowerPoint</Application>
  <PresentationFormat>Widescreen</PresentationFormat>
  <Paragraphs>250</Paragraphs>
  <Slides>23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6" baseType="lpstr">
      <vt:lpstr>Aptos</vt:lpstr>
      <vt:lpstr>Aptos Display</vt:lpstr>
      <vt:lpstr>Arial</vt:lpstr>
      <vt:lpstr>Avenir Next LT Pro</vt:lpstr>
      <vt:lpstr>Avenir Next LT Pro Demi</vt:lpstr>
      <vt:lpstr>Avenir Next LT Pro Light</vt:lpstr>
      <vt:lpstr>Calibri</vt:lpstr>
      <vt:lpstr>Garet Bold</vt:lpstr>
      <vt:lpstr>Open Sans</vt:lpstr>
      <vt:lpstr>Roboto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Aretta</dc:creator>
  <cp:lastModifiedBy>Aretta</cp:lastModifiedBy>
  <cp:revision>92</cp:revision>
  <dcterms:created xsi:type="dcterms:W3CDTF">2024-07-16T17:53:14Z</dcterms:created>
  <dcterms:modified xsi:type="dcterms:W3CDTF">2026-09-21T22:20:28Z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0x010100FBF9992007D3594788480AE9BD4CA2CD</vt:lpwstr>
  </property>
</Properties>
</file>