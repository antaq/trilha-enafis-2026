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18.jpg" ContentType="image/jpeg"/>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media/image34.jpg" ContentType="image/jpeg"/>
  <Override PartName="/ppt/media/image35.jpg" ContentType="image/jpeg"/>
  <Override PartName="/ppt/media/image36.jpg" ContentType="image/jpeg"/>
  <Override PartName="/ppt/media/image37.jpg" ContentType="image/jpeg"/>
  <Override PartName="/ppt/charts/chart1.xml" ContentType="application/vnd.openxmlformats-officedocument.drawingml.chart+xml"/>
  <Override PartName="/ppt/media/image38.jpg" ContentType="image/jpeg"/>
  <Override PartName="/ppt/charts/chart2.xml" ContentType="application/vnd.openxmlformats-officedocument.drawingml.chart+xml"/>
  <Override PartName="/ppt/charts/chart3.xml" ContentType="application/vnd.openxmlformats-officedocument.drawingml.chart+xml"/>
  <Override PartName="/ppt/media/image39.jpg" ContentType="image/jpeg"/>
  <Override PartName="/ppt/media/image40.jpg" ContentType="image/jpeg"/>
  <Override PartName="/ppt/media/image41.jpg" ContentType="image/jpeg"/>
  <Override PartName="/ppt/media/image42.jpg" ContentType="image/jpeg"/>
  <Override PartName="/ppt/media/image43.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370"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t-BR"/>
  <c:roundedCorners val="0"/>
  <c:style val="2"/>
  <c:chart>
    <c:title>
      <c:tx>
        <c:rich>
          <a:bodyPr/>
          <a:lstStyle/>
          <a:p>
            <a:pPr>
              <a:defRPr/>
            </a:pPr>
            <a:r>
              <a:rPr lang="pt-BR" sz="1600" b="1" i="0">
                <a:solidFill>
                  <a:srgbClr val="31485D"/>
                </a:solidFill>
                <a:latin typeface="Arial"/>
              </a:rPr>
              <a:t>BL </a:t>
            </a:r>
            <a:r>
              <a:rPr lang="pt-BR" sz="1600" b="1" i="1">
                <a:solidFill>
                  <a:srgbClr val="31485D"/>
                </a:solidFill>
                <a:latin typeface="Arial"/>
              </a:rPr>
              <a:t>versus</a:t>
            </a:r>
            <a:r>
              <a:rPr lang="pt-BR" sz="1600" b="1" i="0">
                <a:solidFill>
                  <a:srgbClr val="31485D"/>
                </a:solidFill>
                <a:latin typeface="Arial"/>
              </a:rPr>
              <a:t> Transportador Marítimo Efetivo</a:t>
            </a:r>
          </a:p>
        </c:rich>
      </c:tx>
      <c:overlay val="0"/>
    </c:title>
    <c:autoTitleDeleted val="0"/>
    <c:plotArea>
      <c:layout/>
      <c:pieChart>
        <c:varyColors val="1"/>
        <c:ser>
          <c:idx val="0"/>
          <c:order val="0"/>
          <c:tx>
            <c:strRef>
              <c:f>Sheet1!$B$1</c:f>
              <c:strCache>
                <c:ptCount val="1"/>
                <c:pt idx="0">
                  <c:v>BLs</c:v>
                </c:pt>
              </c:strCache>
            </c:strRef>
          </c:tx>
          <c:dPt>
            <c:idx val="0"/>
            <c:bubble3D val="0"/>
            <c:spPr>
              <a:solidFill>
                <a:srgbClr val="31485D"/>
              </a:solidFill>
              <a:ln w="12700">
                <a:solidFill>
                  <a:srgbClr val="FFFFFF"/>
                </a:solidFill>
              </a:ln>
            </c:spPr>
            <c:extLst>
              <c:ext xmlns:c16="http://schemas.microsoft.com/office/drawing/2014/chart" uri="{C3380CC4-5D6E-409C-BE32-E72D297353CC}">
                <c16:uniqueId val="{00000001-2102-4C58-80B1-754151353CD7}"/>
              </c:ext>
            </c:extLst>
          </c:dPt>
          <c:dPt>
            <c:idx val="1"/>
            <c:bubble3D val="0"/>
            <c:spPr>
              <a:solidFill>
                <a:srgbClr val="3E6580"/>
              </a:solidFill>
              <a:ln w="12700">
                <a:solidFill>
                  <a:srgbClr val="FFFFFF"/>
                </a:solidFill>
              </a:ln>
            </c:spPr>
            <c:extLst>
              <c:ext xmlns:c16="http://schemas.microsoft.com/office/drawing/2014/chart" uri="{C3380CC4-5D6E-409C-BE32-E72D297353CC}">
                <c16:uniqueId val="{00000003-2102-4C58-80B1-754151353CD7}"/>
              </c:ext>
            </c:extLst>
          </c:dPt>
          <c:dPt>
            <c:idx val="2"/>
            <c:bubble3D val="0"/>
            <c:spPr>
              <a:solidFill>
                <a:srgbClr val="52799A"/>
              </a:solidFill>
              <a:ln w="12700">
                <a:solidFill>
                  <a:srgbClr val="FFFFFF"/>
                </a:solidFill>
              </a:ln>
            </c:spPr>
            <c:extLst>
              <c:ext xmlns:c16="http://schemas.microsoft.com/office/drawing/2014/chart" uri="{C3380CC4-5D6E-409C-BE32-E72D297353CC}">
                <c16:uniqueId val="{00000005-2102-4C58-80B1-754151353CD7}"/>
              </c:ext>
            </c:extLst>
          </c:dPt>
          <c:dPt>
            <c:idx val="3"/>
            <c:bubble3D val="0"/>
            <c:spPr>
              <a:solidFill>
                <a:srgbClr val="6E93B0"/>
              </a:solidFill>
              <a:ln w="12700">
                <a:solidFill>
                  <a:srgbClr val="FFFFFF"/>
                </a:solidFill>
              </a:ln>
            </c:spPr>
            <c:extLst>
              <c:ext xmlns:c16="http://schemas.microsoft.com/office/drawing/2014/chart" uri="{C3380CC4-5D6E-409C-BE32-E72D297353CC}">
                <c16:uniqueId val="{00000007-2102-4C58-80B1-754151353CD7}"/>
              </c:ext>
            </c:extLst>
          </c:dPt>
          <c:dPt>
            <c:idx val="4"/>
            <c:bubble3D val="0"/>
            <c:spPr>
              <a:solidFill>
                <a:srgbClr val="8AAEC6"/>
              </a:solidFill>
              <a:ln w="12700">
                <a:solidFill>
                  <a:srgbClr val="FFFFFF"/>
                </a:solidFill>
              </a:ln>
            </c:spPr>
            <c:extLst>
              <c:ext xmlns:c16="http://schemas.microsoft.com/office/drawing/2014/chart" uri="{C3380CC4-5D6E-409C-BE32-E72D297353CC}">
                <c16:uniqueId val="{00000009-2102-4C58-80B1-754151353CD7}"/>
              </c:ext>
            </c:extLst>
          </c:dPt>
          <c:dPt>
            <c:idx val="5"/>
            <c:bubble3D val="0"/>
            <c:spPr>
              <a:solidFill>
                <a:srgbClr val="A6C4D8"/>
              </a:solidFill>
              <a:ln w="12700">
                <a:solidFill>
                  <a:srgbClr val="FFFFFF"/>
                </a:solidFill>
              </a:ln>
            </c:spPr>
            <c:extLst>
              <c:ext xmlns:c16="http://schemas.microsoft.com/office/drawing/2014/chart" uri="{C3380CC4-5D6E-409C-BE32-E72D297353CC}">
                <c16:uniqueId val="{0000000B-2102-4C58-80B1-754151353CD7}"/>
              </c:ext>
            </c:extLst>
          </c:dPt>
          <c:dPt>
            <c:idx val="6"/>
            <c:bubble3D val="0"/>
            <c:spPr>
              <a:solidFill>
                <a:srgbClr val="C2D8E7"/>
              </a:solidFill>
              <a:ln w="12700">
                <a:solidFill>
                  <a:srgbClr val="FFFFFF"/>
                </a:solidFill>
              </a:ln>
            </c:spPr>
            <c:extLst>
              <c:ext xmlns:c16="http://schemas.microsoft.com/office/drawing/2014/chart" uri="{C3380CC4-5D6E-409C-BE32-E72D297353CC}">
                <c16:uniqueId val="{0000000D-2102-4C58-80B1-754151353CD7}"/>
              </c:ext>
            </c:extLst>
          </c:dPt>
          <c:dPt>
            <c:idx val="7"/>
            <c:bubble3D val="0"/>
            <c:spPr>
              <a:solidFill>
                <a:srgbClr val="DCE9F2"/>
              </a:solidFill>
              <a:ln w="12700">
                <a:solidFill>
                  <a:srgbClr val="FFFFFF"/>
                </a:solidFill>
              </a:ln>
            </c:spPr>
            <c:extLst>
              <c:ext xmlns:c16="http://schemas.microsoft.com/office/drawing/2014/chart" uri="{C3380CC4-5D6E-409C-BE32-E72D297353CC}">
                <c16:uniqueId val="{0000000F-2102-4C58-80B1-754151353CD7}"/>
              </c:ext>
            </c:extLst>
          </c:dPt>
          <c:dLbls>
            <c:dLbl>
              <c:idx val="0"/>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102-4C58-80B1-754151353CD7}"/>
                </c:ext>
              </c:extLst>
            </c:dLbl>
            <c:dLbl>
              <c:idx val="1"/>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102-4C58-80B1-754151353CD7}"/>
                </c:ext>
              </c:extLst>
            </c:dLbl>
            <c:dLbl>
              <c:idx val="2"/>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102-4C58-80B1-754151353CD7}"/>
                </c:ext>
              </c:extLst>
            </c:dLbl>
            <c:dLbl>
              <c:idx val="3"/>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102-4C58-80B1-754151353CD7}"/>
                </c:ext>
              </c:extLst>
            </c:dLbl>
            <c:dLbl>
              <c:idx val="4"/>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102-4C58-80B1-754151353CD7}"/>
                </c:ext>
              </c:extLst>
            </c:dLbl>
            <c:numFmt formatCode="0%" sourceLinked="0"/>
            <c:spPr>
              <a:noFill/>
              <a:ln>
                <a:noFill/>
              </a:ln>
            </c:spPr>
            <c:txPr>
              <a:bodyPr/>
              <a:lstStyle/>
              <a:p>
                <a:pPr>
                  <a:defRPr sz="1300" b="1">
                    <a:solidFill>
                      <a:srgbClr val="3A4750"/>
                    </a:solidFill>
                    <a:latin typeface="Arial"/>
                  </a:defRPr>
                </a:pPr>
                <a:endParaRPr lang="pt-BR"/>
              </a:p>
            </c:txPr>
            <c:dLblPos val="bestFit"/>
            <c:showLegendKey val="0"/>
            <c:showVal val="0"/>
            <c:showCatName val="0"/>
            <c:showSerName val="0"/>
            <c:showPercent val="1"/>
            <c:showBubbleSize val="0"/>
            <c:showLeaderLines val="1"/>
            <c:extLst>
              <c:ext xmlns:c15="http://schemas.microsoft.com/office/drawing/2012/chart" uri="{CE6537A1-D6FC-4f65-9D91-7224C49458BB}"/>
            </c:extLst>
          </c:dLbls>
          <c:cat>
            <c:strRef>
              <c:f>Sheet1!$A$2:$A$9</c:f>
              <c:strCache>
                <c:ptCount val="8"/>
                <c:pt idx="0">
                  <c:v>Maersk</c:v>
                </c:pt>
                <c:pt idx="1">
                  <c:v>Hapag-Lloyd</c:v>
                </c:pt>
                <c:pt idx="2">
                  <c:v>MSC</c:v>
                </c:pt>
                <c:pt idx="3">
                  <c:v>ONE</c:v>
                </c:pt>
                <c:pt idx="4">
                  <c:v>COSCO</c:v>
                </c:pt>
                <c:pt idx="5">
                  <c:v>CMA CGM</c:v>
                </c:pt>
                <c:pt idx="6">
                  <c:v>ZIM</c:v>
                </c:pt>
                <c:pt idx="7">
                  <c:v>Outros</c:v>
                </c:pt>
              </c:strCache>
            </c:strRef>
          </c:cat>
          <c:val>
            <c:numRef>
              <c:f>Sheet1!$B$2:$B$9</c:f>
              <c:numCache>
                <c:formatCode>General</c:formatCode>
                <c:ptCount val="8"/>
                <c:pt idx="0">
                  <c:v>46</c:v>
                </c:pt>
                <c:pt idx="1">
                  <c:v>20</c:v>
                </c:pt>
                <c:pt idx="2">
                  <c:v>19</c:v>
                </c:pt>
                <c:pt idx="3">
                  <c:v>5</c:v>
                </c:pt>
                <c:pt idx="4">
                  <c:v>5</c:v>
                </c:pt>
                <c:pt idx="5">
                  <c:v>2</c:v>
                </c:pt>
                <c:pt idx="6">
                  <c:v>2</c:v>
                </c:pt>
                <c:pt idx="7">
                  <c:v>1</c:v>
                </c:pt>
              </c:numCache>
            </c:numRef>
          </c:val>
          <c:extLst>
            <c:ext xmlns:c16="http://schemas.microsoft.com/office/drawing/2014/chart" uri="{C3380CC4-5D6E-409C-BE32-E72D297353CC}">
              <c16:uniqueId val="{00000010-2102-4C58-80B1-754151353CD7}"/>
            </c:ext>
          </c:extLst>
        </c:ser>
        <c:dLbls>
          <c:showLegendKey val="0"/>
          <c:showVal val="0"/>
          <c:showCatName val="0"/>
          <c:showSerName val="0"/>
          <c:showPercent val="0"/>
          <c:showBubbleSize val="0"/>
          <c:showLeaderLines val="1"/>
        </c:dLbls>
        <c:firstSliceAng val="0"/>
      </c:pieChart>
    </c:plotArea>
    <c:plotVisOnly val="1"/>
    <c:dispBlanksAs val="gap"/>
    <c:showDLblsOverMax val="1"/>
  </c:chart>
  <c:spPr>
    <a:noFill/>
    <a:ln>
      <a:noFill/>
    </a:ln>
  </c:spPr>
  <c:txPr>
    <a:bodyPr/>
    <a:lstStyle/>
    <a:p>
      <a:pPr>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t-BR"/>
  <c:roundedCorners val="0"/>
  <c:style val="2"/>
  <c:chart>
    <c:title>
      <c:tx>
        <c:rich>
          <a:bodyPr/>
          <a:lstStyle/>
          <a:p>
            <a:pPr>
              <a:defRPr/>
            </a:pPr>
            <a:r>
              <a:rPr lang="pt-BR" sz="1400" b="1" i="0">
                <a:solidFill>
                  <a:srgbClr val="31485D"/>
                </a:solidFill>
                <a:latin typeface="Arial"/>
              </a:rPr>
              <a:t>BL </a:t>
            </a:r>
            <a:r>
              <a:rPr lang="pt-BR" sz="1400" b="1" i="1">
                <a:solidFill>
                  <a:srgbClr val="31485D"/>
                </a:solidFill>
                <a:latin typeface="Arial"/>
              </a:rPr>
              <a:t>versus</a:t>
            </a:r>
            <a:r>
              <a:rPr lang="pt-BR" sz="1400" b="1" i="0">
                <a:solidFill>
                  <a:srgbClr val="31485D"/>
                </a:solidFill>
                <a:latin typeface="Arial"/>
              </a:rPr>
              <a:t> NCM (Nomenclatura Comum do Mercosul)</a:t>
            </a:r>
          </a:p>
        </c:rich>
      </c:tx>
      <c:overlay val="0"/>
    </c:title>
    <c:autoTitleDeleted val="0"/>
    <c:plotArea>
      <c:layout/>
      <c:pieChart>
        <c:varyColors val="1"/>
        <c:ser>
          <c:idx val="0"/>
          <c:order val="0"/>
          <c:tx>
            <c:strRef>
              <c:f>Sheet1!$B$1</c:f>
              <c:strCache>
                <c:ptCount val="1"/>
                <c:pt idx="0">
                  <c:v>BLs</c:v>
                </c:pt>
              </c:strCache>
            </c:strRef>
          </c:tx>
          <c:dPt>
            <c:idx val="0"/>
            <c:bubble3D val="0"/>
            <c:spPr>
              <a:solidFill>
                <a:srgbClr val="31485D"/>
              </a:solidFill>
              <a:ln w="12700">
                <a:solidFill>
                  <a:srgbClr val="FFFFFF"/>
                </a:solidFill>
              </a:ln>
            </c:spPr>
            <c:extLst>
              <c:ext xmlns:c16="http://schemas.microsoft.com/office/drawing/2014/chart" uri="{C3380CC4-5D6E-409C-BE32-E72D297353CC}">
                <c16:uniqueId val="{00000001-13B9-4211-876C-566C2946992A}"/>
              </c:ext>
            </c:extLst>
          </c:dPt>
          <c:dPt>
            <c:idx val="1"/>
            <c:bubble3D val="0"/>
            <c:spPr>
              <a:solidFill>
                <a:srgbClr val="52799A"/>
              </a:solidFill>
              <a:ln w="12700">
                <a:solidFill>
                  <a:srgbClr val="FFFFFF"/>
                </a:solidFill>
              </a:ln>
            </c:spPr>
            <c:extLst>
              <c:ext xmlns:c16="http://schemas.microsoft.com/office/drawing/2014/chart" uri="{C3380CC4-5D6E-409C-BE32-E72D297353CC}">
                <c16:uniqueId val="{00000003-13B9-4211-876C-566C2946992A}"/>
              </c:ext>
            </c:extLst>
          </c:dPt>
          <c:dPt>
            <c:idx val="2"/>
            <c:bubble3D val="0"/>
            <c:spPr>
              <a:solidFill>
                <a:srgbClr val="6E93B0"/>
              </a:solidFill>
              <a:ln w="12700">
                <a:solidFill>
                  <a:srgbClr val="FFFFFF"/>
                </a:solidFill>
              </a:ln>
            </c:spPr>
            <c:extLst>
              <c:ext xmlns:c16="http://schemas.microsoft.com/office/drawing/2014/chart" uri="{C3380CC4-5D6E-409C-BE32-E72D297353CC}">
                <c16:uniqueId val="{00000005-13B9-4211-876C-566C2946992A}"/>
              </c:ext>
            </c:extLst>
          </c:dPt>
          <c:dPt>
            <c:idx val="3"/>
            <c:bubble3D val="0"/>
            <c:spPr>
              <a:solidFill>
                <a:srgbClr val="8AAEC6"/>
              </a:solidFill>
              <a:ln w="12700">
                <a:solidFill>
                  <a:srgbClr val="FFFFFF"/>
                </a:solidFill>
              </a:ln>
            </c:spPr>
            <c:extLst>
              <c:ext xmlns:c16="http://schemas.microsoft.com/office/drawing/2014/chart" uri="{C3380CC4-5D6E-409C-BE32-E72D297353CC}">
                <c16:uniqueId val="{00000007-13B9-4211-876C-566C2946992A}"/>
              </c:ext>
            </c:extLst>
          </c:dPt>
          <c:dPt>
            <c:idx val="4"/>
            <c:bubble3D val="0"/>
            <c:spPr>
              <a:solidFill>
                <a:srgbClr val="A6C4D8"/>
              </a:solidFill>
              <a:ln w="12700">
                <a:solidFill>
                  <a:srgbClr val="FFFFFF"/>
                </a:solidFill>
              </a:ln>
            </c:spPr>
            <c:extLst>
              <c:ext xmlns:c16="http://schemas.microsoft.com/office/drawing/2014/chart" uri="{C3380CC4-5D6E-409C-BE32-E72D297353CC}">
                <c16:uniqueId val="{00000009-13B9-4211-876C-566C2946992A}"/>
              </c:ext>
            </c:extLst>
          </c:dPt>
          <c:dPt>
            <c:idx val="5"/>
            <c:bubble3D val="0"/>
            <c:spPr>
              <a:solidFill>
                <a:srgbClr val="DCE9F2"/>
              </a:solidFill>
              <a:ln w="12700">
                <a:solidFill>
                  <a:srgbClr val="FFFFFF"/>
                </a:solidFill>
              </a:ln>
            </c:spPr>
            <c:extLst>
              <c:ext xmlns:c16="http://schemas.microsoft.com/office/drawing/2014/chart" uri="{C3380CC4-5D6E-409C-BE32-E72D297353CC}">
                <c16:uniqueId val="{0000000B-13B9-4211-876C-566C2946992A}"/>
              </c:ext>
            </c:extLst>
          </c:dPt>
          <c:dLbls>
            <c:dLbl>
              <c:idx val="0"/>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3B9-4211-876C-566C2946992A}"/>
                </c:ext>
              </c:extLst>
            </c:dLbl>
            <c:dLbl>
              <c:idx val="1"/>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3B9-4211-876C-566C2946992A}"/>
                </c:ext>
              </c:extLst>
            </c:dLbl>
            <c:dLbl>
              <c:idx val="2"/>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3B9-4211-876C-566C2946992A}"/>
                </c:ext>
              </c:extLst>
            </c:dLbl>
            <c:dLbl>
              <c:idx val="3"/>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3B9-4211-876C-566C2946992A}"/>
                </c:ext>
              </c:extLst>
            </c:dLbl>
            <c:numFmt formatCode="0%" sourceLinked="0"/>
            <c:spPr>
              <a:noFill/>
              <a:ln>
                <a:noFill/>
              </a:ln>
            </c:spPr>
            <c:txPr>
              <a:bodyPr/>
              <a:lstStyle/>
              <a:p>
                <a:pPr>
                  <a:defRPr sz="1300" b="1">
                    <a:solidFill>
                      <a:srgbClr val="3A4750"/>
                    </a:solidFill>
                    <a:latin typeface="Arial"/>
                  </a:defRPr>
                </a:pPr>
                <a:endParaRPr lang="pt-BR"/>
              </a:p>
            </c:txPr>
            <c:dLblPos val="bestFit"/>
            <c:showLegendKey val="0"/>
            <c:showVal val="0"/>
            <c:showCatName val="0"/>
            <c:showSerName val="0"/>
            <c:showPercent val="1"/>
            <c:showBubbleSize val="0"/>
            <c:showLeaderLines val="1"/>
            <c:extLst>
              <c:ext xmlns:c15="http://schemas.microsoft.com/office/drawing/2012/chart" uri="{CE6537A1-D6FC-4f65-9D91-7224C49458BB}"/>
            </c:extLst>
          </c:dLbls>
          <c:cat>
            <c:strRef>
              <c:f>Sheet1!$A$2:$A$7</c:f>
              <c:strCache>
                <c:ptCount val="6"/>
                <c:pt idx="0">
                  <c:v>44 Madeira, carvão vegetal e obras de madeira</c:v>
                </c:pt>
                <c:pt idx="1">
                  <c:v>29 Produtos químicos orgânicos</c:v>
                </c:pt>
                <c:pt idx="2">
                  <c:v>09 Café, chá, mate e especiarias</c:v>
                </c:pt>
                <c:pt idx="3">
                  <c:v>69 Produtos cerâmicos</c:v>
                </c:pt>
                <c:pt idx="4">
                  <c:v>07 Produtos hortícolas, plantas, raízes e tubérculos, comestíveis</c:v>
                </c:pt>
                <c:pt idx="5">
                  <c:v>Outros</c:v>
                </c:pt>
              </c:strCache>
            </c:strRef>
          </c:cat>
          <c:val>
            <c:numRef>
              <c:f>Sheet1!$B$2:$B$7</c:f>
              <c:numCache>
                <c:formatCode>General</c:formatCode>
                <c:ptCount val="6"/>
                <c:pt idx="0">
                  <c:v>63</c:v>
                </c:pt>
                <c:pt idx="1">
                  <c:v>15</c:v>
                </c:pt>
                <c:pt idx="2">
                  <c:v>10</c:v>
                </c:pt>
                <c:pt idx="3">
                  <c:v>7</c:v>
                </c:pt>
                <c:pt idx="4">
                  <c:v>1</c:v>
                </c:pt>
                <c:pt idx="5">
                  <c:v>4</c:v>
                </c:pt>
              </c:numCache>
            </c:numRef>
          </c:val>
          <c:extLst>
            <c:ext xmlns:c16="http://schemas.microsoft.com/office/drawing/2014/chart" uri="{C3380CC4-5D6E-409C-BE32-E72D297353CC}">
              <c16:uniqueId val="{0000000C-13B9-4211-876C-566C2946992A}"/>
            </c:ext>
          </c:extLst>
        </c:ser>
        <c:dLbls>
          <c:showLegendKey val="0"/>
          <c:showVal val="0"/>
          <c:showCatName val="0"/>
          <c:showSerName val="0"/>
          <c:showPercent val="0"/>
          <c:showBubbleSize val="0"/>
          <c:showLeaderLines val="1"/>
        </c:dLbls>
        <c:firstSliceAng val="0"/>
      </c:pieChart>
    </c:plotArea>
    <c:plotVisOnly val="1"/>
    <c:dispBlanksAs val="gap"/>
    <c:showDLblsOverMax val="1"/>
  </c:chart>
  <c:spPr>
    <a:noFill/>
    <a:ln>
      <a:noFill/>
    </a:ln>
  </c:spPr>
  <c:txPr>
    <a:bodyPr/>
    <a:lstStyle/>
    <a:p>
      <a:pPr>
        <a:defRPr sz="12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pt-BR"/>
  <c:roundedCorners val="0"/>
  <c:style val="2"/>
  <c:chart>
    <c:title>
      <c:tx>
        <c:rich>
          <a:bodyPr/>
          <a:lstStyle/>
          <a:p>
            <a:pPr>
              <a:defRPr/>
            </a:pPr>
            <a:r>
              <a:rPr lang="pt-BR" sz="1400" b="1" i="0">
                <a:solidFill>
                  <a:srgbClr val="31485D"/>
                </a:solidFill>
                <a:latin typeface="Arial"/>
              </a:rPr>
              <a:t>BL </a:t>
            </a:r>
            <a:r>
              <a:rPr lang="pt-BR" sz="1400" b="1" i="1">
                <a:solidFill>
                  <a:srgbClr val="31485D"/>
                </a:solidFill>
                <a:latin typeface="Arial"/>
              </a:rPr>
              <a:t>versus</a:t>
            </a:r>
            <a:r>
              <a:rPr lang="pt-BR" sz="1400" b="1" i="0">
                <a:solidFill>
                  <a:srgbClr val="31485D"/>
                </a:solidFill>
                <a:latin typeface="Arial"/>
              </a:rPr>
              <a:t> NCM (Nomenclatura Comum do Mercosul)</a:t>
            </a:r>
          </a:p>
        </c:rich>
      </c:tx>
      <c:overlay val="0"/>
    </c:title>
    <c:autoTitleDeleted val="0"/>
    <c:plotArea>
      <c:layout/>
      <c:pieChart>
        <c:varyColors val="1"/>
        <c:ser>
          <c:idx val="0"/>
          <c:order val="0"/>
          <c:tx>
            <c:strRef>
              <c:f>Sheet1!$B$1</c:f>
              <c:strCache>
                <c:ptCount val="1"/>
                <c:pt idx="0">
                  <c:v>BLs</c:v>
                </c:pt>
              </c:strCache>
            </c:strRef>
          </c:tx>
          <c:dPt>
            <c:idx val="0"/>
            <c:bubble3D val="0"/>
            <c:spPr>
              <a:solidFill>
                <a:srgbClr val="31485D"/>
              </a:solidFill>
              <a:ln w="12700">
                <a:solidFill>
                  <a:srgbClr val="FFFFFF"/>
                </a:solidFill>
              </a:ln>
            </c:spPr>
            <c:extLst>
              <c:ext xmlns:c16="http://schemas.microsoft.com/office/drawing/2014/chart" uri="{C3380CC4-5D6E-409C-BE32-E72D297353CC}">
                <c16:uniqueId val="{00000001-D732-4B29-8F8B-5A2B6DB7460D}"/>
              </c:ext>
            </c:extLst>
          </c:dPt>
          <c:dPt>
            <c:idx val="1"/>
            <c:bubble3D val="0"/>
            <c:spPr>
              <a:solidFill>
                <a:srgbClr val="52799A"/>
              </a:solidFill>
              <a:ln w="12700">
                <a:solidFill>
                  <a:srgbClr val="FFFFFF"/>
                </a:solidFill>
              </a:ln>
            </c:spPr>
            <c:extLst>
              <c:ext xmlns:c16="http://schemas.microsoft.com/office/drawing/2014/chart" uri="{C3380CC4-5D6E-409C-BE32-E72D297353CC}">
                <c16:uniqueId val="{00000003-D732-4B29-8F8B-5A2B6DB7460D}"/>
              </c:ext>
            </c:extLst>
          </c:dPt>
          <c:dPt>
            <c:idx val="2"/>
            <c:bubble3D val="0"/>
            <c:spPr>
              <a:solidFill>
                <a:srgbClr val="6E93B0"/>
              </a:solidFill>
              <a:ln w="12700">
                <a:solidFill>
                  <a:srgbClr val="FFFFFF"/>
                </a:solidFill>
              </a:ln>
            </c:spPr>
            <c:extLst>
              <c:ext xmlns:c16="http://schemas.microsoft.com/office/drawing/2014/chart" uri="{C3380CC4-5D6E-409C-BE32-E72D297353CC}">
                <c16:uniqueId val="{00000005-D732-4B29-8F8B-5A2B6DB7460D}"/>
              </c:ext>
            </c:extLst>
          </c:dPt>
          <c:dPt>
            <c:idx val="3"/>
            <c:bubble3D val="0"/>
            <c:spPr>
              <a:solidFill>
                <a:srgbClr val="8AAEC6"/>
              </a:solidFill>
              <a:ln w="12700">
                <a:solidFill>
                  <a:srgbClr val="FFFFFF"/>
                </a:solidFill>
              </a:ln>
            </c:spPr>
            <c:extLst>
              <c:ext xmlns:c16="http://schemas.microsoft.com/office/drawing/2014/chart" uri="{C3380CC4-5D6E-409C-BE32-E72D297353CC}">
                <c16:uniqueId val="{00000007-D732-4B29-8F8B-5A2B6DB7460D}"/>
              </c:ext>
            </c:extLst>
          </c:dPt>
          <c:dPt>
            <c:idx val="4"/>
            <c:bubble3D val="0"/>
            <c:spPr>
              <a:solidFill>
                <a:srgbClr val="A6C4D8"/>
              </a:solidFill>
              <a:ln w="12700">
                <a:solidFill>
                  <a:srgbClr val="FFFFFF"/>
                </a:solidFill>
              </a:ln>
            </c:spPr>
            <c:extLst>
              <c:ext xmlns:c16="http://schemas.microsoft.com/office/drawing/2014/chart" uri="{C3380CC4-5D6E-409C-BE32-E72D297353CC}">
                <c16:uniqueId val="{00000009-D732-4B29-8F8B-5A2B6DB7460D}"/>
              </c:ext>
            </c:extLst>
          </c:dPt>
          <c:dPt>
            <c:idx val="5"/>
            <c:bubble3D val="0"/>
            <c:spPr>
              <a:solidFill>
                <a:srgbClr val="DCE9F2"/>
              </a:solidFill>
              <a:ln w="12700">
                <a:solidFill>
                  <a:srgbClr val="FFFFFF"/>
                </a:solidFill>
              </a:ln>
            </c:spPr>
            <c:extLst>
              <c:ext xmlns:c16="http://schemas.microsoft.com/office/drawing/2014/chart" uri="{C3380CC4-5D6E-409C-BE32-E72D297353CC}">
                <c16:uniqueId val="{0000000B-D732-4B29-8F8B-5A2B6DB7460D}"/>
              </c:ext>
            </c:extLst>
          </c:dPt>
          <c:dLbls>
            <c:dLbl>
              <c:idx val="0"/>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732-4B29-8F8B-5A2B6DB7460D}"/>
                </c:ext>
              </c:extLst>
            </c:dLbl>
            <c:dLbl>
              <c:idx val="1"/>
              <c:numFmt formatCode="0%" sourceLinked="0"/>
              <c:spPr>
                <a:noFill/>
                <a:ln>
                  <a:noFill/>
                </a:ln>
              </c:spPr>
              <c:txPr>
                <a:bodyPr/>
                <a:lstStyle/>
                <a:p>
                  <a:pPr>
                    <a:defRPr sz="1300" b="1">
                      <a:solidFill>
                        <a:srgbClr val="FFFFFF"/>
                      </a:solidFill>
                      <a:latin typeface="Arial"/>
                    </a:defRPr>
                  </a:pPr>
                  <a:endParaRPr lang="pt-BR"/>
                </a:p>
              </c:txPr>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32-4B29-8F8B-5A2B6DB7460D}"/>
                </c:ext>
              </c:extLst>
            </c:dLbl>
            <c:dLbl>
              <c:idx val="2"/>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732-4B29-8F8B-5A2B6DB7460D}"/>
                </c:ext>
              </c:extLst>
            </c:dLbl>
            <c:dLbl>
              <c:idx val="3"/>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732-4B29-8F8B-5A2B6DB7460D}"/>
                </c:ext>
              </c:extLst>
            </c:dLbl>
            <c:numFmt formatCode="0%" sourceLinked="0"/>
            <c:spPr>
              <a:noFill/>
              <a:ln>
                <a:noFill/>
              </a:ln>
            </c:spPr>
            <c:txPr>
              <a:bodyPr/>
              <a:lstStyle/>
              <a:p>
                <a:pPr>
                  <a:defRPr sz="1300" b="1">
                    <a:solidFill>
                      <a:srgbClr val="3A4750"/>
                    </a:solidFill>
                    <a:latin typeface="Arial"/>
                  </a:defRPr>
                </a:pPr>
                <a:endParaRPr lang="pt-BR"/>
              </a:p>
            </c:txPr>
            <c:dLblPos val="bestFit"/>
            <c:showLegendKey val="0"/>
            <c:showVal val="0"/>
            <c:showCatName val="0"/>
            <c:showSerName val="0"/>
            <c:showPercent val="1"/>
            <c:showBubbleSize val="0"/>
            <c:showLeaderLines val="1"/>
            <c:extLst>
              <c:ext xmlns:c15="http://schemas.microsoft.com/office/drawing/2012/chart" uri="{CE6537A1-D6FC-4f65-9D91-7224C49458BB}"/>
            </c:extLst>
          </c:dLbls>
          <c:cat>
            <c:strRef>
              <c:f>Sheet1!$A$2:$A$7</c:f>
              <c:strCache>
                <c:ptCount val="6"/>
                <c:pt idx="0">
                  <c:v>44 Madeira, carvão vegetal e obras de madeira</c:v>
                </c:pt>
                <c:pt idx="1">
                  <c:v>29 Produtos químicos orgânicos</c:v>
                </c:pt>
                <c:pt idx="2">
                  <c:v>09 Café, chá, mate e especiarias</c:v>
                </c:pt>
                <c:pt idx="3">
                  <c:v>69 Produtos cerâmicos</c:v>
                </c:pt>
                <c:pt idx="4">
                  <c:v>07 Produtos hortícolas, plantas, raízes e tubérculos, comestíveis</c:v>
                </c:pt>
                <c:pt idx="5">
                  <c:v>Outros</c:v>
                </c:pt>
              </c:strCache>
            </c:strRef>
          </c:cat>
          <c:val>
            <c:numRef>
              <c:f>Sheet1!$B$2:$B$7</c:f>
              <c:numCache>
                <c:formatCode>General</c:formatCode>
                <c:ptCount val="6"/>
                <c:pt idx="0">
                  <c:v>63</c:v>
                </c:pt>
                <c:pt idx="1">
                  <c:v>15</c:v>
                </c:pt>
                <c:pt idx="2">
                  <c:v>10</c:v>
                </c:pt>
                <c:pt idx="3">
                  <c:v>7</c:v>
                </c:pt>
                <c:pt idx="4">
                  <c:v>1</c:v>
                </c:pt>
                <c:pt idx="5">
                  <c:v>4</c:v>
                </c:pt>
              </c:numCache>
            </c:numRef>
          </c:val>
          <c:extLst>
            <c:ext xmlns:c16="http://schemas.microsoft.com/office/drawing/2014/chart" uri="{C3380CC4-5D6E-409C-BE32-E72D297353CC}">
              <c16:uniqueId val="{0000000C-D732-4B29-8F8B-5A2B6DB7460D}"/>
            </c:ext>
          </c:extLst>
        </c:ser>
        <c:dLbls>
          <c:showLegendKey val="0"/>
          <c:showVal val="0"/>
          <c:showCatName val="0"/>
          <c:showSerName val="0"/>
          <c:showPercent val="0"/>
          <c:showBubbleSize val="0"/>
          <c:showLeaderLines val="1"/>
        </c:dLbls>
        <c:firstSliceAng val="0"/>
      </c:pieChart>
    </c:plotArea>
    <c:legend>
      <c:legendPos val="b"/>
      <c:overlay val="0"/>
      <c:txPr>
        <a:bodyPr/>
        <a:lstStyle/>
        <a:p>
          <a:pPr>
            <a:defRPr sz="1200">
              <a:solidFill>
                <a:srgbClr val="3A4750"/>
              </a:solidFill>
              <a:latin typeface="Arial"/>
            </a:defRPr>
          </a:pPr>
          <a:endParaRPr lang="en-US"/>
        </a:p>
      </c:txPr>
    </c:legend>
    <c:plotVisOnly val="1"/>
    <c:dispBlanksAs val="gap"/>
    <c:showDLblsOverMax val="1"/>
  </c:chart>
  <c:spPr>
    <a:noFill/>
    <a:ln>
      <a:noFill/>
    </a:ln>
  </c:spPr>
  <c:txPr>
    <a:bodyPr/>
    <a:lstStyle/>
    <a:p>
      <a:pPr>
        <a:defRPr sz="12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464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8.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capa_foto_porto.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7040880" cy="6858000"/>
          </a:xfrm>
          <a:prstGeom prst="rect">
            <a:avLst/>
          </a:prstGeom>
          <a:solidFill>
            <a:srgbClr val="31485D">
              <a:alpha val="78000"/>
            </a:srgbClr>
          </a:solidFill>
          <a:ln/>
        </p:spPr>
      </p:sp>
      <p:pic>
        <p:nvPicPr>
          <p:cNvPr id="4" name="Image 1" descr="assets_proc/logo_antaq_transp.png"/>
          <p:cNvPicPr>
            <a:picLocks noChangeAspect="1"/>
          </p:cNvPicPr>
          <p:nvPr/>
        </p:nvPicPr>
        <p:blipFill>
          <a:blip r:embed="rId4"/>
          <a:stretch>
            <a:fillRect/>
          </a:stretch>
        </p:blipFill>
        <p:spPr>
          <a:xfrm>
            <a:off x="10065959" y="457200"/>
            <a:ext cx="1643865" cy="914400"/>
          </a:xfrm>
          <a:prstGeom prst="rect">
            <a:avLst/>
          </a:prstGeom>
        </p:spPr>
      </p:pic>
      <p:sp>
        <p:nvSpPr>
          <p:cNvPr id="5" name="Text 1"/>
          <p:cNvSpPr txBox="1"/>
          <p:nvPr/>
        </p:nvSpPr>
        <p:spPr>
          <a:xfrm>
            <a:off x="444136" y="2148840"/>
            <a:ext cx="6400800" cy="1371600"/>
          </a:xfrm>
          <a:prstGeom prst="rect">
            <a:avLst/>
          </a:prstGeom>
          <a:noFill/>
          <a:ln/>
        </p:spPr>
        <p:txBody>
          <a:bodyPr wrap="square" lIns="0" tIns="0" rIns="0" bIns="0" rtlCol="0" anchor="t"/>
          <a:lstStyle/>
          <a:p>
            <a:pPr marL="0" indent="0" algn="l">
              <a:lnSpc>
                <a:spcPct val="100000"/>
              </a:lnSpc>
              <a:buNone/>
            </a:pPr>
            <a:r>
              <a:rPr lang="en-US" sz="4000" b="1" dirty="0">
                <a:solidFill>
                  <a:srgbClr val="FFFFFF"/>
                </a:solidFill>
                <a:latin typeface="Arial" pitchFamily="34" charset="0"/>
                <a:ea typeface="Arial" pitchFamily="34" charset="-122"/>
                <a:cs typeface="Arial" pitchFamily="34" charset="-120"/>
              </a:rPr>
              <a:t>GEF Contêineres: um panorama</a:t>
            </a:r>
            <a:endParaRPr lang="en-US" sz="4000" dirty="0"/>
          </a:p>
        </p:txBody>
      </p:sp>
      <p:sp>
        <p:nvSpPr>
          <p:cNvPr id="6" name="Text 2"/>
          <p:cNvSpPr txBox="1"/>
          <p:nvPr/>
        </p:nvSpPr>
        <p:spPr>
          <a:xfrm>
            <a:off x="444136" y="3520440"/>
            <a:ext cx="6400800" cy="548640"/>
          </a:xfrm>
          <a:prstGeom prst="rect">
            <a:avLst/>
          </a:prstGeom>
          <a:noFill/>
          <a:ln/>
        </p:spPr>
        <p:txBody>
          <a:bodyPr wrap="square" lIns="0" tIns="0" rIns="0" bIns="0" rtlCol="0" anchor="t"/>
          <a:lstStyle/>
          <a:p>
            <a:pPr marL="0" indent="0" algn="l">
              <a:buNone/>
            </a:pPr>
            <a:r>
              <a:rPr lang="en-US" sz="2000" b="1" dirty="0">
                <a:solidFill>
                  <a:srgbClr val="72BAE3"/>
                </a:solidFill>
                <a:latin typeface="Arial" pitchFamily="34" charset="0"/>
                <a:ea typeface="Arial" pitchFamily="34" charset="-122"/>
                <a:cs typeface="Arial" pitchFamily="34" charset="-120"/>
              </a:rPr>
              <a:t>Principais atividades e autocomposição</a:t>
            </a:r>
            <a:endParaRPr lang="en-US" sz="2000" dirty="0"/>
          </a:p>
        </p:txBody>
      </p:sp>
      <p:sp>
        <p:nvSpPr>
          <p:cNvPr id="7" name="Text 3"/>
          <p:cNvSpPr txBox="1"/>
          <p:nvPr/>
        </p:nvSpPr>
        <p:spPr>
          <a:xfrm>
            <a:off x="444136" y="4160520"/>
            <a:ext cx="6400800" cy="457200"/>
          </a:xfrm>
          <a:prstGeom prst="rect">
            <a:avLst/>
          </a:prstGeom>
          <a:noFill/>
          <a:ln/>
        </p:spPr>
        <p:txBody>
          <a:bodyPr wrap="square" lIns="0" tIns="0" rIns="0" bIns="0" rtlCol="0" anchor="t"/>
          <a:lstStyle/>
          <a:p>
            <a:pPr marL="0" indent="0" algn="l">
              <a:buNone/>
            </a:pPr>
            <a:r>
              <a:rPr lang="en-US" sz="1500" i="1" dirty="0">
                <a:solidFill>
                  <a:srgbClr val="FFFFFF"/>
                </a:solidFill>
                <a:latin typeface="Arial" pitchFamily="34" charset="0"/>
                <a:ea typeface="Arial" pitchFamily="34" charset="-122"/>
                <a:cs typeface="Arial" pitchFamily="34" charset="-120"/>
              </a:rPr>
              <a:t>Encontro Nacional de Fiscalização (ENAFIS 2026)</a:t>
            </a:r>
            <a:endParaRPr lang="en-US" sz="1500" dirty="0"/>
          </a:p>
        </p:txBody>
      </p:sp>
      <p:sp>
        <p:nvSpPr>
          <p:cNvPr id="8" name="Text 4"/>
          <p:cNvSpPr txBox="1"/>
          <p:nvPr/>
        </p:nvSpPr>
        <p:spPr>
          <a:xfrm>
            <a:off x="444136" y="5257800"/>
            <a:ext cx="6400800" cy="1097280"/>
          </a:xfrm>
          <a:prstGeom prst="rect">
            <a:avLst/>
          </a:prstGeom>
          <a:noFill/>
          <a:ln/>
        </p:spPr>
        <p:txBody>
          <a:bodyPr wrap="square" lIns="0" tIns="0" rIns="0" bIns="0" rtlCol="0" anchor="t"/>
          <a:lstStyle/>
          <a:p>
            <a:pPr marL="0" indent="0" algn="l">
              <a:lnSpc>
                <a:spcPct val="110000"/>
              </a:lnSpc>
              <a:buNone/>
            </a:pPr>
            <a:r>
              <a:rPr lang="en-US" sz="1200" b="1" dirty="0">
                <a:solidFill>
                  <a:srgbClr val="FFFFFF"/>
                </a:solidFill>
                <a:latin typeface="Arial" pitchFamily="34" charset="0"/>
                <a:ea typeface="Arial" pitchFamily="34" charset="-122"/>
                <a:cs typeface="Arial" pitchFamily="34" charset="-120"/>
              </a:rPr>
              <a:t>Luís Eduardo Bender</a:t>
            </a:r>
            <a:endParaRPr lang="en-US" sz="1200" dirty="0"/>
          </a:p>
          <a:p>
            <a:pPr marL="0" indent="0" algn="l">
              <a:lnSpc>
                <a:spcPct val="110000"/>
              </a:lnSpc>
              <a:buNone/>
            </a:pPr>
            <a:r>
              <a:rPr lang="en-US" sz="1200" dirty="0">
                <a:solidFill>
                  <a:srgbClr val="FFFFFF"/>
                </a:solidFill>
                <a:latin typeface="Arial" pitchFamily="34" charset="0"/>
                <a:ea typeface="Arial" pitchFamily="34" charset="-122"/>
                <a:cs typeface="Arial" pitchFamily="34" charset="-120"/>
              </a:rPr>
              <a:t>Técnico em Regulação de Serviços de </a:t>
            </a:r>
            <a:r>
              <a:rPr lang="en-US" sz="1200" dirty="0" err="1">
                <a:solidFill>
                  <a:srgbClr val="FFFFFF"/>
                </a:solidFill>
                <a:latin typeface="Arial" pitchFamily="34" charset="0"/>
                <a:ea typeface="Arial" pitchFamily="34" charset="-122"/>
                <a:cs typeface="Arial" pitchFamily="34" charset="-120"/>
              </a:rPr>
              <a:t>Transportes</a:t>
            </a:r>
            <a:r>
              <a:rPr lang="en-US" sz="1200" dirty="0">
                <a:solidFill>
                  <a:srgbClr val="FFFFFF"/>
                </a:solidFill>
                <a:latin typeface="Arial" pitchFamily="34" charset="0"/>
                <a:ea typeface="Arial" pitchFamily="34" charset="-122"/>
                <a:cs typeface="Arial" pitchFamily="34" charset="-120"/>
              </a:rPr>
              <a:t> </a:t>
            </a:r>
            <a:r>
              <a:rPr lang="en-US" sz="1200" dirty="0" err="1">
                <a:solidFill>
                  <a:srgbClr val="FFFFFF"/>
                </a:solidFill>
                <a:latin typeface="Arial" pitchFamily="34" charset="0"/>
                <a:ea typeface="Arial" pitchFamily="34" charset="-122"/>
                <a:cs typeface="Arial" pitchFamily="34" charset="-120"/>
              </a:rPr>
              <a:t>Aquaviários</a:t>
            </a:r>
            <a:endParaRPr lang="en-US" sz="1200" dirty="0"/>
          </a:p>
          <a:p>
            <a:pPr marL="0" indent="0" algn="l">
              <a:lnSpc>
                <a:spcPct val="110000"/>
              </a:lnSpc>
              <a:buNone/>
            </a:pPr>
            <a:r>
              <a:rPr lang="en-US" sz="1200" dirty="0">
                <a:solidFill>
                  <a:srgbClr val="FFFFFF"/>
                </a:solidFill>
                <a:latin typeface="Arial" pitchFamily="34" charset="0"/>
                <a:ea typeface="Arial" pitchFamily="34" charset="-122"/>
                <a:cs typeface="Arial" pitchFamily="34" charset="-120"/>
              </a:rPr>
              <a:t>Líder do Grupo Especializado de Fiscalização de </a:t>
            </a:r>
            <a:r>
              <a:rPr lang="en-US" sz="1200" dirty="0" err="1">
                <a:solidFill>
                  <a:srgbClr val="FFFFFF"/>
                </a:solidFill>
                <a:latin typeface="Arial" pitchFamily="34" charset="0"/>
                <a:ea typeface="Arial" pitchFamily="34" charset="-122"/>
                <a:cs typeface="Arial" pitchFamily="34" charset="-120"/>
              </a:rPr>
              <a:t>Contêineres</a:t>
            </a:r>
            <a:r>
              <a:rPr lang="en-US" sz="1200" dirty="0">
                <a:solidFill>
                  <a:srgbClr val="FFFFFF"/>
                </a:solidFill>
                <a:latin typeface="Arial" pitchFamily="34" charset="0"/>
                <a:ea typeface="Arial" pitchFamily="34" charset="-122"/>
                <a:cs typeface="Arial" pitchFamily="34" charset="-120"/>
              </a:rPr>
              <a:t> - GEF Contêineres/GCOR/SFC</a:t>
            </a:r>
            <a:endParaRPr lang="en-US" sz="1200" dirty="0"/>
          </a:p>
        </p:txBody>
      </p:sp>
      <p:sp>
        <p:nvSpPr>
          <p:cNvPr id="9" name="Text 5"/>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Foto: Porto de Lisboa (portodelisboa.pt)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slide2_fundo_ponto_interrogacao.png"/>
          <p:cNvPicPr>
            <a:picLocks noChangeAspect="1"/>
          </p:cNvPicPr>
          <p:nvPr/>
        </p:nvPicPr>
        <p:blipFill>
          <a:blip r:embed="rId3"/>
          <a:srcRect t="34625" r="39462" b="5484"/>
          <a:stretch>
            <a:fillRect/>
          </a:stretch>
        </p:blipFill>
        <p:spPr>
          <a:xfrm>
            <a:off x="152" y="36576"/>
            <a:ext cx="12191847" cy="6784848"/>
          </a:xfrm>
          <a:prstGeom prst="rect">
            <a:avLst/>
          </a:prstGeom>
        </p:spPr>
      </p:pic>
      <p:sp>
        <p:nvSpPr>
          <p:cNvPr id="3" name="Shape 0"/>
          <p:cNvSpPr/>
          <p:nvPr/>
        </p:nvSpPr>
        <p:spPr>
          <a:xfrm>
            <a:off x="153" y="0"/>
            <a:ext cx="12191695" cy="6858000"/>
          </a:xfrm>
          <a:prstGeom prst="rect">
            <a:avLst/>
          </a:prstGeom>
          <a:solidFill>
            <a:srgbClr val="31485D">
              <a:alpha val="55000"/>
            </a:srgbClr>
          </a:solidFill>
          <a:ln/>
        </p:spPr>
      </p:sp>
      <p:sp>
        <p:nvSpPr>
          <p:cNvPr id="4" name="Text 1"/>
          <p:cNvSpPr txBox="1"/>
          <p:nvPr/>
        </p:nvSpPr>
        <p:spPr>
          <a:xfrm>
            <a:off x="4572000" y="640080"/>
            <a:ext cx="7132320" cy="1280160"/>
          </a:xfrm>
          <a:prstGeom prst="rect">
            <a:avLst/>
          </a:prstGeom>
          <a:noFill/>
          <a:ln/>
        </p:spPr>
        <p:txBody>
          <a:bodyPr wrap="square" lIns="0" tIns="0" rIns="0" bIns="0" rtlCol="0" anchor="t"/>
          <a:lstStyle/>
          <a:p>
            <a:pPr marL="0" indent="0" algn="r">
              <a:buNone/>
            </a:pPr>
            <a:r>
              <a:rPr lang="en-US" sz="4400" b="1" dirty="0">
                <a:solidFill>
                  <a:srgbClr val="FFFFFF"/>
                </a:solidFill>
                <a:latin typeface="Arial" pitchFamily="34" charset="0"/>
                <a:ea typeface="Arial" pitchFamily="34" charset="-122"/>
                <a:cs typeface="Arial" pitchFamily="34" charset="-120"/>
              </a:rPr>
              <a:t>Por que Contêineres?</a:t>
            </a:r>
            <a:endParaRPr lang="en-US" sz="4400" dirty="0"/>
          </a:p>
        </p:txBody>
      </p:sp>
      <p:sp>
        <p:nvSpPr>
          <p:cNvPr id="5" name="Shape 2"/>
          <p:cNvSpPr/>
          <p:nvPr/>
        </p:nvSpPr>
        <p:spPr>
          <a:xfrm>
            <a:off x="493776" y="905256"/>
            <a:ext cx="2761488" cy="1527048"/>
          </a:xfrm>
          <a:prstGeom prst="rect">
            <a:avLst/>
          </a:prstGeom>
          <a:solidFill>
            <a:srgbClr val="FFFFFF"/>
          </a:solidFill>
          <a:ln w="12700">
            <a:solidFill>
              <a:srgbClr val="FFFFFF"/>
            </a:solidFill>
            <a:prstDash val="solid"/>
          </a:ln>
          <a:effectLst>
            <a:outerShdw blurRad="76200" dist="25400" dir="5400000" algn="bl" rotWithShape="0">
              <a:srgbClr val="1A2A38">
                <a:alpha val="40000"/>
              </a:srgbClr>
            </a:outerShdw>
          </a:effectLst>
        </p:spPr>
      </p:sp>
      <p:pic>
        <p:nvPicPr>
          <p:cNvPr id="6" name="Image 1" descr="assets/granel_solido.png"/>
          <p:cNvPicPr>
            <a:picLocks noChangeAspect="1"/>
          </p:cNvPicPr>
          <p:nvPr/>
        </p:nvPicPr>
        <p:blipFill>
          <a:blip r:embed="rId4"/>
          <a:stretch>
            <a:fillRect/>
          </a:stretch>
        </p:blipFill>
        <p:spPr>
          <a:xfrm>
            <a:off x="698446" y="960120"/>
            <a:ext cx="2352148" cy="1417320"/>
          </a:xfrm>
          <a:prstGeom prst="rect">
            <a:avLst/>
          </a:prstGeom>
        </p:spPr>
      </p:pic>
      <p:sp>
        <p:nvSpPr>
          <p:cNvPr id="7" name="Text 3"/>
          <p:cNvSpPr txBox="1"/>
          <p:nvPr/>
        </p:nvSpPr>
        <p:spPr>
          <a:xfrm>
            <a:off x="365760" y="2450592"/>
            <a:ext cx="301752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Granel sólido</a:t>
            </a:r>
            <a:endParaRPr lang="en-US" sz="1200" dirty="0"/>
          </a:p>
        </p:txBody>
      </p:sp>
      <p:sp>
        <p:nvSpPr>
          <p:cNvPr id="8" name="Shape 4"/>
          <p:cNvSpPr/>
          <p:nvPr/>
        </p:nvSpPr>
        <p:spPr>
          <a:xfrm>
            <a:off x="493776" y="2825496"/>
            <a:ext cx="2761488" cy="1527048"/>
          </a:xfrm>
          <a:prstGeom prst="rect">
            <a:avLst/>
          </a:prstGeom>
          <a:solidFill>
            <a:srgbClr val="FFFFFF"/>
          </a:solidFill>
          <a:ln w="12700">
            <a:solidFill>
              <a:srgbClr val="FFFFFF"/>
            </a:solidFill>
            <a:prstDash val="solid"/>
          </a:ln>
          <a:effectLst>
            <a:outerShdw blurRad="76200" dist="25400" dir="5400000" algn="bl" rotWithShape="0">
              <a:srgbClr val="1A2A38">
                <a:alpha val="40000"/>
              </a:srgbClr>
            </a:outerShdw>
          </a:effectLst>
        </p:spPr>
      </p:sp>
      <p:pic>
        <p:nvPicPr>
          <p:cNvPr id="9" name="Image 2" descr="assets/granel_liquido_gasoso.png"/>
          <p:cNvPicPr>
            <a:picLocks noChangeAspect="1"/>
          </p:cNvPicPr>
          <p:nvPr/>
        </p:nvPicPr>
        <p:blipFill>
          <a:blip r:embed="rId5"/>
          <a:stretch>
            <a:fillRect/>
          </a:stretch>
        </p:blipFill>
        <p:spPr>
          <a:xfrm>
            <a:off x="607979" y="2880360"/>
            <a:ext cx="2533083" cy="1417320"/>
          </a:xfrm>
          <a:prstGeom prst="rect">
            <a:avLst/>
          </a:prstGeom>
        </p:spPr>
      </p:pic>
      <p:sp>
        <p:nvSpPr>
          <p:cNvPr id="10" name="Text 5"/>
          <p:cNvSpPr txBox="1"/>
          <p:nvPr/>
        </p:nvSpPr>
        <p:spPr>
          <a:xfrm>
            <a:off x="365760" y="4370832"/>
            <a:ext cx="301752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Granel líquido / gasoso</a:t>
            </a:r>
            <a:endParaRPr lang="en-US" sz="1200" dirty="0"/>
          </a:p>
        </p:txBody>
      </p:sp>
      <p:sp>
        <p:nvSpPr>
          <p:cNvPr id="11" name="Shape 6"/>
          <p:cNvSpPr/>
          <p:nvPr/>
        </p:nvSpPr>
        <p:spPr>
          <a:xfrm>
            <a:off x="493776" y="4745736"/>
            <a:ext cx="2761488" cy="1527048"/>
          </a:xfrm>
          <a:prstGeom prst="rect">
            <a:avLst/>
          </a:prstGeom>
          <a:solidFill>
            <a:srgbClr val="FFFFFF"/>
          </a:solidFill>
          <a:ln w="12700">
            <a:solidFill>
              <a:srgbClr val="FFFFFF"/>
            </a:solidFill>
            <a:prstDash val="solid"/>
          </a:ln>
          <a:effectLst>
            <a:outerShdw blurRad="76200" dist="25400" dir="5400000" algn="bl" rotWithShape="0">
              <a:srgbClr val="1A2A38">
                <a:alpha val="40000"/>
              </a:srgbClr>
            </a:outerShdw>
          </a:effectLst>
        </p:spPr>
      </p:sp>
      <p:pic>
        <p:nvPicPr>
          <p:cNvPr id="12" name="Image 3" descr="assets/carga_geral.png"/>
          <p:cNvPicPr>
            <a:picLocks noChangeAspect="1"/>
          </p:cNvPicPr>
          <p:nvPr/>
        </p:nvPicPr>
        <p:blipFill>
          <a:blip r:embed="rId6"/>
          <a:stretch>
            <a:fillRect/>
          </a:stretch>
        </p:blipFill>
        <p:spPr>
          <a:xfrm>
            <a:off x="548640" y="4993640"/>
            <a:ext cx="2651760" cy="1031240"/>
          </a:xfrm>
          <a:prstGeom prst="rect">
            <a:avLst/>
          </a:prstGeom>
        </p:spPr>
      </p:pic>
      <p:sp>
        <p:nvSpPr>
          <p:cNvPr id="13" name="Text 7"/>
          <p:cNvSpPr txBox="1"/>
          <p:nvPr/>
        </p:nvSpPr>
        <p:spPr>
          <a:xfrm>
            <a:off x="365760" y="6291072"/>
            <a:ext cx="301752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Carga geral</a:t>
            </a:r>
            <a:endParaRPr lang="en-US" sz="1200" dirty="0"/>
          </a:p>
        </p:txBody>
      </p:sp>
      <p:sp>
        <p:nvSpPr>
          <p:cNvPr id="14" name="Shape 8"/>
          <p:cNvSpPr/>
          <p:nvPr/>
        </p:nvSpPr>
        <p:spPr>
          <a:xfrm>
            <a:off x="6053328" y="2075688"/>
            <a:ext cx="5632704" cy="3941064"/>
          </a:xfrm>
          <a:prstGeom prst="rect">
            <a:avLst/>
          </a:prstGeom>
          <a:solidFill>
            <a:srgbClr val="FFFFFF"/>
          </a:solidFill>
          <a:ln w="12700">
            <a:solidFill>
              <a:srgbClr val="FFFFFF"/>
            </a:solidFill>
            <a:prstDash val="solid"/>
          </a:ln>
          <a:effectLst>
            <a:outerShdw blurRad="127000" dist="38100" dir="5400000" algn="bl" rotWithShape="0">
              <a:srgbClr val="1A2A38">
                <a:alpha val="50000"/>
              </a:srgbClr>
            </a:outerShdw>
          </a:effectLst>
        </p:spPr>
      </p:sp>
      <p:pic>
        <p:nvPicPr>
          <p:cNvPr id="15" name="Image 4" descr="assets/conteineres_destaque.png"/>
          <p:cNvPicPr>
            <a:picLocks noChangeAspect="1"/>
          </p:cNvPicPr>
          <p:nvPr/>
        </p:nvPicPr>
        <p:blipFill>
          <a:blip r:embed="rId7"/>
          <a:stretch>
            <a:fillRect/>
          </a:stretch>
        </p:blipFill>
        <p:spPr>
          <a:xfrm>
            <a:off x="6126480" y="2218073"/>
            <a:ext cx="5486400" cy="3656294"/>
          </a:xfrm>
          <a:prstGeom prst="rect">
            <a:avLst/>
          </a:prstGeom>
        </p:spPr>
      </p:pic>
      <p:sp>
        <p:nvSpPr>
          <p:cNvPr id="16" name="Text 9"/>
          <p:cNvSpPr txBox="1"/>
          <p:nvPr/>
        </p:nvSpPr>
        <p:spPr>
          <a:xfrm>
            <a:off x="6126480" y="5998464"/>
            <a:ext cx="5486400" cy="320040"/>
          </a:xfrm>
          <a:prstGeom prst="rect">
            <a:avLst/>
          </a:prstGeom>
          <a:noFill/>
          <a:ln/>
        </p:spPr>
        <p:txBody>
          <a:bodyPr wrap="square" lIns="0" tIns="0" rIns="0" bIns="0" rtlCol="0" anchor="t"/>
          <a:lstStyle/>
          <a:p>
            <a:pPr marL="0" indent="0" algn="ctr">
              <a:buNone/>
            </a:pPr>
            <a:r>
              <a:rPr lang="en-US" sz="1500" b="1" dirty="0">
                <a:solidFill>
                  <a:srgbClr val="FFFFFF"/>
                </a:solidFill>
                <a:latin typeface="Arial" pitchFamily="34" charset="0"/>
                <a:ea typeface="Arial" pitchFamily="34" charset="-122"/>
                <a:cs typeface="Arial" pitchFamily="34" charset="-120"/>
              </a:rPr>
              <a:t>Contêineres</a:t>
            </a:r>
            <a:endParaRPr lang="en-US" sz="1500" dirty="0"/>
          </a:p>
        </p:txBody>
      </p:sp>
      <p:sp>
        <p:nvSpPr>
          <p:cNvPr id="17" name="Text 10"/>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Fontes: splash247.com · nautilusshipping.com · basenton.com · ship-technology.com · magnific.com</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assets/slide3_ponte_comando_poente.png"/>
          <p:cNvPicPr>
            <a:picLocks noChangeAspect="1"/>
          </p:cNvPicPr>
          <p:nvPr/>
        </p:nvPicPr>
        <p:blipFill>
          <a:blip r:embed="rId3"/>
          <a:srcRect/>
          <a:stretch/>
        </p:blipFill>
        <p:spPr>
          <a:xfrm>
            <a:off x="6309360" y="0"/>
            <a:ext cx="5882335" cy="6858000"/>
          </a:xfrm>
          <a:prstGeom prst="rect">
            <a:avLst/>
          </a:prstGeom>
        </p:spPr>
      </p:pic>
      <p:sp>
        <p:nvSpPr>
          <p:cNvPr id="4" name="Text 1"/>
          <p:cNvSpPr txBox="1"/>
          <p:nvPr/>
        </p:nvSpPr>
        <p:spPr>
          <a:xfrm>
            <a:off x="609600" y="1335458"/>
            <a:ext cx="5486400" cy="1005840"/>
          </a:xfrm>
          <a:prstGeom prst="rect">
            <a:avLst/>
          </a:prstGeom>
          <a:noFill/>
          <a:ln/>
        </p:spPr>
        <p:txBody>
          <a:bodyPr wrap="square" lIns="0" tIns="0" rIns="0" bIns="0" rtlCol="0" anchor="ctr"/>
          <a:lstStyle/>
          <a:p>
            <a:pPr marL="0" indent="0" algn="l">
              <a:buNone/>
            </a:pPr>
            <a:r>
              <a:rPr lang="en-US" sz="4600" b="1" dirty="0">
                <a:solidFill>
                  <a:srgbClr val="31485D"/>
                </a:solidFill>
                <a:latin typeface="Arial" pitchFamily="34" charset="0"/>
                <a:ea typeface="Arial" pitchFamily="34" charset="-122"/>
                <a:cs typeface="Arial" pitchFamily="34" charset="-120"/>
              </a:rPr>
              <a:t>Rumo</a:t>
            </a:r>
            <a:endParaRPr lang="en-US" sz="4600" dirty="0"/>
          </a:p>
        </p:txBody>
      </p:sp>
      <p:sp>
        <p:nvSpPr>
          <p:cNvPr id="5" name="Text 2"/>
          <p:cNvSpPr txBox="1"/>
          <p:nvPr/>
        </p:nvSpPr>
        <p:spPr>
          <a:xfrm>
            <a:off x="640080" y="219890"/>
            <a:ext cx="5486400" cy="914400"/>
          </a:xfrm>
          <a:prstGeom prst="rect">
            <a:avLst/>
          </a:prstGeom>
          <a:noFill/>
          <a:ln/>
        </p:spPr>
        <p:txBody>
          <a:bodyPr wrap="square" lIns="0" tIns="0" rIns="0" bIns="0" rtlCol="0" anchor="t"/>
          <a:lstStyle/>
          <a:p>
            <a:pPr marL="0" indent="0" algn="l">
              <a:lnSpc>
                <a:spcPct val="115000"/>
              </a:lnSpc>
              <a:buNone/>
            </a:pPr>
            <a:r>
              <a:rPr lang="en-US" sz="1500" b="1" dirty="0">
                <a:solidFill>
                  <a:srgbClr val="31485D"/>
                </a:solidFill>
                <a:latin typeface="Arial" pitchFamily="34" charset="0"/>
                <a:ea typeface="Arial" pitchFamily="34" charset="-122"/>
                <a:cs typeface="Arial" pitchFamily="34" charset="-120"/>
              </a:rPr>
              <a:t>GEF Contêineres: um panorama</a:t>
            </a:r>
            <a:endParaRPr lang="en-US" sz="1500" dirty="0"/>
          </a:p>
          <a:p>
            <a:pPr marL="0" indent="0" algn="l">
              <a:lnSpc>
                <a:spcPct val="115000"/>
              </a:lnSpc>
              <a:buNone/>
            </a:pPr>
            <a:r>
              <a:rPr lang="en-US" sz="1200" dirty="0">
                <a:solidFill>
                  <a:srgbClr val="72BAE3"/>
                </a:solidFill>
                <a:latin typeface="Arial" pitchFamily="34" charset="0"/>
                <a:ea typeface="Arial" pitchFamily="34" charset="-122"/>
                <a:cs typeface="Arial" pitchFamily="34" charset="-120"/>
              </a:rPr>
              <a:t>Principais atividades e autocomposição</a:t>
            </a:r>
            <a:endParaRPr lang="en-US" sz="1500" dirty="0"/>
          </a:p>
          <a:p>
            <a:pPr marL="0" indent="0" algn="l">
              <a:lnSpc>
                <a:spcPct val="115000"/>
              </a:lnSpc>
              <a:buNone/>
            </a:pPr>
            <a:endParaRPr lang="en-US" sz="1500" dirty="0"/>
          </a:p>
          <a:p>
            <a:pPr marL="0" indent="0" algn="l">
              <a:lnSpc>
                <a:spcPct val="115000"/>
              </a:lnSpc>
              <a:buNone/>
            </a:pPr>
            <a:r>
              <a:rPr lang="en-US" sz="1200" i="1" dirty="0">
                <a:solidFill>
                  <a:srgbClr val="3A4750"/>
                </a:solidFill>
                <a:latin typeface="Arial" pitchFamily="34" charset="0"/>
                <a:ea typeface="Arial" pitchFamily="34" charset="-122"/>
                <a:cs typeface="Arial" pitchFamily="34" charset="-120"/>
              </a:rPr>
              <a:t>Módulo 4: Grupos Especializados de Fiscalização (GEFs)</a:t>
            </a:r>
            <a:endParaRPr lang="en-US" sz="1500" dirty="0"/>
          </a:p>
        </p:txBody>
      </p:sp>
      <p:sp>
        <p:nvSpPr>
          <p:cNvPr id="6" name="Shape 3"/>
          <p:cNvSpPr/>
          <p:nvPr/>
        </p:nvSpPr>
        <p:spPr>
          <a:xfrm>
            <a:off x="640080" y="2697480"/>
            <a:ext cx="457200" cy="457200"/>
          </a:xfrm>
          <a:prstGeom prst="ellipse">
            <a:avLst/>
          </a:prstGeom>
          <a:solidFill>
            <a:srgbClr val="72BAE3"/>
          </a:solidFill>
          <a:ln/>
        </p:spPr>
      </p:sp>
      <p:sp>
        <p:nvSpPr>
          <p:cNvPr id="7" name="Text 4"/>
          <p:cNvSpPr txBox="1"/>
          <p:nvPr/>
        </p:nvSpPr>
        <p:spPr>
          <a:xfrm>
            <a:off x="640080" y="2697480"/>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234440" y="2651760"/>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O GEF Contêineres</a:t>
            </a:r>
            <a:endParaRPr lang="en-US" sz="1400" dirty="0"/>
          </a:p>
        </p:txBody>
      </p:sp>
      <p:sp>
        <p:nvSpPr>
          <p:cNvPr id="9" name="Shape 6"/>
          <p:cNvSpPr/>
          <p:nvPr/>
        </p:nvSpPr>
        <p:spPr>
          <a:xfrm>
            <a:off x="640080" y="3355848"/>
            <a:ext cx="457200" cy="457200"/>
          </a:xfrm>
          <a:prstGeom prst="ellipse">
            <a:avLst/>
          </a:prstGeom>
          <a:solidFill>
            <a:srgbClr val="72BAE3"/>
          </a:solidFill>
          <a:ln/>
        </p:spPr>
      </p:sp>
      <p:sp>
        <p:nvSpPr>
          <p:cNvPr id="10" name="Text 7"/>
          <p:cNvSpPr txBox="1"/>
          <p:nvPr/>
        </p:nvSpPr>
        <p:spPr>
          <a:xfrm>
            <a:off x="640080" y="3355848"/>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234440" y="3310128"/>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Contêiner: das particularidades ao problema</a:t>
            </a:r>
            <a:endParaRPr lang="en-US" sz="1400" dirty="0"/>
          </a:p>
        </p:txBody>
      </p:sp>
      <p:sp>
        <p:nvSpPr>
          <p:cNvPr id="12" name="Shape 9"/>
          <p:cNvSpPr/>
          <p:nvPr/>
        </p:nvSpPr>
        <p:spPr>
          <a:xfrm>
            <a:off x="640080" y="4014216"/>
            <a:ext cx="457200" cy="457200"/>
          </a:xfrm>
          <a:prstGeom prst="ellipse">
            <a:avLst/>
          </a:prstGeom>
          <a:solidFill>
            <a:srgbClr val="72BAE3"/>
          </a:solidFill>
          <a:ln/>
        </p:spPr>
      </p:sp>
      <p:sp>
        <p:nvSpPr>
          <p:cNvPr id="13" name="Text 10"/>
          <p:cNvSpPr txBox="1"/>
          <p:nvPr/>
        </p:nvSpPr>
        <p:spPr>
          <a:xfrm>
            <a:off x="640080" y="4014216"/>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234440" y="3968496"/>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A Ordem de Serviço nº 8 e as fiscalizações iniciais</a:t>
            </a:r>
            <a:endParaRPr lang="en-US" sz="1400" dirty="0"/>
          </a:p>
        </p:txBody>
      </p:sp>
      <p:sp>
        <p:nvSpPr>
          <p:cNvPr id="15" name="Shape 12"/>
          <p:cNvSpPr/>
          <p:nvPr/>
        </p:nvSpPr>
        <p:spPr>
          <a:xfrm>
            <a:off x="640080" y="4672584"/>
            <a:ext cx="457200" cy="457200"/>
          </a:xfrm>
          <a:prstGeom prst="ellipse">
            <a:avLst/>
          </a:prstGeom>
          <a:solidFill>
            <a:srgbClr val="72BAE3"/>
          </a:solidFill>
          <a:ln/>
        </p:spPr>
      </p:sp>
      <p:sp>
        <p:nvSpPr>
          <p:cNvPr id="16" name="Text 13"/>
          <p:cNvSpPr txBox="1"/>
          <p:nvPr/>
        </p:nvSpPr>
        <p:spPr>
          <a:xfrm>
            <a:off x="640080" y="4672584"/>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234440" y="4626864"/>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O Acórdão nº 521 e as audiências de conciliação</a:t>
            </a:r>
            <a:endParaRPr lang="en-US" sz="1400" dirty="0"/>
          </a:p>
        </p:txBody>
      </p:sp>
      <p:sp>
        <p:nvSpPr>
          <p:cNvPr id="18" name="Shape 15"/>
          <p:cNvSpPr/>
          <p:nvPr/>
        </p:nvSpPr>
        <p:spPr>
          <a:xfrm>
            <a:off x="640080" y="5330952"/>
            <a:ext cx="457200" cy="457200"/>
          </a:xfrm>
          <a:prstGeom prst="ellipse">
            <a:avLst/>
          </a:prstGeom>
          <a:solidFill>
            <a:srgbClr val="72BAE3"/>
          </a:solidFill>
          <a:ln/>
        </p:spPr>
      </p:sp>
      <p:sp>
        <p:nvSpPr>
          <p:cNvPr id="19" name="Text 16"/>
          <p:cNvSpPr txBox="1"/>
          <p:nvPr/>
        </p:nvSpPr>
        <p:spPr>
          <a:xfrm>
            <a:off x="640080" y="5330952"/>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5</a:t>
            </a:r>
            <a:endParaRPr lang="en-US" sz="1500" dirty="0"/>
          </a:p>
        </p:txBody>
      </p:sp>
      <p:sp>
        <p:nvSpPr>
          <p:cNvPr id="20" name="Text 17"/>
          <p:cNvSpPr txBox="1"/>
          <p:nvPr/>
        </p:nvSpPr>
        <p:spPr>
          <a:xfrm>
            <a:off x="1234440" y="5285232"/>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O Acórdão nº 72 e a autocomposição</a:t>
            </a:r>
            <a:endParaRPr lang="en-US" sz="1400" dirty="0"/>
          </a:p>
        </p:txBody>
      </p:sp>
      <p:sp>
        <p:nvSpPr>
          <p:cNvPr id="21" name="Shape 18"/>
          <p:cNvSpPr/>
          <p:nvPr/>
        </p:nvSpPr>
        <p:spPr>
          <a:xfrm>
            <a:off x="640080" y="5989320"/>
            <a:ext cx="457200" cy="457200"/>
          </a:xfrm>
          <a:prstGeom prst="ellipse">
            <a:avLst/>
          </a:prstGeom>
          <a:solidFill>
            <a:srgbClr val="72BAE3"/>
          </a:solidFill>
          <a:ln/>
        </p:spPr>
      </p:sp>
      <p:sp>
        <p:nvSpPr>
          <p:cNvPr id="22" name="Text 19"/>
          <p:cNvSpPr txBox="1"/>
          <p:nvPr/>
        </p:nvSpPr>
        <p:spPr>
          <a:xfrm>
            <a:off x="640080" y="5989320"/>
            <a:ext cx="457200" cy="45720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6</a:t>
            </a:r>
            <a:endParaRPr lang="en-US" sz="1500" dirty="0"/>
          </a:p>
        </p:txBody>
      </p:sp>
      <p:sp>
        <p:nvSpPr>
          <p:cNvPr id="23" name="Text 20"/>
          <p:cNvSpPr txBox="1"/>
          <p:nvPr/>
        </p:nvSpPr>
        <p:spPr>
          <a:xfrm>
            <a:off x="1234440" y="5943600"/>
            <a:ext cx="4937760" cy="548640"/>
          </a:xfrm>
          <a:prstGeom prst="rect">
            <a:avLst/>
          </a:prstGeom>
          <a:noFill/>
          <a:ln/>
        </p:spPr>
        <p:txBody>
          <a:bodyPr wrap="square" lIns="0" tIns="0" rIns="0" bIns="0" rtlCol="0" anchor="ctr"/>
          <a:lstStyle/>
          <a:p>
            <a:pPr marL="0" indent="0" algn="l">
              <a:buNone/>
            </a:pPr>
            <a:r>
              <a:rPr lang="en-US" sz="1400" dirty="0">
                <a:solidFill>
                  <a:srgbClr val="31485D"/>
                </a:solidFill>
                <a:latin typeface="Arial" pitchFamily="34" charset="0"/>
                <a:ea typeface="Arial" pitchFamily="34" charset="-122"/>
                <a:cs typeface="Arial" pitchFamily="34" charset="-120"/>
              </a:rPr>
              <a:t>Considerações finais</a:t>
            </a:r>
            <a:endParaRPr lang="en-US" sz="1400" dirty="0"/>
          </a:p>
        </p:txBody>
      </p:sp>
      <p:sp>
        <p:nvSpPr>
          <p:cNvPr id="24" name="Text 21"/>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Foto: grupo de navegação (Facebook)</a:t>
            </a:r>
            <a:endParaRPr lang="en-US" sz="700" dirty="0"/>
          </a:p>
        </p:txBody>
      </p:sp>
      <p:sp>
        <p:nvSpPr>
          <p:cNvPr id="25" name="Text 22"/>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marL="0" indent="0" algn="l">
              <a:buNone/>
            </a:pPr>
            <a:r>
              <a:rPr lang="en-US" sz="3000" b="1" dirty="0">
                <a:solidFill>
                  <a:srgbClr val="31485D"/>
                </a:solidFill>
                <a:latin typeface="Arial" pitchFamily="34" charset="0"/>
                <a:ea typeface="Arial" pitchFamily="34" charset="-122"/>
                <a:cs typeface="Arial" pitchFamily="34" charset="-120"/>
              </a:rPr>
              <a:t>O GEF Contêineres</a:t>
            </a:r>
            <a:endParaRPr lang="en-US" sz="30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marL="0" indent="0" algn="l">
              <a:buNone/>
            </a:pPr>
            <a:r>
              <a:rPr lang="en-US" sz="1600" dirty="0">
                <a:solidFill>
                  <a:srgbClr val="72BAE3"/>
                </a:solidFill>
                <a:latin typeface="Arial" pitchFamily="34" charset="0"/>
                <a:ea typeface="Arial" pitchFamily="34" charset="-122"/>
                <a:cs typeface="Arial" pitchFamily="34" charset="-120"/>
              </a:rPr>
              <a:t>Grupo Especializado de Fiscalização de Contêineres — GEF Contêineres/GCOR/SFC</a:t>
            </a:r>
            <a:endParaRPr lang="en-US" sz="1600" dirty="0"/>
          </a:p>
        </p:txBody>
      </p:sp>
      <p:pic>
        <p:nvPicPr>
          <p:cNvPr id="4" name="Image 0" descr="assets_proc/logo_antaq_transp.png"/>
          <p:cNvPicPr>
            <a:picLocks noChangeAspect="1"/>
          </p:cNvPicPr>
          <p:nvPr/>
        </p:nvPicPr>
        <p:blipFill>
          <a:blip r:embed="rId3"/>
          <a:stretch>
            <a:fillRect/>
          </a:stretch>
        </p:blipFill>
        <p:spPr>
          <a:xfrm>
            <a:off x="10182717" y="365760"/>
            <a:ext cx="1397285" cy="777240"/>
          </a:xfrm>
          <a:prstGeom prst="rect">
            <a:avLst/>
          </a:prstGeom>
        </p:spPr>
      </p:pic>
      <p:sp>
        <p:nvSpPr>
          <p:cNvPr id="5" name="Shape 2"/>
          <p:cNvSpPr/>
          <p:nvPr/>
        </p:nvSpPr>
        <p:spPr>
          <a:xfrm>
            <a:off x="640080" y="1920240"/>
            <a:ext cx="10058400" cy="960120"/>
          </a:xfrm>
          <a:prstGeom prst="roundRect">
            <a:avLst>
              <a:gd name="adj" fmla="val 7619"/>
            </a:avLst>
          </a:prstGeom>
          <a:solidFill>
            <a:srgbClr val="EEF3F6"/>
          </a:solidFill>
          <a:ln w="12700">
            <a:solidFill>
              <a:srgbClr val="72BAE3"/>
            </a:solidFill>
            <a:prstDash val="solid"/>
          </a:ln>
        </p:spPr>
      </p:sp>
      <p:sp>
        <p:nvSpPr>
          <p:cNvPr id="6" name="Shape 3"/>
          <p:cNvSpPr/>
          <p:nvPr/>
        </p:nvSpPr>
        <p:spPr>
          <a:xfrm>
            <a:off x="640080" y="1920240"/>
            <a:ext cx="109728" cy="960120"/>
          </a:xfrm>
          <a:prstGeom prst="rect">
            <a:avLst/>
          </a:prstGeom>
          <a:solidFill>
            <a:srgbClr val="31485D"/>
          </a:solidFill>
          <a:ln/>
        </p:spPr>
      </p:sp>
      <p:sp>
        <p:nvSpPr>
          <p:cNvPr id="7" name="Text 4"/>
          <p:cNvSpPr txBox="1"/>
          <p:nvPr/>
        </p:nvSpPr>
        <p:spPr>
          <a:xfrm>
            <a:off x="960120" y="1920240"/>
            <a:ext cx="9509760" cy="960120"/>
          </a:xfrm>
          <a:prstGeom prst="rect">
            <a:avLst/>
          </a:prstGeom>
          <a:noFill/>
          <a:ln/>
        </p:spPr>
        <p:txBody>
          <a:bodyPr wrap="square" lIns="0" tIns="0" rIns="0" bIns="0" rtlCol="0" anchor="ctr"/>
          <a:lstStyle/>
          <a:p>
            <a:pPr marL="0" indent="0" algn="l">
              <a:buNone/>
            </a:pPr>
            <a:r>
              <a:rPr lang="en-US" sz="1600" dirty="0">
                <a:solidFill>
                  <a:srgbClr val="31485D"/>
                </a:solidFill>
                <a:latin typeface="Arial" pitchFamily="34" charset="0"/>
                <a:ea typeface="Arial" pitchFamily="34" charset="-122"/>
                <a:cs typeface="Arial" pitchFamily="34" charset="-120"/>
              </a:rPr>
              <a:t>Criado pela Ordem de Serviço nº 8/2024-SFC (2436470), de dez./2024</a:t>
            </a:r>
            <a:endParaRPr lang="en-US" sz="1600" dirty="0"/>
          </a:p>
        </p:txBody>
      </p:sp>
      <p:sp>
        <p:nvSpPr>
          <p:cNvPr id="8" name="Shape 5"/>
          <p:cNvSpPr/>
          <p:nvPr/>
        </p:nvSpPr>
        <p:spPr>
          <a:xfrm>
            <a:off x="640080" y="3108960"/>
            <a:ext cx="10058400" cy="960120"/>
          </a:xfrm>
          <a:prstGeom prst="roundRect">
            <a:avLst>
              <a:gd name="adj" fmla="val 7619"/>
            </a:avLst>
          </a:prstGeom>
          <a:solidFill>
            <a:srgbClr val="EEF3F6"/>
          </a:solidFill>
          <a:ln w="12700">
            <a:solidFill>
              <a:srgbClr val="72BAE3"/>
            </a:solidFill>
            <a:prstDash val="solid"/>
          </a:ln>
        </p:spPr>
      </p:sp>
      <p:sp>
        <p:nvSpPr>
          <p:cNvPr id="9" name="Shape 6"/>
          <p:cNvSpPr/>
          <p:nvPr/>
        </p:nvSpPr>
        <p:spPr>
          <a:xfrm>
            <a:off x="640080" y="3108960"/>
            <a:ext cx="109728" cy="960120"/>
          </a:xfrm>
          <a:prstGeom prst="rect">
            <a:avLst/>
          </a:prstGeom>
          <a:solidFill>
            <a:srgbClr val="31485D"/>
          </a:solidFill>
          <a:ln/>
        </p:spPr>
      </p:sp>
      <p:sp>
        <p:nvSpPr>
          <p:cNvPr id="10" name="Text 7"/>
          <p:cNvSpPr txBox="1"/>
          <p:nvPr/>
        </p:nvSpPr>
        <p:spPr>
          <a:xfrm>
            <a:off x="960120" y="3108960"/>
            <a:ext cx="9509760" cy="960120"/>
          </a:xfrm>
          <a:prstGeom prst="rect">
            <a:avLst/>
          </a:prstGeom>
          <a:noFill/>
          <a:ln/>
        </p:spPr>
        <p:txBody>
          <a:bodyPr wrap="square" lIns="0" tIns="0" rIns="0" bIns="0" rtlCol="0" anchor="ctr"/>
          <a:lstStyle/>
          <a:p>
            <a:pPr marL="0" indent="0" algn="l">
              <a:buNone/>
            </a:pPr>
            <a:r>
              <a:rPr lang="en-US" sz="1600" i="1" dirty="0">
                <a:solidFill>
                  <a:srgbClr val="31485D"/>
                </a:solidFill>
                <a:latin typeface="Arial" pitchFamily="34" charset="0"/>
                <a:ea typeface="Arial" pitchFamily="34" charset="-122"/>
                <a:cs typeface="Arial" pitchFamily="34" charset="-120"/>
              </a:rPr>
              <a:t>Realizar as fiscalizações que tratem de assuntos relacionados à logística de contêineres</a:t>
            </a:r>
            <a:endParaRPr lang="en-US" sz="1600" dirty="0"/>
          </a:p>
        </p:txBody>
      </p:sp>
      <p:sp>
        <p:nvSpPr>
          <p:cNvPr id="11" name="Shape 8"/>
          <p:cNvSpPr/>
          <p:nvPr/>
        </p:nvSpPr>
        <p:spPr>
          <a:xfrm>
            <a:off x="640080" y="4297680"/>
            <a:ext cx="10058400" cy="960120"/>
          </a:xfrm>
          <a:prstGeom prst="roundRect">
            <a:avLst>
              <a:gd name="adj" fmla="val 7619"/>
            </a:avLst>
          </a:prstGeom>
          <a:solidFill>
            <a:srgbClr val="EEF3F6"/>
          </a:solidFill>
          <a:ln w="12700">
            <a:solidFill>
              <a:srgbClr val="72BAE3"/>
            </a:solidFill>
            <a:prstDash val="solid"/>
          </a:ln>
        </p:spPr>
      </p:sp>
      <p:sp>
        <p:nvSpPr>
          <p:cNvPr id="12" name="Shape 9"/>
          <p:cNvSpPr/>
          <p:nvPr/>
        </p:nvSpPr>
        <p:spPr>
          <a:xfrm>
            <a:off x="640080" y="4297680"/>
            <a:ext cx="109728" cy="960120"/>
          </a:xfrm>
          <a:prstGeom prst="rect">
            <a:avLst/>
          </a:prstGeom>
          <a:solidFill>
            <a:srgbClr val="31485D"/>
          </a:solidFill>
          <a:ln/>
        </p:spPr>
      </p:sp>
      <p:sp>
        <p:nvSpPr>
          <p:cNvPr id="13" name="Text 10"/>
          <p:cNvSpPr txBox="1"/>
          <p:nvPr/>
        </p:nvSpPr>
        <p:spPr>
          <a:xfrm>
            <a:off x="960120" y="4297680"/>
            <a:ext cx="9509760" cy="960120"/>
          </a:xfrm>
          <a:prstGeom prst="rect">
            <a:avLst/>
          </a:prstGeom>
          <a:noFill/>
          <a:ln/>
        </p:spPr>
        <p:txBody>
          <a:bodyPr wrap="square" lIns="0" tIns="0" rIns="0" bIns="0" rtlCol="0" anchor="ctr"/>
          <a:lstStyle/>
          <a:p>
            <a:pPr marL="0" indent="0" algn="l">
              <a:buNone/>
            </a:pPr>
            <a:r>
              <a:rPr lang="en-US" sz="1600" dirty="0">
                <a:solidFill>
                  <a:srgbClr val="31485D"/>
                </a:solidFill>
                <a:latin typeface="Arial" pitchFamily="34" charset="0"/>
                <a:ea typeface="Arial" pitchFamily="34" charset="-122"/>
                <a:cs typeface="Arial" pitchFamily="34" charset="-120"/>
              </a:rPr>
              <a:t>Força de trabalho de fiscais lotados em Regionais ou na Sede, carga horária total ou parcial</a:t>
            </a:r>
            <a:endParaRPr lang="en-US" sz="1600" dirty="0"/>
          </a:p>
        </p:txBody>
      </p:sp>
      <p:sp>
        <p:nvSpPr>
          <p:cNvPr id="14" name="Shape 11"/>
          <p:cNvSpPr/>
          <p:nvPr/>
        </p:nvSpPr>
        <p:spPr>
          <a:xfrm>
            <a:off x="640080" y="5486400"/>
            <a:ext cx="10058400" cy="960120"/>
          </a:xfrm>
          <a:prstGeom prst="roundRect">
            <a:avLst>
              <a:gd name="adj" fmla="val 7619"/>
            </a:avLst>
          </a:prstGeom>
          <a:solidFill>
            <a:srgbClr val="EEF3F6"/>
          </a:solidFill>
          <a:ln w="12700">
            <a:solidFill>
              <a:srgbClr val="72BAE3"/>
            </a:solidFill>
            <a:prstDash val="solid"/>
          </a:ln>
        </p:spPr>
      </p:sp>
      <p:sp>
        <p:nvSpPr>
          <p:cNvPr id="15" name="Shape 12"/>
          <p:cNvSpPr/>
          <p:nvPr/>
        </p:nvSpPr>
        <p:spPr>
          <a:xfrm>
            <a:off x="640080" y="5486400"/>
            <a:ext cx="109728" cy="960120"/>
          </a:xfrm>
          <a:prstGeom prst="rect">
            <a:avLst/>
          </a:prstGeom>
          <a:solidFill>
            <a:srgbClr val="31485D"/>
          </a:solidFill>
          <a:ln/>
        </p:spPr>
      </p:sp>
      <p:sp>
        <p:nvSpPr>
          <p:cNvPr id="16" name="Text 13"/>
          <p:cNvSpPr txBox="1"/>
          <p:nvPr/>
        </p:nvSpPr>
        <p:spPr>
          <a:xfrm>
            <a:off x="960120" y="5486400"/>
            <a:ext cx="9509760" cy="960120"/>
          </a:xfrm>
          <a:prstGeom prst="rect">
            <a:avLst/>
          </a:prstGeom>
          <a:noFill/>
          <a:ln/>
        </p:spPr>
        <p:txBody>
          <a:bodyPr wrap="square" lIns="0" tIns="0" rIns="0" bIns="0" rtlCol="0" anchor="ctr"/>
          <a:lstStyle/>
          <a:p>
            <a:pPr marL="0" indent="0" algn="l">
              <a:buNone/>
            </a:pPr>
            <a:r>
              <a:rPr lang="en-US" sz="1600" dirty="0">
                <a:solidFill>
                  <a:srgbClr val="31485D"/>
                </a:solidFill>
                <a:latin typeface="Arial" pitchFamily="34" charset="0"/>
                <a:ea typeface="Arial" pitchFamily="34" charset="-122"/>
                <a:cs typeface="Arial" pitchFamily="34" charset="-120"/>
              </a:rPr>
              <a:t>Sob coordenação da GCOR, com Liderança designada pela SFC</a:t>
            </a:r>
            <a:endParaRPr lang="en-US" sz="1600" dirty="0"/>
          </a:p>
        </p:txBody>
      </p:sp>
      <p:sp>
        <p:nvSpPr>
          <p:cNvPr id="17" name="Text 14"/>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marL="0" indent="0" algn="l">
              <a:buNone/>
            </a:pPr>
            <a:r>
              <a:rPr lang="en-US" sz="3000" b="1" dirty="0">
                <a:solidFill>
                  <a:srgbClr val="31485D"/>
                </a:solidFill>
                <a:latin typeface="Arial" pitchFamily="34" charset="0"/>
                <a:ea typeface="Arial" pitchFamily="34" charset="-122"/>
                <a:cs typeface="Arial" pitchFamily="34" charset="-120"/>
              </a:rPr>
              <a:t>Contêiner: das particularidades ao problema</a:t>
            </a:r>
            <a:endParaRPr lang="en-US" sz="3000" dirty="0"/>
          </a:p>
        </p:txBody>
      </p:sp>
      <p:sp>
        <p:nvSpPr>
          <p:cNvPr id="3" name="Text 1"/>
          <p:cNvSpPr txBox="1"/>
          <p:nvPr/>
        </p:nvSpPr>
        <p:spPr>
          <a:xfrm>
            <a:off x="640080" y="1078992"/>
            <a:ext cx="10972800" cy="411480"/>
          </a:xfrm>
          <a:prstGeom prst="rect">
            <a:avLst/>
          </a:prstGeom>
          <a:noFill/>
          <a:ln/>
        </p:spPr>
        <p:txBody>
          <a:bodyPr wrap="square" lIns="0" tIns="0" rIns="0" bIns="0" rtlCol="0" anchor="ctr"/>
          <a:lstStyle/>
          <a:p>
            <a:pPr marL="0" indent="0" algn="l">
              <a:buNone/>
            </a:pPr>
            <a:r>
              <a:rPr lang="en-US" sz="1600" dirty="0">
                <a:solidFill>
                  <a:srgbClr val="72BAE3"/>
                </a:solidFill>
                <a:latin typeface="Arial" pitchFamily="34" charset="0"/>
                <a:ea typeface="Arial" pitchFamily="34" charset="-122"/>
                <a:cs typeface="Arial" pitchFamily="34" charset="-120"/>
              </a:rPr>
              <a:t>Diferenças em relação aos demais perfis de carga</a:t>
            </a:r>
            <a:endParaRPr lang="en-US" sz="1600" dirty="0"/>
          </a:p>
        </p:txBody>
      </p:sp>
      <p:sp>
        <p:nvSpPr>
          <p:cNvPr id="4" name="Shape 2"/>
          <p:cNvSpPr/>
          <p:nvPr/>
        </p:nvSpPr>
        <p:spPr>
          <a:xfrm>
            <a:off x="640080" y="1828800"/>
            <a:ext cx="5349240" cy="4480560"/>
          </a:xfrm>
          <a:prstGeom prst="roundRect">
            <a:avLst>
              <a:gd name="adj" fmla="val 2041"/>
            </a:avLst>
          </a:prstGeom>
          <a:solidFill>
            <a:srgbClr val="FFFFFF"/>
          </a:solidFill>
          <a:ln w="15875">
            <a:solidFill>
              <a:srgbClr val="72BAE3"/>
            </a:solidFill>
            <a:prstDash val="solid"/>
          </a:ln>
          <a:effectLst>
            <a:outerShdw blurRad="63500" dist="25400" dir="5400000" algn="bl" rotWithShape="0">
              <a:srgbClr val="B8C6D0">
                <a:alpha val="50000"/>
              </a:srgbClr>
            </a:outerShdw>
          </a:effectLst>
        </p:spPr>
      </p:sp>
      <p:sp>
        <p:nvSpPr>
          <p:cNvPr id="5" name="Shape 3"/>
          <p:cNvSpPr/>
          <p:nvPr/>
        </p:nvSpPr>
        <p:spPr>
          <a:xfrm>
            <a:off x="640080" y="1828800"/>
            <a:ext cx="5349240" cy="1051560"/>
          </a:xfrm>
          <a:prstGeom prst="roundRect">
            <a:avLst>
              <a:gd name="adj" fmla="val 8696"/>
            </a:avLst>
          </a:prstGeom>
          <a:solidFill>
            <a:srgbClr val="31485D"/>
          </a:solidFill>
          <a:ln/>
        </p:spPr>
      </p:sp>
      <p:sp>
        <p:nvSpPr>
          <p:cNvPr id="6" name="Shape 4"/>
          <p:cNvSpPr/>
          <p:nvPr/>
        </p:nvSpPr>
        <p:spPr>
          <a:xfrm>
            <a:off x="640080" y="2331720"/>
            <a:ext cx="5349240" cy="548640"/>
          </a:xfrm>
          <a:prstGeom prst="rect">
            <a:avLst/>
          </a:prstGeom>
          <a:solidFill>
            <a:srgbClr val="31485D"/>
          </a:solidFill>
          <a:ln/>
        </p:spPr>
      </p:sp>
      <p:sp>
        <p:nvSpPr>
          <p:cNvPr id="7" name="Text 5"/>
          <p:cNvSpPr txBox="1"/>
          <p:nvPr/>
        </p:nvSpPr>
        <p:spPr>
          <a:xfrm>
            <a:off x="868680" y="1920240"/>
            <a:ext cx="4892040" cy="868680"/>
          </a:xfrm>
          <a:prstGeom prst="rect">
            <a:avLst/>
          </a:prstGeom>
          <a:noFill/>
          <a:ln/>
        </p:spPr>
        <p:txBody>
          <a:bodyPr wrap="square" lIns="0" tIns="0" rIns="0" bIns="0" rtlCol="0" anchor="ct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Nos outros perfis (navegação </a:t>
            </a:r>
            <a:r>
              <a:rPr lang="en-US" sz="1400" b="1" i="1" dirty="0">
                <a:solidFill>
                  <a:srgbClr val="FFFFFF"/>
                </a:solidFill>
                <a:latin typeface="Arial" pitchFamily="34" charset="0"/>
                <a:ea typeface="Arial" pitchFamily="34" charset="-122"/>
                <a:cs typeface="Arial" pitchFamily="34" charset="-120"/>
              </a:rPr>
              <a:t>tramp</a:t>
            </a:r>
            <a:r>
              <a:rPr lang="en-US" sz="1400" b="1" dirty="0">
                <a:solidFill>
                  <a:srgbClr val="FFFFFF"/>
                </a:solidFill>
                <a:latin typeface="Arial" pitchFamily="34" charset="0"/>
                <a:ea typeface="Arial" pitchFamily="34" charset="-122"/>
                <a:cs typeface="Arial" pitchFamily="34" charset="-120"/>
              </a:rPr>
              <a:t>), a carga gera a demanda pelo serviço</a:t>
            </a:r>
            <a:endParaRPr lang="en-US" sz="1400" dirty="0"/>
          </a:p>
        </p:txBody>
      </p:sp>
      <p:sp>
        <p:nvSpPr>
          <p:cNvPr id="8" name="Text 6"/>
          <p:cNvSpPr txBox="1"/>
          <p:nvPr/>
        </p:nvSpPr>
        <p:spPr>
          <a:xfrm>
            <a:off x="914400" y="3063240"/>
            <a:ext cx="4800600" cy="3063240"/>
          </a:xfrm>
          <a:prstGeom prst="rect">
            <a:avLst/>
          </a:prstGeom>
          <a:noFill/>
          <a:ln/>
        </p:spPr>
        <p:txBody>
          <a:bodyPr wrap="square" lIns="0" tIns="0" rIns="0" bIns="0" rtlCol="0" anchor="t"/>
          <a:lstStyle/>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Viagem individual, capacidade dedicada, grandes lotes (capacidade ≈ lote)</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O navio é mobilizado para determinado emprego, origem-destino únicos</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Contrato de transporte negociado bilateralmente, remuneração da operação de transporte</a:t>
            </a:r>
            <a:endParaRPr lang="en-US" sz="1400" dirty="0"/>
          </a:p>
        </p:txBody>
      </p:sp>
      <p:sp>
        <p:nvSpPr>
          <p:cNvPr id="9" name="Shape 7"/>
          <p:cNvSpPr/>
          <p:nvPr/>
        </p:nvSpPr>
        <p:spPr>
          <a:xfrm>
            <a:off x="6263640" y="1828800"/>
            <a:ext cx="5349240" cy="4480560"/>
          </a:xfrm>
          <a:prstGeom prst="roundRect">
            <a:avLst>
              <a:gd name="adj" fmla="val 2041"/>
            </a:avLst>
          </a:prstGeom>
          <a:solidFill>
            <a:srgbClr val="FFFFFF"/>
          </a:solidFill>
          <a:ln w="15875">
            <a:solidFill>
              <a:srgbClr val="72BAE3"/>
            </a:solidFill>
            <a:prstDash val="solid"/>
          </a:ln>
          <a:effectLst>
            <a:outerShdw blurRad="63500" dist="25400" dir="5400000" algn="bl" rotWithShape="0">
              <a:srgbClr val="B8C6D0">
                <a:alpha val="50000"/>
              </a:srgbClr>
            </a:outerShdw>
          </a:effectLst>
        </p:spPr>
      </p:sp>
      <p:sp>
        <p:nvSpPr>
          <p:cNvPr id="10" name="Shape 8"/>
          <p:cNvSpPr/>
          <p:nvPr/>
        </p:nvSpPr>
        <p:spPr>
          <a:xfrm>
            <a:off x="6263640" y="1828800"/>
            <a:ext cx="5349240" cy="1051560"/>
          </a:xfrm>
          <a:prstGeom prst="roundRect">
            <a:avLst>
              <a:gd name="adj" fmla="val 8696"/>
            </a:avLst>
          </a:prstGeom>
          <a:solidFill>
            <a:srgbClr val="31485D"/>
          </a:solidFill>
          <a:ln/>
        </p:spPr>
      </p:sp>
      <p:sp>
        <p:nvSpPr>
          <p:cNvPr id="11" name="Shape 9"/>
          <p:cNvSpPr/>
          <p:nvPr/>
        </p:nvSpPr>
        <p:spPr>
          <a:xfrm>
            <a:off x="6263640" y="2331720"/>
            <a:ext cx="5349240" cy="548640"/>
          </a:xfrm>
          <a:prstGeom prst="rect">
            <a:avLst/>
          </a:prstGeom>
          <a:solidFill>
            <a:srgbClr val="31485D"/>
          </a:solidFill>
          <a:ln/>
        </p:spPr>
      </p:sp>
      <p:sp>
        <p:nvSpPr>
          <p:cNvPr id="12" name="Text 10"/>
          <p:cNvSpPr txBox="1"/>
          <p:nvPr/>
        </p:nvSpPr>
        <p:spPr>
          <a:xfrm>
            <a:off x="6492240" y="1920240"/>
            <a:ext cx="4892040" cy="868680"/>
          </a:xfrm>
          <a:prstGeom prst="rect">
            <a:avLst/>
          </a:prstGeom>
          <a:noFill/>
          <a:ln/>
        </p:spPr>
        <p:txBody>
          <a:bodyPr wrap="square" lIns="0" tIns="0" rIns="0" bIns="0" rtlCol="0" anchor="ct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No segmento conteinerizado (navegação </a:t>
            </a:r>
            <a:r>
              <a:rPr lang="en-US" sz="1400" b="1" i="1" dirty="0">
                <a:solidFill>
                  <a:srgbClr val="FFFFFF"/>
                </a:solidFill>
                <a:latin typeface="Arial" pitchFamily="34" charset="0"/>
                <a:ea typeface="Arial" pitchFamily="34" charset="-122"/>
                <a:cs typeface="Arial" pitchFamily="34" charset="-120"/>
              </a:rPr>
              <a:t>liner</a:t>
            </a:r>
            <a:r>
              <a:rPr lang="en-US" sz="1400" b="1" dirty="0">
                <a:solidFill>
                  <a:srgbClr val="FFFFFF"/>
                </a:solidFill>
                <a:latin typeface="Arial" pitchFamily="34" charset="0"/>
                <a:ea typeface="Arial" pitchFamily="34" charset="-122"/>
                <a:cs typeface="Arial" pitchFamily="34" charset="-120"/>
              </a:rPr>
              <a:t>), a oferta de serviço já existe</a:t>
            </a:r>
            <a:endParaRPr lang="en-US" sz="1400" dirty="0"/>
          </a:p>
        </p:txBody>
      </p:sp>
      <p:sp>
        <p:nvSpPr>
          <p:cNvPr id="13" name="Text 11"/>
          <p:cNvSpPr txBox="1"/>
          <p:nvPr/>
        </p:nvSpPr>
        <p:spPr>
          <a:xfrm>
            <a:off x="6537960" y="3063240"/>
            <a:ext cx="4800600" cy="3063240"/>
          </a:xfrm>
          <a:prstGeom prst="rect">
            <a:avLst/>
          </a:prstGeom>
          <a:noFill/>
          <a:ln/>
        </p:spPr>
        <p:txBody>
          <a:bodyPr wrap="square" lIns="0" tIns="0" rIns="0" bIns="0" rtlCol="0" anchor="t"/>
          <a:lstStyle/>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Operação em cadeia/rede/sistema, multiplicidade de transportadores, intermediários e usuários</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Serviço recorrente, linhas estabelecidas</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Lotes menores, capacidade pulverizada</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Contratação "por adesão", preço por utilização da capacidade do navio</a:t>
            </a:r>
            <a:endParaRPr lang="en-US" sz="1400" dirty="0"/>
          </a:p>
        </p:txBody>
      </p:sp>
      <p:sp>
        <p:nvSpPr>
          <p:cNvPr id="14" name="Text 12"/>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Shape 2"/>
          <p:cNvSpPr/>
          <p:nvPr/>
        </p:nvSpPr>
        <p:spPr>
          <a:xfrm>
            <a:off x="832104" y="603504"/>
            <a:ext cx="5285232" cy="2816352"/>
          </a:xfrm>
          <a:prstGeom prst="rect">
            <a:avLst/>
          </a:prstGeom>
          <a:solidFill>
            <a:srgbClr val="EEF3F6"/>
          </a:solidFill>
          <a:ln w="12700">
            <a:solidFill>
              <a:srgbClr val="72BAE3"/>
            </a:solidFill>
            <a:prstDash val="solid"/>
          </a:ln>
        </p:spPr>
      </p:sp>
      <p:pic>
        <p:nvPicPr>
          <p:cNvPr id="5" name="Image 0" descr="assets/slide6_navio_graneleiro_vale.png"/>
          <p:cNvPicPr>
            <a:picLocks noChangeAspect="1"/>
          </p:cNvPicPr>
          <p:nvPr/>
        </p:nvPicPr>
        <p:blipFill>
          <a:blip r:embed="rId3"/>
          <a:stretch>
            <a:fillRect/>
          </a:stretch>
        </p:blipFill>
        <p:spPr>
          <a:xfrm>
            <a:off x="1030569" y="640080"/>
            <a:ext cx="4888302" cy="2743200"/>
          </a:xfrm>
          <a:prstGeom prst="rect">
            <a:avLst/>
          </a:prstGeom>
        </p:spPr>
      </p:pic>
      <p:sp>
        <p:nvSpPr>
          <p:cNvPr id="6" name="Text 3"/>
          <p:cNvSpPr txBox="1"/>
          <p:nvPr/>
        </p:nvSpPr>
        <p:spPr>
          <a:xfrm>
            <a:off x="960120" y="3611880"/>
            <a:ext cx="5029200" cy="2743200"/>
          </a:xfrm>
          <a:prstGeom prst="rect">
            <a:avLst/>
          </a:prstGeom>
          <a:noFill/>
          <a:ln/>
        </p:spPr>
        <p:txBody>
          <a:bodyPr wrap="square" lIns="0" tIns="0" rIns="0" bIns="0" rtlCol="0" anchor="t"/>
          <a:lstStyle/>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Lote único (porte bruto 400.000 tpb)</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Do Brasil para a Ásia, com retorno em lastro</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Sujeito à sazonalidade (agrícola)</a:t>
            </a:r>
            <a:endParaRPr lang="en-US" sz="1400" dirty="0"/>
          </a:p>
        </p:txBody>
      </p:sp>
      <p:sp>
        <p:nvSpPr>
          <p:cNvPr id="7" name="Shape 4"/>
          <p:cNvSpPr/>
          <p:nvPr/>
        </p:nvSpPr>
        <p:spPr>
          <a:xfrm>
            <a:off x="6318504" y="603504"/>
            <a:ext cx="5285232" cy="2816352"/>
          </a:xfrm>
          <a:prstGeom prst="rect">
            <a:avLst/>
          </a:prstGeom>
          <a:solidFill>
            <a:srgbClr val="EEF3F6"/>
          </a:solidFill>
          <a:ln w="12700">
            <a:solidFill>
              <a:srgbClr val="72BAE3"/>
            </a:solidFill>
            <a:prstDash val="solid"/>
          </a:ln>
        </p:spPr>
      </p:sp>
      <p:pic>
        <p:nvPicPr>
          <p:cNvPr id="8" name="Image 1" descr="assets/slide6_navio_conteineiro_one.png"/>
          <p:cNvPicPr>
            <a:picLocks noChangeAspect="1"/>
          </p:cNvPicPr>
          <p:nvPr/>
        </p:nvPicPr>
        <p:blipFill>
          <a:blip r:embed="rId4"/>
          <a:stretch>
            <a:fillRect/>
          </a:stretch>
        </p:blipFill>
        <p:spPr>
          <a:xfrm>
            <a:off x="6771122" y="640080"/>
            <a:ext cx="4379995" cy="2743200"/>
          </a:xfrm>
          <a:prstGeom prst="rect">
            <a:avLst/>
          </a:prstGeom>
        </p:spPr>
      </p:pic>
      <p:sp>
        <p:nvSpPr>
          <p:cNvPr id="9" name="Text 5"/>
          <p:cNvSpPr txBox="1"/>
          <p:nvPr/>
        </p:nvSpPr>
        <p:spPr>
          <a:xfrm>
            <a:off x="6446520" y="3611880"/>
            <a:ext cx="5029200" cy="2743200"/>
          </a:xfrm>
          <a:prstGeom prst="rect">
            <a:avLst/>
          </a:prstGeom>
          <a:noFill/>
          <a:ln/>
        </p:spPr>
        <p:txBody>
          <a:bodyPr wrap="square" lIns="0" tIns="0" rIns="0" bIns="0" rtlCol="0" anchor="t"/>
          <a:lstStyle/>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12.000 TEU de capacidade, mas o que importa mais é a capacidade do sistema</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Milhares de embarcadores e de conhecimentos de embarque</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Múltiplos e diferentes pares origem-destino</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Fluxo balanceado por sentido (expo./impo.) ou cheio/vazio</a:t>
            </a:r>
            <a:endParaRPr lang="en-US" sz="1400" dirty="0"/>
          </a:p>
          <a:p>
            <a:pPr marL="190500" indent="-190500" algn="l">
              <a:spcAft>
                <a:spcPts val="800"/>
              </a:spcAft>
              <a:buSzPct val="100000"/>
              <a:buChar char="•"/>
            </a:pPr>
            <a:r>
              <a:rPr lang="en-US" sz="1400" dirty="0">
                <a:solidFill>
                  <a:srgbClr val="3A4750"/>
                </a:solidFill>
                <a:latin typeface="Arial" pitchFamily="34" charset="0"/>
                <a:ea typeface="Arial" pitchFamily="34" charset="-122"/>
                <a:cs typeface="Arial" pitchFamily="34" charset="-120"/>
              </a:rPr>
              <a:t>Baixa sazonalidade (ciclos indústria/varejo)</a:t>
            </a:r>
            <a:endParaRPr lang="en-US" sz="1400" dirty="0"/>
          </a:p>
        </p:txBody>
      </p:sp>
      <p:sp>
        <p:nvSpPr>
          <p:cNvPr id="10" name="Text 6"/>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Fontes: vale.com · vesselfinder.com</a:t>
            </a:r>
            <a:endParaRPr lang="en-US" sz="700" dirty="0"/>
          </a:p>
        </p:txBody>
      </p:sp>
      <p:sp>
        <p:nvSpPr>
          <p:cNvPr id="11" name="Text 7"/>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Serviço liner</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Principais características e exemplos</a:t>
            </a:r>
            <a:endParaRPr lang="en-US" sz="1400" dirty="0"/>
          </a:p>
        </p:txBody>
      </p:sp>
      <p:sp>
        <p:nvSpPr>
          <p:cNvPr id="6" name="Shape 4"/>
          <p:cNvSpPr/>
          <p:nvPr/>
        </p:nvSpPr>
        <p:spPr>
          <a:xfrm>
            <a:off x="868680" y="365760"/>
            <a:ext cx="4114800" cy="548640"/>
          </a:xfrm>
          <a:prstGeom prst="rect">
            <a:avLst/>
          </a:prstGeom>
          <a:solidFill>
            <a:srgbClr val="FFFFFF"/>
          </a:solidFill>
          <a:ln/>
        </p:spPr>
      </p:sp>
      <p:sp>
        <p:nvSpPr>
          <p:cNvPr id="7" name="Text 5"/>
          <p:cNvSpPr txBox="1"/>
          <p:nvPr/>
        </p:nvSpPr>
        <p:spPr>
          <a:xfrm>
            <a:off x="868680" y="365760"/>
            <a:ext cx="548640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Serviço </a:t>
            </a:r>
            <a:r>
              <a:rPr lang="en-US" sz="2400" b="1" i="1" dirty="0">
                <a:solidFill>
                  <a:srgbClr val="31485D"/>
                </a:solidFill>
                <a:latin typeface="Arial" pitchFamily="34" charset="0"/>
                <a:ea typeface="Arial" pitchFamily="34" charset="-122"/>
                <a:cs typeface="Arial" pitchFamily="34" charset="-120"/>
              </a:rPr>
              <a:t>liner</a:t>
            </a:r>
            <a:endParaRPr lang="en-US" sz="2400" dirty="0"/>
          </a:p>
        </p:txBody>
      </p:sp>
      <p:sp>
        <p:nvSpPr>
          <p:cNvPr id="8" name="Text 6"/>
          <p:cNvSpPr txBox="1"/>
          <p:nvPr/>
        </p:nvSpPr>
        <p:spPr>
          <a:xfrm>
            <a:off x="1005840" y="1554480"/>
            <a:ext cx="10332720" cy="1828800"/>
          </a:xfrm>
          <a:prstGeom prst="rect">
            <a:avLst/>
          </a:prstGeom>
          <a:noFill/>
          <a:ln/>
        </p:spPr>
        <p:txBody>
          <a:bodyPr wrap="square" lIns="0" tIns="0" rIns="0" bIns="0" rtlCol="0" anchor="t"/>
          <a:lstStyle/>
          <a:p>
            <a:pPr marL="190500" indent="-190500" algn="l">
              <a:spcAft>
                <a:spcPts val="1200"/>
              </a:spcAft>
              <a:buSzPct val="100000"/>
              <a:buChar char="•"/>
            </a:pPr>
            <a:r>
              <a:rPr lang="en-US" sz="1700" dirty="0">
                <a:solidFill>
                  <a:srgbClr val="3A4750"/>
                </a:solidFill>
                <a:latin typeface="Arial" pitchFamily="34" charset="0"/>
                <a:ea typeface="Arial" pitchFamily="34" charset="-122"/>
                <a:cs typeface="Arial" pitchFamily="34" charset="-120"/>
              </a:rPr>
              <a:t>Rotação: frequência e sequência de portos escalados</a:t>
            </a:r>
            <a:endParaRPr lang="en-US" sz="1700" dirty="0"/>
          </a:p>
          <a:p>
            <a:pPr marL="190500" indent="-190500" algn="l">
              <a:spcAft>
                <a:spcPts val="1200"/>
              </a:spcAft>
              <a:buSzPct val="100000"/>
              <a:buChar char="•"/>
            </a:pPr>
            <a:r>
              <a:rPr lang="en-US" sz="1700" dirty="0">
                <a:solidFill>
                  <a:srgbClr val="3A4750"/>
                </a:solidFill>
                <a:latin typeface="Arial" pitchFamily="34" charset="0"/>
                <a:ea typeface="Arial" pitchFamily="34" charset="-122"/>
                <a:cs typeface="Arial" pitchFamily="34" charset="-120"/>
              </a:rPr>
              <a:t>Tempo em trânsito: conectividade e necessidade de transbordo</a:t>
            </a:r>
            <a:endParaRPr lang="en-US" sz="1700" dirty="0"/>
          </a:p>
          <a:p>
            <a:pPr marL="190500" indent="-190500" algn="l">
              <a:spcAft>
                <a:spcPts val="1200"/>
              </a:spcAft>
              <a:buSzPct val="100000"/>
              <a:buChar char="•"/>
            </a:pPr>
            <a:r>
              <a:rPr lang="en-US" sz="1700" dirty="0">
                <a:solidFill>
                  <a:srgbClr val="3A4750"/>
                </a:solidFill>
                <a:latin typeface="Arial" pitchFamily="34" charset="0"/>
                <a:ea typeface="Arial" pitchFamily="34" charset="-122"/>
                <a:cs typeface="Arial" pitchFamily="34" charset="-120"/>
              </a:rPr>
              <a:t>Capacidade do serviço em função dos navios e da frequência</a:t>
            </a:r>
            <a:endParaRPr lang="en-US" sz="1700" dirty="0"/>
          </a:p>
        </p:txBody>
      </p:sp>
      <p:sp>
        <p:nvSpPr>
          <p:cNvPr id="9" name="Shape 7"/>
          <p:cNvSpPr/>
          <p:nvPr/>
        </p:nvSpPr>
        <p:spPr>
          <a:xfrm>
            <a:off x="868680" y="3749040"/>
            <a:ext cx="10469880" cy="2377440"/>
          </a:xfrm>
          <a:prstGeom prst="roundRect">
            <a:avLst>
              <a:gd name="adj" fmla="val 3846"/>
            </a:avLst>
          </a:prstGeom>
          <a:solidFill>
            <a:srgbClr val="EEF3F6"/>
          </a:solidFill>
          <a:ln w="15875">
            <a:solidFill>
              <a:srgbClr val="72BAE3"/>
            </a:solidFill>
            <a:prstDash val="solid"/>
          </a:ln>
        </p:spPr>
      </p:sp>
      <p:sp>
        <p:nvSpPr>
          <p:cNvPr id="10" name="Text 8"/>
          <p:cNvSpPr txBox="1"/>
          <p:nvPr/>
        </p:nvSpPr>
        <p:spPr>
          <a:xfrm>
            <a:off x="1143000" y="3931920"/>
            <a:ext cx="9966960" cy="548640"/>
          </a:xfrm>
          <a:prstGeom prst="rect">
            <a:avLst/>
          </a:prstGeom>
          <a:noFill/>
          <a:ln/>
        </p:spPr>
        <p:txBody>
          <a:bodyPr wrap="square" lIns="0" tIns="0" rIns="0" bIns="0" rtlCol="0" anchor="ctr"/>
          <a:lstStyle/>
          <a:p>
            <a:pPr marL="0" indent="0" algn="l">
              <a:buNone/>
            </a:pPr>
            <a:r>
              <a:rPr lang="en-US" sz="1700" b="1" dirty="0">
                <a:solidFill>
                  <a:srgbClr val="31485D"/>
                </a:solidFill>
                <a:latin typeface="Arial" pitchFamily="34" charset="0"/>
                <a:ea typeface="Arial" pitchFamily="34" charset="-122"/>
                <a:cs typeface="Arial" pitchFamily="34" charset="-120"/>
              </a:rPr>
              <a:t>Como rede/sistema, perturbações podem se propagar na cadeia</a:t>
            </a:r>
            <a:endParaRPr lang="en-US" sz="1700" dirty="0"/>
          </a:p>
        </p:txBody>
      </p:sp>
      <p:sp>
        <p:nvSpPr>
          <p:cNvPr id="11" name="Text 9"/>
          <p:cNvSpPr txBox="1"/>
          <p:nvPr/>
        </p:nvSpPr>
        <p:spPr>
          <a:xfrm>
            <a:off x="1280160" y="4572000"/>
            <a:ext cx="9784080" cy="1463040"/>
          </a:xfrm>
          <a:prstGeom prst="rect">
            <a:avLst/>
          </a:prstGeom>
          <a:noFill/>
          <a:ln/>
        </p:spPr>
        <p:txBody>
          <a:bodyPr wrap="square" lIns="0" tIns="0" rIns="0" bIns="0" rtlCol="0" anchor="t"/>
          <a:lstStyle/>
          <a:p>
            <a:pPr marL="190500" indent="-190500" algn="l">
              <a:spcAft>
                <a:spcPts val="1000"/>
              </a:spcAft>
              <a:buSzPct val="100000"/>
              <a:buChar char="•"/>
            </a:pPr>
            <a:r>
              <a:rPr lang="en-US" sz="1600" dirty="0">
                <a:solidFill>
                  <a:srgbClr val="3A4750"/>
                </a:solidFill>
                <a:latin typeface="Arial" pitchFamily="34" charset="0"/>
                <a:ea typeface="Arial" pitchFamily="34" charset="-122"/>
                <a:cs typeface="Arial" pitchFamily="34" charset="-120"/>
              </a:rPr>
              <a:t>Se faltar contêiner, o sistema perde capacidade e trava</a:t>
            </a:r>
            <a:endParaRPr lang="en-US" sz="1600" dirty="0"/>
          </a:p>
          <a:p>
            <a:pPr marL="190500" indent="-190500" algn="l">
              <a:buSzPct val="100000"/>
              <a:buChar char="•"/>
            </a:pPr>
            <a:r>
              <a:rPr lang="en-US" sz="1600" dirty="0">
                <a:solidFill>
                  <a:srgbClr val="3A4750"/>
                </a:solidFill>
                <a:latin typeface="Arial" pitchFamily="34" charset="0"/>
                <a:ea typeface="Arial" pitchFamily="34" charset="-122"/>
                <a:cs typeface="Arial" pitchFamily="34" charset="-120"/>
              </a:rPr>
              <a:t>O serviço não para se um navio sair do sistema...</a:t>
            </a:r>
            <a:endParaRPr lang="en-US" sz="1600" dirty="0"/>
          </a:p>
        </p:txBody>
      </p:sp>
      <p:sp>
        <p:nvSpPr>
          <p:cNvPr id="12" name="Text 10"/>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Exemplo de uma linha regular</a:t>
            </a:r>
            <a:endParaRPr lang="en-US" sz="2400" dirty="0"/>
          </a:p>
        </p:txBody>
      </p:sp>
      <p:pic>
        <p:nvPicPr>
          <p:cNvPr id="5" name="Image 0" descr="assets/slide7-1_rota_nwc_saec.png"/>
          <p:cNvPicPr>
            <a:picLocks noChangeAspect="1"/>
          </p:cNvPicPr>
          <p:nvPr/>
        </p:nvPicPr>
        <p:blipFill>
          <a:blip r:embed="rId3"/>
          <a:stretch>
            <a:fillRect/>
          </a:stretch>
        </p:blipFill>
        <p:spPr>
          <a:xfrm>
            <a:off x="2531874" y="1280160"/>
            <a:ext cx="7189212" cy="3931920"/>
          </a:xfrm>
          <a:prstGeom prst="rect">
            <a:avLst/>
          </a:prstGeom>
        </p:spPr>
      </p:pic>
      <p:sp>
        <p:nvSpPr>
          <p:cNvPr id="6" name="Text 3"/>
          <p:cNvSpPr txBox="1"/>
          <p:nvPr/>
        </p:nvSpPr>
        <p:spPr>
          <a:xfrm>
            <a:off x="1005840" y="5394960"/>
            <a:ext cx="10241280" cy="640080"/>
          </a:xfrm>
          <a:prstGeom prst="rect">
            <a:avLst/>
          </a:prstGeom>
          <a:noFill/>
          <a:ln/>
        </p:spPr>
        <p:txBody>
          <a:bodyPr wrap="square" lIns="0" tIns="0" rIns="0" bIns="0" rtlCol="0" anchor="ctr"/>
          <a:lstStyle/>
          <a:p>
            <a:pPr marL="0" indent="0" algn="ctr">
              <a:buNone/>
            </a:pPr>
            <a:r>
              <a:rPr lang="en-US" sz="1500" b="1" dirty="0">
                <a:solidFill>
                  <a:srgbClr val="31485D"/>
                </a:solidFill>
                <a:latin typeface="Arial" pitchFamily="34" charset="0"/>
                <a:ea typeface="Arial" pitchFamily="34" charset="-122"/>
                <a:cs typeface="Arial" pitchFamily="34" charset="-120"/>
              </a:rPr>
              <a:t>Serviço NWC to SAEC (Northwest Europe to South America East Coast), 9 navios</a:t>
            </a:r>
            <a:endParaRPr lang="en-US" sz="1500" dirty="0"/>
          </a:p>
        </p:txBody>
      </p:sp>
      <p:sp>
        <p:nvSpPr>
          <p:cNvPr id="7" name="Text 4"/>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Fonte: msc.com</a:t>
            </a:r>
            <a:endParaRPr lang="en-US" sz="700" dirty="0"/>
          </a:p>
        </p:txBody>
      </p:sp>
      <p:sp>
        <p:nvSpPr>
          <p:cNvPr id="8"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Exemplo de uma linha regular</a:t>
            </a:r>
            <a:endParaRPr lang="en-US" sz="2400" dirty="0"/>
          </a:p>
        </p:txBody>
      </p:sp>
      <p:pic>
        <p:nvPicPr>
          <p:cNvPr id="5" name="Image 0" descr="assets/slide7-2_msc_maxine.png"/>
          <p:cNvPicPr>
            <a:picLocks noChangeAspect="1"/>
          </p:cNvPicPr>
          <p:nvPr/>
        </p:nvPicPr>
        <p:blipFill>
          <a:blip r:embed="rId3"/>
          <a:stretch>
            <a:fillRect/>
          </a:stretch>
        </p:blipFill>
        <p:spPr>
          <a:xfrm>
            <a:off x="1188720" y="1127082"/>
            <a:ext cx="5108028" cy="1645920"/>
          </a:xfrm>
          <a:prstGeom prst="rect">
            <a:avLst/>
          </a:prstGeom>
        </p:spPr>
      </p:pic>
      <p:pic>
        <p:nvPicPr>
          <p:cNvPr id="6" name="Image 1" descr="assets/slide7-2_msc_schedule.png"/>
          <p:cNvPicPr>
            <a:picLocks noChangeAspect="1"/>
          </p:cNvPicPr>
          <p:nvPr/>
        </p:nvPicPr>
        <p:blipFill>
          <a:blip r:embed="rId4"/>
          <a:stretch>
            <a:fillRect/>
          </a:stretch>
        </p:blipFill>
        <p:spPr>
          <a:xfrm>
            <a:off x="1005840" y="3145478"/>
            <a:ext cx="5040000" cy="3134080"/>
          </a:xfrm>
          <a:prstGeom prst="rect">
            <a:avLst/>
          </a:prstGeom>
        </p:spPr>
      </p:pic>
      <p:pic>
        <p:nvPicPr>
          <p:cNvPr id="7" name="Image 2" descr="assets/slide7-2_hapaglloyd_schedule.png"/>
          <p:cNvPicPr>
            <a:picLocks noChangeAspect="1"/>
          </p:cNvPicPr>
          <p:nvPr/>
        </p:nvPicPr>
        <p:blipFill>
          <a:blip r:embed="rId5"/>
          <a:stretch>
            <a:fillRect/>
          </a:stretch>
        </p:blipFill>
        <p:spPr>
          <a:xfrm>
            <a:off x="6548759" y="1890614"/>
            <a:ext cx="5040000" cy="4388944"/>
          </a:xfrm>
          <a:prstGeom prst="rect">
            <a:avLst/>
          </a:prstGeom>
        </p:spPr>
      </p:pic>
      <p:sp>
        <p:nvSpPr>
          <p:cNvPr id="8" name="Text 3"/>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Exemplo de uma linha regular</a:t>
            </a:r>
            <a:endParaRPr lang="en-US" sz="2400" dirty="0"/>
          </a:p>
        </p:txBody>
      </p:sp>
      <p:sp>
        <p:nvSpPr>
          <p:cNvPr id="5" name="Text 3"/>
          <p:cNvSpPr txBox="1"/>
          <p:nvPr/>
        </p:nvSpPr>
        <p:spPr>
          <a:xfrm>
            <a:off x="1005840" y="1234440"/>
            <a:ext cx="10058400" cy="365760"/>
          </a:xfrm>
          <a:prstGeom prst="rect">
            <a:avLst/>
          </a:prstGeom>
          <a:noFill/>
          <a:ln/>
        </p:spPr>
        <p:txBody>
          <a:bodyPr wrap="square" lIns="0" tIns="0" rIns="0" bIns="0" rtlCol="0" anchor="ctr"/>
          <a:lstStyle/>
          <a:p>
            <a:pPr marL="0" indent="0" algn="l">
              <a:buNone/>
            </a:pPr>
            <a:r>
              <a:rPr lang="en-US" sz="1500" b="1" dirty="0">
                <a:solidFill>
                  <a:srgbClr val="72BAE3"/>
                </a:solidFill>
                <a:latin typeface="Arial" pitchFamily="34" charset="0"/>
                <a:ea typeface="Arial" pitchFamily="34" charset="-122"/>
                <a:cs typeface="Arial" pitchFamily="34" charset="-120"/>
              </a:rPr>
              <a:t>Rota direta</a:t>
            </a:r>
            <a:endParaRPr lang="en-US" sz="1500" dirty="0"/>
          </a:p>
        </p:txBody>
      </p:sp>
      <p:pic>
        <p:nvPicPr>
          <p:cNvPr id="6" name="Image 0" descr="assets/slide7-3_rota_direta.png"/>
          <p:cNvPicPr>
            <a:picLocks noChangeAspect="1"/>
          </p:cNvPicPr>
          <p:nvPr/>
        </p:nvPicPr>
        <p:blipFill>
          <a:blip r:embed="rId3"/>
          <a:stretch>
            <a:fillRect/>
          </a:stretch>
        </p:blipFill>
        <p:spPr>
          <a:xfrm>
            <a:off x="3550920" y="1645920"/>
            <a:ext cx="5760000" cy="1942722"/>
          </a:xfrm>
          <a:prstGeom prst="rect">
            <a:avLst/>
          </a:prstGeom>
        </p:spPr>
      </p:pic>
      <p:sp>
        <p:nvSpPr>
          <p:cNvPr id="7" name="Text 4"/>
          <p:cNvSpPr txBox="1"/>
          <p:nvPr/>
        </p:nvSpPr>
        <p:spPr>
          <a:xfrm>
            <a:off x="1005840" y="3566160"/>
            <a:ext cx="10058400" cy="365760"/>
          </a:xfrm>
          <a:prstGeom prst="rect">
            <a:avLst/>
          </a:prstGeom>
          <a:noFill/>
          <a:ln/>
        </p:spPr>
        <p:txBody>
          <a:bodyPr wrap="square" lIns="0" tIns="0" rIns="0" bIns="0" rtlCol="0" anchor="ctr"/>
          <a:lstStyle/>
          <a:p>
            <a:pPr marL="0" indent="0" algn="l">
              <a:buNone/>
            </a:pPr>
            <a:r>
              <a:rPr lang="en-US" sz="1500" b="1" dirty="0">
                <a:solidFill>
                  <a:srgbClr val="72BAE3"/>
                </a:solidFill>
                <a:latin typeface="Arial" pitchFamily="34" charset="0"/>
                <a:ea typeface="Arial" pitchFamily="34" charset="-122"/>
                <a:cs typeface="Arial" pitchFamily="34" charset="-120"/>
              </a:rPr>
              <a:t>Rota com transbordo</a:t>
            </a:r>
            <a:endParaRPr lang="en-US" sz="1500" dirty="0"/>
          </a:p>
        </p:txBody>
      </p:sp>
      <p:pic>
        <p:nvPicPr>
          <p:cNvPr id="8" name="Image 1" descr="assets/slide7-3_rota_transbordo.png"/>
          <p:cNvPicPr>
            <a:picLocks noChangeAspect="1"/>
          </p:cNvPicPr>
          <p:nvPr/>
        </p:nvPicPr>
        <p:blipFill>
          <a:blip r:embed="rId4"/>
          <a:stretch>
            <a:fillRect/>
          </a:stretch>
        </p:blipFill>
        <p:spPr>
          <a:xfrm>
            <a:off x="3550920" y="3977640"/>
            <a:ext cx="5760000" cy="2298157"/>
          </a:xfrm>
          <a:prstGeom prst="rect">
            <a:avLst/>
          </a:prstGeom>
        </p:spPr>
      </p:pic>
      <p:sp>
        <p:nvSpPr>
          <p:cNvPr id="9"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1005840" y="640080"/>
            <a:ext cx="10332720" cy="548640"/>
          </a:xfrm>
          <a:prstGeom prst="rect">
            <a:avLst/>
          </a:prstGeom>
          <a:noFill/>
          <a:ln/>
        </p:spPr>
        <p:txBody>
          <a:bodyPr wrap="square" lIns="0" tIns="0" rIns="0" bIns="0" rtlCol="0" anchor="ctr"/>
          <a:lstStyle/>
          <a:p>
            <a:pPr marL="0" indent="0" algn="l">
              <a:buNone/>
            </a:pPr>
            <a:r>
              <a:rPr lang="en-US" sz="2000" b="1" dirty="0">
                <a:solidFill>
                  <a:srgbClr val="31485D"/>
                </a:solidFill>
                <a:latin typeface="Arial" pitchFamily="34" charset="0"/>
                <a:ea typeface="Arial" pitchFamily="34" charset="-122"/>
                <a:cs typeface="Arial" pitchFamily="34" charset="-120"/>
              </a:rPr>
              <a:t>A capacidade de transporte do sistema precisa ser preenchida</a:t>
            </a:r>
            <a:endParaRPr lang="en-US" sz="2000" dirty="0"/>
          </a:p>
        </p:txBody>
      </p:sp>
      <p:sp>
        <p:nvSpPr>
          <p:cNvPr id="5" name="Text 3"/>
          <p:cNvSpPr txBox="1"/>
          <p:nvPr/>
        </p:nvSpPr>
        <p:spPr>
          <a:xfrm>
            <a:off x="1188720" y="1280160"/>
            <a:ext cx="10058400" cy="1280160"/>
          </a:xfrm>
          <a:prstGeom prst="rect">
            <a:avLst/>
          </a:prstGeom>
          <a:noFill/>
          <a:ln/>
        </p:spPr>
        <p:txBody>
          <a:bodyPr wrap="square" lIns="0" tIns="0" rIns="0" bIns="0" rtlCol="0" anchor="t"/>
          <a:lstStyle/>
          <a:p>
            <a:pPr marL="190500" indent="-190500" algn="l">
              <a:spcAft>
                <a:spcPts val="1000"/>
              </a:spcAft>
              <a:buSzPct val="100000"/>
              <a:buChar char="•"/>
            </a:pPr>
            <a:r>
              <a:rPr lang="en-US" sz="1600" dirty="0">
                <a:solidFill>
                  <a:srgbClr val="3A4750"/>
                </a:solidFill>
                <a:latin typeface="Arial" pitchFamily="34" charset="0"/>
                <a:ea typeface="Arial" pitchFamily="34" charset="-122"/>
                <a:cs typeface="Arial" pitchFamily="34" charset="-120"/>
              </a:rPr>
              <a:t>Lógica deixa de ser a busca de um navio para determinada carga</a:t>
            </a:r>
            <a:endParaRPr lang="en-US" sz="1600" dirty="0"/>
          </a:p>
          <a:p>
            <a:pPr marL="190500" indent="-190500" algn="l">
              <a:buSzPct val="100000"/>
              <a:buChar char="•"/>
            </a:pPr>
            <a:r>
              <a:rPr lang="en-US" sz="1600" dirty="0">
                <a:solidFill>
                  <a:srgbClr val="3A4750"/>
                </a:solidFill>
                <a:latin typeface="Arial" pitchFamily="34" charset="0"/>
                <a:ea typeface="Arial" pitchFamily="34" charset="-122"/>
                <a:cs typeface="Arial" pitchFamily="34" charset="-120"/>
              </a:rPr>
              <a:t>Busca-se carga para preencher a capacidade dos navios no sistema</a:t>
            </a:r>
            <a:endParaRPr lang="en-US" sz="1600" dirty="0"/>
          </a:p>
        </p:txBody>
      </p:sp>
      <p:sp>
        <p:nvSpPr>
          <p:cNvPr id="6" name="Shape 4"/>
          <p:cNvSpPr/>
          <p:nvPr/>
        </p:nvSpPr>
        <p:spPr>
          <a:xfrm>
            <a:off x="868680" y="2926080"/>
            <a:ext cx="10469880" cy="3108960"/>
          </a:xfrm>
          <a:prstGeom prst="roundRect">
            <a:avLst>
              <a:gd name="adj" fmla="val 2941"/>
            </a:avLst>
          </a:prstGeom>
          <a:solidFill>
            <a:srgbClr val="EEF3F6"/>
          </a:solidFill>
          <a:ln w="15875">
            <a:solidFill>
              <a:srgbClr val="72BAE3"/>
            </a:solidFill>
            <a:prstDash val="solid"/>
          </a:ln>
        </p:spPr>
      </p:sp>
      <p:sp>
        <p:nvSpPr>
          <p:cNvPr id="7" name="Text 5"/>
          <p:cNvSpPr txBox="1"/>
          <p:nvPr/>
        </p:nvSpPr>
        <p:spPr>
          <a:xfrm>
            <a:off x="1143000" y="3108960"/>
            <a:ext cx="9966960" cy="914400"/>
          </a:xfrm>
          <a:prstGeom prst="rect">
            <a:avLst/>
          </a:prstGeom>
          <a:noFill/>
          <a:ln/>
        </p:spPr>
        <p:txBody>
          <a:bodyPr wrap="square" lIns="0" tIns="0" rIns="0" bIns="0" rtlCol="0" anchor="ctr"/>
          <a:lstStyle/>
          <a:p>
            <a:pPr marL="0" indent="0" algn="l">
              <a:lnSpc>
                <a:spcPct val="105000"/>
              </a:lnSpc>
              <a:buNone/>
            </a:pPr>
            <a:r>
              <a:rPr lang="en-US" sz="1800" b="1" dirty="0">
                <a:solidFill>
                  <a:srgbClr val="31485D"/>
                </a:solidFill>
                <a:latin typeface="Arial" pitchFamily="34" charset="0"/>
                <a:ea typeface="Arial" pitchFamily="34" charset="-122"/>
                <a:cs typeface="Arial" pitchFamily="34" charset="-120"/>
              </a:rPr>
              <a:t>Surge espaço para uma nova atividade econômica: o transportador marítimo não operador de navios (</a:t>
            </a:r>
            <a:r>
              <a:rPr lang="en-US" sz="1800" b="1" i="1" dirty="0">
                <a:solidFill>
                  <a:srgbClr val="31485D"/>
                </a:solidFill>
                <a:latin typeface="Arial" pitchFamily="34" charset="0"/>
                <a:ea typeface="Arial" pitchFamily="34" charset="-122"/>
                <a:cs typeface="Arial" pitchFamily="34" charset="-120"/>
              </a:rPr>
              <a:t>Non-Vessel Operating Common Carrier</a:t>
            </a:r>
            <a:r>
              <a:rPr lang="en-US" sz="1800" b="1" dirty="0">
                <a:solidFill>
                  <a:srgbClr val="31485D"/>
                </a:solidFill>
                <a:latin typeface="Arial" pitchFamily="34" charset="0"/>
                <a:ea typeface="Arial" pitchFamily="34" charset="-122"/>
                <a:cs typeface="Arial" pitchFamily="34" charset="-120"/>
              </a:rPr>
              <a:t> - NVOCC)</a:t>
            </a:r>
            <a:endParaRPr lang="en-US" sz="1800" dirty="0"/>
          </a:p>
        </p:txBody>
      </p:sp>
      <p:sp>
        <p:nvSpPr>
          <p:cNvPr id="8" name="Text 6"/>
          <p:cNvSpPr txBox="1"/>
          <p:nvPr/>
        </p:nvSpPr>
        <p:spPr>
          <a:xfrm>
            <a:off x="1280160" y="4160520"/>
            <a:ext cx="9784080" cy="1737360"/>
          </a:xfrm>
          <a:prstGeom prst="rect">
            <a:avLst/>
          </a:prstGeom>
          <a:noFill/>
          <a:ln/>
        </p:spPr>
        <p:txBody>
          <a:bodyPr wrap="square" lIns="0" tIns="0" rIns="0" bIns="0" rtlCol="0" anchor="t"/>
          <a:lstStyle/>
          <a:p>
            <a:pPr marL="190500" indent="-190500" algn="l">
              <a:spcAft>
                <a:spcPts val="1000"/>
              </a:spcAft>
              <a:buSzPct val="100000"/>
              <a:buChar char="•"/>
            </a:pPr>
            <a:r>
              <a:rPr lang="en-US" sz="1600" dirty="0">
                <a:solidFill>
                  <a:srgbClr val="3A4750"/>
                </a:solidFill>
                <a:latin typeface="Arial" pitchFamily="34" charset="0"/>
                <a:ea typeface="Arial" pitchFamily="34" charset="-122"/>
                <a:cs typeface="Arial" pitchFamily="34" charset="-120"/>
              </a:rPr>
              <a:t>Compra no atacado e vende no varejo</a:t>
            </a:r>
            <a:endParaRPr lang="en-US" sz="1600" dirty="0"/>
          </a:p>
          <a:p>
            <a:pPr marL="190500" indent="-190500" algn="l">
              <a:spcAft>
                <a:spcPts val="1000"/>
              </a:spcAft>
              <a:buSzPct val="100000"/>
              <a:buChar char="•"/>
            </a:pPr>
            <a:r>
              <a:rPr lang="en-US" sz="1600" dirty="0">
                <a:solidFill>
                  <a:srgbClr val="3A4750"/>
                </a:solidFill>
                <a:latin typeface="Arial" pitchFamily="34" charset="0"/>
                <a:ea typeface="Arial" pitchFamily="34" charset="-122"/>
                <a:cs typeface="Arial" pitchFamily="34" charset="-120"/>
              </a:rPr>
              <a:t>Economicamente, é um vendedor de capacidade</a:t>
            </a:r>
            <a:endParaRPr lang="en-US" sz="1600" dirty="0"/>
          </a:p>
          <a:p>
            <a:pPr marL="190500" indent="-190500" algn="l">
              <a:buSzPct val="100000"/>
              <a:buChar char="•"/>
            </a:pPr>
            <a:r>
              <a:rPr lang="en-US" sz="1600" dirty="0">
                <a:solidFill>
                  <a:srgbClr val="3A4750"/>
                </a:solidFill>
                <a:latin typeface="Arial" pitchFamily="34" charset="0"/>
                <a:ea typeface="Arial" pitchFamily="34" charset="-122"/>
                <a:cs typeface="Arial" pitchFamily="34" charset="-120"/>
              </a:rPr>
              <a:t>Juridicamente, transportador contratual</a:t>
            </a:r>
            <a:endParaRPr lang="en-US" sz="1600" dirty="0"/>
          </a:p>
        </p:txBody>
      </p:sp>
      <p:sp>
        <p:nvSpPr>
          <p:cNvPr id="9" name="Text 7"/>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NVOCCs: quem são?</a:t>
            </a:r>
            <a:endParaRPr lang="en-US" sz="2400" dirty="0"/>
          </a:p>
        </p:txBody>
      </p:sp>
      <p:sp>
        <p:nvSpPr>
          <p:cNvPr id="5" name="Shape 3"/>
          <p:cNvSpPr/>
          <p:nvPr/>
        </p:nvSpPr>
        <p:spPr>
          <a:xfrm>
            <a:off x="868680" y="1371600"/>
            <a:ext cx="5760720" cy="1737360"/>
          </a:xfrm>
          <a:prstGeom prst="roundRect">
            <a:avLst>
              <a:gd name="adj" fmla="val 4211"/>
            </a:avLst>
          </a:prstGeom>
          <a:solidFill>
            <a:srgbClr val="EEF3F6"/>
          </a:solidFill>
          <a:ln w="12700">
            <a:solidFill>
              <a:srgbClr val="72BAE3"/>
            </a:solidFill>
            <a:prstDash val="solid"/>
          </a:ln>
        </p:spPr>
      </p:sp>
      <p:sp>
        <p:nvSpPr>
          <p:cNvPr id="6" name="Shape 4"/>
          <p:cNvSpPr/>
          <p:nvPr/>
        </p:nvSpPr>
        <p:spPr>
          <a:xfrm>
            <a:off x="868680" y="1371600"/>
            <a:ext cx="109728" cy="1737360"/>
          </a:xfrm>
          <a:prstGeom prst="rect">
            <a:avLst/>
          </a:prstGeom>
          <a:solidFill>
            <a:srgbClr val="31485D"/>
          </a:solidFill>
          <a:ln/>
        </p:spPr>
      </p:sp>
      <p:sp>
        <p:nvSpPr>
          <p:cNvPr id="7" name="Text 5"/>
          <p:cNvSpPr txBox="1"/>
          <p:nvPr/>
        </p:nvSpPr>
        <p:spPr>
          <a:xfrm>
            <a:off x="1143000" y="1371600"/>
            <a:ext cx="5349240" cy="1737360"/>
          </a:xfrm>
          <a:prstGeom prst="rect">
            <a:avLst/>
          </a:prstGeom>
          <a:noFill/>
          <a:ln/>
        </p:spPr>
        <p:txBody>
          <a:bodyPr wrap="square" lIns="0" tIns="0" rIns="0" bIns="0" rtlCol="0" anchor="ctr"/>
          <a:lstStyle/>
          <a:p>
            <a:pPr marL="0" indent="0" algn="l">
              <a:lnSpc>
                <a:spcPct val="105000"/>
              </a:lnSpc>
              <a:buNone/>
            </a:pPr>
            <a:r>
              <a:rPr lang="en-US" sz="1400" i="1" dirty="0">
                <a:solidFill>
                  <a:srgbClr val="31485D"/>
                </a:solidFill>
                <a:latin typeface="Arial" pitchFamily="34" charset="0"/>
                <a:ea typeface="Arial" pitchFamily="34" charset="-122"/>
                <a:cs typeface="Arial" pitchFamily="34" charset="-120"/>
              </a:rPr>
              <a:t>O transportador marítimo não operador de navios (NVOCC) é considerado como usuário perante o transportador marítimo efetivo, e como transportador, perante o usuário final do serviço de transporte prestado</a:t>
            </a:r>
            <a:endParaRPr lang="en-US" sz="1400" dirty="0"/>
          </a:p>
        </p:txBody>
      </p:sp>
      <p:sp>
        <p:nvSpPr>
          <p:cNvPr id="8" name="Shape 6"/>
          <p:cNvSpPr/>
          <p:nvPr/>
        </p:nvSpPr>
        <p:spPr>
          <a:xfrm>
            <a:off x="868680" y="3337560"/>
            <a:ext cx="5760720" cy="1280160"/>
          </a:xfrm>
          <a:prstGeom prst="roundRect">
            <a:avLst>
              <a:gd name="adj" fmla="val 5714"/>
            </a:avLst>
          </a:prstGeom>
          <a:solidFill>
            <a:srgbClr val="EEF3F6"/>
          </a:solidFill>
          <a:ln w="12700">
            <a:solidFill>
              <a:srgbClr val="72BAE3"/>
            </a:solidFill>
            <a:prstDash val="solid"/>
          </a:ln>
        </p:spPr>
      </p:sp>
      <p:sp>
        <p:nvSpPr>
          <p:cNvPr id="9" name="Shape 7"/>
          <p:cNvSpPr/>
          <p:nvPr/>
        </p:nvSpPr>
        <p:spPr>
          <a:xfrm>
            <a:off x="868680" y="3337560"/>
            <a:ext cx="109728" cy="1280160"/>
          </a:xfrm>
          <a:prstGeom prst="rect">
            <a:avLst/>
          </a:prstGeom>
          <a:solidFill>
            <a:srgbClr val="31485D"/>
          </a:solidFill>
          <a:ln/>
        </p:spPr>
      </p:sp>
      <p:sp>
        <p:nvSpPr>
          <p:cNvPr id="10" name="Text 8"/>
          <p:cNvSpPr txBox="1"/>
          <p:nvPr/>
        </p:nvSpPr>
        <p:spPr>
          <a:xfrm>
            <a:off x="1143000" y="3337560"/>
            <a:ext cx="5349240" cy="1280160"/>
          </a:xfrm>
          <a:prstGeom prst="rect">
            <a:avLst/>
          </a:prstGeom>
          <a:noFill/>
          <a:ln/>
        </p:spPr>
        <p:txBody>
          <a:bodyPr wrap="square" lIns="0" tIns="0" rIns="0" bIns="0" rtlCol="0" anchor="ctr"/>
          <a:lstStyle/>
          <a:p>
            <a:pPr marL="0" indent="0" algn="l">
              <a:lnSpc>
                <a:spcPct val="105000"/>
              </a:lnSpc>
              <a:buNone/>
            </a:pPr>
            <a:r>
              <a:rPr lang="en-US" sz="1400" i="1" dirty="0">
                <a:solidFill>
                  <a:srgbClr val="31485D"/>
                </a:solidFill>
                <a:latin typeface="Arial" pitchFamily="34" charset="0"/>
                <a:ea typeface="Arial" pitchFamily="34" charset="-122"/>
                <a:cs typeface="Arial" pitchFamily="34" charset="-120"/>
              </a:rPr>
              <a:t>Agente intermediário: intermedeia a operação de transporte entre o usuário e o transportador marítimo</a:t>
            </a:r>
            <a:endParaRPr lang="en-US" sz="1400" dirty="0"/>
          </a:p>
        </p:txBody>
      </p:sp>
      <p:sp>
        <p:nvSpPr>
          <p:cNvPr id="11" name="Shape 9"/>
          <p:cNvSpPr/>
          <p:nvPr/>
        </p:nvSpPr>
        <p:spPr>
          <a:xfrm>
            <a:off x="868680" y="4846320"/>
            <a:ext cx="5760720" cy="1737360"/>
          </a:xfrm>
          <a:prstGeom prst="roundRect">
            <a:avLst>
              <a:gd name="adj" fmla="val 4211"/>
            </a:avLst>
          </a:prstGeom>
          <a:solidFill>
            <a:srgbClr val="EEF3F6"/>
          </a:solidFill>
          <a:ln w="12700">
            <a:solidFill>
              <a:srgbClr val="72BAE3"/>
            </a:solidFill>
            <a:prstDash val="solid"/>
          </a:ln>
        </p:spPr>
      </p:sp>
      <p:sp>
        <p:nvSpPr>
          <p:cNvPr id="12" name="Shape 10"/>
          <p:cNvSpPr/>
          <p:nvPr/>
        </p:nvSpPr>
        <p:spPr>
          <a:xfrm>
            <a:off x="868680" y="4846320"/>
            <a:ext cx="109728" cy="1737360"/>
          </a:xfrm>
          <a:prstGeom prst="rect">
            <a:avLst/>
          </a:prstGeom>
          <a:solidFill>
            <a:srgbClr val="31485D"/>
          </a:solidFill>
          <a:ln/>
        </p:spPr>
      </p:sp>
      <p:sp>
        <p:nvSpPr>
          <p:cNvPr id="13" name="Text 11"/>
          <p:cNvSpPr txBox="1"/>
          <p:nvPr/>
        </p:nvSpPr>
        <p:spPr>
          <a:xfrm>
            <a:off x="1143000" y="4846320"/>
            <a:ext cx="5349240" cy="1737360"/>
          </a:xfrm>
          <a:prstGeom prst="rect">
            <a:avLst/>
          </a:prstGeom>
          <a:noFill/>
          <a:ln/>
        </p:spPr>
        <p:txBody>
          <a:bodyPr wrap="square" lIns="0" tIns="0" rIns="0" bIns="0" rtlCol="0" anchor="ctr"/>
          <a:lstStyle/>
          <a:p>
            <a:pPr marL="0" indent="0" algn="l">
              <a:lnSpc>
                <a:spcPct val="105000"/>
              </a:lnSpc>
              <a:buNone/>
            </a:pPr>
            <a:r>
              <a:rPr lang="en-US" sz="1400" i="1" dirty="0">
                <a:solidFill>
                  <a:srgbClr val="31485D"/>
                </a:solidFill>
                <a:latin typeface="Arial" pitchFamily="34" charset="0"/>
                <a:ea typeface="Arial" pitchFamily="34" charset="-122"/>
                <a:cs typeface="Arial" pitchFamily="34" charset="-120"/>
              </a:rPr>
              <a:t>Pessoa jurídica que, não sendo o armador ou proprietário de embarcação, responsabiliza-se perante o usuário pela prestação do serviço de transporte, emitindo o BL agregado, house, filhote ou sub-master, e subcontratando um transportador marítimo efetivo</a:t>
            </a:r>
            <a:endParaRPr lang="en-US" sz="1400" dirty="0"/>
          </a:p>
        </p:txBody>
      </p:sp>
      <p:pic>
        <p:nvPicPr>
          <p:cNvPr id="14" name="Image 0" descr="assets/slide9_top10_nvocc.png"/>
          <p:cNvPicPr>
            <a:picLocks noChangeAspect="1"/>
          </p:cNvPicPr>
          <p:nvPr/>
        </p:nvPicPr>
        <p:blipFill>
          <a:blip r:embed="rId3"/>
          <a:stretch>
            <a:fillRect/>
          </a:stretch>
        </p:blipFill>
        <p:spPr>
          <a:xfrm>
            <a:off x="7181940" y="1325880"/>
            <a:ext cx="4106999" cy="4937760"/>
          </a:xfrm>
          <a:prstGeom prst="rect">
            <a:avLst/>
          </a:prstGeom>
        </p:spPr>
      </p:pic>
      <p:sp>
        <p:nvSpPr>
          <p:cNvPr id="15" name="Text 12"/>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Quem é quem no Sistema</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Regulados ou envolvidos (no problema)</a:t>
            </a:r>
            <a:endParaRPr lang="en-US" sz="1400" dirty="0"/>
          </a:p>
        </p:txBody>
      </p:sp>
      <p:sp>
        <p:nvSpPr>
          <p:cNvPr id="6" name="Shape 4"/>
          <p:cNvSpPr/>
          <p:nvPr/>
        </p:nvSpPr>
        <p:spPr>
          <a:xfrm>
            <a:off x="868680" y="1554480"/>
            <a:ext cx="5212080" cy="2286000"/>
          </a:xfrm>
          <a:prstGeom prst="roundRect">
            <a:avLst>
              <a:gd name="adj" fmla="val 3200"/>
            </a:avLst>
          </a:prstGeom>
          <a:solidFill>
            <a:srgbClr val="FFFFFF"/>
          </a:solidFill>
          <a:ln w="15875">
            <a:solidFill>
              <a:srgbClr val="72BAE3"/>
            </a:solidFill>
            <a:prstDash val="solid"/>
          </a:ln>
        </p:spPr>
      </p:sp>
      <p:sp>
        <p:nvSpPr>
          <p:cNvPr id="7" name="Shape 5"/>
          <p:cNvSpPr/>
          <p:nvPr/>
        </p:nvSpPr>
        <p:spPr>
          <a:xfrm>
            <a:off x="868680" y="1554480"/>
            <a:ext cx="5212080" cy="457200"/>
          </a:xfrm>
          <a:prstGeom prst="roundRect">
            <a:avLst>
              <a:gd name="adj" fmla="val 16000"/>
            </a:avLst>
          </a:prstGeom>
          <a:solidFill>
            <a:srgbClr val="31485D"/>
          </a:solidFill>
          <a:ln/>
        </p:spPr>
      </p:sp>
      <p:sp>
        <p:nvSpPr>
          <p:cNvPr id="8" name="Shape 6"/>
          <p:cNvSpPr/>
          <p:nvPr/>
        </p:nvSpPr>
        <p:spPr>
          <a:xfrm>
            <a:off x="868680" y="1783080"/>
            <a:ext cx="5212080" cy="228600"/>
          </a:xfrm>
          <a:prstGeom prst="rect">
            <a:avLst/>
          </a:prstGeom>
          <a:solidFill>
            <a:srgbClr val="31485D"/>
          </a:solidFill>
          <a:ln/>
        </p:spPr>
      </p:sp>
      <p:sp>
        <p:nvSpPr>
          <p:cNvPr id="9" name="Text 7"/>
          <p:cNvSpPr txBox="1"/>
          <p:nvPr/>
        </p:nvSpPr>
        <p:spPr>
          <a:xfrm>
            <a:off x="1051560" y="1554480"/>
            <a:ext cx="48463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Usuário:</a:t>
            </a:r>
            <a:endParaRPr lang="en-US" sz="1400" dirty="0"/>
          </a:p>
        </p:txBody>
      </p:sp>
      <p:sp>
        <p:nvSpPr>
          <p:cNvPr id="10" name="Text 8"/>
          <p:cNvSpPr txBox="1"/>
          <p:nvPr/>
        </p:nvSpPr>
        <p:spPr>
          <a:xfrm>
            <a:off x="1097280" y="2103120"/>
            <a:ext cx="4754880" cy="1645920"/>
          </a:xfrm>
          <a:prstGeom prst="rect">
            <a:avLst/>
          </a:prstGeom>
          <a:noFill/>
          <a:ln/>
        </p:spPr>
        <p:txBody>
          <a:bodyPr wrap="square" lIns="0" tIns="0" rIns="0" bIns="0" rtlCol="0" anchor="t"/>
          <a:lstStyle/>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Embarcador (exportador ou NVOCC)</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Consignatário (importador ou desconsolidador)</a:t>
            </a:r>
            <a:endParaRPr lang="en-US" sz="1400" dirty="0"/>
          </a:p>
        </p:txBody>
      </p:sp>
      <p:sp>
        <p:nvSpPr>
          <p:cNvPr id="11" name="Shape 9"/>
          <p:cNvSpPr/>
          <p:nvPr/>
        </p:nvSpPr>
        <p:spPr>
          <a:xfrm>
            <a:off x="6355080" y="1554480"/>
            <a:ext cx="5212080" cy="2286000"/>
          </a:xfrm>
          <a:prstGeom prst="roundRect">
            <a:avLst>
              <a:gd name="adj" fmla="val 3200"/>
            </a:avLst>
          </a:prstGeom>
          <a:solidFill>
            <a:srgbClr val="FFFFFF"/>
          </a:solidFill>
          <a:ln w="15875">
            <a:solidFill>
              <a:srgbClr val="72BAE3"/>
            </a:solidFill>
            <a:prstDash val="solid"/>
          </a:ln>
        </p:spPr>
      </p:sp>
      <p:sp>
        <p:nvSpPr>
          <p:cNvPr id="12" name="Shape 10"/>
          <p:cNvSpPr/>
          <p:nvPr/>
        </p:nvSpPr>
        <p:spPr>
          <a:xfrm>
            <a:off x="6355080" y="1554480"/>
            <a:ext cx="5212080" cy="457200"/>
          </a:xfrm>
          <a:prstGeom prst="roundRect">
            <a:avLst>
              <a:gd name="adj" fmla="val 16000"/>
            </a:avLst>
          </a:prstGeom>
          <a:solidFill>
            <a:srgbClr val="31485D"/>
          </a:solidFill>
          <a:ln/>
        </p:spPr>
      </p:sp>
      <p:sp>
        <p:nvSpPr>
          <p:cNvPr id="13" name="Shape 11"/>
          <p:cNvSpPr/>
          <p:nvPr/>
        </p:nvSpPr>
        <p:spPr>
          <a:xfrm>
            <a:off x="6355080" y="1783080"/>
            <a:ext cx="5212080" cy="228600"/>
          </a:xfrm>
          <a:prstGeom prst="rect">
            <a:avLst/>
          </a:prstGeom>
          <a:solidFill>
            <a:srgbClr val="31485D"/>
          </a:solidFill>
          <a:ln/>
        </p:spPr>
      </p:sp>
      <p:sp>
        <p:nvSpPr>
          <p:cNvPr id="14" name="Text 12"/>
          <p:cNvSpPr txBox="1"/>
          <p:nvPr/>
        </p:nvSpPr>
        <p:spPr>
          <a:xfrm>
            <a:off x="6537960" y="1554480"/>
            <a:ext cx="48463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Agentes intermediários:</a:t>
            </a:r>
            <a:endParaRPr lang="en-US" sz="1400" dirty="0"/>
          </a:p>
        </p:txBody>
      </p:sp>
      <p:sp>
        <p:nvSpPr>
          <p:cNvPr id="15" name="Text 13"/>
          <p:cNvSpPr txBox="1"/>
          <p:nvPr/>
        </p:nvSpPr>
        <p:spPr>
          <a:xfrm>
            <a:off x="6583680" y="2103120"/>
            <a:ext cx="4754880" cy="1645920"/>
          </a:xfrm>
          <a:prstGeom prst="rect">
            <a:avLst/>
          </a:prstGeom>
          <a:noFill/>
          <a:ln/>
        </p:spPr>
        <p:txBody>
          <a:bodyPr wrap="square" lIns="0" tIns="0" rIns="0" bIns="0" rtlCol="0" anchor="t"/>
          <a:lstStyle/>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Agente marítimo</a:t>
            </a:r>
            <a:endParaRPr lang="en-US" sz="1400" dirty="0"/>
          </a:p>
          <a:p>
            <a:pPr marL="152400" indent="-152400" algn="l">
              <a:lnSpc>
                <a:spcPct val="100000"/>
              </a:lnSpc>
              <a:buSzPct val="100000"/>
              <a:buChar char="•"/>
            </a:pPr>
            <a:r>
              <a:rPr lang="en-US" sz="1400" dirty="0">
                <a:solidFill>
                  <a:srgbClr val="3A4750"/>
                </a:solidFill>
                <a:latin typeface="Arial" pitchFamily="34" charset="0"/>
                <a:ea typeface="Arial" pitchFamily="34" charset="-122"/>
                <a:cs typeface="Arial" pitchFamily="34" charset="-120"/>
              </a:rPr>
              <a:t>Transportador marítimo não operador de navios (</a:t>
            </a:r>
            <a:r>
              <a:rPr lang="en-US" sz="1400" i="1" dirty="0">
                <a:solidFill>
                  <a:srgbClr val="3A4750"/>
                </a:solidFill>
                <a:latin typeface="Arial" pitchFamily="34" charset="0"/>
                <a:ea typeface="Arial" pitchFamily="34" charset="-122"/>
                <a:cs typeface="Arial" pitchFamily="34" charset="-120"/>
              </a:rPr>
              <a:t>Non-Vessel Operating Common Carrier</a:t>
            </a:r>
            <a:r>
              <a:rPr lang="en-US" sz="1400" dirty="0">
                <a:solidFill>
                  <a:srgbClr val="3A4750"/>
                </a:solidFill>
                <a:latin typeface="Arial" pitchFamily="34" charset="0"/>
                <a:ea typeface="Arial" pitchFamily="34" charset="-122"/>
                <a:cs typeface="Arial" pitchFamily="34" charset="-120"/>
              </a:rPr>
              <a:t> - NVOCC)</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Agente transitário</a:t>
            </a:r>
            <a:endParaRPr lang="en-US" sz="1400" dirty="0"/>
          </a:p>
        </p:txBody>
      </p:sp>
      <p:sp>
        <p:nvSpPr>
          <p:cNvPr id="16" name="Shape 14"/>
          <p:cNvSpPr/>
          <p:nvPr/>
        </p:nvSpPr>
        <p:spPr>
          <a:xfrm>
            <a:off x="868680" y="3977640"/>
            <a:ext cx="5212080" cy="2286000"/>
          </a:xfrm>
          <a:prstGeom prst="roundRect">
            <a:avLst>
              <a:gd name="adj" fmla="val 3200"/>
            </a:avLst>
          </a:prstGeom>
          <a:solidFill>
            <a:srgbClr val="FFFFFF"/>
          </a:solidFill>
          <a:ln w="15875">
            <a:solidFill>
              <a:srgbClr val="72BAE3"/>
            </a:solidFill>
            <a:prstDash val="solid"/>
          </a:ln>
        </p:spPr>
      </p:sp>
      <p:sp>
        <p:nvSpPr>
          <p:cNvPr id="17" name="Shape 15"/>
          <p:cNvSpPr/>
          <p:nvPr/>
        </p:nvSpPr>
        <p:spPr>
          <a:xfrm>
            <a:off x="868680" y="3977640"/>
            <a:ext cx="5212080" cy="457200"/>
          </a:xfrm>
          <a:prstGeom prst="roundRect">
            <a:avLst>
              <a:gd name="adj" fmla="val 16000"/>
            </a:avLst>
          </a:prstGeom>
          <a:solidFill>
            <a:srgbClr val="31485D"/>
          </a:solidFill>
          <a:ln/>
        </p:spPr>
      </p:sp>
      <p:sp>
        <p:nvSpPr>
          <p:cNvPr id="18" name="Shape 16"/>
          <p:cNvSpPr/>
          <p:nvPr/>
        </p:nvSpPr>
        <p:spPr>
          <a:xfrm>
            <a:off x="868680" y="4206240"/>
            <a:ext cx="5212080" cy="228600"/>
          </a:xfrm>
          <a:prstGeom prst="rect">
            <a:avLst/>
          </a:prstGeom>
          <a:solidFill>
            <a:srgbClr val="31485D"/>
          </a:solidFill>
          <a:ln/>
        </p:spPr>
      </p:sp>
      <p:sp>
        <p:nvSpPr>
          <p:cNvPr id="19" name="Text 17"/>
          <p:cNvSpPr txBox="1"/>
          <p:nvPr/>
        </p:nvSpPr>
        <p:spPr>
          <a:xfrm>
            <a:off x="1051560" y="3977640"/>
            <a:ext cx="48463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Transportador:</a:t>
            </a:r>
            <a:endParaRPr lang="en-US" sz="1400" dirty="0"/>
          </a:p>
        </p:txBody>
      </p:sp>
      <p:sp>
        <p:nvSpPr>
          <p:cNvPr id="20" name="Text 18"/>
          <p:cNvSpPr txBox="1"/>
          <p:nvPr/>
        </p:nvSpPr>
        <p:spPr>
          <a:xfrm>
            <a:off x="1097280" y="4526280"/>
            <a:ext cx="4754880" cy="1645920"/>
          </a:xfrm>
          <a:prstGeom prst="rect">
            <a:avLst/>
          </a:prstGeom>
          <a:noFill/>
          <a:ln/>
        </p:spPr>
        <p:txBody>
          <a:bodyPr wrap="square" lIns="0" tIns="0" rIns="0" bIns="0" rtlCol="0" anchor="t"/>
          <a:lstStyle/>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Transportador marítimo efetivo (empresa de navegação operadora ou parceira), representado pelo agente marítimo</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NVOCC, representado pelo agente de carga (des)consolidador</a:t>
            </a:r>
            <a:endParaRPr lang="en-US" sz="1400" dirty="0"/>
          </a:p>
        </p:txBody>
      </p:sp>
      <p:sp>
        <p:nvSpPr>
          <p:cNvPr id="21" name="Shape 19"/>
          <p:cNvSpPr/>
          <p:nvPr/>
        </p:nvSpPr>
        <p:spPr>
          <a:xfrm>
            <a:off x="6355080" y="3977640"/>
            <a:ext cx="5212080" cy="2286000"/>
          </a:xfrm>
          <a:prstGeom prst="roundRect">
            <a:avLst>
              <a:gd name="adj" fmla="val 3200"/>
            </a:avLst>
          </a:prstGeom>
          <a:solidFill>
            <a:srgbClr val="FFFFFF"/>
          </a:solidFill>
          <a:ln w="15875">
            <a:solidFill>
              <a:srgbClr val="72BAE3"/>
            </a:solidFill>
            <a:prstDash val="solid"/>
          </a:ln>
        </p:spPr>
      </p:sp>
      <p:sp>
        <p:nvSpPr>
          <p:cNvPr id="22" name="Text 20"/>
          <p:cNvSpPr txBox="1"/>
          <p:nvPr/>
        </p:nvSpPr>
        <p:spPr>
          <a:xfrm>
            <a:off x="6583680" y="4087368"/>
            <a:ext cx="4754880" cy="2084832"/>
          </a:xfrm>
          <a:prstGeom prst="rect">
            <a:avLst/>
          </a:prstGeom>
          <a:noFill/>
          <a:ln/>
        </p:spPr>
        <p:txBody>
          <a:bodyPr wrap="square" lIns="0" tIns="0" rIns="0" bIns="0" rtlCol="0" anchor="t"/>
          <a:lstStyle/>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Agente de carga (des)consolidador</a:t>
            </a:r>
            <a:endParaRPr lang="en-US" sz="1400" dirty="0"/>
          </a:p>
          <a:p>
            <a:pPr marL="152400" indent="-152400" algn="l">
              <a:lnSpc>
                <a:spcPct val="100000"/>
              </a:lnSpc>
              <a:buSzPct val="100000"/>
              <a:buChar char="•"/>
            </a:pPr>
            <a:r>
              <a:rPr lang="en-US" sz="1400" dirty="0">
                <a:solidFill>
                  <a:srgbClr val="3A4750"/>
                </a:solidFill>
                <a:latin typeface="Arial" pitchFamily="34" charset="0"/>
                <a:ea typeface="Arial" pitchFamily="34" charset="-122"/>
                <a:cs typeface="Arial" pitchFamily="34" charset="-120"/>
              </a:rPr>
              <a:t>Depósito de vazios (</a:t>
            </a:r>
            <a:r>
              <a:rPr lang="en-US" sz="1400" i="1" dirty="0">
                <a:solidFill>
                  <a:srgbClr val="3A4750"/>
                </a:solidFill>
                <a:latin typeface="Arial" pitchFamily="34" charset="0"/>
                <a:ea typeface="Arial" pitchFamily="34" charset="-122"/>
                <a:cs typeface="Arial" pitchFamily="34" charset="-120"/>
              </a:rPr>
              <a:t>depot</a:t>
            </a:r>
            <a:r>
              <a:rPr lang="en-US" sz="1400" dirty="0">
                <a:solidFill>
                  <a:srgbClr val="3A4750"/>
                </a:solidFill>
                <a:latin typeface="Arial" pitchFamily="34" charset="0"/>
                <a:ea typeface="Arial" pitchFamily="34" charset="-122"/>
                <a:cs typeface="Arial" pitchFamily="34" charset="-120"/>
              </a:rPr>
              <a:t>)</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Terminal portuário</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Despachante aduaneiro</a:t>
            </a:r>
            <a:endParaRPr lang="en-US" sz="1400" dirty="0"/>
          </a:p>
          <a:p>
            <a:pPr marL="152400" indent="-152400" algn="l">
              <a:lnSpc>
                <a:spcPct val="100000"/>
              </a:lnSpc>
              <a:spcAft>
                <a:spcPts val="600"/>
              </a:spcAft>
              <a:buSzPct val="100000"/>
              <a:buChar char="•"/>
            </a:pPr>
            <a:r>
              <a:rPr lang="en-US" sz="1400" dirty="0">
                <a:solidFill>
                  <a:srgbClr val="3A4750"/>
                </a:solidFill>
                <a:latin typeface="Arial" pitchFamily="34" charset="0"/>
                <a:ea typeface="Arial" pitchFamily="34" charset="-122"/>
                <a:cs typeface="Arial" pitchFamily="34" charset="-120"/>
              </a:rPr>
              <a:t>Transportador rodoviário (TRC)</a:t>
            </a:r>
            <a:endParaRPr lang="en-US" sz="1400" dirty="0"/>
          </a:p>
        </p:txBody>
      </p:sp>
      <p:sp>
        <p:nvSpPr>
          <p:cNvPr id="23" name="Text 21"/>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Contêiner: das particularidades ao problema</a:t>
            </a:r>
            <a:r>
              <a:rPr lang="pt-BR" sz="1000" dirty="0">
                <a:solidFill>
                  <a:srgbClr val="72BAE3"/>
                </a:solidFill>
                <a:latin typeface="Arial" pitchFamily="34" charset="0"/>
                <a:ea typeface="Arial" pitchFamily="34" charset="-122"/>
                <a:cs typeface="Arial" pitchFamily="34" charset="-120"/>
              </a:rPr>
              <a:t>   ·   Diferenças em relação aos demais perfis de carga</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Quem manda no sistema?</a:t>
            </a:r>
            <a:endParaRPr lang="pt-BR" sz="2400" dirty="0"/>
          </a:p>
        </p:txBody>
      </p:sp>
      <p:pic>
        <p:nvPicPr>
          <p:cNvPr id="5" name="Picture 4" descr="top10.jpg"/>
          <p:cNvPicPr>
            <a:picLocks noChangeAspect="1"/>
          </p:cNvPicPr>
          <p:nvPr/>
        </p:nvPicPr>
        <p:blipFill>
          <a:blip r:embed="rId2"/>
          <a:stretch>
            <a:fillRect/>
          </a:stretch>
        </p:blipFill>
        <p:spPr>
          <a:xfrm>
            <a:off x="1051560" y="1234440"/>
            <a:ext cx="3873713" cy="5074920"/>
          </a:xfrm>
          <a:prstGeom prst="rect">
            <a:avLst/>
          </a:prstGeom>
        </p:spPr>
      </p:pic>
      <p:sp>
        <p:nvSpPr>
          <p:cNvPr id="6" name="Shape 6"/>
          <p:cNvSpPr/>
          <p:nvPr/>
        </p:nvSpPr>
        <p:spPr>
          <a:xfrm>
            <a:off x="5486400" y="2606040"/>
            <a:ext cx="6035040" cy="1737360"/>
          </a:xfrm>
          <a:prstGeom prst="roundRect">
            <a:avLst>
              <a:gd name="adj" fmla="val 4211"/>
            </a:avLst>
          </a:prstGeom>
          <a:solidFill>
            <a:srgbClr val="EEF3F6"/>
          </a:solidFill>
          <a:ln w="12700">
            <a:solidFill>
              <a:srgbClr val="72BAE3"/>
            </a:solidFill>
            <a:prstDash val="solid"/>
          </a:ln>
        </p:spPr>
      </p:sp>
      <p:sp>
        <p:nvSpPr>
          <p:cNvPr id="7" name="Text 7"/>
          <p:cNvSpPr txBox="1"/>
          <p:nvPr/>
        </p:nvSpPr>
        <p:spPr>
          <a:xfrm>
            <a:off x="5760720" y="2743200"/>
            <a:ext cx="5486400" cy="1463040"/>
          </a:xfrm>
          <a:prstGeom prst="rect">
            <a:avLst/>
          </a:prstGeom>
          <a:noFill/>
          <a:ln>
            <a:noFill/>
          </a:ln>
        </p:spPr>
        <p:txBody>
          <a:bodyPr wrap="square" lIns="0" tIns="0" rIns="0" bIns="0" rtlCol="0" anchor="ctr"/>
          <a:lstStyle/>
          <a:p>
            <a:pPr marL="0" indent="0" algn="l">
              <a:lnSpc>
                <a:spcPct val="105000"/>
              </a:lnSpc>
              <a:buNone/>
            </a:pPr>
            <a:r>
              <a:rPr lang="pt-BR" sz="2000" b="1" dirty="0">
                <a:solidFill>
                  <a:srgbClr val="31485D"/>
                </a:solidFill>
                <a:latin typeface="Arial" pitchFamily="34" charset="0"/>
                <a:ea typeface="Arial" pitchFamily="34" charset="-122"/>
                <a:cs typeface="Arial" pitchFamily="34" charset="-120"/>
              </a:rPr>
              <a:t>85% da capacidade mundial em 10 </a:t>
            </a:r>
            <a:r>
              <a:rPr lang="pt-BR" sz="2000" b="1" i="1" dirty="0">
                <a:solidFill>
                  <a:srgbClr val="31485D"/>
                </a:solidFill>
                <a:latin typeface="Arial" pitchFamily="34" charset="0"/>
                <a:ea typeface="Arial" pitchFamily="34" charset="-122"/>
                <a:cs typeface="Arial" pitchFamily="34" charset="-120"/>
              </a:rPr>
              <a:t>players</a:t>
            </a:r>
          </a:p>
          <a:p>
            <a:pPr marL="0" indent="0" algn="l">
              <a:lnSpc>
                <a:spcPct val="105000"/>
              </a:lnSpc>
              <a:buNone/>
            </a:pPr>
            <a:endParaRPr lang="pt-BR" sz="2000" b="1" dirty="0">
              <a:solidFill>
                <a:srgbClr val="31485D"/>
              </a:solidFill>
              <a:latin typeface="Arial" pitchFamily="34" charset="0"/>
              <a:ea typeface="Arial" pitchFamily="34" charset="-122"/>
              <a:cs typeface="Arial" pitchFamily="34" charset="-120"/>
            </a:endParaRPr>
          </a:p>
          <a:p>
            <a:pPr marL="0" indent="0" algn="l">
              <a:lnSpc>
                <a:spcPct val="105000"/>
              </a:lnSpc>
              <a:buNone/>
            </a:pPr>
            <a:r>
              <a:rPr lang="pt-BR" sz="2000" b="1" dirty="0">
                <a:solidFill>
                  <a:srgbClr val="31485D"/>
                </a:solidFill>
                <a:latin typeface="Arial" pitchFamily="34" charset="0"/>
                <a:ea typeface="Arial" pitchFamily="34" charset="-122"/>
                <a:cs typeface="Arial" pitchFamily="34" charset="-120"/>
              </a:rPr>
              <a:t>Verticalização (terminais) e expansão para atividades terrestres</a:t>
            </a:r>
            <a:endParaRPr lang="pt-BR" sz="2000" dirty="0"/>
          </a:p>
        </p:txBody>
      </p:sp>
      <p:sp>
        <p:nvSpPr>
          <p:cNvPr id="8" name="Text 8"/>
          <p:cNvSpPr txBox="1"/>
          <p:nvPr/>
        </p:nvSpPr>
        <p:spPr>
          <a:xfrm>
            <a:off x="6217920" y="6565392"/>
            <a:ext cx="5806440" cy="256032"/>
          </a:xfrm>
          <a:prstGeom prst="rect">
            <a:avLst/>
          </a:prstGeom>
          <a:noFill/>
          <a:ln>
            <a:noFill/>
          </a:ln>
        </p:spPr>
        <p:txBody>
          <a:bodyPr wrap="square" lIns="0" tIns="0" rIns="0" bIns="0" rtlCol="0" anchor="ctr"/>
          <a:lstStyle/>
          <a:p>
            <a:pPr marL="0" indent="0" algn="r">
              <a:buNone/>
            </a:pPr>
            <a:r>
              <a:rPr lang="pt-BR" sz="700" i="1" dirty="0">
                <a:solidFill>
                  <a:srgbClr val="9AA7B0"/>
                </a:solidFill>
                <a:latin typeface="Arial" pitchFamily="34" charset="0"/>
                <a:ea typeface="Arial" pitchFamily="34" charset="-122"/>
                <a:cs typeface="Arial" pitchFamily="34" charset="-120"/>
              </a:rPr>
              <a:t>Fonte: Alphaliner TOP 100 (Alcott Global)</a:t>
            </a:r>
            <a:endParaRPr lang="pt-BR" sz="700" dirty="0"/>
          </a:p>
        </p:txBody>
      </p:sp>
      <p:sp>
        <p:nvSpPr>
          <p:cNvPr id="9" name="Text 9"/>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14</a:t>
            </a:r>
            <a:endParaRPr lang="pt-BR"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O ciclo do contêiner</a:t>
            </a:r>
            <a:endParaRPr lang="en-US" sz="2400" dirty="0"/>
          </a:p>
        </p:txBody>
      </p:sp>
      <p:sp>
        <p:nvSpPr>
          <p:cNvPr id="5" name="Text 3"/>
          <p:cNvSpPr txBox="1"/>
          <p:nvPr/>
        </p:nvSpPr>
        <p:spPr>
          <a:xfrm>
            <a:off x="975208" y="1234440"/>
            <a:ext cx="10058400" cy="256032"/>
          </a:xfrm>
          <a:prstGeom prst="rect">
            <a:avLst/>
          </a:prstGeom>
          <a:noFill/>
          <a:ln/>
        </p:spPr>
        <p:txBody>
          <a:bodyPr wrap="square" lIns="0" tIns="0" rIns="0" bIns="0" rtlCol="0" anchor="ctr"/>
          <a:lstStyle/>
          <a:p>
            <a:pPr marL="0" indent="0" algn="l">
              <a:buNone/>
            </a:pPr>
            <a:r>
              <a:rPr lang="en-US" sz="1300" b="1" dirty="0">
                <a:solidFill>
                  <a:srgbClr val="72BAE3"/>
                </a:solidFill>
                <a:latin typeface="Arial" pitchFamily="34" charset="0"/>
                <a:ea typeface="Arial" pitchFamily="34" charset="-122"/>
                <a:cs typeface="Arial" pitchFamily="34" charset="-120"/>
              </a:rPr>
              <a:t>Na exportação</a:t>
            </a:r>
            <a:endParaRPr lang="en-US" sz="1300" dirty="0"/>
          </a:p>
        </p:txBody>
      </p:sp>
      <p:pic>
        <p:nvPicPr>
          <p:cNvPr id="6" name="Image 0" descr="assets_proc/timeline_expo_c.png"/>
          <p:cNvPicPr>
            <a:picLocks noChangeAspect="1"/>
          </p:cNvPicPr>
          <p:nvPr/>
        </p:nvPicPr>
        <p:blipFill>
          <a:blip r:embed="rId3"/>
          <a:stretch>
            <a:fillRect/>
          </a:stretch>
        </p:blipFill>
        <p:spPr>
          <a:xfrm>
            <a:off x="883768" y="1527048"/>
            <a:ext cx="10424160" cy="2346332"/>
          </a:xfrm>
          <a:prstGeom prst="rect">
            <a:avLst/>
          </a:prstGeom>
        </p:spPr>
      </p:pic>
      <p:sp>
        <p:nvSpPr>
          <p:cNvPr id="7" name="Text 4"/>
          <p:cNvSpPr txBox="1"/>
          <p:nvPr/>
        </p:nvSpPr>
        <p:spPr>
          <a:xfrm>
            <a:off x="975208" y="4101980"/>
            <a:ext cx="10058400" cy="256032"/>
          </a:xfrm>
          <a:prstGeom prst="rect">
            <a:avLst/>
          </a:prstGeom>
          <a:noFill/>
          <a:ln/>
        </p:spPr>
        <p:txBody>
          <a:bodyPr wrap="square" lIns="0" tIns="0" rIns="0" bIns="0" rtlCol="0" anchor="ctr"/>
          <a:lstStyle/>
          <a:p>
            <a:pPr marL="0" indent="0" algn="l">
              <a:buNone/>
            </a:pPr>
            <a:r>
              <a:rPr lang="en-US" sz="1300" b="1" dirty="0">
                <a:solidFill>
                  <a:srgbClr val="72BAE3"/>
                </a:solidFill>
                <a:latin typeface="Arial" pitchFamily="34" charset="0"/>
                <a:ea typeface="Arial" pitchFamily="34" charset="-122"/>
                <a:cs typeface="Arial" pitchFamily="34" charset="-120"/>
              </a:rPr>
              <a:t>Na importação</a:t>
            </a:r>
            <a:endParaRPr lang="en-US" sz="1300" dirty="0"/>
          </a:p>
        </p:txBody>
      </p:sp>
      <p:pic>
        <p:nvPicPr>
          <p:cNvPr id="8" name="Image 1" descr="assets_proc/timeline_impo_c.png"/>
          <p:cNvPicPr>
            <a:picLocks noChangeAspect="1"/>
          </p:cNvPicPr>
          <p:nvPr/>
        </p:nvPicPr>
        <p:blipFill>
          <a:blip r:embed="rId4"/>
          <a:stretch>
            <a:fillRect/>
          </a:stretch>
        </p:blipFill>
        <p:spPr>
          <a:xfrm>
            <a:off x="883768" y="4394588"/>
            <a:ext cx="10424160" cy="2480664"/>
          </a:xfrm>
          <a:prstGeom prst="rect">
            <a:avLst/>
          </a:prstGeom>
        </p:spPr>
      </p:pic>
      <p:sp>
        <p:nvSpPr>
          <p:cNvPr id="9"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O ciclo do contêiner: exportação</a:t>
            </a:r>
            <a:endParaRPr lang="en-US" sz="2400" dirty="0"/>
          </a:p>
        </p:txBody>
      </p:sp>
      <p:pic>
        <p:nvPicPr>
          <p:cNvPr id="5" name="Image 0" descr="assets_proc/timeline_expo_c.png"/>
          <p:cNvPicPr>
            <a:picLocks noChangeAspect="1"/>
          </p:cNvPicPr>
          <p:nvPr/>
        </p:nvPicPr>
        <p:blipFill>
          <a:blip r:embed="rId3"/>
          <a:stretch>
            <a:fillRect/>
          </a:stretch>
        </p:blipFill>
        <p:spPr>
          <a:xfrm>
            <a:off x="883768" y="1288627"/>
            <a:ext cx="10424160" cy="2346332"/>
          </a:xfrm>
          <a:prstGeom prst="rect">
            <a:avLst/>
          </a:prstGeom>
        </p:spPr>
      </p:pic>
      <p:sp>
        <p:nvSpPr>
          <p:cNvPr id="6" name="Text 3"/>
          <p:cNvSpPr txBox="1"/>
          <p:nvPr/>
        </p:nvSpPr>
        <p:spPr>
          <a:xfrm>
            <a:off x="975208" y="3946532"/>
            <a:ext cx="10515600" cy="292608"/>
          </a:xfrm>
          <a:prstGeom prst="rect">
            <a:avLst/>
          </a:prstGeom>
          <a:noFill/>
          <a:ln/>
        </p:spPr>
        <p:txBody>
          <a:bodyPr wrap="square" lIns="0" tIns="0" rIns="0" bIns="0" rtlCol="0" anchor="ctr"/>
          <a:lstStyle/>
          <a:p>
            <a:pPr marL="0" indent="0" algn="l">
              <a:buNone/>
            </a:pPr>
            <a:r>
              <a:rPr lang="en-US" sz="1200" b="1" dirty="0">
                <a:solidFill>
                  <a:srgbClr val="72BAE3"/>
                </a:solidFill>
                <a:latin typeface="Arial" pitchFamily="34" charset="0"/>
                <a:ea typeface="Arial" pitchFamily="34" charset="-122"/>
                <a:cs typeface="Arial" pitchFamily="34" charset="-120"/>
              </a:rPr>
              <a:t>Exemplo real de rastreio — BL 243245542 · Itapoá → Charleston · MSKU0426624 (40' Dry High)</a:t>
            </a:r>
            <a:endParaRPr lang="en-US" sz="1200" dirty="0"/>
          </a:p>
        </p:txBody>
      </p:sp>
      <p:pic>
        <p:nvPicPr>
          <p:cNvPr id="7" name="Image 1" descr="assets/slide11_exemplo_rastreio_real.png"/>
          <p:cNvPicPr>
            <a:picLocks noChangeAspect="1"/>
          </p:cNvPicPr>
          <p:nvPr/>
        </p:nvPicPr>
        <p:blipFill>
          <a:blip r:embed="rId4"/>
          <a:stretch>
            <a:fillRect/>
          </a:stretch>
        </p:blipFill>
        <p:spPr>
          <a:xfrm>
            <a:off x="655168" y="4312292"/>
            <a:ext cx="10881360" cy="2434615"/>
          </a:xfrm>
          <a:prstGeom prst="rect">
            <a:avLst/>
          </a:prstGeom>
        </p:spPr>
      </p:pic>
      <p:sp>
        <p:nvSpPr>
          <p:cNvPr id="8" name="Text 4"/>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Rastreio: Maersk (exemplo real)</a:t>
            </a:r>
            <a:endParaRPr lang="en-US" sz="700" dirty="0"/>
          </a:p>
        </p:txBody>
      </p:sp>
      <p:sp>
        <p:nvSpPr>
          <p:cNvPr id="9"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A Confirmação de Reserva de Praça (Booking Confirmation): exemplo</a:t>
            </a:r>
            <a:endParaRPr lang="en-US" sz="2400" dirty="0"/>
          </a:p>
        </p:txBody>
      </p:sp>
      <p:sp>
        <p:nvSpPr>
          <p:cNvPr id="5" name="Shape 3"/>
          <p:cNvSpPr/>
          <p:nvPr/>
        </p:nvSpPr>
        <p:spPr>
          <a:xfrm>
            <a:off x="868680" y="365760"/>
            <a:ext cx="10972800" cy="548640"/>
          </a:xfrm>
          <a:prstGeom prst="rect">
            <a:avLst/>
          </a:prstGeom>
          <a:solidFill>
            <a:srgbClr val="FFFFFF"/>
          </a:solidFill>
          <a:ln/>
        </p:spPr>
      </p:sp>
      <p:sp>
        <p:nvSpPr>
          <p:cNvPr id="6" name="Text 4"/>
          <p:cNvSpPr txBox="1"/>
          <p:nvPr/>
        </p:nvSpPr>
        <p:spPr>
          <a:xfrm>
            <a:off x="868680" y="365760"/>
            <a:ext cx="10972800" cy="548640"/>
          </a:xfrm>
          <a:prstGeom prst="rect">
            <a:avLst/>
          </a:prstGeom>
          <a:noFill/>
          <a:ln/>
        </p:spPr>
        <p:txBody>
          <a:bodyPr wrap="square" lIns="0" tIns="0" rIns="0" bIns="0" rtlCol="0" anchor="ctr"/>
          <a:lstStyle/>
          <a:p>
            <a:pPr marL="0" indent="0" algn="l">
              <a:buNone/>
            </a:pPr>
            <a:r>
              <a:rPr lang="en-US" sz="2200" b="1" dirty="0">
                <a:solidFill>
                  <a:srgbClr val="31485D"/>
                </a:solidFill>
                <a:latin typeface="Arial" pitchFamily="34" charset="0"/>
                <a:ea typeface="Arial" pitchFamily="34" charset="-122"/>
                <a:cs typeface="Arial" pitchFamily="34" charset="-120"/>
              </a:rPr>
              <a:t>A Confirmação de Reserva de Praça (</a:t>
            </a:r>
            <a:r>
              <a:rPr lang="en-US" sz="2200" b="1" i="1" dirty="0">
                <a:solidFill>
                  <a:srgbClr val="31485D"/>
                </a:solidFill>
                <a:latin typeface="Arial" pitchFamily="34" charset="0"/>
                <a:ea typeface="Arial" pitchFamily="34" charset="-122"/>
                <a:cs typeface="Arial" pitchFamily="34" charset="-120"/>
              </a:rPr>
              <a:t>Booking Confirmation</a:t>
            </a:r>
            <a:r>
              <a:rPr lang="en-US" sz="2200" b="1" dirty="0">
                <a:solidFill>
                  <a:srgbClr val="31485D"/>
                </a:solidFill>
                <a:latin typeface="Arial" pitchFamily="34" charset="0"/>
                <a:ea typeface="Arial" pitchFamily="34" charset="-122"/>
                <a:cs typeface="Arial" pitchFamily="34" charset="-120"/>
              </a:rPr>
              <a:t>): exemplo</a:t>
            </a:r>
            <a:endParaRPr lang="en-US" sz="2200" dirty="0"/>
          </a:p>
        </p:txBody>
      </p:sp>
      <p:pic>
        <p:nvPicPr>
          <p:cNvPr id="7" name="Image 0" descr="assets/slide12_booking_1_capa.png"/>
          <p:cNvPicPr>
            <a:picLocks noChangeAspect="1"/>
          </p:cNvPicPr>
          <p:nvPr/>
        </p:nvPicPr>
        <p:blipFill>
          <a:blip r:embed="rId3"/>
          <a:stretch>
            <a:fillRect/>
          </a:stretch>
        </p:blipFill>
        <p:spPr>
          <a:xfrm>
            <a:off x="541688" y="2059107"/>
            <a:ext cx="6120000" cy="2794194"/>
          </a:xfrm>
          <a:prstGeom prst="rect">
            <a:avLst/>
          </a:prstGeom>
        </p:spPr>
      </p:pic>
      <p:pic>
        <p:nvPicPr>
          <p:cNvPr id="8" name="Image 1" descr="assets/slide12_booking_2_rota.png"/>
          <p:cNvPicPr>
            <a:picLocks noChangeAspect="1"/>
          </p:cNvPicPr>
          <p:nvPr/>
        </p:nvPicPr>
        <p:blipFill>
          <a:blip r:embed="rId4"/>
          <a:stretch>
            <a:fillRect/>
          </a:stretch>
        </p:blipFill>
        <p:spPr>
          <a:xfrm>
            <a:off x="6137919" y="2059106"/>
            <a:ext cx="6120000" cy="2068094"/>
          </a:xfrm>
          <a:prstGeom prst="rect">
            <a:avLst/>
          </a:prstGeom>
        </p:spPr>
      </p:pic>
      <p:pic>
        <p:nvPicPr>
          <p:cNvPr id="9" name="Image 2" descr="assets/slide12_booking_3_deadlines.png"/>
          <p:cNvPicPr>
            <a:picLocks noChangeAspect="1"/>
          </p:cNvPicPr>
          <p:nvPr/>
        </p:nvPicPr>
        <p:blipFill>
          <a:blip r:embed="rId5"/>
          <a:stretch>
            <a:fillRect/>
          </a:stretch>
        </p:blipFill>
        <p:spPr>
          <a:xfrm>
            <a:off x="6137919" y="4170679"/>
            <a:ext cx="6120000" cy="1679110"/>
          </a:xfrm>
          <a:prstGeom prst="rect">
            <a:avLst/>
          </a:prstGeom>
        </p:spPr>
      </p:pic>
      <p:sp>
        <p:nvSpPr>
          <p:cNvPr id="10"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Na teoria, é assim que o sistema deveria funcionar</a:t>
            </a:r>
            <a:endParaRPr lang="en-US" sz="2400" dirty="0"/>
          </a:p>
        </p:txBody>
      </p:sp>
      <p:pic>
        <p:nvPicPr>
          <p:cNvPr id="5" name="Image 0" descr="assets/slide13_teoria_sistema.jpg"/>
          <p:cNvPicPr>
            <a:picLocks noChangeAspect="1"/>
          </p:cNvPicPr>
          <p:nvPr/>
        </p:nvPicPr>
        <p:blipFill>
          <a:blip r:embed="rId3"/>
          <a:stretch>
            <a:fillRect/>
          </a:stretch>
        </p:blipFill>
        <p:spPr>
          <a:xfrm>
            <a:off x="2621280" y="1234440"/>
            <a:ext cx="7376160" cy="4023360"/>
          </a:xfrm>
          <a:prstGeom prst="rect">
            <a:avLst/>
          </a:prstGeom>
        </p:spPr>
      </p:pic>
      <p:sp>
        <p:nvSpPr>
          <p:cNvPr id="6" name="Text 3"/>
          <p:cNvSpPr txBox="1"/>
          <p:nvPr/>
        </p:nvSpPr>
        <p:spPr>
          <a:xfrm>
            <a:off x="1005840" y="5440680"/>
            <a:ext cx="10515600" cy="822960"/>
          </a:xfrm>
          <a:prstGeom prst="rect">
            <a:avLst/>
          </a:prstGeom>
          <a:noFill/>
          <a:ln/>
        </p:spPr>
        <p:txBody>
          <a:bodyPr wrap="square" lIns="0" tIns="0" rIns="0" bIns="0" rtlCol="0" anchor="ctr"/>
          <a:lstStyle/>
          <a:p>
            <a:pPr marL="0" indent="0" algn="ctr">
              <a:lnSpc>
                <a:spcPct val="105000"/>
              </a:lnSpc>
              <a:buNone/>
            </a:pPr>
            <a:r>
              <a:rPr lang="en-US" sz="1400" dirty="0">
                <a:solidFill>
                  <a:srgbClr val="31485D"/>
                </a:solidFill>
                <a:latin typeface="Arial" pitchFamily="34" charset="0"/>
                <a:ea typeface="Arial" pitchFamily="34" charset="-122"/>
                <a:cs typeface="Arial" pitchFamily="34" charset="-120"/>
              </a:rPr>
              <a:t>Atraso ou omissão de escala perturbariam o sistema, levando a rolagem de cargas, mas o usuário conseguiria entregar ou devolver o contêiner conforme o combinado.</a:t>
            </a:r>
            <a:endParaRPr lang="en-US" sz="1400" dirty="0"/>
          </a:p>
        </p:txBody>
      </p:sp>
      <p:sp>
        <p:nvSpPr>
          <p:cNvPr id="7" name="Text 4"/>
          <p:cNvSpPr txBox="1"/>
          <p:nvPr/>
        </p:nvSpPr>
        <p:spPr>
          <a:xfrm>
            <a:off x="6217920" y="6565392"/>
            <a:ext cx="5806440" cy="256032"/>
          </a:xfrm>
          <a:prstGeom prst="rect">
            <a:avLst/>
          </a:prstGeom>
          <a:noFill/>
          <a:ln/>
        </p:spPr>
        <p:txBody>
          <a:bodyPr wrap="square" lIns="0" tIns="0" rIns="0" bIns="0" rtlCol="0" anchor="ctr"/>
          <a:lstStyle/>
          <a:p>
            <a:pPr marL="0" indent="0" algn="r">
              <a:buNone/>
            </a:pPr>
            <a:r>
              <a:rPr lang="en-US" sz="700" i="1" dirty="0">
                <a:solidFill>
                  <a:srgbClr val="9AA7B0"/>
                </a:solidFill>
                <a:latin typeface="Arial" pitchFamily="34" charset="0"/>
                <a:ea typeface="Arial" pitchFamily="34" charset="-122"/>
                <a:cs typeface="Arial" pitchFamily="34" charset="-120"/>
              </a:rPr>
              <a:t>Imagem ilustrativa / gerada por IA</a:t>
            </a:r>
            <a:endParaRPr lang="en-US" sz="700" dirty="0"/>
          </a:p>
        </p:txBody>
      </p:sp>
      <p:sp>
        <p:nvSpPr>
          <p:cNvPr id="8" name="Text 5"/>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"Bem-vindos ao mundo real"</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Afinal, o GEF Contêineres não surge do nada</a:t>
            </a:r>
            <a:endParaRPr lang="en-US" sz="1400" dirty="0"/>
          </a:p>
        </p:txBody>
      </p:sp>
      <p:sp>
        <p:nvSpPr>
          <p:cNvPr id="6" name="Shape 4"/>
          <p:cNvSpPr/>
          <p:nvPr/>
        </p:nvSpPr>
        <p:spPr>
          <a:xfrm>
            <a:off x="868680" y="1417320"/>
            <a:ext cx="5120640" cy="2743200"/>
          </a:xfrm>
          <a:prstGeom prst="roundRect">
            <a:avLst>
              <a:gd name="adj" fmla="val 2667"/>
            </a:avLst>
          </a:prstGeom>
          <a:solidFill>
            <a:srgbClr val="EEF3F6"/>
          </a:solidFill>
          <a:ln w="15875">
            <a:solidFill>
              <a:srgbClr val="72BAE3"/>
            </a:solidFill>
            <a:prstDash val="solid"/>
          </a:ln>
        </p:spPr>
      </p:sp>
      <p:sp>
        <p:nvSpPr>
          <p:cNvPr id="7" name="Text 5"/>
          <p:cNvSpPr txBox="1"/>
          <p:nvPr/>
        </p:nvSpPr>
        <p:spPr>
          <a:xfrm>
            <a:off x="1097280" y="1554480"/>
            <a:ext cx="4663440" cy="411480"/>
          </a:xfrm>
          <a:prstGeom prst="rect">
            <a:avLst/>
          </a:prstGeom>
          <a:noFill/>
          <a:ln/>
        </p:spPr>
        <p:txBody>
          <a:bodyPr wrap="square" lIns="0" tIns="0" rIns="0" bIns="0" rtlCol="0" anchor="ctr"/>
          <a:lstStyle/>
          <a:p>
            <a:pPr marL="0" indent="0" algn="l">
              <a:buNone/>
            </a:pPr>
            <a:r>
              <a:rPr lang="en-US" sz="1500" b="1" dirty="0">
                <a:solidFill>
                  <a:srgbClr val="31485D"/>
                </a:solidFill>
                <a:latin typeface="Arial" pitchFamily="34" charset="0"/>
                <a:ea typeface="Arial" pitchFamily="34" charset="-122"/>
                <a:cs typeface="Arial" pitchFamily="34" charset="-120"/>
              </a:rPr>
              <a:t>O problema</a:t>
            </a:r>
            <a:endParaRPr lang="en-US" sz="1500" dirty="0"/>
          </a:p>
        </p:txBody>
      </p:sp>
      <p:sp>
        <p:nvSpPr>
          <p:cNvPr id="8" name="Text 6"/>
          <p:cNvSpPr txBox="1"/>
          <p:nvPr/>
        </p:nvSpPr>
        <p:spPr>
          <a:xfrm>
            <a:off x="1097280" y="2011680"/>
            <a:ext cx="4663440" cy="2057400"/>
          </a:xfrm>
          <a:prstGeom prst="rect">
            <a:avLst/>
          </a:prstGeom>
          <a:noFill/>
          <a:ln/>
        </p:spPr>
        <p:txBody>
          <a:bodyPr wrap="square" lIns="0" tIns="0" rIns="0" bIns="0" rtlCol="0" anchor="t"/>
          <a:lstStyle/>
          <a:p>
            <a:pPr marL="0" indent="0" algn="l">
              <a:lnSpc>
                <a:spcPct val="110000"/>
              </a:lnSpc>
              <a:buNone/>
            </a:pPr>
            <a:r>
              <a:rPr lang="en-US" sz="1400" dirty="0">
                <a:solidFill>
                  <a:srgbClr val="3A4750"/>
                </a:solidFill>
                <a:latin typeface="Arial" pitchFamily="34" charset="0"/>
                <a:ea typeface="Arial" pitchFamily="34" charset="-122"/>
                <a:cs typeface="Arial" pitchFamily="34" charset="-120"/>
              </a:rPr>
              <a:t>Usuários impossibilitados de entregarem contêineres cheios aos terminais de exportação ou devolverem contêineres vazios aos depots (nos locais indicados pelo transportador) por razões alheias a sua vontade</a:t>
            </a:r>
            <a:endParaRPr lang="en-US" sz="1400" dirty="0"/>
          </a:p>
        </p:txBody>
      </p:sp>
      <p:sp>
        <p:nvSpPr>
          <p:cNvPr id="9" name="Text 7"/>
          <p:cNvSpPr txBox="1"/>
          <p:nvPr/>
        </p:nvSpPr>
        <p:spPr>
          <a:xfrm>
            <a:off x="868680" y="4343400"/>
            <a:ext cx="5120640" cy="822960"/>
          </a:xfrm>
          <a:prstGeom prst="rect">
            <a:avLst/>
          </a:prstGeom>
          <a:noFill/>
          <a:ln/>
        </p:spPr>
        <p:txBody>
          <a:bodyPr wrap="square" lIns="0" tIns="0" rIns="0" bIns="0" rtlCol="0" anchor="t"/>
          <a:lstStyle/>
          <a:p>
            <a:pPr marL="0" indent="0" algn="l">
              <a:lnSpc>
                <a:spcPct val="105000"/>
              </a:lnSpc>
              <a:buNone/>
            </a:pPr>
            <a:r>
              <a:rPr lang="en-US" sz="1500" b="1" dirty="0">
                <a:solidFill>
                  <a:srgbClr val="31485D"/>
                </a:solidFill>
                <a:latin typeface="Arial" pitchFamily="34" charset="0"/>
                <a:ea typeface="Arial" pitchFamily="34" charset="-122"/>
                <a:cs typeface="Arial" pitchFamily="34" charset="-120"/>
              </a:rPr>
              <a:t>Aumento expressivo na quantidade de denúncias recebidas</a:t>
            </a:r>
            <a:endParaRPr lang="en-US" sz="1500" dirty="0"/>
          </a:p>
        </p:txBody>
      </p:sp>
      <p:pic>
        <p:nvPicPr>
          <p:cNvPr id="10" name="Image 0" descr="assets/slide14_grafico_denuncias.png"/>
          <p:cNvPicPr>
            <a:picLocks noChangeAspect="1"/>
          </p:cNvPicPr>
          <p:nvPr/>
        </p:nvPicPr>
        <p:blipFill>
          <a:blip r:embed="rId3"/>
          <a:stretch>
            <a:fillRect/>
          </a:stretch>
        </p:blipFill>
        <p:spPr>
          <a:xfrm>
            <a:off x="6217920" y="2139696"/>
            <a:ext cx="5486400" cy="3401568"/>
          </a:xfrm>
          <a:prstGeom prst="rect">
            <a:avLst/>
          </a:prstGeom>
        </p:spPr>
      </p:pic>
      <p:sp>
        <p:nvSpPr>
          <p:cNvPr id="11" name="Text 8"/>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"Bem-vindos ao mundo real"</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Exemplo prático: sucessivas atualizações e alterações de reserva</a:t>
            </a:r>
            <a:endParaRPr lang="en-US" sz="1400" dirty="0"/>
          </a:p>
        </p:txBody>
      </p:sp>
      <p:sp>
        <p:nvSpPr>
          <p:cNvPr id="9" name="Text 4"/>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20</a:t>
            </a:r>
            <a:endParaRPr lang="en-US" sz="900" dirty="0"/>
          </a:p>
        </p:txBody>
      </p:sp>
      <p:pic>
        <p:nvPicPr>
          <p:cNvPr id="11" name="Image 0" descr="assets/slide12_booking_1_capa.png">
            <a:extLst>
              <a:ext uri="{FF2B5EF4-FFF2-40B4-BE49-F238E27FC236}">
                <a16:creationId xmlns:a16="http://schemas.microsoft.com/office/drawing/2014/main" id="{B8D718F0-992D-858C-9B98-9294C5C7369B}"/>
              </a:ext>
            </a:extLst>
          </p:cNvPr>
          <p:cNvPicPr>
            <a:picLocks noChangeAspect="1"/>
          </p:cNvPicPr>
          <p:nvPr/>
        </p:nvPicPr>
        <p:blipFill>
          <a:blip r:embed="rId3"/>
          <a:stretch>
            <a:fillRect/>
          </a:stretch>
        </p:blipFill>
        <p:spPr>
          <a:xfrm>
            <a:off x="634822" y="2059107"/>
            <a:ext cx="5400000" cy="2465466"/>
          </a:xfrm>
          <a:prstGeom prst="rect">
            <a:avLst/>
          </a:prstGeom>
        </p:spPr>
      </p:pic>
      <p:pic>
        <p:nvPicPr>
          <p:cNvPr id="13" name="Image 1" descr="assets/slide12_booking_2_rota.png">
            <a:extLst>
              <a:ext uri="{FF2B5EF4-FFF2-40B4-BE49-F238E27FC236}">
                <a16:creationId xmlns:a16="http://schemas.microsoft.com/office/drawing/2014/main" id="{5ED8F8AB-91A6-F534-F1F5-5821FD3DC9D0}"/>
              </a:ext>
            </a:extLst>
          </p:cNvPr>
          <p:cNvPicPr>
            <a:picLocks noChangeAspect="1"/>
          </p:cNvPicPr>
          <p:nvPr/>
        </p:nvPicPr>
        <p:blipFill>
          <a:blip r:embed="rId4"/>
          <a:stretch>
            <a:fillRect/>
          </a:stretch>
        </p:blipFill>
        <p:spPr>
          <a:xfrm>
            <a:off x="6231053" y="2059107"/>
            <a:ext cx="5400000" cy="1824788"/>
          </a:xfrm>
          <a:prstGeom prst="rect">
            <a:avLst/>
          </a:prstGeom>
        </p:spPr>
      </p:pic>
      <p:pic>
        <p:nvPicPr>
          <p:cNvPr id="15" name="Image 2" descr="assets/slide12_booking_3_deadlines.png">
            <a:extLst>
              <a:ext uri="{FF2B5EF4-FFF2-40B4-BE49-F238E27FC236}">
                <a16:creationId xmlns:a16="http://schemas.microsoft.com/office/drawing/2014/main" id="{E16F6B3E-401B-28E4-CB7C-8C322AF7C4C8}"/>
              </a:ext>
            </a:extLst>
          </p:cNvPr>
          <p:cNvPicPr>
            <a:picLocks noChangeAspect="1"/>
          </p:cNvPicPr>
          <p:nvPr/>
        </p:nvPicPr>
        <p:blipFill>
          <a:blip r:embed="rId5"/>
          <a:stretch>
            <a:fillRect/>
          </a:stretch>
        </p:blipFill>
        <p:spPr>
          <a:xfrm>
            <a:off x="6309360" y="4170680"/>
            <a:ext cx="5400000" cy="14815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"Bem-vindos ao mundo real"</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Exemplo prático: sucessivas atualizações e alterações de reserva</a:t>
            </a:r>
            <a:endParaRPr lang="en-US" sz="1400" dirty="0"/>
          </a:p>
        </p:txBody>
      </p:sp>
      <p:pic>
        <p:nvPicPr>
          <p:cNvPr id="6" name="Image 0" descr="assets/slide16_booking_8update_1_capa.png"/>
          <p:cNvPicPr>
            <a:picLocks noChangeAspect="1"/>
          </p:cNvPicPr>
          <p:nvPr/>
        </p:nvPicPr>
        <p:blipFill>
          <a:blip r:embed="rId3"/>
          <a:stretch>
            <a:fillRect/>
          </a:stretch>
        </p:blipFill>
        <p:spPr>
          <a:xfrm>
            <a:off x="850007" y="1280160"/>
            <a:ext cx="5400000" cy="2465660"/>
          </a:xfrm>
          <a:prstGeom prst="rect">
            <a:avLst/>
          </a:prstGeom>
        </p:spPr>
      </p:pic>
      <p:pic>
        <p:nvPicPr>
          <p:cNvPr id="7" name="Image 1" descr="assets/slide16_booking_8update_2_rota.png"/>
          <p:cNvPicPr>
            <a:picLocks noChangeAspect="1"/>
          </p:cNvPicPr>
          <p:nvPr/>
        </p:nvPicPr>
        <p:blipFill>
          <a:blip r:embed="rId4"/>
          <a:stretch>
            <a:fillRect/>
          </a:stretch>
        </p:blipFill>
        <p:spPr>
          <a:xfrm>
            <a:off x="850008" y="3704135"/>
            <a:ext cx="5400000" cy="1827170"/>
          </a:xfrm>
          <a:prstGeom prst="rect">
            <a:avLst/>
          </a:prstGeom>
        </p:spPr>
      </p:pic>
      <p:pic>
        <p:nvPicPr>
          <p:cNvPr id="8" name="Image 2" descr="assets/slide16_booking_8update_3_deadlines.png"/>
          <p:cNvPicPr>
            <a:picLocks noChangeAspect="1"/>
          </p:cNvPicPr>
          <p:nvPr/>
        </p:nvPicPr>
        <p:blipFill>
          <a:blip r:embed="rId5"/>
          <a:stretch>
            <a:fillRect/>
          </a:stretch>
        </p:blipFill>
        <p:spPr>
          <a:xfrm>
            <a:off x="850008" y="5285805"/>
            <a:ext cx="5400000" cy="1480755"/>
          </a:xfrm>
          <a:prstGeom prst="rect">
            <a:avLst/>
          </a:prstGeom>
        </p:spPr>
      </p:pic>
      <p:sp>
        <p:nvSpPr>
          <p:cNvPr id="9" name="Shape 4"/>
          <p:cNvSpPr/>
          <p:nvPr/>
        </p:nvSpPr>
        <p:spPr>
          <a:xfrm>
            <a:off x="7132320" y="1737360"/>
            <a:ext cx="4526280" cy="1280160"/>
          </a:xfrm>
          <a:prstGeom prst="roundRect">
            <a:avLst>
              <a:gd name="adj" fmla="val 5714"/>
            </a:avLst>
          </a:prstGeom>
          <a:solidFill>
            <a:srgbClr val="EEF3F6"/>
          </a:solidFill>
          <a:ln w="12700">
            <a:solidFill>
              <a:srgbClr val="72BAE3"/>
            </a:solidFill>
            <a:prstDash val="solid"/>
          </a:ln>
        </p:spPr>
      </p:sp>
      <p:sp>
        <p:nvSpPr>
          <p:cNvPr id="10" name="Shape 5"/>
          <p:cNvSpPr/>
          <p:nvPr/>
        </p:nvSpPr>
        <p:spPr>
          <a:xfrm>
            <a:off x="7132320" y="1737360"/>
            <a:ext cx="109728" cy="1280160"/>
          </a:xfrm>
          <a:prstGeom prst="rect">
            <a:avLst/>
          </a:prstGeom>
          <a:solidFill>
            <a:srgbClr val="31485D"/>
          </a:solidFill>
          <a:ln/>
        </p:spPr>
      </p:sp>
      <p:sp>
        <p:nvSpPr>
          <p:cNvPr id="11" name="Text 6"/>
          <p:cNvSpPr txBox="1"/>
          <p:nvPr/>
        </p:nvSpPr>
        <p:spPr>
          <a:xfrm>
            <a:off x="7406640" y="1737360"/>
            <a:ext cx="4114800" cy="1280160"/>
          </a:xfrm>
          <a:prstGeom prst="rect">
            <a:avLst/>
          </a:prstGeom>
          <a:noFill/>
          <a:ln/>
        </p:spPr>
        <p:txBody>
          <a:bodyPr wrap="square" lIns="0" tIns="0" rIns="0" bIns="0" rtlCol="0" anchor="ctr"/>
          <a:lstStyle/>
          <a:p>
            <a:pPr marL="0" indent="0" algn="l">
              <a:lnSpc>
                <a:spcPct val="105000"/>
              </a:lnSpc>
              <a:buNone/>
            </a:pPr>
            <a:r>
              <a:rPr lang="en-US" sz="1350" dirty="0">
                <a:solidFill>
                  <a:srgbClr val="31485D"/>
                </a:solidFill>
                <a:latin typeface="Arial" pitchFamily="34" charset="0"/>
                <a:ea typeface="Arial" pitchFamily="34" charset="-122"/>
                <a:cs typeface="Arial" pitchFamily="34" charset="-120"/>
              </a:rPr>
              <a:t>Entre outros, alterou também o depot para retirada dos contêineres vazios</a:t>
            </a:r>
            <a:endParaRPr lang="en-US" sz="1350" dirty="0"/>
          </a:p>
        </p:txBody>
      </p:sp>
      <p:sp>
        <p:nvSpPr>
          <p:cNvPr id="12" name="Shape 7"/>
          <p:cNvSpPr/>
          <p:nvPr/>
        </p:nvSpPr>
        <p:spPr>
          <a:xfrm>
            <a:off x="7132320" y="3337560"/>
            <a:ext cx="4526280" cy="1280160"/>
          </a:xfrm>
          <a:prstGeom prst="roundRect">
            <a:avLst>
              <a:gd name="adj" fmla="val 5714"/>
            </a:avLst>
          </a:prstGeom>
          <a:solidFill>
            <a:srgbClr val="EEF3F6"/>
          </a:solidFill>
          <a:ln w="12700">
            <a:solidFill>
              <a:srgbClr val="72BAE3"/>
            </a:solidFill>
            <a:prstDash val="solid"/>
          </a:ln>
        </p:spPr>
      </p:sp>
      <p:sp>
        <p:nvSpPr>
          <p:cNvPr id="13" name="Shape 8"/>
          <p:cNvSpPr/>
          <p:nvPr/>
        </p:nvSpPr>
        <p:spPr>
          <a:xfrm>
            <a:off x="7132320" y="3337560"/>
            <a:ext cx="109728" cy="1280160"/>
          </a:xfrm>
          <a:prstGeom prst="rect">
            <a:avLst/>
          </a:prstGeom>
          <a:solidFill>
            <a:srgbClr val="31485D"/>
          </a:solidFill>
          <a:ln/>
        </p:spPr>
      </p:sp>
      <p:sp>
        <p:nvSpPr>
          <p:cNvPr id="14" name="Text 9"/>
          <p:cNvSpPr txBox="1"/>
          <p:nvPr/>
        </p:nvSpPr>
        <p:spPr>
          <a:xfrm>
            <a:off x="7406640" y="3337560"/>
            <a:ext cx="4114800" cy="1280160"/>
          </a:xfrm>
          <a:prstGeom prst="rect">
            <a:avLst/>
          </a:prstGeom>
          <a:noFill/>
          <a:ln/>
        </p:spPr>
        <p:txBody>
          <a:bodyPr wrap="square" lIns="0" tIns="0" rIns="0" bIns="0" rtlCol="0" anchor="ctr"/>
          <a:lstStyle/>
          <a:p>
            <a:pPr marL="0" indent="0" algn="l">
              <a:lnSpc>
                <a:spcPct val="105000"/>
              </a:lnSpc>
              <a:buNone/>
            </a:pPr>
            <a:r>
              <a:rPr lang="en-US" sz="1350" dirty="0">
                <a:solidFill>
                  <a:srgbClr val="31485D"/>
                </a:solidFill>
                <a:latin typeface="Arial" pitchFamily="34" charset="0"/>
                <a:ea typeface="Arial" pitchFamily="34" charset="-122"/>
                <a:cs typeface="Arial" pitchFamily="34" charset="-120"/>
              </a:rPr>
              <a:t>Retirou os contêineres em 03/11/2023 (quando o ETD era 11/11/2023 e o DDL era 08/11/2023), tinha 5 dias de </a:t>
            </a:r>
            <a:r>
              <a:rPr lang="en-US" sz="1350" i="1" dirty="0">
                <a:solidFill>
                  <a:srgbClr val="31485D"/>
                </a:solidFill>
                <a:latin typeface="Arial" pitchFamily="34" charset="0"/>
                <a:ea typeface="Arial" pitchFamily="34" charset="-122"/>
                <a:cs typeface="Arial" pitchFamily="34" charset="-120"/>
              </a:rPr>
              <a:t>free time</a:t>
            </a:r>
            <a:endParaRPr lang="en-US" sz="1350" dirty="0"/>
          </a:p>
        </p:txBody>
      </p:sp>
      <p:sp>
        <p:nvSpPr>
          <p:cNvPr id="15" name="Shape 10"/>
          <p:cNvSpPr/>
          <p:nvPr/>
        </p:nvSpPr>
        <p:spPr>
          <a:xfrm>
            <a:off x="7132320" y="4937760"/>
            <a:ext cx="4526280" cy="1280160"/>
          </a:xfrm>
          <a:prstGeom prst="roundRect">
            <a:avLst>
              <a:gd name="adj" fmla="val 5714"/>
            </a:avLst>
          </a:prstGeom>
          <a:solidFill>
            <a:srgbClr val="EEF3F6"/>
          </a:solidFill>
          <a:ln w="12700">
            <a:solidFill>
              <a:srgbClr val="72BAE3"/>
            </a:solidFill>
            <a:prstDash val="solid"/>
          </a:ln>
        </p:spPr>
      </p:sp>
      <p:sp>
        <p:nvSpPr>
          <p:cNvPr id="16" name="Shape 11"/>
          <p:cNvSpPr/>
          <p:nvPr/>
        </p:nvSpPr>
        <p:spPr>
          <a:xfrm>
            <a:off x="7132320" y="4937760"/>
            <a:ext cx="109728" cy="1280160"/>
          </a:xfrm>
          <a:prstGeom prst="rect">
            <a:avLst/>
          </a:prstGeom>
          <a:solidFill>
            <a:srgbClr val="31485D"/>
          </a:solidFill>
          <a:ln/>
        </p:spPr>
      </p:sp>
      <p:sp>
        <p:nvSpPr>
          <p:cNvPr id="17" name="Text 12"/>
          <p:cNvSpPr txBox="1"/>
          <p:nvPr/>
        </p:nvSpPr>
        <p:spPr>
          <a:xfrm>
            <a:off x="7406640" y="4937760"/>
            <a:ext cx="4114800" cy="1280160"/>
          </a:xfrm>
          <a:prstGeom prst="rect">
            <a:avLst/>
          </a:prstGeom>
          <a:noFill/>
          <a:ln/>
        </p:spPr>
        <p:txBody>
          <a:bodyPr wrap="square" lIns="0" tIns="0" rIns="0" bIns="0" rtlCol="0" anchor="ctr"/>
          <a:lstStyle/>
          <a:p>
            <a:pPr marL="0" indent="0" algn="l">
              <a:lnSpc>
                <a:spcPct val="105000"/>
              </a:lnSpc>
              <a:buNone/>
            </a:pPr>
            <a:r>
              <a:rPr lang="en-US" sz="1350" dirty="0">
                <a:solidFill>
                  <a:srgbClr val="31485D"/>
                </a:solidFill>
                <a:latin typeface="Arial" pitchFamily="34" charset="0"/>
                <a:ea typeface="Arial" pitchFamily="34" charset="-122"/>
                <a:cs typeface="Arial" pitchFamily="34" charset="-120"/>
              </a:rPr>
              <a:t>No dia 05/11/2023, recebeu a 9ª atualização da reserva, e a livre estadia começava a ficar em risco…</a:t>
            </a:r>
            <a:endParaRPr lang="en-US" sz="1350" dirty="0"/>
          </a:p>
        </p:txBody>
      </p:sp>
      <p:sp>
        <p:nvSpPr>
          <p:cNvPr id="18" name="Text 13"/>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"Bem-vindos ao mundo real"</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Exemplo prático: sucessivas atualizações e alterações de reserva</a:t>
            </a:r>
            <a:endParaRPr lang="en-US" sz="1400" dirty="0"/>
          </a:p>
        </p:txBody>
      </p:sp>
      <p:pic>
        <p:nvPicPr>
          <p:cNvPr id="6" name="Image 0" descr="assets/slide17_portal_btp_one_amazon.png"/>
          <p:cNvPicPr>
            <a:picLocks noChangeAspect="1"/>
          </p:cNvPicPr>
          <p:nvPr/>
        </p:nvPicPr>
        <p:blipFill>
          <a:blip r:embed="rId3"/>
          <a:stretch>
            <a:fillRect/>
          </a:stretch>
        </p:blipFill>
        <p:spPr>
          <a:xfrm>
            <a:off x="1836284" y="1463040"/>
            <a:ext cx="8946152" cy="4754880"/>
          </a:xfrm>
          <a:prstGeom prst="rect">
            <a:avLst/>
          </a:prstGeom>
        </p:spPr>
      </p:pic>
      <p:sp>
        <p:nvSpPr>
          <p:cNvPr id="7" name="Text 4"/>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31485D"/>
          </a:solidFill>
          <a:ln/>
        </p:spPr>
      </p:sp>
      <p:sp>
        <p:nvSpPr>
          <p:cNvPr id="3" name="Text 1"/>
          <p:cNvSpPr txBox="1"/>
          <p:nvPr/>
        </p:nvSpPr>
        <p:spPr>
          <a:xfrm rot="16200000">
            <a:off x="-3177540" y="3177540"/>
            <a:ext cx="68580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Contêiner: das particularidades ao problema</a:t>
            </a:r>
            <a:r>
              <a:rPr lang="en-US" sz="1000" dirty="0">
                <a:solidFill>
                  <a:srgbClr val="72BAE3"/>
                </a:solidFill>
                <a:latin typeface="Arial" pitchFamily="34" charset="0"/>
                <a:ea typeface="Arial" pitchFamily="34" charset="-122"/>
                <a:cs typeface="Arial" pitchFamily="34" charset="-120"/>
              </a:rPr>
              <a:t>   ·   Diferenças em relação aos demais perfis de carga</a:t>
            </a:r>
            <a:endParaRPr lang="en-US" sz="1200" dirty="0"/>
          </a:p>
        </p:txBody>
      </p:sp>
      <p:sp>
        <p:nvSpPr>
          <p:cNvPr id="4" name="Text 2"/>
          <p:cNvSpPr txBox="1"/>
          <p:nvPr/>
        </p:nvSpPr>
        <p:spPr>
          <a:xfrm>
            <a:off x="868680" y="365760"/>
            <a:ext cx="10881360" cy="548640"/>
          </a:xfrm>
          <a:prstGeom prst="rect">
            <a:avLst/>
          </a:prstGeom>
          <a:noFill/>
          <a:ln/>
        </p:spPr>
        <p:txBody>
          <a:bodyPr wrap="square" lIns="0" tIns="0" rIns="0" bIns="0" rtlCol="0" anchor="ctr"/>
          <a:lstStyle/>
          <a:p>
            <a:pPr marL="0" indent="0" algn="l">
              <a:buNone/>
            </a:pPr>
            <a:r>
              <a:rPr lang="en-US" sz="2400" b="1" dirty="0">
                <a:solidFill>
                  <a:srgbClr val="31485D"/>
                </a:solidFill>
                <a:latin typeface="Arial" pitchFamily="34" charset="0"/>
                <a:ea typeface="Arial" pitchFamily="34" charset="-122"/>
                <a:cs typeface="Arial" pitchFamily="34" charset="-120"/>
              </a:rPr>
              <a:t>"Bem-vindos ao mundo real"</a:t>
            </a:r>
            <a:endParaRPr lang="en-US" sz="2400" dirty="0"/>
          </a:p>
        </p:txBody>
      </p:sp>
      <p:sp>
        <p:nvSpPr>
          <p:cNvPr id="5" name="Text 3"/>
          <p:cNvSpPr txBox="1"/>
          <p:nvPr/>
        </p:nvSpPr>
        <p:spPr>
          <a:xfrm>
            <a:off x="868680" y="914400"/>
            <a:ext cx="10881360" cy="365760"/>
          </a:xfrm>
          <a:prstGeom prst="rect">
            <a:avLst/>
          </a:prstGeom>
          <a:noFill/>
          <a:ln/>
        </p:spPr>
        <p:txBody>
          <a:bodyPr wrap="square" lIns="0" tIns="0" rIns="0" bIns="0" rtlCol="0" anchor="ctr"/>
          <a:lstStyle/>
          <a:p>
            <a:pPr marL="0" indent="0" algn="l">
              <a:buNone/>
            </a:pPr>
            <a:r>
              <a:rPr lang="en-US" sz="1400" dirty="0">
                <a:solidFill>
                  <a:srgbClr val="72BAE3"/>
                </a:solidFill>
                <a:latin typeface="Arial" pitchFamily="34" charset="0"/>
                <a:ea typeface="Arial" pitchFamily="34" charset="-122"/>
                <a:cs typeface="Arial" pitchFamily="34" charset="-120"/>
              </a:rPr>
              <a:t>Exemplo prático: sucessivas atualizações e alterações de reserva</a:t>
            </a:r>
            <a:endParaRPr lang="en-US" sz="1400" dirty="0"/>
          </a:p>
        </p:txBody>
      </p:sp>
      <p:pic>
        <p:nvPicPr>
          <p:cNvPr id="6" name="Image 0" descr="assets/slide18_booking_14update_1_capa.png"/>
          <p:cNvPicPr>
            <a:picLocks noChangeAspect="1"/>
          </p:cNvPicPr>
          <p:nvPr/>
        </p:nvPicPr>
        <p:blipFill>
          <a:blip r:embed="rId3"/>
          <a:stretch>
            <a:fillRect/>
          </a:stretch>
        </p:blipFill>
        <p:spPr>
          <a:xfrm>
            <a:off x="777240" y="1280160"/>
            <a:ext cx="5400000" cy="2710189"/>
          </a:xfrm>
          <a:prstGeom prst="rect">
            <a:avLst/>
          </a:prstGeom>
        </p:spPr>
      </p:pic>
      <p:pic>
        <p:nvPicPr>
          <p:cNvPr id="7" name="Image 1" descr="assets/slide18_booking_14update_2_rota.png"/>
          <p:cNvPicPr>
            <a:picLocks noChangeAspect="1"/>
          </p:cNvPicPr>
          <p:nvPr/>
        </p:nvPicPr>
        <p:blipFill>
          <a:blip r:embed="rId4"/>
          <a:stretch>
            <a:fillRect/>
          </a:stretch>
        </p:blipFill>
        <p:spPr>
          <a:xfrm>
            <a:off x="777240" y="3939785"/>
            <a:ext cx="5400000" cy="1630189"/>
          </a:xfrm>
          <a:prstGeom prst="rect">
            <a:avLst/>
          </a:prstGeom>
        </p:spPr>
      </p:pic>
      <p:pic>
        <p:nvPicPr>
          <p:cNvPr id="8" name="Image 2" descr="assets/slide18_booking_14update_3_deadlines.png"/>
          <p:cNvPicPr>
            <a:picLocks noChangeAspect="1"/>
          </p:cNvPicPr>
          <p:nvPr/>
        </p:nvPicPr>
        <p:blipFill>
          <a:blip r:embed="rId5"/>
          <a:stretch>
            <a:fillRect/>
          </a:stretch>
        </p:blipFill>
        <p:spPr>
          <a:xfrm>
            <a:off x="777240" y="5197504"/>
            <a:ext cx="5400000" cy="1569056"/>
          </a:xfrm>
          <a:prstGeom prst="rect">
            <a:avLst/>
          </a:prstGeom>
        </p:spPr>
      </p:pic>
      <p:sp>
        <p:nvSpPr>
          <p:cNvPr id="9" name="Shape 4"/>
          <p:cNvSpPr/>
          <p:nvPr/>
        </p:nvSpPr>
        <p:spPr>
          <a:xfrm>
            <a:off x="6995160" y="1463040"/>
            <a:ext cx="4663440" cy="1737360"/>
          </a:xfrm>
          <a:prstGeom prst="roundRect">
            <a:avLst>
              <a:gd name="adj" fmla="val 4211"/>
            </a:avLst>
          </a:prstGeom>
          <a:solidFill>
            <a:srgbClr val="EEF3F6"/>
          </a:solidFill>
          <a:ln w="12700">
            <a:solidFill>
              <a:srgbClr val="72BAE3"/>
            </a:solidFill>
            <a:prstDash val="solid"/>
          </a:ln>
        </p:spPr>
      </p:sp>
      <p:sp>
        <p:nvSpPr>
          <p:cNvPr id="10" name="Text 5"/>
          <p:cNvSpPr txBox="1"/>
          <p:nvPr/>
        </p:nvSpPr>
        <p:spPr>
          <a:xfrm>
            <a:off x="7269480" y="1600200"/>
            <a:ext cx="4206240" cy="1463040"/>
          </a:xfrm>
          <a:prstGeom prst="rect">
            <a:avLst/>
          </a:prstGeom>
          <a:noFill/>
          <a:ln/>
        </p:spPr>
        <p:txBody>
          <a:bodyPr wrap="square" lIns="0" tIns="0" rIns="0" bIns="0" rtlCol="0" anchor="ctr"/>
          <a:lstStyle/>
          <a:p>
            <a:pPr marL="152400" indent="-152400" algn="l">
              <a:spcAft>
                <a:spcPts val="800"/>
              </a:spcAft>
              <a:buSzPct val="100000"/>
              <a:buChar char="•"/>
            </a:pPr>
            <a:r>
              <a:rPr lang="en-US" sz="1400" dirty="0">
                <a:solidFill>
                  <a:srgbClr val="31485D"/>
                </a:solidFill>
                <a:latin typeface="Arial" pitchFamily="34" charset="0"/>
                <a:ea typeface="Arial" pitchFamily="34" charset="-122"/>
                <a:cs typeface="Arial" pitchFamily="34" charset="-120"/>
              </a:rPr>
              <a:t>14 atualizações em menos de 1 mês</a:t>
            </a:r>
            <a:endParaRPr lang="en-US" sz="1400" dirty="0"/>
          </a:p>
          <a:p>
            <a:pPr marL="152400" indent="-152400" algn="l">
              <a:spcAft>
                <a:spcPts val="800"/>
              </a:spcAft>
              <a:buSzPct val="100000"/>
              <a:buChar char="•"/>
            </a:pPr>
            <a:r>
              <a:rPr lang="en-US" sz="1400" dirty="0">
                <a:solidFill>
                  <a:srgbClr val="31485D"/>
                </a:solidFill>
                <a:latin typeface="Arial" pitchFamily="34" charset="0"/>
                <a:ea typeface="Arial" pitchFamily="34" charset="-122"/>
                <a:cs typeface="Arial" pitchFamily="34" charset="-120"/>
              </a:rPr>
              <a:t>Gate abriu 10 dias após o deadline original</a:t>
            </a:r>
            <a:endParaRPr lang="en-US" sz="1400" dirty="0"/>
          </a:p>
          <a:p>
            <a:pPr marL="152400" indent="-152400" algn="l">
              <a:spcAft>
                <a:spcPts val="800"/>
              </a:spcAft>
              <a:buSzPct val="100000"/>
              <a:buChar char="•"/>
            </a:pPr>
            <a:r>
              <a:rPr lang="en-US" sz="1400" dirty="0">
                <a:solidFill>
                  <a:srgbClr val="31485D"/>
                </a:solidFill>
                <a:latin typeface="Arial" pitchFamily="34" charset="0"/>
                <a:ea typeface="Arial" pitchFamily="34" charset="-122"/>
                <a:cs typeface="Arial" pitchFamily="34" charset="-120"/>
              </a:rPr>
              <a:t>Navio partiu com 11 dias de atraso</a:t>
            </a:r>
            <a:endParaRPr lang="en-US" sz="1400" dirty="0"/>
          </a:p>
        </p:txBody>
      </p:sp>
      <p:sp>
        <p:nvSpPr>
          <p:cNvPr id="11" name="Shape 6"/>
          <p:cNvSpPr/>
          <p:nvPr/>
        </p:nvSpPr>
        <p:spPr>
          <a:xfrm>
            <a:off x="6995160" y="3383280"/>
            <a:ext cx="4663440" cy="1463040"/>
          </a:xfrm>
          <a:prstGeom prst="roundRect">
            <a:avLst>
              <a:gd name="adj" fmla="val 5000"/>
            </a:avLst>
          </a:prstGeom>
          <a:solidFill>
            <a:srgbClr val="31485D"/>
          </a:solidFill>
          <a:ln/>
        </p:spPr>
      </p:sp>
      <p:sp>
        <p:nvSpPr>
          <p:cNvPr id="12" name="Text 7"/>
          <p:cNvSpPr txBox="1"/>
          <p:nvPr/>
        </p:nvSpPr>
        <p:spPr>
          <a:xfrm>
            <a:off x="7269480" y="3474720"/>
            <a:ext cx="4206240" cy="1280160"/>
          </a:xfrm>
          <a:prstGeom prst="rect">
            <a:avLst/>
          </a:prstGeom>
          <a:noFill/>
          <a:ln/>
        </p:spPr>
        <p:txBody>
          <a:bodyPr wrap="square" lIns="0" tIns="0" rIns="0" bIns="0" rtlCol="0" anchor="ctr"/>
          <a:lstStyle/>
          <a:p>
            <a:pPr marL="0" indent="0" algn="l">
              <a:lnSpc>
                <a:spcPct val="105000"/>
              </a:lnSpc>
              <a:buNone/>
            </a:pPr>
            <a:r>
              <a:rPr lang="en-US" sz="1350" dirty="0">
                <a:solidFill>
                  <a:srgbClr val="FFFFFF"/>
                </a:solidFill>
                <a:latin typeface="Arial" pitchFamily="34" charset="0"/>
                <a:ea typeface="Arial" pitchFamily="34" charset="-122"/>
                <a:cs typeface="Arial" pitchFamily="34" charset="-120"/>
              </a:rPr>
              <a:t>Sem contabilizar possíveis transtornos sofridos, usuário foi cobrado em </a:t>
            </a:r>
            <a:r>
              <a:rPr lang="en-US" sz="1350" b="1" dirty="0">
                <a:solidFill>
                  <a:srgbClr val="72BAE3"/>
                </a:solidFill>
                <a:latin typeface="Arial" pitchFamily="34" charset="0"/>
                <a:ea typeface="Arial" pitchFamily="34" charset="-122"/>
                <a:cs typeface="Arial" pitchFamily="34" charset="-120"/>
              </a:rPr>
              <a:t>US$ 3.120</a:t>
            </a:r>
            <a:r>
              <a:rPr lang="en-US" sz="1350" dirty="0">
                <a:solidFill>
                  <a:srgbClr val="FFFFFF"/>
                </a:solidFill>
                <a:latin typeface="Arial" pitchFamily="34" charset="0"/>
                <a:ea typeface="Arial" pitchFamily="34" charset="-122"/>
                <a:cs typeface="Arial" pitchFamily="34" charset="-120"/>
              </a:rPr>
              <a:t> a título de </a:t>
            </a:r>
            <a:r>
              <a:rPr lang="en-US" sz="1350" i="1" dirty="0">
                <a:solidFill>
                  <a:srgbClr val="FFFFFF"/>
                </a:solidFill>
                <a:latin typeface="Arial" pitchFamily="34" charset="0"/>
                <a:ea typeface="Arial" pitchFamily="34" charset="-122"/>
                <a:cs typeface="Arial" pitchFamily="34" charset="-120"/>
              </a:rPr>
              <a:t>detention</a:t>
            </a:r>
            <a:r>
              <a:rPr lang="en-US" sz="1350" dirty="0">
                <a:solidFill>
                  <a:srgbClr val="FFFFFF"/>
                </a:solidFill>
                <a:latin typeface="Arial" pitchFamily="34" charset="0"/>
                <a:ea typeface="Arial" pitchFamily="34" charset="-122"/>
                <a:cs typeface="Arial" pitchFamily="34" charset="-120"/>
              </a:rPr>
              <a:t> (7 contêineres, 7 dias de "atraso")</a:t>
            </a:r>
            <a:endParaRPr lang="en-US" sz="1350" dirty="0"/>
          </a:p>
        </p:txBody>
      </p:sp>
      <p:sp>
        <p:nvSpPr>
          <p:cNvPr id="13" name="Text 8"/>
          <p:cNvSpPr txBox="1"/>
          <p:nvPr/>
        </p:nvSpPr>
        <p:spPr>
          <a:xfrm>
            <a:off x="6995160" y="5029200"/>
            <a:ext cx="4663440" cy="822960"/>
          </a:xfrm>
          <a:prstGeom prst="rect">
            <a:avLst/>
          </a:prstGeom>
          <a:noFill/>
          <a:ln/>
        </p:spPr>
        <p:txBody>
          <a:bodyPr wrap="square" lIns="0" tIns="0" rIns="0" bIns="0" rtlCol="0" anchor="ctr"/>
          <a:lstStyle/>
          <a:p>
            <a:pPr marL="0" indent="0" algn="ctr">
              <a:buNone/>
            </a:pPr>
            <a:r>
              <a:rPr lang="en-US" sz="1600" b="1" dirty="0">
                <a:solidFill>
                  <a:srgbClr val="31485D"/>
                </a:solidFill>
                <a:latin typeface="Arial" pitchFamily="34" charset="0"/>
                <a:ea typeface="Arial" pitchFamily="34" charset="-122"/>
                <a:cs typeface="Arial" pitchFamily="34" charset="-120"/>
              </a:rPr>
              <a:t>Sobre-estadia muito provavelmente foi indevida!</a:t>
            </a:r>
            <a:endParaRPr lang="en-US" sz="1600" dirty="0"/>
          </a:p>
        </p:txBody>
      </p:sp>
      <p:sp>
        <p:nvSpPr>
          <p:cNvPr id="14" name="Text 9"/>
          <p:cNvSpPr txBox="1"/>
          <p:nvPr/>
        </p:nvSpPr>
        <p:spPr>
          <a:xfrm>
            <a:off x="640080" y="6492240"/>
            <a:ext cx="548640" cy="274320"/>
          </a:xfrm>
          <a:prstGeom prst="rect">
            <a:avLst/>
          </a:prstGeom>
          <a:noFill/>
          <a:ln/>
        </p:spPr>
        <p:txBody>
          <a:bodyPr wrap="square" lIns="0" tIns="0" rIns="0" bIns="0" rtlCol="0" anchor="ctr"/>
          <a:lstStyle/>
          <a:p>
            <a:pPr marL="0" indent="0" algn="l">
              <a:buNone/>
            </a:pPr>
            <a:r>
              <a:rPr lang="en-US" sz="900" dirty="0">
                <a:solidFill>
                  <a:srgbClr val="9AA7B0"/>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Contêiner: das particularidades ao problema</a:t>
            </a:r>
            <a:r>
              <a:rPr lang="pt-BR" sz="1000" dirty="0">
                <a:solidFill>
                  <a:srgbClr val="72BAE3"/>
                </a:solidFill>
                <a:latin typeface="Arial" pitchFamily="34" charset="0"/>
                <a:ea typeface="Arial" pitchFamily="34" charset="-122"/>
                <a:cs typeface="Arial" pitchFamily="34" charset="-120"/>
              </a:rPr>
              <a:t>   ·   Diferenças em relação aos demais perfis de carga</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Sobre-estadia: a principal reclamação</a:t>
            </a:r>
            <a:endParaRPr lang="pt-BR" sz="2400" dirty="0"/>
          </a:p>
        </p:txBody>
      </p:sp>
      <p:sp>
        <p:nvSpPr>
          <p:cNvPr id="5" name="Shape 5"/>
          <p:cNvSpPr/>
          <p:nvPr/>
        </p:nvSpPr>
        <p:spPr>
          <a:xfrm>
            <a:off x="868680" y="1425787"/>
            <a:ext cx="5303520" cy="2148840"/>
          </a:xfrm>
          <a:prstGeom prst="roundRect">
            <a:avLst>
              <a:gd name="adj" fmla="val 4255"/>
            </a:avLst>
          </a:prstGeom>
          <a:solidFill>
            <a:srgbClr val="FFFFFF"/>
          </a:solidFill>
          <a:ln w="15875">
            <a:solidFill>
              <a:srgbClr val="72BAE3"/>
            </a:solidFill>
            <a:prstDash val="solid"/>
          </a:ln>
        </p:spPr>
      </p:sp>
      <p:sp>
        <p:nvSpPr>
          <p:cNvPr id="6" name="Shape 6"/>
          <p:cNvSpPr/>
          <p:nvPr/>
        </p:nvSpPr>
        <p:spPr>
          <a:xfrm>
            <a:off x="868680" y="1417320"/>
            <a:ext cx="5303520" cy="457200"/>
          </a:xfrm>
          <a:prstGeom prst="roundRect">
            <a:avLst>
              <a:gd name="adj" fmla="val 20000"/>
            </a:avLst>
          </a:prstGeom>
          <a:solidFill>
            <a:srgbClr val="31485D"/>
          </a:solidFill>
          <a:ln>
            <a:noFill/>
          </a:ln>
        </p:spPr>
      </p:sp>
      <p:sp>
        <p:nvSpPr>
          <p:cNvPr id="7" name="Shape 7"/>
          <p:cNvSpPr/>
          <p:nvPr/>
        </p:nvSpPr>
        <p:spPr>
          <a:xfrm>
            <a:off x="868680" y="1645920"/>
            <a:ext cx="5303520" cy="228600"/>
          </a:xfrm>
          <a:prstGeom prst="rect">
            <a:avLst/>
          </a:prstGeom>
          <a:solidFill>
            <a:srgbClr val="31485D"/>
          </a:solidFill>
          <a:ln>
            <a:noFill/>
          </a:ln>
        </p:spPr>
      </p:sp>
      <p:sp>
        <p:nvSpPr>
          <p:cNvPr id="8" name="Text 8"/>
          <p:cNvSpPr txBox="1"/>
          <p:nvPr/>
        </p:nvSpPr>
        <p:spPr>
          <a:xfrm>
            <a:off x="1097280" y="1417320"/>
            <a:ext cx="4846320" cy="457200"/>
          </a:xfrm>
          <a:prstGeom prst="rect">
            <a:avLst/>
          </a:prstGeom>
          <a:noFill/>
          <a:ln>
            <a:noFill/>
          </a:ln>
        </p:spPr>
        <p:txBody>
          <a:bodyPr wrap="square" lIns="0" tIns="0" rIns="0" bIns="0" rtlCol="0" anchor="ctr"/>
          <a:lstStyle/>
          <a:p>
            <a:pPr marL="0" indent="0" algn="l">
              <a:lnSpc>
                <a:spcPct val="100000"/>
              </a:lnSpc>
              <a:buNone/>
            </a:pPr>
            <a:r>
              <a:rPr lang="pt-BR" sz="1400" b="1" i="1" dirty="0">
                <a:solidFill>
                  <a:srgbClr val="FFFFFF"/>
                </a:solidFill>
                <a:latin typeface="Arial" pitchFamily="34" charset="0"/>
                <a:ea typeface="Arial" pitchFamily="34" charset="-122"/>
                <a:cs typeface="Arial" pitchFamily="34" charset="-120"/>
              </a:rPr>
              <a:t>Demurrage</a:t>
            </a:r>
            <a:endParaRPr lang="pt-BR" sz="1400" dirty="0"/>
          </a:p>
        </p:txBody>
      </p:sp>
      <p:sp>
        <p:nvSpPr>
          <p:cNvPr id="9" name="Text 9"/>
          <p:cNvSpPr txBox="1"/>
          <p:nvPr/>
        </p:nvSpPr>
        <p:spPr>
          <a:xfrm>
            <a:off x="1143000" y="2011680"/>
            <a:ext cx="4800600" cy="1417320"/>
          </a:xfrm>
          <a:prstGeom prst="rect">
            <a:avLst/>
          </a:prstGeom>
          <a:noFill/>
          <a:ln>
            <a:noFill/>
          </a:ln>
        </p:spPr>
        <p:txBody>
          <a:bodyPr wrap="square" lIns="0" tIns="0" rIns="0" bIns="0" rtlCol="0" anchor="t"/>
          <a:lstStyle/>
          <a:p>
            <a:pPr marL="190500" indent="-190500" algn="l">
              <a:spcAft>
                <a:spcPts val="500"/>
              </a:spcAft>
              <a:buSzPct val="100000"/>
              <a:buChar char="•"/>
            </a:pPr>
            <a:r>
              <a:rPr lang="pt-BR" sz="1250" dirty="0">
                <a:solidFill>
                  <a:srgbClr val="3A4750"/>
                </a:solidFill>
                <a:latin typeface="Arial" pitchFamily="34" charset="0"/>
                <a:ea typeface="Arial" pitchFamily="34" charset="-122"/>
                <a:cs typeface="Arial" pitchFamily="34" charset="-120"/>
              </a:rPr>
              <a:t>Importação: o contêiner vazio ainda não foi devolvido</a:t>
            </a:r>
            <a:endParaRPr lang="pt-BR" sz="1250" dirty="0"/>
          </a:p>
          <a:p>
            <a:pPr marL="190500" indent="-190500" algn="l">
              <a:spcAft>
                <a:spcPts val="500"/>
              </a:spcAft>
              <a:buSzPct val="100000"/>
              <a:buChar char="•"/>
            </a:pPr>
            <a:r>
              <a:rPr lang="pt-BR" sz="1250" dirty="0">
                <a:solidFill>
                  <a:srgbClr val="3A4750"/>
                </a:solidFill>
                <a:latin typeface="Arial" pitchFamily="34" charset="0"/>
                <a:ea typeface="Arial" pitchFamily="34" charset="-122"/>
                <a:cs typeface="Arial" pitchFamily="34" charset="-120"/>
              </a:rPr>
              <a:t>Ligada ao tempo da carga</a:t>
            </a:r>
            <a:endParaRPr lang="pt-BR" sz="1250" dirty="0"/>
          </a:p>
          <a:p>
            <a:pPr marL="190500" indent="-190500" algn="l">
              <a:spcAft>
                <a:spcPts val="500"/>
              </a:spcAft>
              <a:buSzPct val="100000"/>
              <a:buChar char="•"/>
            </a:pPr>
            <a:r>
              <a:rPr lang="pt-BR" sz="1250" i="1" dirty="0">
                <a:solidFill>
                  <a:srgbClr val="3A4750"/>
                </a:solidFill>
                <a:latin typeface="Arial" pitchFamily="34" charset="0"/>
                <a:ea typeface="Arial" pitchFamily="34" charset="-122"/>
                <a:cs typeface="Arial" pitchFamily="34" charset="-120"/>
              </a:rPr>
              <a:t>Free time</a:t>
            </a:r>
            <a:r>
              <a:rPr lang="pt-BR" sz="1250" dirty="0">
                <a:solidFill>
                  <a:srgbClr val="3A4750"/>
                </a:solidFill>
                <a:latin typeface="Arial" pitchFamily="34" charset="0"/>
                <a:ea typeface="Arial" pitchFamily="34" charset="-122"/>
                <a:cs typeface="Arial" pitchFamily="34" charset="-120"/>
              </a:rPr>
              <a:t> começa, em regra, no dia seguinte à entrega da carga no local acordado (art. 20, II, Res. 62/2021)</a:t>
            </a:r>
            <a:endParaRPr lang="pt-BR" sz="1250" dirty="0"/>
          </a:p>
          <a:p>
            <a:pPr marL="190500" indent="-190500" algn="l">
              <a:buSzPct val="100000"/>
              <a:buChar char="•"/>
            </a:pPr>
            <a:r>
              <a:rPr lang="pt-BR" sz="1250" dirty="0">
                <a:solidFill>
                  <a:srgbClr val="3A4750"/>
                </a:solidFill>
                <a:latin typeface="Arial" pitchFamily="34" charset="0"/>
                <a:ea typeface="Arial" pitchFamily="34" charset="-122"/>
                <a:cs typeface="Arial" pitchFamily="34" charset="-120"/>
              </a:rPr>
              <a:t>Termina na devolução do vazio</a:t>
            </a:r>
            <a:endParaRPr lang="pt-BR" sz="1250" dirty="0"/>
          </a:p>
        </p:txBody>
      </p:sp>
      <p:sp>
        <p:nvSpPr>
          <p:cNvPr id="10" name="Shape 10"/>
          <p:cNvSpPr/>
          <p:nvPr/>
        </p:nvSpPr>
        <p:spPr>
          <a:xfrm>
            <a:off x="6446520" y="1417320"/>
            <a:ext cx="5303520" cy="2148840"/>
          </a:xfrm>
          <a:prstGeom prst="roundRect">
            <a:avLst>
              <a:gd name="adj" fmla="val 4255"/>
            </a:avLst>
          </a:prstGeom>
          <a:solidFill>
            <a:srgbClr val="FFFFFF"/>
          </a:solidFill>
          <a:ln w="15875">
            <a:solidFill>
              <a:srgbClr val="72BAE3"/>
            </a:solidFill>
            <a:prstDash val="solid"/>
          </a:ln>
        </p:spPr>
      </p:sp>
      <p:sp>
        <p:nvSpPr>
          <p:cNvPr id="11" name="Shape 11"/>
          <p:cNvSpPr/>
          <p:nvPr/>
        </p:nvSpPr>
        <p:spPr>
          <a:xfrm>
            <a:off x="6446520" y="1417320"/>
            <a:ext cx="5303520" cy="457200"/>
          </a:xfrm>
          <a:prstGeom prst="roundRect">
            <a:avLst>
              <a:gd name="adj" fmla="val 20000"/>
            </a:avLst>
          </a:prstGeom>
          <a:solidFill>
            <a:srgbClr val="31485D"/>
          </a:solidFill>
          <a:ln>
            <a:noFill/>
          </a:ln>
        </p:spPr>
      </p:sp>
      <p:sp>
        <p:nvSpPr>
          <p:cNvPr id="12" name="Shape 12"/>
          <p:cNvSpPr/>
          <p:nvPr/>
        </p:nvSpPr>
        <p:spPr>
          <a:xfrm>
            <a:off x="6446520" y="1645920"/>
            <a:ext cx="5303520" cy="228600"/>
          </a:xfrm>
          <a:prstGeom prst="rect">
            <a:avLst/>
          </a:prstGeom>
          <a:solidFill>
            <a:srgbClr val="31485D"/>
          </a:solidFill>
          <a:ln>
            <a:noFill/>
          </a:ln>
        </p:spPr>
      </p:sp>
      <p:sp>
        <p:nvSpPr>
          <p:cNvPr id="13" name="Text 13"/>
          <p:cNvSpPr txBox="1"/>
          <p:nvPr/>
        </p:nvSpPr>
        <p:spPr>
          <a:xfrm>
            <a:off x="6675120" y="1417320"/>
            <a:ext cx="4846320" cy="457200"/>
          </a:xfrm>
          <a:prstGeom prst="rect">
            <a:avLst/>
          </a:prstGeom>
          <a:noFill/>
          <a:ln>
            <a:noFill/>
          </a:ln>
        </p:spPr>
        <p:txBody>
          <a:bodyPr wrap="square" lIns="0" tIns="0" rIns="0" bIns="0" rtlCol="0" anchor="ctr"/>
          <a:lstStyle/>
          <a:p>
            <a:pPr marL="0" indent="0" algn="l">
              <a:lnSpc>
                <a:spcPct val="100000"/>
              </a:lnSpc>
              <a:buNone/>
            </a:pPr>
            <a:r>
              <a:rPr lang="pt-BR" sz="1400" b="1" i="1" dirty="0">
                <a:solidFill>
                  <a:srgbClr val="FFFFFF"/>
                </a:solidFill>
                <a:latin typeface="Arial" pitchFamily="34" charset="0"/>
                <a:ea typeface="Arial" pitchFamily="34" charset="-122"/>
                <a:cs typeface="Arial" pitchFamily="34" charset="-120"/>
              </a:rPr>
              <a:t>Detention</a:t>
            </a:r>
            <a:endParaRPr lang="pt-BR" sz="1400" dirty="0"/>
          </a:p>
        </p:txBody>
      </p:sp>
      <p:sp>
        <p:nvSpPr>
          <p:cNvPr id="14" name="Text 14"/>
          <p:cNvSpPr txBox="1"/>
          <p:nvPr/>
        </p:nvSpPr>
        <p:spPr>
          <a:xfrm>
            <a:off x="6720840" y="2011680"/>
            <a:ext cx="4800600" cy="1417320"/>
          </a:xfrm>
          <a:prstGeom prst="rect">
            <a:avLst/>
          </a:prstGeom>
          <a:noFill/>
          <a:ln>
            <a:noFill/>
          </a:ln>
        </p:spPr>
        <p:txBody>
          <a:bodyPr wrap="square" lIns="0" tIns="0" rIns="0" bIns="0" rtlCol="0" anchor="t"/>
          <a:lstStyle/>
          <a:p>
            <a:pPr marL="190500" indent="-190500" algn="l">
              <a:spcAft>
                <a:spcPts val="500"/>
              </a:spcAft>
              <a:buSzPct val="100000"/>
              <a:buChar char="•"/>
            </a:pPr>
            <a:r>
              <a:rPr lang="pt-BR" sz="1250" dirty="0">
                <a:solidFill>
                  <a:srgbClr val="3A4750"/>
                </a:solidFill>
                <a:latin typeface="Arial" pitchFamily="34" charset="0"/>
                <a:ea typeface="Arial" pitchFamily="34" charset="-122"/>
                <a:cs typeface="Arial" pitchFamily="34" charset="-120"/>
              </a:rPr>
              <a:t>Exportação: o contêiner cheio ainda não foi entregue no terminal</a:t>
            </a:r>
            <a:endParaRPr lang="pt-BR" sz="1250" dirty="0"/>
          </a:p>
          <a:p>
            <a:pPr marL="190500" indent="-190500" algn="l">
              <a:spcAft>
                <a:spcPts val="500"/>
              </a:spcAft>
              <a:buSzPct val="100000"/>
              <a:buChar char="•"/>
            </a:pPr>
            <a:r>
              <a:rPr lang="pt-BR" sz="1250" dirty="0">
                <a:solidFill>
                  <a:srgbClr val="3A4750"/>
                </a:solidFill>
                <a:latin typeface="Arial" pitchFamily="34" charset="0"/>
                <a:ea typeface="Arial" pitchFamily="34" charset="-122"/>
                <a:cs typeface="Arial" pitchFamily="34" charset="-120"/>
              </a:rPr>
              <a:t>Ligada ao uso do contêiner como equipamento</a:t>
            </a:r>
            <a:endParaRPr lang="pt-BR" sz="1250" dirty="0"/>
          </a:p>
          <a:p>
            <a:pPr marL="190500" indent="-190500" algn="l">
              <a:spcAft>
                <a:spcPts val="500"/>
              </a:spcAft>
              <a:buSzPct val="100000"/>
              <a:buChar char="•"/>
            </a:pPr>
            <a:r>
              <a:rPr lang="pt-BR" sz="1250" i="1" dirty="0">
                <a:solidFill>
                  <a:srgbClr val="3A4750"/>
                </a:solidFill>
                <a:latin typeface="Arial" pitchFamily="34" charset="0"/>
                <a:ea typeface="Arial" pitchFamily="34" charset="-122"/>
                <a:cs typeface="Arial" pitchFamily="34" charset="-120"/>
              </a:rPr>
              <a:t>Free time</a:t>
            </a:r>
            <a:r>
              <a:rPr lang="pt-BR" sz="1250" dirty="0">
                <a:solidFill>
                  <a:srgbClr val="3A4750"/>
                </a:solidFill>
                <a:latin typeface="Arial" pitchFamily="34" charset="0"/>
                <a:ea typeface="Arial" pitchFamily="34" charset="-122"/>
                <a:cs typeface="Arial" pitchFamily="34" charset="-120"/>
              </a:rPr>
              <a:t> começa no </a:t>
            </a:r>
            <a:r>
              <a:rPr lang="pt-BR" sz="1250" i="1" dirty="0">
                <a:solidFill>
                  <a:srgbClr val="3A4750"/>
                </a:solidFill>
                <a:latin typeface="Arial" pitchFamily="34" charset="0"/>
                <a:ea typeface="Arial" pitchFamily="34" charset="-122"/>
                <a:cs typeface="Arial" pitchFamily="34" charset="-120"/>
              </a:rPr>
              <a:t>gate-out</a:t>
            </a:r>
            <a:r>
              <a:rPr lang="pt-BR" sz="1250" dirty="0">
                <a:solidFill>
                  <a:srgbClr val="3A4750"/>
                </a:solidFill>
                <a:latin typeface="Arial" pitchFamily="34" charset="0"/>
                <a:ea typeface="Arial" pitchFamily="34" charset="-122"/>
                <a:cs typeface="Arial" pitchFamily="34" charset="-120"/>
              </a:rPr>
              <a:t>, quando o contêiner sai do terminal com o usuário</a:t>
            </a:r>
            <a:endParaRPr lang="pt-BR" sz="1250" dirty="0"/>
          </a:p>
          <a:p>
            <a:pPr marL="190500" indent="-190500" algn="l">
              <a:buSzPct val="100000"/>
              <a:buChar char="•"/>
            </a:pPr>
            <a:r>
              <a:rPr lang="pt-BR" sz="1250" dirty="0">
                <a:solidFill>
                  <a:srgbClr val="3A4750"/>
                </a:solidFill>
                <a:latin typeface="Arial" pitchFamily="34" charset="0"/>
                <a:ea typeface="Arial" pitchFamily="34" charset="-122"/>
                <a:cs typeface="Arial" pitchFamily="34" charset="-120"/>
              </a:rPr>
              <a:t>Termina no </a:t>
            </a:r>
            <a:r>
              <a:rPr lang="pt-BR" sz="1250" i="1" dirty="0">
                <a:solidFill>
                  <a:srgbClr val="3A4750"/>
                </a:solidFill>
                <a:latin typeface="Arial" pitchFamily="34" charset="0"/>
                <a:ea typeface="Arial" pitchFamily="34" charset="-122"/>
                <a:cs typeface="Arial" pitchFamily="34" charset="-120"/>
              </a:rPr>
              <a:t>gate-in</a:t>
            </a:r>
            <a:r>
              <a:rPr lang="pt-BR" sz="1250" dirty="0">
                <a:solidFill>
                  <a:srgbClr val="3A4750"/>
                </a:solidFill>
                <a:latin typeface="Arial" pitchFamily="34" charset="0"/>
                <a:ea typeface="Arial" pitchFamily="34" charset="-122"/>
                <a:cs typeface="Arial" pitchFamily="34" charset="-120"/>
              </a:rPr>
              <a:t> do cheio</a:t>
            </a:r>
            <a:endParaRPr lang="pt-BR" sz="1250" dirty="0"/>
          </a:p>
        </p:txBody>
      </p:sp>
      <p:sp>
        <p:nvSpPr>
          <p:cNvPr id="15" name="Text 15"/>
          <p:cNvSpPr txBox="1"/>
          <p:nvPr/>
        </p:nvSpPr>
        <p:spPr>
          <a:xfrm>
            <a:off x="868680" y="3703320"/>
            <a:ext cx="10881360" cy="365760"/>
          </a:xfrm>
          <a:prstGeom prst="rect">
            <a:avLst/>
          </a:prstGeom>
          <a:noFill/>
          <a:ln>
            <a:noFill/>
          </a:ln>
        </p:spPr>
        <p:txBody>
          <a:bodyPr wrap="square" lIns="0" tIns="0" rIns="0" bIns="0" rtlCol="0" anchor="ctr"/>
          <a:lstStyle/>
          <a:p>
            <a:pPr marL="0" indent="0" algn="l">
              <a:buNone/>
            </a:pPr>
            <a:r>
              <a:rPr lang="pt-BR" sz="1500" b="1" dirty="0">
                <a:solidFill>
                  <a:srgbClr val="31485D"/>
                </a:solidFill>
                <a:latin typeface="Arial" pitchFamily="34" charset="0"/>
                <a:ea typeface="Arial" pitchFamily="34" charset="-122"/>
                <a:cs typeface="Arial" pitchFamily="34" charset="-120"/>
              </a:rPr>
              <a:t>Motivos mais frequentes nas denúncias</a:t>
            </a:r>
            <a:endParaRPr lang="pt-BR" sz="1500" dirty="0"/>
          </a:p>
        </p:txBody>
      </p:sp>
      <p:sp>
        <p:nvSpPr>
          <p:cNvPr id="16" name="Shape 16"/>
          <p:cNvSpPr/>
          <p:nvPr/>
        </p:nvSpPr>
        <p:spPr>
          <a:xfrm>
            <a:off x="868680" y="4160520"/>
            <a:ext cx="2066544" cy="960120"/>
          </a:xfrm>
          <a:prstGeom prst="roundRect">
            <a:avLst>
              <a:gd name="adj" fmla="val 5714"/>
            </a:avLst>
          </a:prstGeom>
          <a:solidFill>
            <a:srgbClr val="EEF3F6"/>
          </a:solidFill>
          <a:ln w="9525">
            <a:solidFill>
              <a:srgbClr val="72BAE3"/>
            </a:solidFill>
            <a:prstDash val="solid"/>
          </a:ln>
        </p:spPr>
      </p:sp>
      <p:sp>
        <p:nvSpPr>
          <p:cNvPr id="17" name="Text 17"/>
          <p:cNvSpPr txBox="1"/>
          <p:nvPr/>
        </p:nvSpPr>
        <p:spPr>
          <a:xfrm>
            <a:off x="1005840" y="425196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Sobre-estadia (</a:t>
            </a:r>
            <a:r>
              <a:rPr lang="pt-BR" sz="1150" i="1" dirty="0">
                <a:solidFill>
                  <a:srgbClr val="31485D"/>
                </a:solidFill>
                <a:latin typeface="Arial" pitchFamily="34" charset="0"/>
                <a:ea typeface="Arial" pitchFamily="34" charset="-122"/>
                <a:cs typeface="Arial" pitchFamily="34" charset="-120"/>
              </a:rPr>
              <a:t>demurrage</a:t>
            </a:r>
            <a:r>
              <a:rPr lang="pt-BR" sz="1150" dirty="0">
                <a:solidFill>
                  <a:srgbClr val="31485D"/>
                </a:solidFill>
                <a:latin typeface="Arial" pitchFamily="34" charset="0"/>
                <a:ea typeface="Arial" pitchFamily="34" charset="-122"/>
                <a:cs typeface="Arial" pitchFamily="34" charset="-120"/>
              </a:rPr>
              <a:t> e </a:t>
            </a:r>
            <a:r>
              <a:rPr lang="pt-BR" sz="1150" i="1" dirty="0">
                <a:solidFill>
                  <a:srgbClr val="31485D"/>
                </a:solidFill>
                <a:latin typeface="Arial" pitchFamily="34" charset="0"/>
                <a:ea typeface="Arial" pitchFamily="34" charset="-122"/>
                <a:cs typeface="Arial" pitchFamily="34" charset="-120"/>
              </a:rPr>
              <a:t>detention</a:t>
            </a:r>
            <a:r>
              <a:rPr lang="pt-BR" sz="1150" dirty="0">
                <a:solidFill>
                  <a:srgbClr val="31485D"/>
                </a:solidFill>
                <a:latin typeface="Arial" pitchFamily="34" charset="0"/>
                <a:ea typeface="Arial" pitchFamily="34" charset="-122"/>
                <a:cs typeface="Arial" pitchFamily="34" charset="-120"/>
              </a:rPr>
              <a:t>)</a:t>
            </a:r>
            <a:endParaRPr lang="pt-BR" sz="1150" dirty="0"/>
          </a:p>
        </p:txBody>
      </p:sp>
      <p:sp>
        <p:nvSpPr>
          <p:cNvPr id="18" name="Shape 18"/>
          <p:cNvSpPr/>
          <p:nvPr/>
        </p:nvSpPr>
        <p:spPr>
          <a:xfrm>
            <a:off x="3072384" y="4160520"/>
            <a:ext cx="2066544" cy="960120"/>
          </a:xfrm>
          <a:prstGeom prst="roundRect">
            <a:avLst>
              <a:gd name="adj" fmla="val 5714"/>
            </a:avLst>
          </a:prstGeom>
          <a:solidFill>
            <a:srgbClr val="EEF3F6"/>
          </a:solidFill>
          <a:ln w="9525">
            <a:solidFill>
              <a:srgbClr val="72BAE3"/>
            </a:solidFill>
            <a:prstDash val="solid"/>
          </a:ln>
        </p:spPr>
      </p:sp>
      <p:sp>
        <p:nvSpPr>
          <p:cNvPr id="19" name="Text 19"/>
          <p:cNvSpPr txBox="1"/>
          <p:nvPr/>
        </p:nvSpPr>
        <p:spPr>
          <a:xfrm>
            <a:off x="3209544" y="4251960"/>
            <a:ext cx="1792224" cy="777240"/>
          </a:xfrm>
          <a:prstGeom prst="rect">
            <a:avLst/>
          </a:prstGeom>
          <a:noFill/>
          <a:ln>
            <a:noFill/>
          </a:ln>
        </p:spPr>
        <p:txBody>
          <a:bodyPr wrap="square" lIns="0" tIns="0" rIns="0" bIns="0" rtlCol="0" anchor="ctr"/>
          <a:lstStyle/>
          <a:p>
            <a:pPr marL="0" indent="0" algn="ctr">
              <a:lnSpc>
                <a:spcPct val="105000"/>
              </a:lnSpc>
              <a:buNone/>
            </a:pPr>
            <a:r>
              <a:rPr lang="pt-BR" sz="1150" i="1" dirty="0">
                <a:solidFill>
                  <a:srgbClr val="31485D"/>
                </a:solidFill>
                <a:latin typeface="Arial" pitchFamily="34" charset="0"/>
                <a:ea typeface="Arial" pitchFamily="34" charset="-122"/>
                <a:cs typeface="Arial" pitchFamily="34" charset="-120"/>
              </a:rPr>
              <a:t>Free time</a:t>
            </a:r>
            <a:endParaRPr lang="pt-BR" sz="1150" dirty="0"/>
          </a:p>
        </p:txBody>
      </p:sp>
      <p:sp>
        <p:nvSpPr>
          <p:cNvPr id="20" name="Shape 20"/>
          <p:cNvSpPr/>
          <p:nvPr/>
        </p:nvSpPr>
        <p:spPr>
          <a:xfrm>
            <a:off x="5276088" y="4160520"/>
            <a:ext cx="2066544" cy="960120"/>
          </a:xfrm>
          <a:prstGeom prst="roundRect">
            <a:avLst>
              <a:gd name="adj" fmla="val 5714"/>
            </a:avLst>
          </a:prstGeom>
          <a:solidFill>
            <a:srgbClr val="EEF3F6"/>
          </a:solidFill>
          <a:ln w="9525">
            <a:solidFill>
              <a:srgbClr val="72BAE3"/>
            </a:solidFill>
            <a:prstDash val="solid"/>
          </a:ln>
        </p:spPr>
      </p:sp>
      <p:sp>
        <p:nvSpPr>
          <p:cNvPr id="21" name="Text 21"/>
          <p:cNvSpPr txBox="1"/>
          <p:nvPr/>
        </p:nvSpPr>
        <p:spPr>
          <a:xfrm>
            <a:off x="5413248" y="4251960"/>
            <a:ext cx="1792224" cy="777240"/>
          </a:xfrm>
          <a:prstGeom prst="rect">
            <a:avLst/>
          </a:prstGeom>
          <a:noFill/>
          <a:ln>
            <a:noFill/>
          </a:ln>
        </p:spPr>
        <p:txBody>
          <a:bodyPr wrap="square" lIns="0" tIns="0" rIns="0" bIns="0" rtlCol="0" anchor="ctr"/>
          <a:lstStyle/>
          <a:p>
            <a:pPr marL="0" indent="0" algn="ctr">
              <a:lnSpc>
                <a:spcPct val="105000"/>
              </a:lnSpc>
              <a:buNone/>
            </a:pPr>
            <a:r>
              <a:rPr lang="pt-BR" sz="1150" i="1" dirty="0">
                <a:solidFill>
                  <a:srgbClr val="31485D"/>
                </a:solidFill>
                <a:latin typeface="Arial" pitchFamily="34" charset="0"/>
                <a:ea typeface="Arial" pitchFamily="34" charset="-122"/>
                <a:cs typeface="Arial" pitchFamily="34" charset="-120"/>
              </a:rPr>
              <a:t>No-show</a:t>
            </a:r>
            <a:endParaRPr lang="pt-BR" sz="1150" dirty="0"/>
          </a:p>
        </p:txBody>
      </p:sp>
      <p:sp>
        <p:nvSpPr>
          <p:cNvPr id="22" name="Shape 22"/>
          <p:cNvSpPr/>
          <p:nvPr/>
        </p:nvSpPr>
        <p:spPr>
          <a:xfrm>
            <a:off x="7479792" y="4160520"/>
            <a:ext cx="2066544" cy="960120"/>
          </a:xfrm>
          <a:prstGeom prst="roundRect">
            <a:avLst>
              <a:gd name="adj" fmla="val 5714"/>
            </a:avLst>
          </a:prstGeom>
          <a:solidFill>
            <a:srgbClr val="EEF3F6"/>
          </a:solidFill>
          <a:ln w="9525">
            <a:solidFill>
              <a:srgbClr val="72BAE3"/>
            </a:solidFill>
            <a:prstDash val="solid"/>
          </a:ln>
        </p:spPr>
      </p:sp>
      <p:sp>
        <p:nvSpPr>
          <p:cNvPr id="23" name="Text 23"/>
          <p:cNvSpPr txBox="1"/>
          <p:nvPr/>
        </p:nvSpPr>
        <p:spPr>
          <a:xfrm>
            <a:off x="7616952" y="425196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Taxa de cancelamento de reserva</a:t>
            </a:r>
            <a:endParaRPr lang="pt-BR" sz="1150" dirty="0"/>
          </a:p>
        </p:txBody>
      </p:sp>
      <p:sp>
        <p:nvSpPr>
          <p:cNvPr id="24" name="Shape 24"/>
          <p:cNvSpPr/>
          <p:nvPr/>
        </p:nvSpPr>
        <p:spPr>
          <a:xfrm>
            <a:off x="9683496" y="4160520"/>
            <a:ext cx="2066544" cy="960120"/>
          </a:xfrm>
          <a:prstGeom prst="roundRect">
            <a:avLst>
              <a:gd name="adj" fmla="val 5714"/>
            </a:avLst>
          </a:prstGeom>
          <a:solidFill>
            <a:srgbClr val="EEF3F6"/>
          </a:solidFill>
          <a:ln w="9525">
            <a:solidFill>
              <a:srgbClr val="72BAE3"/>
            </a:solidFill>
            <a:prstDash val="solid"/>
          </a:ln>
        </p:spPr>
      </p:sp>
      <p:sp>
        <p:nvSpPr>
          <p:cNvPr id="25" name="Text 25"/>
          <p:cNvSpPr txBox="1"/>
          <p:nvPr/>
        </p:nvSpPr>
        <p:spPr>
          <a:xfrm>
            <a:off x="9820656" y="425196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Taxa de alteração de reserva</a:t>
            </a:r>
            <a:endParaRPr lang="pt-BR" sz="1150" dirty="0"/>
          </a:p>
        </p:txBody>
      </p:sp>
      <p:sp>
        <p:nvSpPr>
          <p:cNvPr id="26" name="Shape 26"/>
          <p:cNvSpPr/>
          <p:nvPr/>
        </p:nvSpPr>
        <p:spPr>
          <a:xfrm>
            <a:off x="868680" y="5257800"/>
            <a:ext cx="2066544" cy="960120"/>
          </a:xfrm>
          <a:prstGeom prst="roundRect">
            <a:avLst>
              <a:gd name="adj" fmla="val 5714"/>
            </a:avLst>
          </a:prstGeom>
          <a:solidFill>
            <a:srgbClr val="EEF3F6"/>
          </a:solidFill>
          <a:ln w="9525">
            <a:solidFill>
              <a:srgbClr val="72BAE3"/>
            </a:solidFill>
            <a:prstDash val="solid"/>
          </a:ln>
        </p:spPr>
      </p:sp>
      <p:sp>
        <p:nvSpPr>
          <p:cNvPr id="27" name="Text 27"/>
          <p:cNvSpPr txBox="1"/>
          <p:nvPr/>
        </p:nvSpPr>
        <p:spPr>
          <a:xfrm>
            <a:off x="1005840" y="534924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Cobranças de terminal portuário</a:t>
            </a:r>
            <a:endParaRPr lang="pt-BR" sz="1150" dirty="0"/>
          </a:p>
        </p:txBody>
      </p:sp>
      <p:sp>
        <p:nvSpPr>
          <p:cNvPr id="28" name="Shape 28"/>
          <p:cNvSpPr/>
          <p:nvPr/>
        </p:nvSpPr>
        <p:spPr>
          <a:xfrm>
            <a:off x="3072384" y="5257800"/>
            <a:ext cx="2066544" cy="960120"/>
          </a:xfrm>
          <a:prstGeom prst="roundRect">
            <a:avLst>
              <a:gd name="adj" fmla="val 5714"/>
            </a:avLst>
          </a:prstGeom>
          <a:solidFill>
            <a:srgbClr val="EEF3F6"/>
          </a:solidFill>
          <a:ln w="9525">
            <a:solidFill>
              <a:srgbClr val="72BAE3"/>
            </a:solidFill>
            <a:prstDash val="solid"/>
          </a:ln>
        </p:spPr>
      </p:sp>
      <p:sp>
        <p:nvSpPr>
          <p:cNvPr id="29" name="Text 29"/>
          <p:cNvSpPr txBox="1"/>
          <p:nvPr/>
        </p:nvSpPr>
        <p:spPr>
          <a:xfrm>
            <a:off x="3209544" y="534924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Armazenagem adicional</a:t>
            </a:r>
            <a:endParaRPr lang="pt-BR" sz="1150" dirty="0"/>
          </a:p>
        </p:txBody>
      </p:sp>
      <p:sp>
        <p:nvSpPr>
          <p:cNvPr id="30" name="Shape 30"/>
          <p:cNvSpPr/>
          <p:nvPr/>
        </p:nvSpPr>
        <p:spPr>
          <a:xfrm>
            <a:off x="5276088" y="5257800"/>
            <a:ext cx="2066544" cy="960120"/>
          </a:xfrm>
          <a:prstGeom prst="roundRect">
            <a:avLst>
              <a:gd name="adj" fmla="val 5714"/>
            </a:avLst>
          </a:prstGeom>
          <a:solidFill>
            <a:srgbClr val="EEF3F6"/>
          </a:solidFill>
          <a:ln w="9525">
            <a:solidFill>
              <a:srgbClr val="72BAE3"/>
            </a:solidFill>
            <a:prstDash val="solid"/>
          </a:ln>
        </p:spPr>
      </p:sp>
      <p:sp>
        <p:nvSpPr>
          <p:cNvPr id="31" name="Text 31"/>
          <p:cNvSpPr txBox="1"/>
          <p:nvPr/>
        </p:nvSpPr>
        <p:spPr>
          <a:xfrm>
            <a:off x="5413248" y="534924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Ressarcimento de danos extraordinários</a:t>
            </a:r>
            <a:endParaRPr lang="pt-BR" sz="1150" dirty="0"/>
          </a:p>
        </p:txBody>
      </p:sp>
      <p:sp>
        <p:nvSpPr>
          <p:cNvPr id="32" name="Shape 32"/>
          <p:cNvSpPr/>
          <p:nvPr/>
        </p:nvSpPr>
        <p:spPr>
          <a:xfrm>
            <a:off x="7479792" y="5257800"/>
            <a:ext cx="2066544" cy="960120"/>
          </a:xfrm>
          <a:prstGeom prst="roundRect">
            <a:avLst>
              <a:gd name="adj" fmla="val 5714"/>
            </a:avLst>
          </a:prstGeom>
          <a:solidFill>
            <a:srgbClr val="EEF3F6"/>
          </a:solidFill>
          <a:ln w="9525">
            <a:solidFill>
              <a:srgbClr val="72BAE3"/>
            </a:solidFill>
            <a:prstDash val="solid"/>
          </a:ln>
        </p:spPr>
      </p:sp>
      <p:sp>
        <p:nvSpPr>
          <p:cNvPr id="33" name="Text 33"/>
          <p:cNvSpPr txBox="1"/>
          <p:nvPr/>
        </p:nvSpPr>
        <p:spPr>
          <a:xfrm>
            <a:off x="7616952" y="534924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Caução ou garantia</a:t>
            </a:r>
            <a:endParaRPr lang="pt-BR" sz="1150" dirty="0"/>
          </a:p>
        </p:txBody>
      </p:sp>
      <p:sp>
        <p:nvSpPr>
          <p:cNvPr id="34" name="Shape 34"/>
          <p:cNvSpPr/>
          <p:nvPr/>
        </p:nvSpPr>
        <p:spPr>
          <a:xfrm>
            <a:off x="9683496" y="5257800"/>
            <a:ext cx="2066544" cy="960120"/>
          </a:xfrm>
          <a:prstGeom prst="roundRect">
            <a:avLst>
              <a:gd name="adj" fmla="val 5714"/>
            </a:avLst>
          </a:prstGeom>
          <a:solidFill>
            <a:srgbClr val="EEF3F6"/>
          </a:solidFill>
          <a:ln w="9525">
            <a:solidFill>
              <a:srgbClr val="72BAE3"/>
            </a:solidFill>
            <a:prstDash val="solid"/>
          </a:ln>
        </p:spPr>
      </p:sp>
      <p:sp>
        <p:nvSpPr>
          <p:cNvPr id="35" name="Text 35"/>
          <p:cNvSpPr txBox="1"/>
          <p:nvPr/>
        </p:nvSpPr>
        <p:spPr>
          <a:xfrm>
            <a:off x="9820656" y="5349240"/>
            <a:ext cx="1792224" cy="777240"/>
          </a:xfrm>
          <a:prstGeom prst="rect">
            <a:avLst/>
          </a:prstGeom>
          <a:noFill/>
          <a:ln>
            <a:noFill/>
          </a:ln>
        </p:spPr>
        <p:txBody>
          <a:bodyPr wrap="square" lIns="0" tIns="0" rIns="0" bIns="0" rtlCol="0" anchor="ctr"/>
          <a:lstStyle/>
          <a:p>
            <a:pPr marL="0" indent="0" algn="ctr">
              <a:lnSpc>
                <a:spcPct val="105000"/>
              </a:lnSpc>
              <a:buNone/>
            </a:pPr>
            <a:r>
              <a:rPr lang="pt-BR" sz="1150" dirty="0">
                <a:solidFill>
                  <a:srgbClr val="31485D"/>
                </a:solidFill>
                <a:latin typeface="Arial" pitchFamily="34" charset="0"/>
                <a:ea typeface="Arial" pitchFamily="34" charset="-122"/>
                <a:cs typeface="Arial" pitchFamily="34" charset="-120"/>
              </a:rPr>
              <a:t>Ausência ou demora de resposta</a:t>
            </a:r>
            <a:endParaRPr lang="pt-BR" sz="1150" dirty="0"/>
          </a:p>
        </p:txBody>
      </p:sp>
      <p:sp>
        <p:nvSpPr>
          <p:cNvPr id="36" name="Text 3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24</a:t>
            </a:r>
            <a:endParaRPr lang="pt-BR"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40080" y="411480"/>
            <a:ext cx="10972800" cy="640080"/>
          </a:xfrm>
          <a:prstGeom prst="rect">
            <a:avLst/>
          </a:prstGeom>
          <a:noFill/>
          <a:ln>
            <a:noFill/>
          </a:ln>
        </p:spPr>
        <p:txBody>
          <a:bodyPr wrap="square" lIns="0" tIns="0" rIns="0" bIns="0" rtlCol="0" anchor="ctr"/>
          <a:lstStyle/>
          <a:p>
            <a:pPr marL="0" indent="0" algn="l">
              <a:buNone/>
            </a:pPr>
            <a:r>
              <a:rPr lang="pt-BR" sz="3000" b="1" dirty="0">
                <a:solidFill>
                  <a:srgbClr val="31485D"/>
                </a:solidFill>
                <a:latin typeface="Arial" pitchFamily="34" charset="0"/>
                <a:ea typeface="Arial" pitchFamily="34" charset="-122"/>
                <a:cs typeface="Arial" pitchFamily="34" charset="-120"/>
              </a:rPr>
              <a:t>A Ordem de Serviço nº 8 e as fiscalizações iniciais</a:t>
            </a:r>
            <a:endParaRPr lang="pt-BR" sz="3000" dirty="0"/>
          </a:p>
        </p:txBody>
      </p:sp>
      <p:sp>
        <p:nvSpPr>
          <p:cNvPr id="3" name="Text 3"/>
          <p:cNvSpPr txBox="1"/>
          <p:nvPr/>
        </p:nvSpPr>
        <p:spPr>
          <a:xfrm>
            <a:off x="640080" y="1078992"/>
            <a:ext cx="10972800" cy="411480"/>
          </a:xfrm>
          <a:prstGeom prst="rect">
            <a:avLst/>
          </a:prstGeom>
          <a:noFill/>
          <a:ln>
            <a:noFill/>
          </a:ln>
        </p:spPr>
        <p:txBody>
          <a:bodyPr wrap="square" lIns="0" tIns="0" rIns="0" bIns="0" rtlCol="0" anchor="ctr"/>
          <a:lstStyle/>
          <a:p>
            <a:pPr marL="0" indent="0" algn="l">
              <a:buNone/>
            </a:pPr>
            <a:r>
              <a:rPr lang="pt-BR" sz="1600" dirty="0">
                <a:solidFill>
                  <a:srgbClr val="72BAE3"/>
                </a:solidFill>
                <a:latin typeface="Arial" pitchFamily="34" charset="0"/>
                <a:ea typeface="Arial" pitchFamily="34" charset="-122"/>
                <a:cs typeface="Arial" pitchFamily="34" charset="-120"/>
              </a:rPr>
              <a:t>A primeira fase do GEF Contêineres</a:t>
            </a:r>
            <a:endParaRPr lang="pt-BR" sz="1600" dirty="0"/>
          </a:p>
        </p:txBody>
      </p:sp>
      <p:sp>
        <p:nvSpPr>
          <p:cNvPr id="4" name="Shape 4"/>
          <p:cNvSpPr/>
          <p:nvPr/>
        </p:nvSpPr>
        <p:spPr>
          <a:xfrm>
            <a:off x="640080" y="1920240"/>
            <a:ext cx="10058400" cy="960120"/>
          </a:xfrm>
          <a:prstGeom prst="roundRect">
            <a:avLst>
              <a:gd name="adj" fmla="val 7619"/>
            </a:avLst>
          </a:prstGeom>
          <a:solidFill>
            <a:srgbClr val="EEF3F6"/>
          </a:solidFill>
          <a:ln w="12700">
            <a:solidFill>
              <a:srgbClr val="72BAE3"/>
            </a:solidFill>
            <a:prstDash val="solid"/>
          </a:ln>
        </p:spPr>
      </p:sp>
      <p:sp>
        <p:nvSpPr>
          <p:cNvPr id="5" name="Shape 5"/>
          <p:cNvSpPr/>
          <p:nvPr/>
        </p:nvSpPr>
        <p:spPr>
          <a:xfrm>
            <a:off x="640080" y="1920240"/>
            <a:ext cx="109728" cy="960120"/>
          </a:xfrm>
          <a:prstGeom prst="rect">
            <a:avLst/>
          </a:prstGeom>
          <a:solidFill>
            <a:srgbClr val="31485D"/>
          </a:solidFill>
          <a:ln>
            <a:noFill/>
          </a:ln>
        </p:spPr>
      </p:sp>
      <p:sp>
        <p:nvSpPr>
          <p:cNvPr id="6" name="Text 6"/>
          <p:cNvSpPr txBox="1"/>
          <p:nvPr/>
        </p:nvSpPr>
        <p:spPr>
          <a:xfrm>
            <a:off x="960120" y="1920240"/>
            <a:ext cx="9509760" cy="96012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Fiscalizações "à moda tradicional"</a:t>
            </a:r>
            <a:endParaRPr lang="pt-BR" sz="1600" dirty="0"/>
          </a:p>
        </p:txBody>
      </p:sp>
      <p:sp>
        <p:nvSpPr>
          <p:cNvPr id="7" name="Shape 7"/>
          <p:cNvSpPr/>
          <p:nvPr/>
        </p:nvSpPr>
        <p:spPr>
          <a:xfrm>
            <a:off x="640080" y="3108960"/>
            <a:ext cx="10058400" cy="960120"/>
          </a:xfrm>
          <a:prstGeom prst="roundRect">
            <a:avLst>
              <a:gd name="adj" fmla="val 7619"/>
            </a:avLst>
          </a:prstGeom>
          <a:solidFill>
            <a:srgbClr val="EEF3F6"/>
          </a:solidFill>
          <a:ln w="12700">
            <a:solidFill>
              <a:srgbClr val="72BAE3"/>
            </a:solidFill>
            <a:prstDash val="solid"/>
          </a:ln>
        </p:spPr>
      </p:sp>
      <p:sp>
        <p:nvSpPr>
          <p:cNvPr id="8" name="Shape 8"/>
          <p:cNvSpPr/>
          <p:nvPr/>
        </p:nvSpPr>
        <p:spPr>
          <a:xfrm>
            <a:off x="640080" y="3108960"/>
            <a:ext cx="109728" cy="960120"/>
          </a:xfrm>
          <a:prstGeom prst="rect">
            <a:avLst/>
          </a:prstGeom>
          <a:solidFill>
            <a:srgbClr val="31485D"/>
          </a:solidFill>
          <a:ln>
            <a:noFill/>
          </a:ln>
        </p:spPr>
      </p:sp>
      <p:sp>
        <p:nvSpPr>
          <p:cNvPr id="9" name="Text 9"/>
          <p:cNvSpPr txBox="1"/>
          <p:nvPr/>
        </p:nvSpPr>
        <p:spPr>
          <a:xfrm>
            <a:off x="960120" y="3108960"/>
            <a:ext cx="9509760" cy="96012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Entendimentos diferentes para casos similares</a:t>
            </a:r>
            <a:endParaRPr lang="pt-BR" sz="1600" dirty="0"/>
          </a:p>
        </p:txBody>
      </p:sp>
      <p:sp>
        <p:nvSpPr>
          <p:cNvPr id="10" name="Shape 10"/>
          <p:cNvSpPr/>
          <p:nvPr/>
        </p:nvSpPr>
        <p:spPr>
          <a:xfrm>
            <a:off x="640080" y="4297680"/>
            <a:ext cx="10058400" cy="960120"/>
          </a:xfrm>
          <a:prstGeom prst="roundRect">
            <a:avLst>
              <a:gd name="adj" fmla="val 7619"/>
            </a:avLst>
          </a:prstGeom>
          <a:solidFill>
            <a:srgbClr val="EEF3F6"/>
          </a:solidFill>
          <a:ln w="12700">
            <a:solidFill>
              <a:srgbClr val="72BAE3"/>
            </a:solidFill>
            <a:prstDash val="solid"/>
          </a:ln>
        </p:spPr>
      </p:sp>
      <p:sp>
        <p:nvSpPr>
          <p:cNvPr id="11" name="Shape 11"/>
          <p:cNvSpPr/>
          <p:nvPr/>
        </p:nvSpPr>
        <p:spPr>
          <a:xfrm>
            <a:off x="640080" y="4297680"/>
            <a:ext cx="109728" cy="960120"/>
          </a:xfrm>
          <a:prstGeom prst="rect">
            <a:avLst/>
          </a:prstGeom>
          <a:solidFill>
            <a:srgbClr val="31485D"/>
          </a:solidFill>
          <a:ln>
            <a:noFill/>
          </a:ln>
        </p:spPr>
      </p:sp>
      <p:sp>
        <p:nvSpPr>
          <p:cNvPr id="12" name="Text 12"/>
          <p:cNvSpPr txBox="1"/>
          <p:nvPr/>
        </p:nvSpPr>
        <p:spPr>
          <a:xfrm>
            <a:off x="960120" y="4297680"/>
            <a:ext cx="9509760" cy="96012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Complexidade de análise do mérito</a:t>
            </a:r>
            <a:endParaRPr lang="pt-BR" sz="1600" dirty="0"/>
          </a:p>
        </p:txBody>
      </p:sp>
      <p:sp>
        <p:nvSpPr>
          <p:cNvPr id="13" name="Shape 13"/>
          <p:cNvSpPr/>
          <p:nvPr/>
        </p:nvSpPr>
        <p:spPr>
          <a:xfrm>
            <a:off x="640080" y="5486400"/>
            <a:ext cx="10058400" cy="960120"/>
          </a:xfrm>
          <a:prstGeom prst="roundRect">
            <a:avLst>
              <a:gd name="adj" fmla="val 7619"/>
            </a:avLst>
          </a:prstGeom>
          <a:solidFill>
            <a:srgbClr val="EEF3F6"/>
          </a:solidFill>
          <a:ln w="12700">
            <a:solidFill>
              <a:srgbClr val="72BAE3"/>
            </a:solidFill>
            <a:prstDash val="solid"/>
          </a:ln>
        </p:spPr>
      </p:sp>
      <p:sp>
        <p:nvSpPr>
          <p:cNvPr id="14" name="Shape 14"/>
          <p:cNvSpPr/>
          <p:nvPr/>
        </p:nvSpPr>
        <p:spPr>
          <a:xfrm>
            <a:off x="640080" y="5486400"/>
            <a:ext cx="109728" cy="960120"/>
          </a:xfrm>
          <a:prstGeom prst="rect">
            <a:avLst/>
          </a:prstGeom>
          <a:solidFill>
            <a:srgbClr val="31485D"/>
          </a:solidFill>
          <a:ln>
            <a:noFill/>
          </a:ln>
        </p:spPr>
      </p:sp>
      <p:sp>
        <p:nvSpPr>
          <p:cNvPr id="15" name="Text 15"/>
          <p:cNvSpPr txBox="1"/>
          <p:nvPr/>
        </p:nvSpPr>
        <p:spPr>
          <a:xfrm>
            <a:off x="960120" y="5486400"/>
            <a:ext cx="9509760" cy="96012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Dificuldade de enquadramento normativo</a:t>
            </a:r>
            <a:endParaRPr lang="pt-BR" sz="1600" dirty="0"/>
          </a:p>
        </p:txBody>
      </p:sp>
      <p:sp>
        <p:nvSpPr>
          <p:cNvPr id="16" name="Text 1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25</a:t>
            </a:r>
            <a:endParaRPr lang="pt-BR"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A Ordem de Serviço nº 8 e as fiscalizações iniciais</a:t>
            </a:r>
            <a:r>
              <a:rPr lang="pt-BR" sz="1000" dirty="0">
                <a:solidFill>
                  <a:srgbClr val="72BAE3"/>
                </a:solidFill>
                <a:latin typeface="Arial" pitchFamily="34" charset="0"/>
                <a:ea typeface="Arial" pitchFamily="34" charset="-122"/>
                <a:cs typeface="Arial" pitchFamily="34" charset="-120"/>
              </a:rPr>
              <a:t>   ·   A primeira fase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As ferramentas normativas disponíveis</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Resolução ANTAQ nº 62/2021:</a:t>
            </a:r>
            <a:endParaRPr lang="pt-BR" sz="1400" dirty="0"/>
          </a:p>
        </p:txBody>
      </p:sp>
      <p:sp>
        <p:nvSpPr>
          <p:cNvPr id="6" name="Text 6"/>
          <p:cNvSpPr txBox="1"/>
          <p:nvPr/>
        </p:nvSpPr>
        <p:spPr>
          <a:xfrm>
            <a:off x="868680" y="1325880"/>
            <a:ext cx="10881360" cy="502920"/>
          </a:xfrm>
          <a:prstGeom prst="rect">
            <a:avLst/>
          </a:prstGeom>
          <a:noFill/>
          <a:ln>
            <a:noFill/>
          </a:ln>
        </p:spPr>
        <p:txBody>
          <a:bodyPr wrap="square" lIns="0" tIns="0" rIns="0" bIns="0" rtlCol="0" anchor="ctr"/>
          <a:lstStyle/>
          <a:p>
            <a:pPr marL="0" indent="0" algn="l">
              <a:lnSpc>
                <a:spcPct val="105000"/>
              </a:lnSpc>
              <a:buNone/>
            </a:pPr>
            <a:r>
              <a:rPr lang="pt-BR" sz="1200" i="1" dirty="0">
                <a:solidFill>
                  <a:srgbClr val="3A4750"/>
                </a:solidFill>
                <a:latin typeface="Arial" pitchFamily="34" charset="0"/>
                <a:ea typeface="Arial" pitchFamily="34" charset="-122"/>
                <a:cs typeface="Arial" pitchFamily="34" charset="-120"/>
              </a:rPr>
              <a:t>Direitos e deveres dos usuários, dos agentes intermediários e das empresas que operam nas navegações de apoio marítimo, apoio portuário, cabotagem e longo curso</a:t>
            </a:r>
            <a:endParaRPr lang="pt-BR" sz="1200" dirty="0"/>
          </a:p>
        </p:txBody>
      </p:sp>
      <p:sp>
        <p:nvSpPr>
          <p:cNvPr id="7" name="Shape 7"/>
          <p:cNvSpPr/>
          <p:nvPr/>
        </p:nvSpPr>
        <p:spPr>
          <a:xfrm>
            <a:off x="868680" y="2011680"/>
            <a:ext cx="5303520" cy="4206240"/>
          </a:xfrm>
          <a:prstGeom prst="roundRect">
            <a:avLst>
              <a:gd name="adj" fmla="val 1739"/>
            </a:avLst>
          </a:prstGeom>
          <a:solidFill>
            <a:srgbClr val="EEF3F6"/>
          </a:solidFill>
          <a:ln w="12700">
            <a:solidFill>
              <a:srgbClr val="72BAE3"/>
            </a:solidFill>
            <a:prstDash val="solid"/>
          </a:ln>
        </p:spPr>
      </p:sp>
      <p:sp>
        <p:nvSpPr>
          <p:cNvPr id="8" name="Text 8"/>
          <p:cNvSpPr txBox="1"/>
          <p:nvPr/>
        </p:nvSpPr>
        <p:spPr>
          <a:xfrm>
            <a:off x="1143000" y="2240280"/>
            <a:ext cx="4754880" cy="3749040"/>
          </a:xfrm>
          <a:prstGeom prst="rect">
            <a:avLst/>
          </a:prstGeom>
          <a:noFill/>
          <a:ln>
            <a:noFill/>
          </a:ln>
        </p:spPr>
        <p:txBody>
          <a:bodyPr wrap="square" lIns="0" tIns="0" rIns="0" bIns="0" rtlCol="0" anchor="t"/>
          <a:lstStyle/>
          <a:p>
            <a:pPr marL="0" indent="0" algn="l">
              <a:lnSpc>
                <a:spcPct val="105000"/>
              </a:lnSpc>
              <a:spcAft>
                <a:spcPts val="800"/>
              </a:spcAft>
              <a:buNone/>
            </a:pPr>
            <a:r>
              <a:rPr lang="pt-BR" sz="1400" b="1" dirty="0">
                <a:solidFill>
                  <a:srgbClr val="31485D"/>
                </a:solidFill>
                <a:latin typeface="Arial" pitchFamily="34" charset="0"/>
                <a:ea typeface="Arial" pitchFamily="34" charset="-122"/>
                <a:cs typeface="Arial" pitchFamily="34" charset="-120"/>
              </a:rPr>
              <a:t>Art. 20. </a:t>
            </a:r>
            <a:r>
              <a:rPr lang="pt-BR" sz="1400" dirty="0">
                <a:solidFill>
                  <a:srgbClr val="3A4750"/>
                </a:solidFill>
                <a:latin typeface="Arial" pitchFamily="34" charset="0"/>
                <a:ea typeface="Arial" pitchFamily="34" charset="-122"/>
                <a:cs typeface="Arial" pitchFamily="34" charset="-120"/>
              </a:rPr>
              <a:t>O prazo de livre estadia do contêiner será contado:</a:t>
            </a:r>
            <a:endParaRPr lang="pt-BR" sz="1400" dirty="0"/>
          </a:p>
          <a:p>
            <a:pPr marL="228600" indent="0" algn="l">
              <a:lnSpc>
                <a:spcPct val="105000"/>
              </a:lnSpc>
              <a:spcAft>
                <a:spcPts val="800"/>
              </a:spcAft>
              <a:buNone/>
            </a:pPr>
            <a:r>
              <a:rPr lang="pt-BR" sz="1400" dirty="0">
                <a:solidFill>
                  <a:srgbClr val="3A4750"/>
                </a:solidFill>
                <a:latin typeface="Arial" pitchFamily="34" charset="0"/>
                <a:ea typeface="Arial" pitchFamily="34" charset="-122"/>
                <a:cs typeface="Arial" pitchFamily="34" charset="-120"/>
              </a:rPr>
              <a:t>I - no embarque, a partir da data de retirada do(s) contêiner(es) vazio(s) pelo embarcador no local acordado; e</a:t>
            </a:r>
            <a:endParaRPr lang="pt-BR" sz="1400" dirty="0"/>
          </a:p>
          <a:p>
            <a:pPr marL="228600" indent="0" algn="l">
              <a:lnSpc>
                <a:spcPct val="105000"/>
              </a:lnSpc>
              <a:buNone/>
            </a:pPr>
            <a:r>
              <a:rPr lang="pt-BR" sz="1400" dirty="0">
                <a:solidFill>
                  <a:srgbClr val="3A4750"/>
                </a:solidFill>
                <a:latin typeface="Arial" pitchFamily="34" charset="0"/>
                <a:ea typeface="Arial" pitchFamily="34" charset="-122"/>
                <a:cs typeface="Arial" pitchFamily="34" charset="-120"/>
              </a:rPr>
              <a:t>II - no desembarque do(s) contêiner(es) cheio(s), a partir do dia seguinte após a entrega da carga no local acordado.</a:t>
            </a:r>
            <a:endParaRPr lang="pt-BR" sz="1400" dirty="0"/>
          </a:p>
        </p:txBody>
      </p:sp>
      <p:sp>
        <p:nvSpPr>
          <p:cNvPr id="9" name="Shape 9"/>
          <p:cNvSpPr/>
          <p:nvPr/>
        </p:nvSpPr>
        <p:spPr>
          <a:xfrm>
            <a:off x="6446520" y="2011680"/>
            <a:ext cx="5303520" cy="4206240"/>
          </a:xfrm>
          <a:prstGeom prst="roundRect">
            <a:avLst>
              <a:gd name="adj" fmla="val 1739"/>
            </a:avLst>
          </a:prstGeom>
          <a:solidFill>
            <a:srgbClr val="EEF3F6"/>
          </a:solidFill>
          <a:ln w="12700">
            <a:solidFill>
              <a:srgbClr val="72BAE3"/>
            </a:solidFill>
            <a:prstDash val="solid"/>
          </a:ln>
        </p:spPr>
      </p:sp>
      <p:sp>
        <p:nvSpPr>
          <p:cNvPr id="10" name="Text 10"/>
          <p:cNvSpPr txBox="1"/>
          <p:nvPr/>
        </p:nvSpPr>
        <p:spPr>
          <a:xfrm>
            <a:off x="6720840" y="2240280"/>
            <a:ext cx="4754880" cy="3749040"/>
          </a:xfrm>
          <a:prstGeom prst="rect">
            <a:avLst/>
          </a:prstGeom>
          <a:noFill/>
          <a:ln>
            <a:noFill/>
          </a:ln>
        </p:spPr>
        <p:txBody>
          <a:bodyPr wrap="square" lIns="0" tIns="0" rIns="0" bIns="0" rtlCol="0" anchor="t"/>
          <a:lstStyle/>
          <a:p>
            <a:pPr marL="0" indent="0" algn="l">
              <a:lnSpc>
                <a:spcPct val="105000"/>
              </a:lnSpc>
              <a:spcAft>
                <a:spcPts val="600"/>
              </a:spcAft>
              <a:buNone/>
            </a:pPr>
            <a:r>
              <a:rPr lang="pt-BR" sz="1400" b="1" dirty="0">
                <a:solidFill>
                  <a:srgbClr val="31485D"/>
                </a:solidFill>
                <a:latin typeface="Arial" pitchFamily="34" charset="0"/>
                <a:ea typeface="Arial" pitchFamily="34" charset="-122"/>
                <a:cs typeface="Arial" pitchFamily="34" charset="-120"/>
              </a:rPr>
              <a:t>Art. 21. </a:t>
            </a:r>
            <a:r>
              <a:rPr lang="pt-BR" sz="1400" dirty="0">
                <a:solidFill>
                  <a:srgbClr val="3A4750"/>
                </a:solidFill>
                <a:latin typeface="Arial" pitchFamily="34" charset="0"/>
                <a:ea typeface="Arial" pitchFamily="34" charset="-122"/>
                <a:cs typeface="Arial" pitchFamily="34" charset="-120"/>
              </a:rPr>
              <a:t>A responsabilidade do usuário, embarcador ou consignatário pela sobre-estadia termina no momento da devida entrada do contêiner cheio na instalação portuária de embarque, ou com a devolução do contêiner vazio no local acordado, no estado em que o recebeu, salvo deteriorações naturais pelo uso regular.</a:t>
            </a:r>
            <a:endParaRPr lang="pt-BR" sz="1400" dirty="0"/>
          </a:p>
          <a:p>
            <a:pPr marL="0" indent="0" algn="l">
              <a:spcAft>
                <a:spcPts val="600"/>
              </a:spcAft>
              <a:buNone/>
            </a:pPr>
            <a:r>
              <a:rPr lang="pt-BR" sz="1400" dirty="0">
                <a:solidFill>
                  <a:srgbClr val="9AA7B0"/>
                </a:solidFill>
                <a:latin typeface="Arial" pitchFamily="34" charset="0"/>
                <a:ea typeface="Arial" pitchFamily="34" charset="-122"/>
                <a:cs typeface="Arial" pitchFamily="34" charset="-120"/>
              </a:rPr>
              <a:t>(...)</a:t>
            </a:r>
            <a:endParaRPr lang="pt-BR" sz="1400" dirty="0"/>
          </a:p>
          <a:p>
            <a:pPr marL="0" indent="0" algn="l">
              <a:lnSpc>
                <a:spcPct val="105000"/>
              </a:lnSpc>
              <a:spcAft>
                <a:spcPts val="800"/>
              </a:spcAft>
              <a:buNone/>
            </a:pPr>
            <a:r>
              <a:rPr lang="pt-BR" sz="1400" b="1" dirty="0">
                <a:solidFill>
                  <a:srgbClr val="31485D"/>
                </a:solidFill>
                <a:latin typeface="Arial" pitchFamily="34" charset="0"/>
                <a:ea typeface="Arial" pitchFamily="34" charset="-122"/>
                <a:cs typeface="Arial" pitchFamily="34" charset="-120"/>
              </a:rPr>
              <a:t>§ 2º </a:t>
            </a:r>
            <a:r>
              <a:rPr lang="pt-BR" sz="1400" dirty="0">
                <a:solidFill>
                  <a:srgbClr val="3A4750"/>
                </a:solidFill>
                <a:latin typeface="Arial" pitchFamily="34" charset="0"/>
                <a:ea typeface="Arial" pitchFamily="34" charset="-122"/>
                <a:cs typeface="Arial" pitchFamily="34" charset="-120"/>
              </a:rPr>
              <a:t>A contagem do prazo de livre estadia do contêiner será suspensa em decorrência de:</a:t>
            </a:r>
            <a:endParaRPr lang="pt-BR" sz="1400" dirty="0"/>
          </a:p>
          <a:p>
            <a:pPr marL="228600" indent="0" algn="l">
              <a:lnSpc>
                <a:spcPct val="105000"/>
              </a:lnSpc>
              <a:spcAft>
                <a:spcPts val="600"/>
              </a:spcAft>
              <a:buNone/>
            </a:pPr>
            <a:r>
              <a:rPr lang="pt-BR" sz="1400" dirty="0">
                <a:solidFill>
                  <a:srgbClr val="3A4750"/>
                </a:solidFill>
                <a:latin typeface="Arial" pitchFamily="34" charset="0"/>
                <a:ea typeface="Arial" pitchFamily="34" charset="-122"/>
                <a:cs typeface="Arial" pitchFamily="34" charset="-120"/>
              </a:rPr>
              <a:t>I - fato imputável diretamente ao próprio transportador marítimo, ao proprietário do contêiner, ou ao depósito de contêineres (depot);</a:t>
            </a:r>
            <a:endParaRPr lang="pt-BR" sz="1400" dirty="0"/>
          </a:p>
          <a:p>
            <a:pPr marL="228600" indent="0" algn="l">
              <a:buNone/>
            </a:pPr>
            <a:r>
              <a:rPr lang="pt-BR" sz="1400" dirty="0">
                <a:solidFill>
                  <a:srgbClr val="9AA7B0"/>
                </a:solidFill>
                <a:latin typeface="Arial" pitchFamily="34" charset="0"/>
                <a:ea typeface="Arial" pitchFamily="34" charset="-122"/>
                <a:cs typeface="Arial" pitchFamily="34" charset="-120"/>
              </a:rPr>
              <a:t>(...)</a:t>
            </a:r>
            <a:endParaRPr lang="pt-BR" sz="1400" dirty="0"/>
          </a:p>
        </p:txBody>
      </p:sp>
      <p:sp>
        <p:nvSpPr>
          <p:cNvPr id="11" name="Text 11"/>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26</a:t>
            </a:r>
            <a:endParaRPr lang="pt-BR"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A Ordem de Serviço nº 8 e as fiscalizações iniciais</a:t>
            </a:r>
            <a:r>
              <a:rPr lang="pt-BR" sz="1000" dirty="0">
                <a:solidFill>
                  <a:srgbClr val="72BAE3"/>
                </a:solidFill>
                <a:latin typeface="Arial" pitchFamily="34" charset="0"/>
                <a:ea typeface="Arial" pitchFamily="34" charset="-122"/>
                <a:cs typeface="Arial" pitchFamily="34" charset="-120"/>
              </a:rPr>
              <a:t>   ·   A primeira fase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As ferramentas normativas disponíveis</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Resolução ANTAQ nº 62/2021:</a:t>
            </a:r>
            <a:endParaRPr lang="pt-BR" sz="1400" dirty="0"/>
          </a:p>
        </p:txBody>
      </p:sp>
      <p:sp>
        <p:nvSpPr>
          <p:cNvPr id="6" name="Text 6"/>
          <p:cNvSpPr txBox="1"/>
          <p:nvPr/>
        </p:nvSpPr>
        <p:spPr>
          <a:xfrm>
            <a:off x="868680" y="1508760"/>
            <a:ext cx="10881360" cy="457200"/>
          </a:xfrm>
          <a:prstGeom prst="rect">
            <a:avLst/>
          </a:prstGeom>
          <a:noFill/>
          <a:ln>
            <a:noFill/>
          </a:ln>
        </p:spPr>
        <p:txBody>
          <a:bodyPr wrap="square" lIns="0" tIns="0" rIns="0" bIns="0" rtlCol="0" anchor="ctr"/>
          <a:lstStyle/>
          <a:p>
            <a:pPr marL="0" indent="0" algn="l">
              <a:buNone/>
            </a:pPr>
            <a:r>
              <a:rPr lang="pt-BR" sz="1800" b="1" dirty="0">
                <a:solidFill>
                  <a:srgbClr val="31485D"/>
                </a:solidFill>
                <a:latin typeface="Arial" pitchFamily="34" charset="0"/>
                <a:ea typeface="Arial" pitchFamily="34" charset="-122"/>
                <a:cs typeface="Arial" pitchFamily="34" charset="-120"/>
              </a:rPr>
              <a:t>Art. 30. </a:t>
            </a:r>
            <a:r>
              <a:rPr lang="pt-BR" sz="1800" dirty="0">
                <a:solidFill>
                  <a:srgbClr val="31485D"/>
                </a:solidFill>
                <a:latin typeface="Arial" pitchFamily="34" charset="0"/>
                <a:ea typeface="Arial" pitchFamily="34" charset="-122"/>
                <a:cs typeface="Arial" pitchFamily="34" charset="-120"/>
              </a:rPr>
              <a:t>Constituem infrações administrativas de natureza média:</a:t>
            </a:r>
            <a:endParaRPr lang="pt-BR" sz="1800" dirty="0"/>
          </a:p>
        </p:txBody>
      </p:sp>
      <p:sp>
        <p:nvSpPr>
          <p:cNvPr id="7" name="Shape 7"/>
          <p:cNvSpPr/>
          <p:nvPr/>
        </p:nvSpPr>
        <p:spPr>
          <a:xfrm>
            <a:off x="868680" y="2240280"/>
            <a:ext cx="10881360" cy="1325880"/>
          </a:xfrm>
          <a:prstGeom prst="roundRect">
            <a:avLst>
              <a:gd name="adj" fmla="val 5517"/>
            </a:avLst>
          </a:prstGeom>
          <a:solidFill>
            <a:srgbClr val="EEF3F6"/>
          </a:solidFill>
          <a:ln w="12700">
            <a:solidFill>
              <a:srgbClr val="72BAE3"/>
            </a:solidFill>
            <a:prstDash val="solid"/>
          </a:ln>
        </p:spPr>
      </p:sp>
      <p:sp>
        <p:nvSpPr>
          <p:cNvPr id="8" name="Shape 8"/>
          <p:cNvSpPr/>
          <p:nvPr/>
        </p:nvSpPr>
        <p:spPr>
          <a:xfrm>
            <a:off x="868680" y="2240280"/>
            <a:ext cx="109728" cy="1325880"/>
          </a:xfrm>
          <a:prstGeom prst="rect">
            <a:avLst/>
          </a:prstGeom>
          <a:solidFill>
            <a:srgbClr val="31485D"/>
          </a:solidFill>
          <a:ln>
            <a:noFill/>
          </a:ln>
        </p:spPr>
      </p:sp>
      <p:sp>
        <p:nvSpPr>
          <p:cNvPr id="9" name="Text 9"/>
          <p:cNvSpPr txBox="1"/>
          <p:nvPr/>
        </p:nvSpPr>
        <p:spPr>
          <a:xfrm>
            <a:off x="1234440" y="2331720"/>
            <a:ext cx="10241280" cy="1143000"/>
          </a:xfrm>
          <a:prstGeom prst="rect">
            <a:avLst/>
          </a:prstGeom>
          <a:noFill/>
          <a:ln>
            <a:noFill/>
          </a:ln>
        </p:spPr>
        <p:txBody>
          <a:bodyPr wrap="square" lIns="0" tIns="0" rIns="0" bIns="0" rtlCol="0" anchor="ctr"/>
          <a:lstStyle/>
          <a:p>
            <a:pPr marL="0" indent="0" algn="l">
              <a:lnSpc>
                <a:spcPct val="110000"/>
              </a:lnSpc>
              <a:buNone/>
            </a:pPr>
            <a:r>
              <a:rPr lang="pt-BR" sz="1500" b="1" dirty="0">
                <a:solidFill>
                  <a:srgbClr val="31485D"/>
                </a:solidFill>
                <a:latin typeface="Arial" pitchFamily="34" charset="0"/>
                <a:ea typeface="Arial" pitchFamily="34" charset="-122"/>
                <a:cs typeface="Arial" pitchFamily="34" charset="-120"/>
              </a:rPr>
              <a:t>I - </a:t>
            </a:r>
            <a:r>
              <a:rPr lang="pt-BR" sz="1500" dirty="0">
                <a:solidFill>
                  <a:srgbClr val="31485D"/>
                </a:solidFill>
                <a:latin typeface="Arial" pitchFamily="34" charset="0"/>
                <a:ea typeface="Arial" pitchFamily="34" charset="-122"/>
                <a:cs typeface="Arial" pitchFamily="34" charset="-120"/>
              </a:rPr>
              <a:t>cobrar valor de sobre-estadia de contêiner referente ao prazo de livre estadia: multa de até R$ 100.000,00 (cem mil reais);</a:t>
            </a:r>
            <a:endParaRPr lang="pt-BR" sz="1500" dirty="0"/>
          </a:p>
        </p:txBody>
      </p:sp>
      <p:sp>
        <p:nvSpPr>
          <p:cNvPr id="10" name="Text 10"/>
          <p:cNvSpPr txBox="1"/>
          <p:nvPr/>
        </p:nvSpPr>
        <p:spPr>
          <a:xfrm>
            <a:off x="868680" y="3703320"/>
            <a:ext cx="10881360" cy="365760"/>
          </a:xfrm>
          <a:prstGeom prst="rect">
            <a:avLst/>
          </a:prstGeom>
          <a:noFill/>
          <a:ln>
            <a:noFill/>
          </a:ln>
        </p:spPr>
        <p:txBody>
          <a:bodyPr wrap="square" lIns="0" tIns="0" rIns="0" bIns="0" rtlCol="0" anchor="ctr"/>
          <a:lstStyle/>
          <a:p>
            <a:pPr marL="0" indent="0" algn="l">
              <a:buNone/>
            </a:pPr>
            <a:r>
              <a:rPr lang="pt-BR" sz="1500" dirty="0">
                <a:solidFill>
                  <a:srgbClr val="9AA7B0"/>
                </a:solidFill>
                <a:latin typeface="Arial" pitchFamily="34" charset="0"/>
                <a:ea typeface="Arial" pitchFamily="34" charset="-122"/>
                <a:cs typeface="Arial" pitchFamily="34" charset="-120"/>
              </a:rPr>
              <a:t>(...)</a:t>
            </a:r>
            <a:endParaRPr lang="pt-BR" sz="1500" dirty="0"/>
          </a:p>
        </p:txBody>
      </p:sp>
      <p:sp>
        <p:nvSpPr>
          <p:cNvPr id="11" name="Shape 11"/>
          <p:cNvSpPr/>
          <p:nvPr/>
        </p:nvSpPr>
        <p:spPr>
          <a:xfrm>
            <a:off x="868680" y="4206240"/>
            <a:ext cx="10881360" cy="1691640"/>
          </a:xfrm>
          <a:prstGeom prst="roundRect">
            <a:avLst>
              <a:gd name="adj" fmla="val 4324"/>
            </a:avLst>
          </a:prstGeom>
          <a:solidFill>
            <a:srgbClr val="EEF3F6"/>
          </a:solidFill>
          <a:ln w="12700">
            <a:solidFill>
              <a:srgbClr val="72BAE3"/>
            </a:solidFill>
            <a:prstDash val="solid"/>
          </a:ln>
        </p:spPr>
      </p:sp>
      <p:sp>
        <p:nvSpPr>
          <p:cNvPr id="12" name="Shape 12"/>
          <p:cNvSpPr/>
          <p:nvPr/>
        </p:nvSpPr>
        <p:spPr>
          <a:xfrm>
            <a:off x="868680" y="4206240"/>
            <a:ext cx="109728" cy="1691640"/>
          </a:xfrm>
          <a:prstGeom prst="rect">
            <a:avLst/>
          </a:prstGeom>
          <a:solidFill>
            <a:srgbClr val="31485D"/>
          </a:solidFill>
          <a:ln>
            <a:noFill/>
          </a:ln>
        </p:spPr>
      </p:sp>
      <p:sp>
        <p:nvSpPr>
          <p:cNvPr id="13" name="Text 13"/>
          <p:cNvSpPr txBox="1"/>
          <p:nvPr/>
        </p:nvSpPr>
        <p:spPr>
          <a:xfrm>
            <a:off x="1234440" y="4297680"/>
            <a:ext cx="10241280" cy="1508760"/>
          </a:xfrm>
          <a:prstGeom prst="rect">
            <a:avLst/>
          </a:prstGeom>
          <a:noFill/>
          <a:ln>
            <a:noFill/>
          </a:ln>
        </p:spPr>
        <p:txBody>
          <a:bodyPr wrap="square" lIns="0" tIns="0" rIns="0" bIns="0" rtlCol="0" anchor="ctr"/>
          <a:lstStyle/>
          <a:p>
            <a:pPr marL="0" indent="0" algn="l">
              <a:lnSpc>
                <a:spcPct val="110000"/>
              </a:lnSpc>
              <a:buNone/>
            </a:pPr>
            <a:r>
              <a:rPr lang="pt-BR" sz="1500" b="1" dirty="0">
                <a:solidFill>
                  <a:srgbClr val="31485D"/>
                </a:solidFill>
                <a:latin typeface="Arial" pitchFamily="34" charset="0"/>
                <a:ea typeface="Arial" pitchFamily="34" charset="-122"/>
                <a:cs typeface="Arial" pitchFamily="34" charset="-120"/>
              </a:rPr>
              <a:t>VI - </a:t>
            </a:r>
            <a:r>
              <a:rPr lang="pt-BR" sz="1500" dirty="0">
                <a:solidFill>
                  <a:srgbClr val="31485D"/>
                </a:solidFill>
                <a:latin typeface="Arial" pitchFamily="34" charset="0"/>
                <a:ea typeface="Arial" pitchFamily="34" charset="-122"/>
                <a:cs typeface="Arial" pitchFamily="34" charset="-120"/>
              </a:rPr>
              <a:t>cobrar do usuário ou do embarcador as despesas pela armazenagem adicional e outros serviços prestados em decorrência do não embarque das cargas no prazo previamente programado, salvo se aquele lhe der causa: multa de até R$ 100.000,00 (cem mil reais);</a:t>
            </a:r>
            <a:endParaRPr lang="pt-BR" sz="1500" dirty="0"/>
          </a:p>
        </p:txBody>
      </p:sp>
      <p:sp>
        <p:nvSpPr>
          <p:cNvPr id="14" name="Text 14"/>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27</a:t>
            </a:r>
            <a:endParaRPr lang="pt-BR"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A Ordem de Serviço nº 8 e as fiscalizações iniciais</a:t>
            </a:r>
            <a:r>
              <a:rPr lang="pt-BR" sz="1000" dirty="0">
                <a:solidFill>
                  <a:srgbClr val="72BAE3"/>
                </a:solidFill>
                <a:latin typeface="Arial" pitchFamily="34" charset="0"/>
                <a:ea typeface="Arial" pitchFamily="34" charset="-122"/>
                <a:cs typeface="Arial" pitchFamily="34" charset="-120"/>
              </a:rPr>
              <a:t>   ·   A primeira fase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Não se enxergava a luz no fim do túnel...</a:t>
            </a:r>
            <a:endParaRPr lang="pt-BR" sz="2400" dirty="0"/>
          </a:p>
        </p:txBody>
      </p:sp>
      <p:pic>
        <p:nvPicPr>
          <p:cNvPr id="5" name="Picture 4" descr="fly.jpg"/>
          <p:cNvPicPr>
            <a:picLocks noChangeAspect="1"/>
          </p:cNvPicPr>
          <p:nvPr/>
        </p:nvPicPr>
        <p:blipFill>
          <a:blip r:embed="rId2"/>
          <a:stretch>
            <a:fillRect/>
          </a:stretch>
        </p:blipFill>
        <p:spPr>
          <a:xfrm>
            <a:off x="1005840" y="1417320"/>
            <a:ext cx="4480560" cy="4480560"/>
          </a:xfrm>
          <a:prstGeom prst="rect">
            <a:avLst/>
          </a:prstGeom>
        </p:spPr>
      </p:pic>
      <p:sp>
        <p:nvSpPr>
          <p:cNvPr id="6" name="Shape 6"/>
          <p:cNvSpPr/>
          <p:nvPr/>
        </p:nvSpPr>
        <p:spPr>
          <a:xfrm>
            <a:off x="6035040" y="1600200"/>
            <a:ext cx="5577840" cy="2011680"/>
          </a:xfrm>
          <a:prstGeom prst="roundRect">
            <a:avLst>
              <a:gd name="adj" fmla="val 3636"/>
            </a:avLst>
          </a:prstGeom>
          <a:solidFill>
            <a:srgbClr val="EEF3F6"/>
          </a:solidFill>
          <a:ln w="12700">
            <a:solidFill>
              <a:srgbClr val="72BAE3"/>
            </a:solidFill>
            <a:prstDash val="solid"/>
          </a:ln>
        </p:spPr>
      </p:sp>
      <p:sp>
        <p:nvSpPr>
          <p:cNvPr id="7" name="Text 7"/>
          <p:cNvSpPr txBox="1"/>
          <p:nvPr/>
        </p:nvSpPr>
        <p:spPr>
          <a:xfrm>
            <a:off x="6309360" y="1691640"/>
            <a:ext cx="5029200" cy="1097280"/>
          </a:xfrm>
          <a:prstGeom prst="rect">
            <a:avLst/>
          </a:prstGeom>
          <a:noFill/>
          <a:ln>
            <a:noFill/>
          </a:ln>
        </p:spPr>
        <p:txBody>
          <a:bodyPr wrap="square" lIns="0" tIns="0" rIns="0" bIns="0" rtlCol="0" anchor="ctr"/>
          <a:lstStyle/>
          <a:p>
            <a:pPr marL="0" indent="0" algn="ctr">
              <a:buNone/>
            </a:pPr>
            <a:r>
              <a:rPr lang="pt-BR" sz="4400" b="1" dirty="0">
                <a:solidFill>
                  <a:srgbClr val="31485D"/>
                </a:solidFill>
                <a:latin typeface="Arial" pitchFamily="34" charset="0"/>
                <a:ea typeface="Arial" pitchFamily="34" charset="-122"/>
                <a:cs typeface="Arial" pitchFamily="34" charset="-120"/>
              </a:rPr>
              <a:t>≈ 40</a:t>
            </a:r>
            <a:endParaRPr lang="pt-BR" sz="4400" dirty="0"/>
          </a:p>
        </p:txBody>
      </p:sp>
      <p:sp>
        <p:nvSpPr>
          <p:cNvPr id="8" name="Text 8"/>
          <p:cNvSpPr txBox="1"/>
          <p:nvPr/>
        </p:nvSpPr>
        <p:spPr>
          <a:xfrm>
            <a:off x="6309360" y="2788920"/>
            <a:ext cx="5029200" cy="640080"/>
          </a:xfrm>
          <a:prstGeom prst="rect">
            <a:avLst/>
          </a:prstGeom>
          <a:noFill/>
          <a:ln>
            <a:noFill/>
          </a:ln>
        </p:spPr>
        <p:txBody>
          <a:bodyPr wrap="square" lIns="0" tIns="0" rIns="0" bIns="0" rtlCol="0" anchor="ctr"/>
          <a:lstStyle/>
          <a:p>
            <a:pPr marL="0" indent="0" algn="ctr">
              <a:buNone/>
            </a:pPr>
            <a:r>
              <a:rPr lang="pt-BR" sz="1800" dirty="0">
                <a:solidFill>
                  <a:srgbClr val="31485D"/>
                </a:solidFill>
                <a:latin typeface="Arial" pitchFamily="34" charset="0"/>
                <a:ea typeface="Arial" pitchFamily="34" charset="-122"/>
                <a:cs typeface="Arial" pitchFamily="34" charset="-120"/>
              </a:rPr>
              <a:t>novas denúncias/mês</a:t>
            </a:r>
            <a:endParaRPr lang="pt-BR" sz="1800" dirty="0"/>
          </a:p>
        </p:txBody>
      </p:sp>
      <p:sp>
        <p:nvSpPr>
          <p:cNvPr id="9" name="Shape 9"/>
          <p:cNvSpPr/>
          <p:nvPr/>
        </p:nvSpPr>
        <p:spPr>
          <a:xfrm>
            <a:off x="6035040" y="3886200"/>
            <a:ext cx="5577840" cy="2011680"/>
          </a:xfrm>
          <a:prstGeom prst="roundRect">
            <a:avLst>
              <a:gd name="adj" fmla="val 3636"/>
            </a:avLst>
          </a:prstGeom>
          <a:solidFill>
            <a:srgbClr val="31485D"/>
          </a:solidFill>
          <a:ln>
            <a:noFill/>
          </a:ln>
        </p:spPr>
      </p:sp>
      <p:sp>
        <p:nvSpPr>
          <p:cNvPr id="10" name="Text 10"/>
          <p:cNvSpPr txBox="1"/>
          <p:nvPr/>
        </p:nvSpPr>
        <p:spPr>
          <a:xfrm>
            <a:off x="6309360" y="4023360"/>
            <a:ext cx="5029200" cy="1737360"/>
          </a:xfrm>
          <a:prstGeom prst="rect">
            <a:avLst/>
          </a:prstGeom>
          <a:noFill/>
          <a:ln>
            <a:noFill/>
          </a:ln>
        </p:spPr>
        <p:txBody>
          <a:bodyPr wrap="square" lIns="0" tIns="0" rIns="0" bIns="0" rtlCol="0" anchor="ctr"/>
          <a:lstStyle/>
          <a:p>
            <a:pPr marL="0" indent="0" algn="ctr">
              <a:lnSpc>
                <a:spcPct val="110000"/>
              </a:lnSpc>
              <a:buNone/>
            </a:pPr>
            <a:r>
              <a:rPr lang="pt-BR" sz="1800" dirty="0">
                <a:solidFill>
                  <a:srgbClr val="FFFFFF"/>
                </a:solidFill>
                <a:latin typeface="Arial" pitchFamily="34" charset="0"/>
                <a:ea typeface="Arial" pitchFamily="34" charset="-122"/>
                <a:cs typeface="Arial" pitchFamily="34" charset="-120"/>
              </a:rPr>
              <a:t>Fluxo e força de trabalho não dariam conta das demandas</a:t>
            </a:r>
            <a:endParaRPr lang="pt-BR" sz="1800" dirty="0"/>
          </a:p>
        </p:txBody>
      </p:sp>
      <p:sp>
        <p:nvSpPr>
          <p:cNvPr id="11" name="Text 11"/>
          <p:cNvSpPr txBox="1"/>
          <p:nvPr/>
        </p:nvSpPr>
        <p:spPr>
          <a:xfrm>
            <a:off x="6217920" y="6565392"/>
            <a:ext cx="5806440" cy="256032"/>
          </a:xfrm>
          <a:prstGeom prst="rect">
            <a:avLst/>
          </a:prstGeom>
          <a:noFill/>
          <a:ln>
            <a:noFill/>
          </a:ln>
        </p:spPr>
        <p:txBody>
          <a:bodyPr wrap="square" lIns="0" tIns="0" rIns="0" bIns="0" rtlCol="0" anchor="ctr"/>
          <a:lstStyle/>
          <a:p>
            <a:pPr marL="0" indent="0" algn="r">
              <a:buNone/>
            </a:pPr>
            <a:r>
              <a:rPr lang="pt-BR" sz="700" i="1" dirty="0">
                <a:solidFill>
                  <a:srgbClr val="9AA7B0"/>
                </a:solidFill>
                <a:latin typeface="Arial" pitchFamily="34" charset="0"/>
                <a:ea typeface="Arial" pitchFamily="34" charset="-122"/>
                <a:cs typeface="Arial" pitchFamily="34" charset="-120"/>
              </a:rPr>
              <a:t>Imagem: dreamstime.com</a:t>
            </a:r>
            <a:endParaRPr lang="pt-BR" sz="700" dirty="0"/>
          </a:p>
        </p:txBody>
      </p:sp>
      <p:sp>
        <p:nvSpPr>
          <p:cNvPr id="12" name="Text 12"/>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28</a:t>
            </a:r>
            <a:endParaRPr lang="pt-BR"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40080" y="411480"/>
            <a:ext cx="10972800" cy="640080"/>
          </a:xfrm>
          <a:prstGeom prst="rect">
            <a:avLst/>
          </a:prstGeom>
          <a:noFill/>
          <a:ln>
            <a:noFill/>
          </a:ln>
        </p:spPr>
        <p:txBody>
          <a:bodyPr wrap="square" lIns="0" tIns="0" rIns="0" bIns="0" rtlCol="0" anchor="ctr"/>
          <a:lstStyle/>
          <a:p>
            <a:pPr marL="0" indent="0" algn="l">
              <a:buNone/>
            </a:pPr>
            <a:r>
              <a:rPr lang="pt-BR" sz="3000" b="1" dirty="0">
                <a:solidFill>
                  <a:srgbClr val="31485D"/>
                </a:solidFill>
                <a:latin typeface="Arial" pitchFamily="34" charset="0"/>
                <a:ea typeface="Arial" pitchFamily="34" charset="-122"/>
                <a:cs typeface="Arial" pitchFamily="34" charset="-120"/>
              </a:rPr>
              <a:t>O Acórdão nº 521 e as audiências de conciliação</a:t>
            </a:r>
            <a:endParaRPr lang="pt-BR" sz="3000" dirty="0"/>
          </a:p>
        </p:txBody>
      </p:sp>
      <p:sp>
        <p:nvSpPr>
          <p:cNvPr id="3" name="Text 3"/>
          <p:cNvSpPr txBox="1"/>
          <p:nvPr/>
        </p:nvSpPr>
        <p:spPr>
          <a:xfrm>
            <a:off x="640080" y="1078992"/>
            <a:ext cx="10972800" cy="411480"/>
          </a:xfrm>
          <a:prstGeom prst="rect">
            <a:avLst/>
          </a:prstGeom>
          <a:noFill/>
          <a:ln>
            <a:noFill/>
          </a:ln>
        </p:spPr>
        <p:txBody>
          <a:bodyPr wrap="square" lIns="0" tIns="0" rIns="0" bIns="0" rtlCol="0" anchor="ctr"/>
          <a:lstStyle/>
          <a:p>
            <a:pPr marL="0" indent="0" algn="l">
              <a:buNone/>
            </a:pPr>
            <a:r>
              <a:rPr lang="pt-BR" sz="1600" dirty="0">
                <a:solidFill>
                  <a:srgbClr val="72BAE3"/>
                </a:solidFill>
                <a:latin typeface="Arial" pitchFamily="34" charset="0"/>
                <a:ea typeface="Arial" pitchFamily="34" charset="-122"/>
                <a:cs typeface="Arial" pitchFamily="34" charset="-120"/>
              </a:rPr>
              <a:t>Surgem os primeiros resultados</a:t>
            </a:r>
            <a:endParaRPr lang="pt-BR" sz="1600" dirty="0"/>
          </a:p>
        </p:txBody>
      </p:sp>
      <p:sp>
        <p:nvSpPr>
          <p:cNvPr id="4" name="Shape 4"/>
          <p:cNvSpPr/>
          <p:nvPr/>
        </p:nvSpPr>
        <p:spPr>
          <a:xfrm>
            <a:off x="640080" y="1828800"/>
            <a:ext cx="6583680" cy="868680"/>
          </a:xfrm>
          <a:prstGeom prst="roundRect">
            <a:avLst>
              <a:gd name="adj" fmla="val 8421"/>
            </a:avLst>
          </a:prstGeom>
          <a:solidFill>
            <a:srgbClr val="EEF3F6"/>
          </a:solidFill>
          <a:ln w="12700">
            <a:solidFill>
              <a:srgbClr val="72BAE3"/>
            </a:solidFill>
            <a:prstDash val="solid"/>
          </a:ln>
        </p:spPr>
      </p:sp>
      <p:sp>
        <p:nvSpPr>
          <p:cNvPr id="5" name="Shape 5"/>
          <p:cNvSpPr/>
          <p:nvPr/>
        </p:nvSpPr>
        <p:spPr>
          <a:xfrm>
            <a:off x="640080" y="1828800"/>
            <a:ext cx="109728" cy="868680"/>
          </a:xfrm>
          <a:prstGeom prst="rect">
            <a:avLst/>
          </a:prstGeom>
          <a:solidFill>
            <a:srgbClr val="31485D"/>
          </a:solidFill>
          <a:ln>
            <a:noFill/>
          </a:ln>
        </p:spPr>
      </p:sp>
      <p:sp>
        <p:nvSpPr>
          <p:cNvPr id="6" name="Text 6"/>
          <p:cNvSpPr txBox="1"/>
          <p:nvPr/>
        </p:nvSpPr>
        <p:spPr>
          <a:xfrm>
            <a:off x="960120" y="1828800"/>
            <a:ext cx="6126480" cy="868680"/>
          </a:xfrm>
          <a:prstGeom prst="rect">
            <a:avLst/>
          </a:prstGeom>
          <a:noFill/>
          <a:ln>
            <a:noFill/>
          </a:ln>
        </p:spPr>
        <p:txBody>
          <a:bodyPr wrap="square" lIns="0" tIns="0" rIns="0" bIns="0" rtlCol="0" anchor="ctr"/>
          <a:lstStyle/>
          <a:p>
            <a:pPr marL="0" indent="0" algn="l">
              <a:lnSpc>
                <a:spcPct val="105000"/>
              </a:lnSpc>
              <a:buNone/>
            </a:pPr>
            <a:r>
              <a:rPr lang="pt-BR" sz="1500" dirty="0">
                <a:solidFill>
                  <a:srgbClr val="31485D"/>
                </a:solidFill>
                <a:latin typeface="Arial" pitchFamily="34" charset="0"/>
                <a:ea typeface="Arial" pitchFamily="34" charset="-122"/>
                <a:cs typeface="Arial" pitchFamily="34" charset="-120"/>
              </a:rPr>
              <a:t>Atendendo a proposições da Nota Técnica nº 9/2025-SFC (SEI nº 2537355)</a:t>
            </a:r>
            <a:endParaRPr lang="pt-BR" sz="1500" dirty="0"/>
          </a:p>
        </p:txBody>
      </p:sp>
      <p:sp>
        <p:nvSpPr>
          <p:cNvPr id="7" name="Shape 7"/>
          <p:cNvSpPr/>
          <p:nvPr/>
        </p:nvSpPr>
        <p:spPr>
          <a:xfrm>
            <a:off x="7498080" y="1828800"/>
            <a:ext cx="4069080" cy="868680"/>
          </a:xfrm>
          <a:prstGeom prst="roundRect">
            <a:avLst>
              <a:gd name="adj" fmla="val 8421"/>
            </a:avLst>
          </a:prstGeom>
          <a:solidFill>
            <a:srgbClr val="EEF3F6"/>
          </a:solidFill>
          <a:ln w="12700">
            <a:solidFill>
              <a:srgbClr val="72BAE3"/>
            </a:solidFill>
            <a:prstDash val="solid"/>
          </a:ln>
        </p:spPr>
      </p:sp>
      <p:sp>
        <p:nvSpPr>
          <p:cNvPr id="8" name="Shape 8"/>
          <p:cNvSpPr/>
          <p:nvPr/>
        </p:nvSpPr>
        <p:spPr>
          <a:xfrm>
            <a:off x="7498080" y="1828800"/>
            <a:ext cx="109728" cy="868680"/>
          </a:xfrm>
          <a:prstGeom prst="rect">
            <a:avLst/>
          </a:prstGeom>
          <a:solidFill>
            <a:srgbClr val="31485D"/>
          </a:solidFill>
          <a:ln>
            <a:noFill/>
          </a:ln>
        </p:spPr>
      </p:sp>
      <p:sp>
        <p:nvSpPr>
          <p:cNvPr id="9" name="Text 9"/>
          <p:cNvSpPr txBox="1"/>
          <p:nvPr/>
        </p:nvSpPr>
        <p:spPr>
          <a:xfrm>
            <a:off x="7818120" y="1828800"/>
            <a:ext cx="3657600" cy="868680"/>
          </a:xfrm>
          <a:prstGeom prst="rect">
            <a:avLst/>
          </a:prstGeom>
          <a:noFill/>
          <a:ln>
            <a:noFill/>
          </a:ln>
        </p:spPr>
        <p:txBody>
          <a:bodyPr wrap="square" lIns="0" tIns="0" rIns="0" bIns="0" rtlCol="0" anchor="ctr"/>
          <a:lstStyle/>
          <a:p>
            <a:pPr marL="0" indent="0" algn="l">
              <a:buNone/>
            </a:pPr>
            <a:r>
              <a:rPr lang="pt-BR" sz="1500" dirty="0">
                <a:solidFill>
                  <a:srgbClr val="31485D"/>
                </a:solidFill>
                <a:latin typeface="Arial" pitchFamily="34" charset="0"/>
                <a:ea typeface="Arial" pitchFamily="34" charset="-122"/>
                <a:cs typeface="Arial" pitchFamily="34" charset="-120"/>
              </a:rPr>
              <a:t>Publicado no DOU de 06/08/2025</a:t>
            </a:r>
            <a:endParaRPr lang="pt-BR" sz="1500" dirty="0"/>
          </a:p>
        </p:txBody>
      </p:sp>
      <p:sp>
        <p:nvSpPr>
          <p:cNvPr id="10" name="Shape 10"/>
          <p:cNvSpPr/>
          <p:nvPr/>
        </p:nvSpPr>
        <p:spPr>
          <a:xfrm>
            <a:off x="640080" y="3017520"/>
            <a:ext cx="10927080" cy="3246120"/>
          </a:xfrm>
          <a:prstGeom prst="roundRect">
            <a:avLst>
              <a:gd name="adj" fmla="val 2254"/>
            </a:avLst>
          </a:prstGeom>
          <a:solidFill>
            <a:srgbClr val="EEF3F6"/>
          </a:solidFill>
          <a:ln w="12700">
            <a:solidFill>
              <a:srgbClr val="72BAE3"/>
            </a:solidFill>
            <a:prstDash val="solid"/>
          </a:ln>
        </p:spPr>
      </p:sp>
      <p:sp>
        <p:nvSpPr>
          <p:cNvPr id="11" name="Text 11"/>
          <p:cNvSpPr txBox="1"/>
          <p:nvPr/>
        </p:nvSpPr>
        <p:spPr>
          <a:xfrm>
            <a:off x="960120" y="3246120"/>
            <a:ext cx="10332720" cy="548640"/>
          </a:xfrm>
          <a:prstGeom prst="rect">
            <a:avLst/>
          </a:prstGeom>
          <a:noFill/>
          <a:ln>
            <a:noFill/>
          </a:ln>
        </p:spPr>
        <p:txBody>
          <a:bodyPr wrap="square" lIns="0" tIns="0" rIns="0" bIns="0" rtlCol="0" anchor="ctr"/>
          <a:lstStyle/>
          <a:p>
            <a:pPr marL="0" indent="0" algn="l">
              <a:buNone/>
            </a:pPr>
            <a:r>
              <a:rPr lang="pt-BR" sz="1700" b="1" dirty="0">
                <a:solidFill>
                  <a:srgbClr val="31485D"/>
                </a:solidFill>
                <a:latin typeface="Arial" pitchFamily="34" charset="0"/>
                <a:ea typeface="Arial" pitchFamily="34" charset="-122"/>
                <a:cs typeface="Arial" pitchFamily="34" charset="-120"/>
              </a:rPr>
              <a:t>Diante da crise logística vivenciada na cadeia de transporte de carga unitizada:</a:t>
            </a:r>
            <a:endParaRPr lang="pt-BR" sz="1700" dirty="0"/>
          </a:p>
        </p:txBody>
      </p:sp>
      <p:sp>
        <p:nvSpPr>
          <p:cNvPr id="12" name="Text 12"/>
          <p:cNvSpPr txBox="1"/>
          <p:nvPr/>
        </p:nvSpPr>
        <p:spPr>
          <a:xfrm>
            <a:off x="1097280" y="3977640"/>
            <a:ext cx="10058400" cy="2103120"/>
          </a:xfrm>
          <a:prstGeom prst="rect">
            <a:avLst/>
          </a:prstGeom>
          <a:noFill/>
          <a:ln>
            <a:noFill/>
          </a:ln>
        </p:spPr>
        <p:txBody>
          <a:bodyPr wrap="square" lIns="0" tIns="0" rIns="0" bIns="0" rtlCol="0" anchor="t"/>
          <a:lstStyle/>
          <a:p>
            <a:pPr marL="190500" indent="-190500" algn="l">
              <a:lnSpc>
                <a:spcPct val="105000"/>
              </a:lnSpc>
              <a:spcAft>
                <a:spcPts val="1200"/>
              </a:spcAft>
              <a:buSzPct val="100000"/>
              <a:buChar char="•"/>
            </a:pPr>
            <a:r>
              <a:rPr lang="pt-BR" sz="1600" dirty="0">
                <a:solidFill>
                  <a:srgbClr val="3A4750"/>
                </a:solidFill>
                <a:latin typeface="Arial" pitchFamily="34" charset="0"/>
                <a:ea typeface="Arial" pitchFamily="34" charset="-122"/>
                <a:cs typeface="Arial" pitchFamily="34" charset="-120"/>
              </a:rPr>
              <a:t>Aprovou entendimentos regulatórios com base em interpretação lógica e sistemática da Resolução-ANTAQ nº 62/2021</a:t>
            </a:r>
            <a:endParaRPr lang="pt-BR" sz="1600" dirty="0"/>
          </a:p>
          <a:p>
            <a:pPr marL="190500" indent="-190500" algn="l">
              <a:lnSpc>
                <a:spcPct val="105000"/>
              </a:lnSpc>
              <a:buSzPct val="100000"/>
              <a:buChar char="•"/>
            </a:pPr>
            <a:r>
              <a:rPr lang="pt-BR" sz="1600" dirty="0">
                <a:solidFill>
                  <a:srgbClr val="3A4750"/>
                </a:solidFill>
                <a:latin typeface="Arial" pitchFamily="34" charset="0"/>
                <a:ea typeface="Arial" pitchFamily="34" charset="-122"/>
                <a:cs typeface="Arial" pitchFamily="34" charset="-120"/>
              </a:rPr>
              <a:t>Determinou o sobrestamento de processos para a aplicação de rito sumário de composição</a:t>
            </a:r>
            <a:endParaRPr lang="pt-BR" sz="1600" dirty="0"/>
          </a:p>
        </p:txBody>
      </p:sp>
      <p:sp>
        <p:nvSpPr>
          <p:cNvPr id="13" name="Text 13"/>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29</a:t>
            </a:r>
            <a:endParaRPr lang="pt-BR"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Principais entendimentos</a:t>
            </a:r>
            <a:endParaRPr lang="pt-BR" sz="2400" dirty="0"/>
          </a:p>
        </p:txBody>
      </p:sp>
      <p:sp>
        <p:nvSpPr>
          <p:cNvPr id="5" name="Shape 5"/>
          <p:cNvSpPr/>
          <p:nvPr/>
        </p:nvSpPr>
        <p:spPr>
          <a:xfrm>
            <a:off x="868680" y="1051560"/>
            <a:ext cx="10881360" cy="777240"/>
          </a:xfrm>
          <a:prstGeom prst="roundRect">
            <a:avLst>
              <a:gd name="adj" fmla="val 9412"/>
            </a:avLst>
          </a:prstGeom>
          <a:solidFill>
            <a:srgbClr val="EEF3F6"/>
          </a:solidFill>
          <a:ln w="12700">
            <a:solidFill>
              <a:srgbClr val="72BAE3"/>
            </a:solidFill>
            <a:prstDash val="solid"/>
          </a:ln>
        </p:spPr>
      </p:sp>
      <p:sp>
        <p:nvSpPr>
          <p:cNvPr id="6" name="Shape 6"/>
          <p:cNvSpPr/>
          <p:nvPr/>
        </p:nvSpPr>
        <p:spPr>
          <a:xfrm>
            <a:off x="868680" y="1051560"/>
            <a:ext cx="109728" cy="777240"/>
          </a:xfrm>
          <a:prstGeom prst="rect">
            <a:avLst/>
          </a:prstGeom>
          <a:solidFill>
            <a:srgbClr val="31485D"/>
          </a:solidFill>
          <a:ln>
            <a:noFill/>
          </a:ln>
        </p:spPr>
      </p:sp>
      <p:sp>
        <p:nvSpPr>
          <p:cNvPr id="7" name="Text 7"/>
          <p:cNvSpPr txBox="1"/>
          <p:nvPr/>
        </p:nvSpPr>
        <p:spPr>
          <a:xfrm>
            <a:off x="1234440" y="1124712"/>
            <a:ext cx="10241280" cy="630936"/>
          </a:xfrm>
          <a:prstGeom prst="rect">
            <a:avLst/>
          </a:prstGeom>
          <a:noFill/>
          <a:ln>
            <a:noFill/>
          </a:ln>
        </p:spPr>
        <p:txBody>
          <a:bodyPr wrap="square" lIns="0" tIns="0" rIns="0" bIns="0" rtlCol="0" anchor="ctr"/>
          <a:lstStyle/>
          <a:p>
            <a:pPr marL="0" indent="0" algn="l">
              <a:lnSpc>
                <a:spcPct val="105000"/>
              </a:lnSpc>
              <a:buNone/>
            </a:pPr>
            <a:r>
              <a:rPr lang="pt-BR" sz="1350" dirty="0">
                <a:solidFill>
                  <a:srgbClr val="31485D"/>
                </a:solidFill>
                <a:latin typeface="Arial" pitchFamily="34" charset="0"/>
                <a:ea typeface="Arial" pitchFamily="34" charset="-122"/>
                <a:cs typeface="Arial" pitchFamily="34" charset="-120"/>
              </a:rPr>
              <a:t>Premissa fundamental da sobre-estadia: utilização do contêiner por período superior ao prazo de livre estadia por interesse, opção, culpa ou risco de negócio do usuário</a:t>
            </a:r>
            <a:endParaRPr lang="pt-BR" sz="1350" dirty="0"/>
          </a:p>
        </p:txBody>
      </p:sp>
      <p:sp>
        <p:nvSpPr>
          <p:cNvPr id="8" name="Shape 8"/>
          <p:cNvSpPr/>
          <p:nvPr/>
        </p:nvSpPr>
        <p:spPr>
          <a:xfrm>
            <a:off x="868680" y="1947672"/>
            <a:ext cx="10881360" cy="1051560"/>
          </a:xfrm>
          <a:prstGeom prst="roundRect">
            <a:avLst>
              <a:gd name="adj" fmla="val 6957"/>
            </a:avLst>
          </a:prstGeom>
          <a:solidFill>
            <a:srgbClr val="EEF3F6"/>
          </a:solidFill>
          <a:ln w="12700">
            <a:solidFill>
              <a:srgbClr val="72BAE3"/>
            </a:solidFill>
            <a:prstDash val="solid"/>
          </a:ln>
        </p:spPr>
      </p:sp>
      <p:sp>
        <p:nvSpPr>
          <p:cNvPr id="9" name="Shape 9"/>
          <p:cNvSpPr/>
          <p:nvPr/>
        </p:nvSpPr>
        <p:spPr>
          <a:xfrm>
            <a:off x="868680" y="1947672"/>
            <a:ext cx="109728" cy="1051560"/>
          </a:xfrm>
          <a:prstGeom prst="rect">
            <a:avLst/>
          </a:prstGeom>
          <a:solidFill>
            <a:srgbClr val="31485D"/>
          </a:solidFill>
          <a:ln>
            <a:noFill/>
          </a:ln>
        </p:spPr>
      </p:sp>
      <p:sp>
        <p:nvSpPr>
          <p:cNvPr id="10" name="Text 10"/>
          <p:cNvSpPr txBox="1"/>
          <p:nvPr/>
        </p:nvSpPr>
        <p:spPr>
          <a:xfrm>
            <a:off x="1234440" y="2020824"/>
            <a:ext cx="10241280" cy="905256"/>
          </a:xfrm>
          <a:prstGeom prst="rect">
            <a:avLst/>
          </a:prstGeom>
          <a:noFill/>
          <a:ln>
            <a:noFill/>
          </a:ln>
        </p:spPr>
        <p:txBody>
          <a:bodyPr wrap="square" lIns="0" tIns="0" rIns="0" bIns="0" rtlCol="0" anchor="ctr"/>
          <a:lstStyle/>
          <a:p>
            <a:pPr marL="0" indent="0" algn="l">
              <a:lnSpc>
                <a:spcPct val="105000"/>
              </a:lnSpc>
              <a:buNone/>
            </a:pPr>
            <a:r>
              <a:rPr lang="pt-BR" sz="1350" dirty="0">
                <a:solidFill>
                  <a:srgbClr val="31485D"/>
                </a:solidFill>
                <a:latin typeface="Arial" pitchFamily="34" charset="0"/>
                <a:ea typeface="Arial" pitchFamily="34" charset="-122"/>
                <a:cs typeface="Arial" pitchFamily="34" charset="-120"/>
              </a:rPr>
              <a:t>Suspensão da contagem do prazo de livre estadia ou do período de sobre-estadia quando utilização se der por ato, omissão ou falhas de logística sob responsabilidade do transportador, do terminal ou do depósito de vazios (indicados), ou ainda de evento alocado ao risco dessas partes</a:t>
            </a:r>
            <a:endParaRPr lang="pt-BR" sz="1350" dirty="0"/>
          </a:p>
        </p:txBody>
      </p:sp>
      <p:sp>
        <p:nvSpPr>
          <p:cNvPr id="11" name="Shape 11"/>
          <p:cNvSpPr/>
          <p:nvPr/>
        </p:nvSpPr>
        <p:spPr>
          <a:xfrm>
            <a:off x="868680" y="3118104"/>
            <a:ext cx="10881360" cy="1051560"/>
          </a:xfrm>
          <a:prstGeom prst="roundRect">
            <a:avLst>
              <a:gd name="adj" fmla="val 6957"/>
            </a:avLst>
          </a:prstGeom>
          <a:solidFill>
            <a:srgbClr val="EEF3F6"/>
          </a:solidFill>
          <a:ln w="12700">
            <a:solidFill>
              <a:srgbClr val="72BAE3"/>
            </a:solidFill>
            <a:prstDash val="solid"/>
          </a:ln>
        </p:spPr>
      </p:sp>
      <p:sp>
        <p:nvSpPr>
          <p:cNvPr id="12" name="Shape 12"/>
          <p:cNvSpPr/>
          <p:nvPr/>
        </p:nvSpPr>
        <p:spPr>
          <a:xfrm>
            <a:off x="868680" y="3118104"/>
            <a:ext cx="109728" cy="1051560"/>
          </a:xfrm>
          <a:prstGeom prst="rect">
            <a:avLst/>
          </a:prstGeom>
          <a:solidFill>
            <a:srgbClr val="31485D"/>
          </a:solidFill>
          <a:ln>
            <a:noFill/>
          </a:ln>
        </p:spPr>
      </p:sp>
      <p:sp>
        <p:nvSpPr>
          <p:cNvPr id="13" name="Text 13"/>
          <p:cNvSpPr txBox="1"/>
          <p:nvPr/>
        </p:nvSpPr>
        <p:spPr>
          <a:xfrm>
            <a:off x="1234440" y="3191256"/>
            <a:ext cx="10241280" cy="905256"/>
          </a:xfrm>
          <a:prstGeom prst="rect">
            <a:avLst/>
          </a:prstGeom>
          <a:noFill/>
          <a:ln>
            <a:noFill/>
          </a:ln>
        </p:spPr>
        <p:txBody>
          <a:bodyPr wrap="square" lIns="0" tIns="0" rIns="0" bIns="0" rtlCol="0" anchor="ctr"/>
          <a:lstStyle/>
          <a:p>
            <a:pPr marL="0" indent="0" algn="l">
              <a:lnSpc>
                <a:spcPct val="105000"/>
              </a:lnSpc>
              <a:buNone/>
            </a:pPr>
            <a:r>
              <a:rPr lang="pt-BR" sz="1350" dirty="0">
                <a:solidFill>
                  <a:srgbClr val="31485D"/>
                </a:solidFill>
                <a:latin typeface="Arial" pitchFamily="34" charset="0"/>
                <a:ea typeface="Arial" pitchFamily="34" charset="-122"/>
                <a:cs typeface="Arial" pitchFamily="34" charset="-120"/>
              </a:rPr>
              <a:t>Contagem da sobre-estadia fica suspensa, mesmo que já iniciada, a partir da data em que o usuário comprovar a primeira tentativa frustrada de entrega ou devolução do contêiner, permanecendo suspensa até que o transportador disponibilize condição efetiva para o recebimento</a:t>
            </a:r>
            <a:endParaRPr lang="pt-BR" sz="1350" dirty="0"/>
          </a:p>
        </p:txBody>
      </p:sp>
      <p:sp>
        <p:nvSpPr>
          <p:cNvPr id="14" name="Shape 14"/>
          <p:cNvSpPr/>
          <p:nvPr/>
        </p:nvSpPr>
        <p:spPr>
          <a:xfrm>
            <a:off x="868680" y="4288536"/>
            <a:ext cx="10881360" cy="777240"/>
          </a:xfrm>
          <a:prstGeom prst="roundRect">
            <a:avLst>
              <a:gd name="adj" fmla="val 9412"/>
            </a:avLst>
          </a:prstGeom>
          <a:solidFill>
            <a:srgbClr val="EEF3F6"/>
          </a:solidFill>
          <a:ln w="12700">
            <a:solidFill>
              <a:srgbClr val="72BAE3"/>
            </a:solidFill>
            <a:prstDash val="solid"/>
          </a:ln>
        </p:spPr>
      </p:sp>
      <p:sp>
        <p:nvSpPr>
          <p:cNvPr id="15" name="Shape 15"/>
          <p:cNvSpPr/>
          <p:nvPr/>
        </p:nvSpPr>
        <p:spPr>
          <a:xfrm>
            <a:off x="868680" y="4288536"/>
            <a:ext cx="109728" cy="777240"/>
          </a:xfrm>
          <a:prstGeom prst="rect">
            <a:avLst/>
          </a:prstGeom>
          <a:solidFill>
            <a:srgbClr val="31485D"/>
          </a:solidFill>
          <a:ln>
            <a:noFill/>
          </a:ln>
        </p:spPr>
      </p:sp>
      <p:sp>
        <p:nvSpPr>
          <p:cNvPr id="16" name="Text 16"/>
          <p:cNvSpPr txBox="1"/>
          <p:nvPr/>
        </p:nvSpPr>
        <p:spPr>
          <a:xfrm>
            <a:off x="1234440" y="4361688"/>
            <a:ext cx="10241280" cy="630936"/>
          </a:xfrm>
          <a:prstGeom prst="rect">
            <a:avLst/>
          </a:prstGeom>
          <a:noFill/>
          <a:ln>
            <a:noFill/>
          </a:ln>
        </p:spPr>
        <p:txBody>
          <a:bodyPr wrap="square" lIns="0" tIns="0" rIns="0" bIns="0" rtlCol="0" anchor="ctr"/>
          <a:lstStyle/>
          <a:p>
            <a:pPr marL="0" indent="0" algn="l">
              <a:lnSpc>
                <a:spcPct val="105000"/>
              </a:lnSpc>
              <a:buNone/>
            </a:pPr>
            <a:r>
              <a:rPr lang="pt-BR" sz="1350" dirty="0">
                <a:solidFill>
                  <a:srgbClr val="31485D"/>
                </a:solidFill>
                <a:latin typeface="Arial" pitchFamily="34" charset="0"/>
                <a:ea typeface="Arial" pitchFamily="34" charset="-122"/>
                <a:cs typeface="Arial" pitchFamily="34" charset="-120"/>
              </a:rPr>
              <a:t>A empresa que atue no Brasil como mandatária de transportador NVOCC estrangeiro está sujeita aos ditames da Resolução ANTAQ nº 62/2021, enquadrando-se no conceito de "agente intermediário"</a:t>
            </a:r>
            <a:endParaRPr lang="pt-BR" sz="1350" dirty="0"/>
          </a:p>
        </p:txBody>
      </p:sp>
      <p:sp>
        <p:nvSpPr>
          <p:cNvPr id="17" name="Shape 17"/>
          <p:cNvSpPr/>
          <p:nvPr/>
        </p:nvSpPr>
        <p:spPr>
          <a:xfrm>
            <a:off x="868680" y="5184648"/>
            <a:ext cx="10881360" cy="594360"/>
          </a:xfrm>
          <a:prstGeom prst="roundRect">
            <a:avLst>
              <a:gd name="adj" fmla="val 12308"/>
            </a:avLst>
          </a:prstGeom>
          <a:solidFill>
            <a:srgbClr val="EEF3F6"/>
          </a:solidFill>
          <a:ln w="12700">
            <a:solidFill>
              <a:srgbClr val="72BAE3"/>
            </a:solidFill>
            <a:prstDash val="solid"/>
          </a:ln>
        </p:spPr>
      </p:sp>
      <p:sp>
        <p:nvSpPr>
          <p:cNvPr id="18" name="Shape 18"/>
          <p:cNvSpPr/>
          <p:nvPr/>
        </p:nvSpPr>
        <p:spPr>
          <a:xfrm>
            <a:off x="868680" y="5184648"/>
            <a:ext cx="109728" cy="594360"/>
          </a:xfrm>
          <a:prstGeom prst="rect">
            <a:avLst/>
          </a:prstGeom>
          <a:solidFill>
            <a:srgbClr val="31485D"/>
          </a:solidFill>
          <a:ln>
            <a:noFill/>
          </a:ln>
        </p:spPr>
      </p:sp>
      <p:sp>
        <p:nvSpPr>
          <p:cNvPr id="19" name="Text 19"/>
          <p:cNvSpPr txBox="1"/>
          <p:nvPr/>
        </p:nvSpPr>
        <p:spPr>
          <a:xfrm>
            <a:off x="1234440" y="5257800"/>
            <a:ext cx="10241280" cy="448056"/>
          </a:xfrm>
          <a:prstGeom prst="rect">
            <a:avLst/>
          </a:prstGeom>
          <a:noFill/>
          <a:ln>
            <a:noFill/>
          </a:ln>
        </p:spPr>
        <p:txBody>
          <a:bodyPr wrap="square" lIns="0" tIns="0" rIns="0" bIns="0" rtlCol="0" anchor="ctr"/>
          <a:lstStyle/>
          <a:p>
            <a:pPr marL="0" indent="0" algn="l">
              <a:lnSpc>
                <a:spcPct val="105000"/>
              </a:lnSpc>
              <a:buNone/>
            </a:pPr>
            <a:r>
              <a:rPr lang="pt-BR" sz="1350" dirty="0">
                <a:solidFill>
                  <a:srgbClr val="31485D"/>
                </a:solidFill>
                <a:latin typeface="Arial" pitchFamily="34" charset="0"/>
                <a:ea typeface="Arial" pitchFamily="34" charset="-122"/>
                <a:cs typeface="Arial" pitchFamily="34" charset="-120"/>
              </a:rPr>
              <a:t>Arquivamento dos autos, sem análise de mérito, em caso de composição bem sucedida</a:t>
            </a:r>
            <a:endParaRPr lang="pt-BR" sz="1350" dirty="0"/>
          </a:p>
        </p:txBody>
      </p:sp>
      <p:sp>
        <p:nvSpPr>
          <p:cNvPr id="20" name="Text 20"/>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30</a:t>
            </a:r>
            <a:endParaRPr lang="pt-BR"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Portaria nº 1/2025-SFC/ANTAQ (SEI nº 2647729)</a:t>
            </a:r>
            <a:endParaRPr lang="pt-BR" sz="2400" dirty="0"/>
          </a:p>
        </p:txBody>
      </p:sp>
      <p:sp>
        <p:nvSpPr>
          <p:cNvPr id="5" name="Shape 5"/>
          <p:cNvSpPr/>
          <p:nvPr/>
        </p:nvSpPr>
        <p:spPr>
          <a:xfrm>
            <a:off x="868680" y="1508760"/>
            <a:ext cx="5120640" cy="4572000"/>
          </a:xfrm>
          <a:prstGeom prst="roundRect">
            <a:avLst>
              <a:gd name="adj" fmla="val 1600"/>
            </a:avLst>
          </a:prstGeom>
          <a:solidFill>
            <a:srgbClr val="EEF3F6"/>
          </a:solidFill>
          <a:ln w="12700">
            <a:solidFill>
              <a:srgbClr val="72BAE3"/>
            </a:solidFill>
            <a:prstDash val="solid"/>
          </a:ln>
        </p:spPr>
      </p:sp>
      <p:sp>
        <p:nvSpPr>
          <p:cNvPr id="6" name="Text 6"/>
          <p:cNvSpPr txBox="1"/>
          <p:nvPr/>
        </p:nvSpPr>
        <p:spPr>
          <a:xfrm>
            <a:off x="1188720" y="1737360"/>
            <a:ext cx="4480560" cy="4114800"/>
          </a:xfrm>
          <a:prstGeom prst="rect">
            <a:avLst/>
          </a:prstGeom>
          <a:noFill/>
          <a:ln>
            <a:noFill/>
          </a:ln>
        </p:spPr>
        <p:txBody>
          <a:bodyPr wrap="square" lIns="0" tIns="0" rIns="0" bIns="0" rtlCol="0" anchor="ctr"/>
          <a:lstStyle/>
          <a:p>
            <a:pPr marL="0" indent="0" algn="l">
              <a:lnSpc>
                <a:spcPct val="110000"/>
              </a:lnSpc>
              <a:buNone/>
            </a:pPr>
            <a:r>
              <a:rPr lang="pt-BR" sz="1900" b="1" dirty="0">
                <a:solidFill>
                  <a:srgbClr val="31485D"/>
                </a:solidFill>
                <a:latin typeface="Arial" pitchFamily="34" charset="0"/>
                <a:ea typeface="Arial" pitchFamily="34" charset="-122"/>
                <a:cs typeface="Arial" pitchFamily="34" charset="-120"/>
              </a:rPr>
              <a:t>Instituiu os procedimentos do rito sumário de conciliação prévia às análises de denúncias de cobrança de sobre-estadia</a:t>
            </a:r>
            <a:endParaRPr lang="pt-BR" sz="1900" dirty="0"/>
          </a:p>
        </p:txBody>
      </p:sp>
      <p:sp>
        <p:nvSpPr>
          <p:cNvPr id="7" name="Shape 7"/>
          <p:cNvSpPr/>
          <p:nvPr/>
        </p:nvSpPr>
        <p:spPr>
          <a:xfrm>
            <a:off x="6263640" y="1508760"/>
            <a:ext cx="5486400" cy="4572000"/>
          </a:xfrm>
          <a:prstGeom prst="roundRect">
            <a:avLst>
              <a:gd name="adj" fmla="val 1600"/>
            </a:avLst>
          </a:prstGeom>
          <a:solidFill>
            <a:srgbClr val="FFFFFF"/>
          </a:solidFill>
          <a:ln w="15875">
            <a:solidFill>
              <a:srgbClr val="72BAE3"/>
            </a:solidFill>
            <a:prstDash val="solid"/>
          </a:ln>
        </p:spPr>
      </p:sp>
      <p:sp>
        <p:nvSpPr>
          <p:cNvPr id="8" name="Shape 8"/>
          <p:cNvSpPr/>
          <p:nvPr/>
        </p:nvSpPr>
        <p:spPr>
          <a:xfrm>
            <a:off x="6652260" y="1897380"/>
            <a:ext cx="502920" cy="502920"/>
          </a:xfrm>
          <a:prstGeom prst="ellipse">
            <a:avLst/>
          </a:prstGeom>
          <a:solidFill>
            <a:srgbClr val="72BAE3"/>
          </a:solidFill>
          <a:ln>
            <a:noFill/>
          </a:ln>
        </p:spPr>
      </p:sp>
      <p:sp>
        <p:nvSpPr>
          <p:cNvPr id="9" name="Text 9"/>
          <p:cNvSpPr txBox="1"/>
          <p:nvPr/>
        </p:nvSpPr>
        <p:spPr>
          <a:xfrm>
            <a:off x="6652260" y="1897380"/>
            <a:ext cx="502920" cy="502920"/>
          </a:xfrm>
          <a:prstGeom prst="rect">
            <a:avLst/>
          </a:prstGeom>
          <a:noFill/>
          <a:ln>
            <a:noFill/>
          </a:ln>
        </p:spPr>
        <p:txBody>
          <a:bodyPr wrap="square" lIns="0" tIns="0" rIns="0" bIns="0" rtlCol="0" anchor="ctr"/>
          <a:lstStyle/>
          <a:p>
            <a:pPr marL="0" indent="0" algn="ctr">
              <a:buNone/>
            </a:pPr>
            <a:r>
              <a:rPr lang="pt-BR" sz="1600" b="1" dirty="0">
                <a:solidFill>
                  <a:srgbClr val="31485D"/>
                </a:solidFill>
                <a:latin typeface="Arial" pitchFamily="34" charset="0"/>
                <a:ea typeface="Arial" pitchFamily="34" charset="-122"/>
                <a:cs typeface="Arial" pitchFamily="34" charset="-120"/>
              </a:rPr>
              <a:t>1</a:t>
            </a:r>
            <a:endParaRPr lang="pt-BR" sz="1600" dirty="0"/>
          </a:p>
        </p:txBody>
      </p:sp>
      <p:sp>
        <p:nvSpPr>
          <p:cNvPr id="10" name="Text 10"/>
          <p:cNvSpPr txBox="1"/>
          <p:nvPr/>
        </p:nvSpPr>
        <p:spPr>
          <a:xfrm>
            <a:off x="7360920" y="1874520"/>
            <a:ext cx="4206240" cy="54864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Despacho de sobrestamento</a:t>
            </a:r>
            <a:endParaRPr lang="pt-BR" sz="1600" dirty="0"/>
          </a:p>
        </p:txBody>
      </p:sp>
      <p:sp>
        <p:nvSpPr>
          <p:cNvPr id="11" name="Shape 11"/>
          <p:cNvSpPr/>
          <p:nvPr/>
        </p:nvSpPr>
        <p:spPr>
          <a:xfrm>
            <a:off x="6652260" y="2994660"/>
            <a:ext cx="502920" cy="502920"/>
          </a:xfrm>
          <a:prstGeom prst="ellipse">
            <a:avLst/>
          </a:prstGeom>
          <a:solidFill>
            <a:srgbClr val="72BAE3"/>
          </a:solidFill>
          <a:ln>
            <a:noFill/>
          </a:ln>
        </p:spPr>
      </p:sp>
      <p:sp>
        <p:nvSpPr>
          <p:cNvPr id="12" name="Text 12"/>
          <p:cNvSpPr txBox="1"/>
          <p:nvPr/>
        </p:nvSpPr>
        <p:spPr>
          <a:xfrm>
            <a:off x="6652260" y="2994660"/>
            <a:ext cx="502920" cy="502920"/>
          </a:xfrm>
          <a:prstGeom prst="rect">
            <a:avLst/>
          </a:prstGeom>
          <a:noFill/>
          <a:ln>
            <a:noFill/>
          </a:ln>
        </p:spPr>
        <p:txBody>
          <a:bodyPr wrap="square" lIns="0" tIns="0" rIns="0" bIns="0" rtlCol="0" anchor="ctr"/>
          <a:lstStyle/>
          <a:p>
            <a:pPr marL="0" indent="0" algn="ctr">
              <a:buNone/>
            </a:pPr>
            <a:r>
              <a:rPr lang="pt-BR" sz="1600" b="1" dirty="0">
                <a:solidFill>
                  <a:srgbClr val="31485D"/>
                </a:solidFill>
                <a:latin typeface="Arial" pitchFamily="34" charset="0"/>
                <a:ea typeface="Arial" pitchFamily="34" charset="-122"/>
                <a:cs typeface="Arial" pitchFamily="34" charset="-120"/>
              </a:rPr>
              <a:t>2</a:t>
            </a:r>
            <a:endParaRPr lang="pt-BR" sz="1600" dirty="0"/>
          </a:p>
        </p:txBody>
      </p:sp>
      <p:sp>
        <p:nvSpPr>
          <p:cNvPr id="13" name="Text 13"/>
          <p:cNvSpPr txBox="1"/>
          <p:nvPr/>
        </p:nvSpPr>
        <p:spPr>
          <a:xfrm>
            <a:off x="7360920" y="2971800"/>
            <a:ext cx="4206240" cy="54864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Elaboração de Informes</a:t>
            </a:r>
            <a:endParaRPr lang="pt-BR" sz="1600" dirty="0"/>
          </a:p>
        </p:txBody>
      </p:sp>
      <p:sp>
        <p:nvSpPr>
          <p:cNvPr id="14" name="Shape 14"/>
          <p:cNvSpPr/>
          <p:nvPr/>
        </p:nvSpPr>
        <p:spPr>
          <a:xfrm>
            <a:off x="6652260" y="4091940"/>
            <a:ext cx="502920" cy="502920"/>
          </a:xfrm>
          <a:prstGeom prst="ellipse">
            <a:avLst/>
          </a:prstGeom>
          <a:solidFill>
            <a:srgbClr val="72BAE3"/>
          </a:solidFill>
          <a:ln>
            <a:noFill/>
          </a:ln>
        </p:spPr>
      </p:sp>
      <p:sp>
        <p:nvSpPr>
          <p:cNvPr id="15" name="Text 15"/>
          <p:cNvSpPr txBox="1"/>
          <p:nvPr/>
        </p:nvSpPr>
        <p:spPr>
          <a:xfrm>
            <a:off x="6652260" y="4091940"/>
            <a:ext cx="502920" cy="502920"/>
          </a:xfrm>
          <a:prstGeom prst="rect">
            <a:avLst/>
          </a:prstGeom>
          <a:noFill/>
          <a:ln>
            <a:noFill/>
          </a:ln>
        </p:spPr>
        <p:txBody>
          <a:bodyPr wrap="square" lIns="0" tIns="0" rIns="0" bIns="0" rtlCol="0" anchor="ctr"/>
          <a:lstStyle/>
          <a:p>
            <a:pPr marL="0" indent="0" algn="ctr">
              <a:buNone/>
            </a:pPr>
            <a:r>
              <a:rPr lang="pt-BR" sz="1600" b="1" dirty="0">
                <a:solidFill>
                  <a:srgbClr val="31485D"/>
                </a:solidFill>
                <a:latin typeface="Arial" pitchFamily="34" charset="0"/>
                <a:ea typeface="Arial" pitchFamily="34" charset="-122"/>
                <a:cs typeface="Arial" pitchFamily="34" charset="-120"/>
              </a:rPr>
              <a:t>3</a:t>
            </a:r>
            <a:endParaRPr lang="pt-BR" sz="1600" dirty="0"/>
          </a:p>
        </p:txBody>
      </p:sp>
      <p:sp>
        <p:nvSpPr>
          <p:cNvPr id="16" name="Text 16"/>
          <p:cNvSpPr txBox="1"/>
          <p:nvPr/>
        </p:nvSpPr>
        <p:spPr>
          <a:xfrm>
            <a:off x="7360920" y="4069080"/>
            <a:ext cx="4206240" cy="54864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Ofícios-convite (2 ou 3 partes)</a:t>
            </a:r>
            <a:endParaRPr lang="pt-BR" sz="1600" dirty="0"/>
          </a:p>
        </p:txBody>
      </p:sp>
      <p:sp>
        <p:nvSpPr>
          <p:cNvPr id="17" name="Shape 17"/>
          <p:cNvSpPr/>
          <p:nvPr/>
        </p:nvSpPr>
        <p:spPr>
          <a:xfrm>
            <a:off x="6652260" y="5189220"/>
            <a:ext cx="502920" cy="502920"/>
          </a:xfrm>
          <a:prstGeom prst="ellipse">
            <a:avLst/>
          </a:prstGeom>
          <a:solidFill>
            <a:srgbClr val="72BAE3"/>
          </a:solidFill>
          <a:ln>
            <a:noFill/>
          </a:ln>
        </p:spPr>
      </p:sp>
      <p:sp>
        <p:nvSpPr>
          <p:cNvPr id="18" name="Text 18"/>
          <p:cNvSpPr txBox="1"/>
          <p:nvPr/>
        </p:nvSpPr>
        <p:spPr>
          <a:xfrm>
            <a:off x="6652260" y="5189220"/>
            <a:ext cx="502920" cy="502920"/>
          </a:xfrm>
          <a:prstGeom prst="rect">
            <a:avLst/>
          </a:prstGeom>
          <a:noFill/>
          <a:ln>
            <a:noFill/>
          </a:ln>
        </p:spPr>
        <p:txBody>
          <a:bodyPr wrap="square" lIns="0" tIns="0" rIns="0" bIns="0" rtlCol="0" anchor="ctr"/>
          <a:lstStyle/>
          <a:p>
            <a:pPr marL="0" indent="0" algn="ctr">
              <a:buNone/>
            </a:pPr>
            <a:r>
              <a:rPr lang="pt-BR" sz="1600" b="1" dirty="0">
                <a:solidFill>
                  <a:srgbClr val="31485D"/>
                </a:solidFill>
                <a:latin typeface="Arial" pitchFamily="34" charset="0"/>
                <a:ea typeface="Arial" pitchFamily="34" charset="-122"/>
                <a:cs typeface="Arial" pitchFamily="34" charset="-120"/>
              </a:rPr>
              <a:t>4</a:t>
            </a:r>
            <a:endParaRPr lang="pt-BR" sz="1600" dirty="0"/>
          </a:p>
        </p:txBody>
      </p:sp>
      <p:sp>
        <p:nvSpPr>
          <p:cNvPr id="19" name="Text 19"/>
          <p:cNvSpPr txBox="1"/>
          <p:nvPr/>
        </p:nvSpPr>
        <p:spPr>
          <a:xfrm>
            <a:off x="7360920" y="5166360"/>
            <a:ext cx="4206240" cy="548640"/>
          </a:xfrm>
          <a:prstGeom prst="rect">
            <a:avLst/>
          </a:prstGeom>
          <a:noFill/>
          <a:ln>
            <a:noFill/>
          </a:ln>
        </p:spPr>
        <p:txBody>
          <a:bodyPr wrap="square" lIns="0" tIns="0" rIns="0" bIns="0" rtlCol="0" anchor="ctr"/>
          <a:lstStyle/>
          <a:p>
            <a:pPr marL="0" indent="0" algn="l">
              <a:buNone/>
            </a:pPr>
            <a:r>
              <a:rPr lang="pt-BR" sz="1600" dirty="0">
                <a:solidFill>
                  <a:srgbClr val="31485D"/>
                </a:solidFill>
                <a:latin typeface="Arial" pitchFamily="34" charset="0"/>
                <a:ea typeface="Arial" pitchFamily="34" charset="-122"/>
                <a:cs typeface="Arial" pitchFamily="34" charset="-120"/>
              </a:rPr>
              <a:t>Audiências de conciliação (Microsoft Teams)</a:t>
            </a:r>
            <a:endParaRPr lang="pt-BR" sz="1600" dirty="0"/>
          </a:p>
        </p:txBody>
      </p:sp>
      <p:sp>
        <p:nvSpPr>
          <p:cNvPr id="20" name="Text 20"/>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31</a:t>
            </a:r>
            <a:endParaRPr lang="pt-BR"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Alguns números dessa fase</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De um universo de 282 denúncias (</a:t>
            </a:r>
            <a:r>
              <a:rPr lang="pt-BR" sz="1400" i="1" dirty="0">
                <a:solidFill>
                  <a:srgbClr val="72BAE3"/>
                </a:solidFill>
                <a:latin typeface="Arial" pitchFamily="34" charset="0"/>
                <a:ea typeface="Arial" pitchFamily="34" charset="-122"/>
                <a:cs typeface="Arial" pitchFamily="34" charset="-120"/>
              </a:rPr>
              <a:t>detention</a:t>
            </a:r>
            <a:r>
              <a:rPr lang="pt-BR" sz="1400" dirty="0">
                <a:solidFill>
                  <a:srgbClr val="72BAE3"/>
                </a:solidFill>
                <a:latin typeface="Arial" pitchFamily="34" charset="0"/>
                <a:ea typeface="Arial" pitchFamily="34" charset="-122"/>
                <a:cs typeface="Arial" pitchFamily="34" charset="-120"/>
              </a:rPr>
              <a:t>), 370 BLs e 1.148 contêineres:</a:t>
            </a:r>
            <a:endParaRPr lang="pt-BR" sz="1400" dirty="0"/>
          </a:p>
        </p:txBody>
      </p:sp>
      <p:pic>
        <p:nvPicPr>
          <p:cNvPr id="6" name="Picture 5" descr="brazil_clean.jpg"/>
          <p:cNvPicPr>
            <a:picLocks noChangeAspect="1"/>
          </p:cNvPicPr>
          <p:nvPr/>
        </p:nvPicPr>
        <p:blipFill>
          <a:blip r:embed="rId2"/>
          <a:stretch>
            <a:fillRect/>
          </a:stretch>
        </p:blipFill>
        <p:spPr>
          <a:xfrm>
            <a:off x="868680" y="1463040"/>
            <a:ext cx="4502907" cy="4480560"/>
          </a:xfrm>
          <a:prstGeom prst="rect">
            <a:avLst/>
          </a:prstGeom>
        </p:spPr>
      </p:pic>
      <p:pic>
        <p:nvPicPr>
          <p:cNvPr id="7" name="Picture 6" descr="south.jpg"/>
          <p:cNvPicPr>
            <a:picLocks noChangeAspect="1"/>
          </p:cNvPicPr>
          <p:nvPr/>
        </p:nvPicPr>
        <p:blipFill>
          <a:blip r:embed="rId3"/>
          <a:stretch>
            <a:fillRect/>
          </a:stretch>
        </p:blipFill>
        <p:spPr>
          <a:xfrm>
            <a:off x="5257800" y="2011680"/>
            <a:ext cx="6492240" cy="3469398"/>
          </a:xfrm>
          <a:prstGeom prst="rect">
            <a:avLst/>
          </a:prstGeom>
        </p:spPr>
      </p:pic>
      <p:sp>
        <p:nvSpPr>
          <p:cNvPr id="8" name="Text 8"/>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32</a:t>
            </a:r>
            <a:endParaRPr lang="pt-BR"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Alguns números dessa fase</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De um universo de 282 denúncias (</a:t>
            </a:r>
            <a:r>
              <a:rPr lang="pt-BR" sz="1400" i="1" dirty="0">
                <a:solidFill>
                  <a:srgbClr val="72BAE3"/>
                </a:solidFill>
                <a:latin typeface="Arial" pitchFamily="34" charset="0"/>
                <a:ea typeface="Arial" pitchFamily="34" charset="-122"/>
                <a:cs typeface="Arial" pitchFamily="34" charset="-120"/>
              </a:rPr>
              <a:t>detention</a:t>
            </a:r>
            <a:r>
              <a:rPr lang="pt-BR" sz="1400" dirty="0">
                <a:solidFill>
                  <a:srgbClr val="72BAE3"/>
                </a:solidFill>
                <a:latin typeface="Arial" pitchFamily="34" charset="0"/>
                <a:ea typeface="Arial" pitchFamily="34" charset="-122"/>
                <a:cs typeface="Arial" pitchFamily="34" charset="-120"/>
              </a:rPr>
              <a:t>), 370 BLs e 1.148 contêineres:</a:t>
            </a:r>
            <a:endParaRPr lang="pt-BR" sz="1400" dirty="0"/>
          </a:p>
        </p:txBody>
      </p:sp>
      <p:pic>
        <p:nvPicPr>
          <p:cNvPr id="6" name="Picture 5" descr="flow.jpg"/>
          <p:cNvPicPr>
            <a:picLocks noChangeAspect="1"/>
          </p:cNvPicPr>
          <p:nvPr/>
        </p:nvPicPr>
        <p:blipFill>
          <a:blip r:embed="rId2"/>
          <a:stretch>
            <a:fillRect/>
          </a:stretch>
        </p:blipFill>
        <p:spPr>
          <a:xfrm>
            <a:off x="868680" y="2743200"/>
            <a:ext cx="5394960" cy="2064398"/>
          </a:xfrm>
          <a:prstGeom prst="rect">
            <a:avLst/>
          </a:prstGeom>
        </p:spPr>
      </p:pic>
      <p:graphicFrame>
        <p:nvGraphicFramePr>
          <p:cNvPr id="7" name="Chart 6"/>
          <p:cNvGraphicFramePr>
            <a:graphicFrameLocks noGrp="1"/>
          </p:cNvGraphicFramePr>
          <p:nvPr/>
        </p:nvGraphicFramePr>
        <p:xfrm>
          <a:off x="6400800" y="1417320"/>
          <a:ext cx="53492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8"/>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33</a:t>
            </a:r>
            <a:endParaRPr lang="pt-BR"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Alguns números dessa fase</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De um universo de 282 denúncias (</a:t>
            </a:r>
            <a:r>
              <a:rPr lang="pt-BR" sz="1400" i="1" dirty="0">
                <a:solidFill>
                  <a:srgbClr val="72BAE3"/>
                </a:solidFill>
                <a:latin typeface="Arial" pitchFamily="34" charset="0"/>
                <a:ea typeface="Arial" pitchFamily="34" charset="-122"/>
                <a:cs typeface="Arial" pitchFamily="34" charset="-120"/>
              </a:rPr>
              <a:t>detention</a:t>
            </a:r>
            <a:r>
              <a:rPr lang="pt-BR" sz="1400" dirty="0">
                <a:solidFill>
                  <a:srgbClr val="72BAE3"/>
                </a:solidFill>
                <a:latin typeface="Arial" pitchFamily="34" charset="0"/>
                <a:ea typeface="Arial" pitchFamily="34" charset="-122"/>
                <a:cs typeface="Arial" pitchFamily="34" charset="-120"/>
              </a:rPr>
              <a:t>), 370 BLs e 1.148 contêineres:</a:t>
            </a:r>
            <a:endParaRPr lang="pt-BR" sz="1400" dirty="0"/>
          </a:p>
        </p:txBody>
      </p:sp>
      <p:pic>
        <p:nvPicPr>
          <p:cNvPr id="6" name="Picture 5" descr="maersk.jpg"/>
          <p:cNvPicPr>
            <a:picLocks noChangeAspect="1"/>
          </p:cNvPicPr>
          <p:nvPr/>
        </p:nvPicPr>
        <p:blipFill>
          <a:blip r:embed="rId2"/>
          <a:stretch>
            <a:fillRect/>
          </a:stretch>
        </p:blipFill>
        <p:spPr>
          <a:xfrm>
            <a:off x="868680" y="2331720"/>
            <a:ext cx="5394960" cy="3034665"/>
          </a:xfrm>
          <a:prstGeom prst="rect">
            <a:avLst/>
          </a:prstGeom>
        </p:spPr>
      </p:pic>
      <p:graphicFrame>
        <p:nvGraphicFramePr>
          <p:cNvPr id="7" name="Chart 6"/>
          <p:cNvGraphicFramePr>
            <a:graphicFrameLocks noGrp="1"/>
          </p:cNvGraphicFramePr>
          <p:nvPr/>
        </p:nvGraphicFramePr>
        <p:xfrm>
          <a:off x="6400800" y="1417320"/>
          <a:ext cx="53492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8"/>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34</a:t>
            </a:r>
            <a:endParaRPr lang="pt-BR"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Alguns números dessa fase</a:t>
            </a:r>
            <a:endParaRPr lang="pt-BR" sz="2400" dirty="0"/>
          </a:p>
        </p:txBody>
      </p:sp>
      <p:sp>
        <p:nvSpPr>
          <p:cNvPr id="5" name="Text 5"/>
          <p:cNvSpPr txBox="1"/>
          <p:nvPr/>
        </p:nvSpPr>
        <p:spPr>
          <a:xfrm>
            <a:off x="868680" y="914400"/>
            <a:ext cx="10881360" cy="365760"/>
          </a:xfrm>
          <a:prstGeom prst="rect">
            <a:avLst/>
          </a:prstGeom>
          <a:noFill/>
          <a:ln>
            <a:noFill/>
          </a:ln>
        </p:spPr>
        <p:txBody>
          <a:bodyPr wrap="square" lIns="0" tIns="0" rIns="0" bIns="0" rtlCol="0" anchor="ctr"/>
          <a:lstStyle/>
          <a:p>
            <a:pPr marL="0" indent="0" algn="l">
              <a:buNone/>
            </a:pPr>
            <a:r>
              <a:rPr lang="pt-BR" sz="1400" dirty="0">
                <a:solidFill>
                  <a:srgbClr val="72BAE3"/>
                </a:solidFill>
                <a:latin typeface="Arial" pitchFamily="34" charset="0"/>
                <a:ea typeface="Arial" pitchFamily="34" charset="-122"/>
                <a:cs typeface="Arial" pitchFamily="34" charset="-120"/>
              </a:rPr>
              <a:t>De um universo de 282 denúncias (</a:t>
            </a:r>
            <a:r>
              <a:rPr lang="pt-BR" sz="1400" i="1" dirty="0">
                <a:solidFill>
                  <a:srgbClr val="72BAE3"/>
                </a:solidFill>
                <a:latin typeface="Arial" pitchFamily="34" charset="0"/>
                <a:ea typeface="Arial" pitchFamily="34" charset="-122"/>
                <a:cs typeface="Arial" pitchFamily="34" charset="-120"/>
              </a:rPr>
              <a:t>detention</a:t>
            </a:r>
            <a:r>
              <a:rPr lang="pt-BR" sz="1400" dirty="0">
                <a:solidFill>
                  <a:srgbClr val="72BAE3"/>
                </a:solidFill>
                <a:latin typeface="Arial" pitchFamily="34" charset="0"/>
                <a:ea typeface="Arial" pitchFamily="34" charset="-122"/>
                <a:cs typeface="Arial" pitchFamily="34" charset="-120"/>
              </a:rPr>
              <a:t>), 370 BLs e 1.148 contêineres:</a:t>
            </a:r>
            <a:endParaRPr lang="pt-BR" sz="1400" dirty="0"/>
          </a:p>
        </p:txBody>
      </p:sp>
      <p:graphicFrame>
        <p:nvGraphicFramePr>
          <p:cNvPr id="6" name="Chart 5"/>
          <p:cNvGraphicFramePr>
            <a:graphicFrameLocks noGrp="1"/>
          </p:cNvGraphicFramePr>
          <p:nvPr/>
        </p:nvGraphicFramePr>
        <p:xfrm>
          <a:off x="868680" y="1325880"/>
          <a:ext cx="6766560" cy="4572000"/>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descr="wood.jpg"/>
          <p:cNvPicPr>
            <a:picLocks noChangeAspect="1"/>
          </p:cNvPicPr>
          <p:nvPr/>
        </p:nvPicPr>
        <p:blipFill>
          <a:blip r:embed="rId3"/>
          <a:stretch>
            <a:fillRect/>
          </a:stretch>
        </p:blipFill>
        <p:spPr>
          <a:xfrm>
            <a:off x="8001000" y="1600200"/>
            <a:ext cx="3749039" cy="3704408"/>
          </a:xfrm>
          <a:prstGeom prst="rect">
            <a:avLst/>
          </a:prstGeom>
        </p:spPr>
      </p:pic>
      <p:sp>
        <p:nvSpPr>
          <p:cNvPr id="8" name="Text 8"/>
          <p:cNvSpPr txBox="1"/>
          <p:nvPr/>
        </p:nvSpPr>
        <p:spPr>
          <a:xfrm>
            <a:off x="868680" y="5897880"/>
            <a:ext cx="10881360" cy="502920"/>
          </a:xfrm>
          <a:prstGeom prst="rect">
            <a:avLst/>
          </a:prstGeom>
          <a:noFill/>
          <a:ln>
            <a:noFill/>
          </a:ln>
        </p:spPr>
        <p:txBody>
          <a:bodyPr wrap="square" lIns="0" tIns="0" rIns="0" bIns="0" rtlCol="0" anchor="ctr"/>
          <a:lstStyle/>
          <a:p>
            <a:pPr marL="0" indent="0" algn="ctr">
              <a:buNone/>
            </a:pPr>
            <a:r>
              <a:rPr lang="pt-BR" sz="1800" b="1" dirty="0">
                <a:solidFill>
                  <a:srgbClr val="31485D"/>
                </a:solidFill>
                <a:latin typeface="Arial" pitchFamily="34" charset="0"/>
                <a:ea typeface="Arial" pitchFamily="34" charset="-122"/>
                <a:cs typeface="Arial" pitchFamily="34" charset="-120"/>
              </a:rPr>
              <a:t>Foi possível conhecer melhor o problema!</a:t>
            </a:r>
            <a:endParaRPr lang="pt-BR" sz="1800" dirty="0"/>
          </a:p>
        </p:txBody>
      </p:sp>
      <p:sp>
        <p:nvSpPr>
          <p:cNvPr id="9" name="Text 9"/>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35</a:t>
            </a:r>
            <a:endParaRPr lang="pt-BR"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521 e as audiências de conciliação</a:t>
            </a:r>
            <a:r>
              <a:rPr lang="pt-BR" sz="1000" dirty="0">
                <a:solidFill>
                  <a:srgbClr val="72BAE3"/>
                </a:solidFill>
                <a:latin typeface="Arial" pitchFamily="34" charset="0"/>
                <a:ea typeface="Arial" pitchFamily="34" charset="-122"/>
                <a:cs typeface="Arial" pitchFamily="34" charset="-120"/>
              </a:rPr>
              <a:t>   ·   Surgem os primeiros resultados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O resultado da primeira fase de conciliação</a:t>
            </a:r>
            <a:endParaRPr lang="pt-BR" sz="2400" dirty="0"/>
          </a:p>
        </p:txBody>
      </p:sp>
      <p:sp>
        <p:nvSpPr>
          <p:cNvPr id="7" name="Text 7"/>
          <p:cNvSpPr txBox="1"/>
          <p:nvPr/>
        </p:nvSpPr>
        <p:spPr>
          <a:xfrm>
            <a:off x="365760" y="630936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36</a:t>
            </a:r>
            <a:endParaRPr lang="pt-BR" sz="900" dirty="0"/>
          </a:p>
        </p:txBody>
      </p:sp>
      <p:sp>
        <p:nvSpPr>
          <p:cNvPr id="11" name="Shape 7">
            <a:extLst>
              <a:ext uri="{FF2B5EF4-FFF2-40B4-BE49-F238E27FC236}">
                <a16:creationId xmlns:a16="http://schemas.microsoft.com/office/drawing/2014/main" id="{8C60C3FF-254A-FC9E-111D-3FF9C174308F}"/>
              </a:ext>
            </a:extLst>
          </p:cNvPr>
          <p:cNvSpPr/>
          <p:nvPr/>
        </p:nvSpPr>
        <p:spPr>
          <a:xfrm>
            <a:off x="822960" y="1877665"/>
            <a:ext cx="10927080" cy="3706706"/>
          </a:xfrm>
          <a:prstGeom prst="roundRect">
            <a:avLst>
              <a:gd name="adj" fmla="val 3200"/>
            </a:avLst>
          </a:prstGeom>
          <a:solidFill>
            <a:srgbClr val="EEF3F6"/>
          </a:solidFill>
          <a:ln w="12700">
            <a:solidFill>
              <a:srgbClr val="72BAE3"/>
            </a:solidFill>
            <a:prstDash val="solid"/>
          </a:ln>
        </p:spPr>
      </p:sp>
      <p:sp>
        <p:nvSpPr>
          <p:cNvPr id="13" name="Text 8">
            <a:extLst>
              <a:ext uri="{FF2B5EF4-FFF2-40B4-BE49-F238E27FC236}">
                <a16:creationId xmlns:a16="http://schemas.microsoft.com/office/drawing/2014/main" id="{E7985ECE-22B3-D7A8-99FC-3CCB238F9DB1}"/>
              </a:ext>
            </a:extLst>
          </p:cNvPr>
          <p:cNvSpPr txBox="1"/>
          <p:nvPr/>
        </p:nvSpPr>
        <p:spPr>
          <a:xfrm>
            <a:off x="1280160" y="2334865"/>
            <a:ext cx="10058400" cy="1645920"/>
          </a:xfrm>
          <a:prstGeom prst="rect">
            <a:avLst/>
          </a:prstGeom>
          <a:noFill/>
          <a:ln>
            <a:noFill/>
          </a:ln>
        </p:spPr>
        <p:txBody>
          <a:bodyPr wrap="square" lIns="0" tIns="0" rIns="0" bIns="0" rtlCol="0" anchor="t"/>
          <a:lstStyle/>
          <a:p>
            <a:pPr marL="190500" indent="-190500" algn="l">
              <a:spcAft>
                <a:spcPts val="1600"/>
              </a:spcAft>
              <a:buSzPct val="100000"/>
              <a:buChar char="•"/>
            </a:pPr>
            <a:r>
              <a:rPr lang="pt-BR" sz="2000" dirty="0">
                <a:solidFill>
                  <a:srgbClr val="3A4750"/>
                </a:solidFill>
                <a:latin typeface="Arial" pitchFamily="34" charset="0"/>
                <a:ea typeface="Arial" pitchFamily="34" charset="-122"/>
                <a:cs typeface="Arial" pitchFamily="34" charset="-120"/>
              </a:rPr>
              <a:t>245 audiências realizadas entre setembro e dezembro/2025</a:t>
            </a:r>
          </a:p>
          <a:p>
            <a:pPr marL="190500" indent="-190500" algn="l">
              <a:spcAft>
                <a:spcPts val="1600"/>
              </a:spcAft>
              <a:buSzPct val="100000"/>
              <a:buChar char="•"/>
            </a:pPr>
            <a:r>
              <a:rPr lang="pt-BR" sz="2000" dirty="0">
                <a:solidFill>
                  <a:srgbClr val="3A4750"/>
                </a:solidFill>
                <a:latin typeface="Arial" pitchFamily="34" charset="0"/>
                <a:ea typeface="Arial" pitchFamily="34" charset="-122"/>
                <a:cs typeface="Arial" pitchFamily="34" charset="-120"/>
              </a:rPr>
              <a:t>170 composições bem sucedidas (acordos)</a:t>
            </a:r>
          </a:p>
          <a:p>
            <a:pPr marL="190500" indent="-190500" algn="l">
              <a:spcAft>
                <a:spcPts val="1600"/>
              </a:spcAft>
              <a:buSzPct val="100000"/>
              <a:buChar char="•"/>
            </a:pPr>
            <a:endParaRPr lang="pt-BR" sz="2000" dirty="0">
              <a:solidFill>
                <a:srgbClr val="3A4750"/>
              </a:solidFill>
              <a:latin typeface="Arial" pitchFamily="34" charset="0"/>
              <a:ea typeface="Arial" pitchFamily="34" charset="-122"/>
              <a:cs typeface="Arial" pitchFamily="34" charset="-120"/>
            </a:endParaRPr>
          </a:p>
          <a:p>
            <a:pPr marL="190500" indent="-190500" algn="l">
              <a:spcAft>
                <a:spcPts val="1600"/>
              </a:spcAft>
              <a:buSzPct val="100000"/>
              <a:buChar char="•"/>
            </a:pPr>
            <a:r>
              <a:rPr lang="pt-BR" sz="2000" dirty="0">
                <a:solidFill>
                  <a:srgbClr val="3A4750"/>
                </a:solidFill>
                <a:latin typeface="Arial" pitchFamily="34" charset="0"/>
                <a:ea typeface="Arial" pitchFamily="34" charset="-122"/>
                <a:cs typeface="Arial" pitchFamily="34" charset="-120"/>
              </a:rPr>
              <a:t>≈ </a:t>
            </a:r>
            <a:r>
              <a:rPr lang="pt-BR" sz="2000" b="1" dirty="0">
                <a:solidFill>
                  <a:srgbClr val="3A4750"/>
                </a:solidFill>
                <a:latin typeface="Arial" pitchFamily="34" charset="0"/>
                <a:ea typeface="Arial" pitchFamily="34" charset="-122"/>
                <a:cs typeface="Arial" pitchFamily="34" charset="-120"/>
              </a:rPr>
              <a:t>R$ 25 milhões</a:t>
            </a:r>
            <a:r>
              <a:rPr lang="pt-BR" sz="2000" dirty="0">
                <a:solidFill>
                  <a:srgbClr val="3A4750"/>
                </a:solidFill>
                <a:latin typeface="Arial" pitchFamily="34" charset="0"/>
                <a:ea typeface="Arial" pitchFamily="34" charset="-122"/>
                <a:cs typeface="Arial" pitchFamily="34" charset="-120"/>
              </a:rPr>
              <a:t> em cobranças (potencialmente indevidas) canceladas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40080" y="411480"/>
            <a:ext cx="10972800" cy="640080"/>
          </a:xfrm>
          <a:prstGeom prst="rect">
            <a:avLst/>
          </a:prstGeom>
          <a:noFill/>
          <a:ln>
            <a:noFill/>
          </a:ln>
        </p:spPr>
        <p:txBody>
          <a:bodyPr wrap="square" lIns="0" tIns="0" rIns="0" bIns="0" rtlCol="0" anchor="ctr"/>
          <a:lstStyle/>
          <a:p>
            <a:pPr marL="0" indent="0" algn="l">
              <a:buNone/>
            </a:pPr>
            <a:r>
              <a:rPr lang="pt-BR" sz="3000" b="1" dirty="0">
                <a:solidFill>
                  <a:srgbClr val="31485D"/>
                </a:solidFill>
                <a:latin typeface="Arial" pitchFamily="34" charset="0"/>
                <a:ea typeface="Arial" pitchFamily="34" charset="-122"/>
                <a:cs typeface="Arial" pitchFamily="34" charset="-120"/>
              </a:rPr>
              <a:t>O Acórdão nº 72 e a autocomposição</a:t>
            </a:r>
            <a:endParaRPr lang="pt-BR" sz="3000" dirty="0"/>
          </a:p>
        </p:txBody>
      </p:sp>
      <p:sp>
        <p:nvSpPr>
          <p:cNvPr id="3" name="Text 3"/>
          <p:cNvSpPr txBox="1"/>
          <p:nvPr/>
        </p:nvSpPr>
        <p:spPr>
          <a:xfrm>
            <a:off x="640080" y="1078992"/>
            <a:ext cx="10972800" cy="411480"/>
          </a:xfrm>
          <a:prstGeom prst="rect">
            <a:avLst/>
          </a:prstGeom>
          <a:noFill/>
          <a:ln>
            <a:noFill/>
          </a:ln>
        </p:spPr>
        <p:txBody>
          <a:bodyPr wrap="square" lIns="0" tIns="0" rIns="0" bIns="0" rtlCol="0" anchor="ctr"/>
          <a:lstStyle/>
          <a:p>
            <a:pPr marL="0" indent="0" algn="l">
              <a:buNone/>
            </a:pPr>
            <a:r>
              <a:rPr lang="pt-BR" sz="1600" dirty="0">
                <a:solidFill>
                  <a:srgbClr val="72BAE3"/>
                </a:solidFill>
                <a:latin typeface="Arial" pitchFamily="34" charset="0"/>
                <a:ea typeface="Arial" pitchFamily="34" charset="-122"/>
                <a:cs typeface="Arial" pitchFamily="34" charset="-120"/>
              </a:rPr>
              <a:t>O estágio atual do GEF Contêineres</a:t>
            </a:r>
            <a:endParaRPr lang="pt-BR" sz="1600" dirty="0"/>
          </a:p>
        </p:txBody>
      </p:sp>
      <p:sp>
        <p:nvSpPr>
          <p:cNvPr id="4" name="Shape 4"/>
          <p:cNvSpPr/>
          <p:nvPr/>
        </p:nvSpPr>
        <p:spPr>
          <a:xfrm>
            <a:off x="640080" y="1828800"/>
            <a:ext cx="10927080" cy="914400"/>
          </a:xfrm>
          <a:prstGeom prst="roundRect">
            <a:avLst>
              <a:gd name="adj" fmla="val 8000"/>
            </a:avLst>
          </a:prstGeom>
          <a:solidFill>
            <a:srgbClr val="EEF3F6"/>
          </a:solidFill>
          <a:ln w="12700">
            <a:solidFill>
              <a:srgbClr val="72BAE3"/>
            </a:solidFill>
            <a:prstDash val="solid"/>
          </a:ln>
        </p:spPr>
      </p:sp>
      <p:sp>
        <p:nvSpPr>
          <p:cNvPr id="5" name="Shape 5"/>
          <p:cNvSpPr/>
          <p:nvPr/>
        </p:nvSpPr>
        <p:spPr>
          <a:xfrm>
            <a:off x="640080" y="1828800"/>
            <a:ext cx="109728" cy="914400"/>
          </a:xfrm>
          <a:prstGeom prst="rect">
            <a:avLst/>
          </a:prstGeom>
          <a:solidFill>
            <a:srgbClr val="31485D"/>
          </a:solidFill>
          <a:ln>
            <a:noFill/>
          </a:ln>
        </p:spPr>
      </p:sp>
      <p:sp>
        <p:nvSpPr>
          <p:cNvPr id="6" name="Text 6"/>
          <p:cNvSpPr txBox="1"/>
          <p:nvPr/>
        </p:nvSpPr>
        <p:spPr>
          <a:xfrm>
            <a:off x="960120" y="1828800"/>
            <a:ext cx="10332720" cy="914400"/>
          </a:xfrm>
          <a:prstGeom prst="rect">
            <a:avLst/>
          </a:prstGeom>
          <a:noFill/>
          <a:ln>
            <a:noFill/>
          </a:ln>
        </p:spPr>
        <p:txBody>
          <a:bodyPr wrap="square" lIns="0" tIns="0" rIns="0" bIns="0" rtlCol="0" anchor="ctr"/>
          <a:lstStyle/>
          <a:p>
            <a:pPr marL="0" indent="0" algn="l">
              <a:lnSpc>
                <a:spcPct val="105000"/>
              </a:lnSpc>
              <a:buNone/>
            </a:pPr>
            <a:r>
              <a:rPr lang="pt-BR" sz="1500" dirty="0">
                <a:solidFill>
                  <a:srgbClr val="31485D"/>
                </a:solidFill>
                <a:latin typeface="Arial" pitchFamily="34" charset="0"/>
                <a:ea typeface="Arial" pitchFamily="34" charset="-122"/>
                <a:cs typeface="Arial" pitchFamily="34" charset="-120"/>
              </a:rPr>
              <a:t>Atendendo a proposições da Nota Técnica nº 164/2025-GEF Contêineres/GCOR/SFC (SEI nº 2757457)</a:t>
            </a:r>
            <a:endParaRPr lang="pt-BR" sz="1500" dirty="0"/>
          </a:p>
        </p:txBody>
      </p:sp>
      <p:sp>
        <p:nvSpPr>
          <p:cNvPr id="7" name="Shape 7"/>
          <p:cNvSpPr/>
          <p:nvPr/>
        </p:nvSpPr>
        <p:spPr>
          <a:xfrm>
            <a:off x="640080" y="3063240"/>
            <a:ext cx="10927080" cy="2286000"/>
          </a:xfrm>
          <a:prstGeom prst="roundRect">
            <a:avLst>
              <a:gd name="adj" fmla="val 3200"/>
            </a:avLst>
          </a:prstGeom>
          <a:solidFill>
            <a:srgbClr val="EEF3F6"/>
          </a:solidFill>
          <a:ln w="12700">
            <a:solidFill>
              <a:srgbClr val="72BAE3"/>
            </a:solidFill>
            <a:prstDash val="solid"/>
          </a:ln>
        </p:spPr>
      </p:sp>
      <p:sp>
        <p:nvSpPr>
          <p:cNvPr id="8" name="Text 8"/>
          <p:cNvSpPr txBox="1"/>
          <p:nvPr/>
        </p:nvSpPr>
        <p:spPr>
          <a:xfrm>
            <a:off x="1097280" y="3520440"/>
            <a:ext cx="10058400" cy="1645920"/>
          </a:xfrm>
          <a:prstGeom prst="rect">
            <a:avLst/>
          </a:prstGeom>
          <a:noFill/>
          <a:ln>
            <a:noFill/>
          </a:ln>
        </p:spPr>
        <p:txBody>
          <a:bodyPr wrap="square" lIns="0" tIns="0" rIns="0" bIns="0" rtlCol="0" anchor="t"/>
          <a:lstStyle/>
          <a:p>
            <a:pPr marL="190500" indent="-190500" algn="l">
              <a:spcAft>
                <a:spcPts val="1600"/>
              </a:spcAft>
              <a:buSzPct val="100000"/>
              <a:buChar char="•"/>
            </a:pPr>
            <a:r>
              <a:rPr lang="pt-BR" sz="2000" dirty="0">
                <a:solidFill>
                  <a:srgbClr val="3A4750"/>
                </a:solidFill>
                <a:latin typeface="Arial" pitchFamily="34" charset="0"/>
                <a:ea typeface="Arial" pitchFamily="34" charset="-122"/>
                <a:cs typeface="Arial" pitchFamily="34" charset="-120"/>
              </a:rPr>
              <a:t>O prazo de 120 dias de sobrestamento estava expirando</a:t>
            </a:r>
            <a:endParaRPr lang="pt-BR" sz="2000" dirty="0"/>
          </a:p>
          <a:p>
            <a:pPr marL="190500" indent="-190500" algn="l">
              <a:buSzPct val="100000"/>
              <a:buChar char="•"/>
            </a:pPr>
            <a:r>
              <a:rPr lang="pt-BR" sz="2000" dirty="0">
                <a:solidFill>
                  <a:srgbClr val="3A4750"/>
                </a:solidFill>
                <a:latin typeface="Arial" pitchFamily="34" charset="0"/>
                <a:ea typeface="Arial" pitchFamily="34" charset="-122"/>
                <a:cs typeface="Arial" pitchFamily="34" charset="-120"/>
              </a:rPr>
              <a:t>Represamento de novas denúncias</a:t>
            </a:r>
            <a:endParaRPr lang="pt-BR" sz="2000" dirty="0"/>
          </a:p>
        </p:txBody>
      </p:sp>
      <p:sp>
        <p:nvSpPr>
          <p:cNvPr id="9" name="Text 9"/>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37</a:t>
            </a:r>
            <a:endParaRPr lang="pt-BR"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O Acórdão nº 72 e a autocomposição</a:t>
            </a:r>
            <a:endParaRPr lang="pt-BR" sz="2400" dirty="0"/>
          </a:p>
        </p:txBody>
      </p:sp>
      <p:sp>
        <p:nvSpPr>
          <p:cNvPr id="5" name="Shape 5"/>
          <p:cNvSpPr/>
          <p:nvPr/>
        </p:nvSpPr>
        <p:spPr>
          <a:xfrm>
            <a:off x="868680" y="1417320"/>
            <a:ext cx="5257800" cy="4206240"/>
          </a:xfrm>
          <a:prstGeom prst="roundRect">
            <a:avLst>
              <a:gd name="adj" fmla="val 1739"/>
            </a:avLst>
          </a:prstGeom>
          <a:solidFill>
            <a:srgbClr val="EEF3F6"/>
          </a:solidFill>
          <a:ln w="12700">
            <a:solidFill>
              <a:srgbClr val="72BAE3"/>
            </a:solidFill>
            <a:prstDash val="solid"/>
          </a:ln>
        </p:spPr>
      </p:sp>
      <p:sp>
        <p:nvSpPr>
          <p:cNvPr id="6" name="Text 6"/>
          <p:cNvSpPr txBox="1"/>
          <p:nvPr/>
        </p:nvSpPr>
        <p:spPr>
          <a:xfrm>
            <a:off x="1143000" y="1645920"/>
            <a:ext cx="4709160" cy="914400"/>
          </a:xfrm>
          <a:prstGeom prst="rect">
            <a:avLst/>
          </a:prstGeom>
          <a:noFill/>
          <a:ln>
            <a:noFill/>
          </a:ln>
        </p:spPr>
        <p:txBody>
          <a:bodyPr wrap="square" lIns="0" tIns="0" rIns="0" bIns="0" rtlCol="0" anchor="ctr"/>
          <a:lstStyle/>
          <a:p>
            <a:pPr marL="0" indent="0" algn="l">
              <a:lnSpc>
                <a:spcPct val="105000"/>
              </a:lnSpc>
              <a:buNone/>
            </a:pPr>
            <a:r>
              <a:rPr lang="pt-BR" sz="1800" b="1" dirty="0">
                <a:solidFill>
                  <a:srgbClr val="31485D"/>
                </a:solidFill>
                <a:latin typeface="Arial" pitchFamily="34" charset="0"/>
                <a:ea typeface="Arial" pitchFamily="34" charset="-122"/>
                <a:cs typeface="Arial" pitchFamily="34" charset="-120"/>
              </a:rPr>
              <a:t>Publicado no DOU de 13/02/2026, o Acórdão aprovou:</a:t>
            </a:r>
            <a:endParaRPr lang="pt-BR" sz="1800" dirty="0"/>
          </a:p>
        </p:txBody>
      </p:sp>
      <p:sp>
        <p:nvSpPr>
          <p:cNvPr id="7" name="Text 7"/>
          <p:cNvSpPr txBox="1"/>
          <p:nvPr/>
        </p:nvSpPr>
        <p:spPr>
          <a:xfrm>
            <a:off x="1234440" y="2788920"/>
            <a:ext cx="4572000" cy="2743200"/>
          </a:xfrm>
          <a:prstGeom prst="rect">
            <a:avLst/>
          </a:prstGeom>
          <a:noFill/>
          <a:ln>
            <a:noFill/>
          </a:ln>
        </p:spPr>
        <p:txBody>
          <a:bodyPr wrap="square" lIns="0" tIns="0" rIns="0" bIns="0" rtlCol="0" anchor="t"/>
          <a:lstStyle/>
          <a:p>
            <a:pPr marL="190500" indent="-190500" algn="l">
              <a:lnSpc>
                <a:spcPct val="105000"/>
              </a:lnSpc>
              <a:spcAft>
                <a:spcPts val="1400"/>
              </a:spcAft>
              <a:buSzPct val="100000"/>
              <a:buChar char="•"/>
            </a:pPr>
            <a:r>
              <a:rPr lang="pt-BR" sz="1700" dirty="0">
                <a:solidFill>
                  <a:srgbClr val="3A4750"/>
                </a:solidFill>
                <a:latin typeface="Arial" pitchFamily="34" charset="0"/>
                <a:ea typeface="Arial" pitchFamily="34" charset="-122"/>
                <a:cs typeface="Arial" pitchFamily="34" charset="-120"/>
              </a:rPr>
              <a:t>Manutenção do rito sumário para todas as cobranças de sobre-estadia (sem recorte temporal)</a:t>
            </a:r>
            <a:endParaRPr lang="pt-BR" sz="1700" dirty="0"/>
          </a:p>
          <a:p>
            <a:pPr marL="190500" indent="-190500" algn="l">
              <a:lnSpc>
                <a:spcPct val="105000"/>
              </a:lnSpc>
              <a:buSzPct val="100000"/>
              <a:buChar char="•"/>
            </a:pPr>
            <a:r>
              <a:rPr lang="pt-BR" sz="1700" dirty="0">
                <a:solidFill>
                  <a:srgbClr val="3A4750"/>
                </a:solidFill>
                <a:latin typeface="Arial" pitchFamily="34" charset="0"/>
                <a:ea typeface="Arial" pitchFamily="34" charset="-122"/>
                <a:cs typeface="Arial" pitchFamily="34" charset="-120"/>
              </a:rPr>
              <a:t>Ampliação do rito para demais cobranças na cadeia logística de contêineres</a:t>
            </a:r>
            <a:endParaRPr lang="pt-BR" sz="1700" dirty="0"/>
          </a:p>
        </p:txBody>
      </p:sp>
      <p:sp>
        <p:nvSpPr>
          <p:cNvPr id="8" name="Shape 8"/>
          <p:cNvSpPr/>
          <p:nvPr/>
        </p:nvSpPr>
        <p:spPr>
          <a:xfrm>
            <a:off x="6492240" y="1417320"/>
            <a:ext cx="5257800" cy="4206240"/>
          </a:xfrm>
          <a:prstGeom prst="roundRect">
            <a:avLst>
              <a:gd name="adj" fmla="val 2174"/>
            </a:avLst>
          </a:prstGeom>
          <a:solidFill>
            <a:srgbClr val="FFFFFF"/>
          </a:solidFill>
          <a:ln w="15875">
            <a:solidFill>
              <a:srgbClr val="72BAE3"/>
            </a:solidFill>
            <a:prstDash val="solid"/>
          </a:ln>
        </p:spPr>
      </p:sp>
      <p:sp>
        <p:nvSpPr>
          <p:cNvPr id="9" name="Shape 9"/>
          <p:cNvSpPr/>
          <p:nvPr/>
        </p:nvSpPr>
        <p:spPr>
          <a:xfrm>
            <a:off x="6492240" y="1417320"/>
            <a:ext cx="5257800" cy="731520"/>
          </a:xfrm>
          <a:prstGeom prst="roundRect">
            <a:avLst>
              <a:gd name="adj" fmla="val 12500"/>
            </a:avLst>
          </a:prstGeom>
          <a:solidFill>
            <a:srgbClr val="31485D"/>
          </a:solidFill>
          <a:ln>
            <a:noFill/>
          </a:ln>
        </p:spPr>
      </p:sp>
      <p:sp>
        <p:nvSpPr>
          <p:cNvPr id="10" name="Shape 10"/>
          <p:cNvSpPr/>
          <p:nvPr/>
        </p:nvSpPr>
        <p:spPr>
          <a:xfrm>
            <a:off x="6492240" y="1783080"/>
            <a:ext cx="5257800" cy="365760"/>
          </a:xfrm>
          <a:prstGeom prst="rect">
            <a:avLst/>
          </a:prstGeom>
          <a:solidFill>
            <a:srgbClr val="31485D"/>
          </a:solidFill>
          <a:ln>
            <a:noFill/>
          </a:ln>
        </p:spPr>
      </p:sp>
      <p:sp>
        <p:nvSpPr>
          <p:cNvPr id="11" name="Text 11"/>
          <p:cNvSpPr txBox="1"/>
          <p:nvPr/>
        </p:nvSpPr>
        <p:spPr>
          <a:xfrm>
            <a:off x="6720840" y="1417320"/>
            <a:ext cx="4800600" cy="731520"/>
          </a:xfrm>
          <a:prstGeom prst="rect">
            <a:avLst/>
          </a:prstGeom>
          <a:noFill/>
          <a:ln>
            <a:noFill/>
          </a:ln>
        </p:spPr>
        <p:txBody>
          <a:bodyPr wrap="square" lIns="0" tIns="0" rIns="0" bIns="0" rtlCol="0" anchor="ctr"/>
          <a:lstStyle/>
          <a:p>
            <a:pPr marL="0" indent="0" algn="l">
              <a:lnSpc>
                <a:spcPct val="100000"/>
              </a:lnSpc>
              <a:buNone/>
            </a:pPr>
            <a:r>
              <a:rPr lang="pt-BR" sz="1500" b="1" dirty="0">
                <a:solidFill>
                  <a:srgbClr val="FFFFFF"/>
                </a:solidFill>
                <a:latin typeface="Arial" pitchFamily="34" charset="0"/>
                <a:ea typeface="Arial" pitchFamily="34" charset="-122"/>
                <a:cs typeface="Arial" pitchFamily="34" charset="-120"/>
              </a:rPr>
              <a:t>Portaria nº 1/2026-SFC/ANTAQ (SEI nº 2926169)</a:t>
            </a:r>
            <a:endParaRPr lang="pt-BR" sz="1400" dirty="0"/>
          </a:p>
        </p:txBody>
      </p:sp>
      <p:sp>
        <p:nvSpPr>
          <p:cNvPr id="12" name="Text 12"/>
          <p:cNvSpPr txBox="1"/>
          <p:nvPr/>
        </p:nvSpPr>
        <p:spPr>
          <a:xfrm>
            <a:off x="6766560" y="2423160"/>
            <a:ext cx="4754880" cy="3063240"/>
          </a:xfrm>
          <a:prstGeom prst="rect">
            <a:avLst/>
          </a:prstGeom>
          <a:noFill/>
          <a:ln>
            <a:noFill/>
          </a:ln>
        </p:spPr>
        <p:txBody>
          <a:bodyPr wrap="square" lIns="0" tIns="0" rIns="0" bIns="0" rtlCol="0" anchor="t"/>
          <a:lstStyle/>
          <a:p>
            <a:pPr marL="0" indent="0" algn="l">
              <a:lnSpc>
                <a:spcPct val="105000"/>
              </a:lnSpc>
              <a:spcAft>
                <a:spcPts val="1600"/>
              </a:spcAft>
              <a:buNone/>
            </a:pPr>
            <a:r>
              <a:rPr lang="pt-BR" sz="1600" b="1" dirty="0">
                <a:solidFill>
                  <a:srgbClr val="31485D"/>
                </a:solidFill>
                <a:latin typeface="Arial" pitchFamily="34" charset="0"/>
                <a:ea typeface="Arial" pitchFamily="34" charset="-122"/>
                <a:cs typeface="Arial" pitchFamily="34" charset="-120"/>
              </a:rPr>
              <a:t>Estabeleceu os procedimentos de autocomposição prévia às análises de reclamações de cobranças afetas à logística de contêineres</a:t>
            </a:r>
            <a:endParaRPr lang="pt-BR" sz="1600" dirty="0"/>
          </a:p>
          <a:p>
            <a:pPr marL="190500" indent="-190500" algn="l">
              <a:lnSpc>
                <a:spcPct val="105000"/>
              </a:lnSpc>
              <a:spcAft>
                <a:spcPts val="1200"/>
              </a:spcAft>
              <a:buSzPct val="100000"/>
              <a:buChar char="•"/>
            </a:pPr>
            <a:r>
              <a:rPr lang="pt-BR" sz="1600" dirty="0">
                <a:solidFill>
                  <a:srgbClr val="3A4750"/>
                </a:solidFill>
                <a:latin typeface="Arial" pitchFamily="34" charset="0"/>
                <a:ea typeface="Arial" pitchFamily="34" charset="-122"/>
                <a:cs typeface="Arial" pitchFamily="34" charset="-120"/>
              </a:rPr>
              <a:t>Exigência documental mínima</a:t>
            </a:r>
            <a:endParaRPr lang="pt-BR" sz="1600" dirty="0"/>
          </a:p>
          <a:p>
            <a:pPr marL="190500" indent="-190500" algn="l">
              <a:lnSpc>
                <a:spcPct val="105000"/>
              </a:lnSpc>
              <a:buSzPct val="100000"/>
              <a:buChar char="•"/>
            </a:pPr>
            <a:r>
              <a:rPr lang="pt-BR" sz="1600" dirty="0">
                <a:solidFill>
                  <a:srgbClr val="3A4750"/>
                </a:solidFill>
                <a:latin typeface="Arial" pitchFamily="34" charset="0"/>
                <a:ea typeface="Arial" pitchFamily="34" charset="-122"/>
                <a:cs typeface="Arial" pitchFamily="34" charset="-120"/>
              </a:rPr>
              <a:t>Fase de autocomposição, por via processual (SEI, processo tipo "Denúncias e Reclamações")</a:t>
            </a:r>
            <a:endParaRPr lang="pt-BR" sz="1600" dirty="0"/>
          </a:p>
        </p:txBody>
      </p:sp>
      <p:sp>
        <p:nvSpPr>
          <p:cNvPr id="13" name="Text 13"/>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38</a:t>
            </a:r>
            <a:endParaRPr lang="pt-BR"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As etapas da fase de autocomposição</a:t>
            </a:r>
            <a:endParaRPr lang="pt-BR" sz="2400" dirty="0"/>
          </a:p>
        </p:txBody>
      </p:sp>
      <p:cxnSp>
        <p:nvCxnSpPr>
          <p:cNvPr id="5" name="Line 5"/>
          <p:cNvCxnSpPr/>
          <p:nvPr/>
        </p:nvCxnSpPr>
        <p:spPr>
          <a:xfrm>
            <a:off x="1783080" y="3017520"/>
            <a:ext cx="9052560" cy="0"/>
          </a:xfrm>
          <a:prstGeom prst="line">
            <a:avLst/>
          </a:prstGeom>
          <a:ln w="44450">
            <a:solidFill>
              <a:srgbClr val="72BAE3"/>
            </a:solidFill>
            <a:prstDash val="solid"/>
            <a:round/>
          </a:ln>
        </p:spPr>
      </p:cxnSp>
      <p:sp>
        <p:nvSpPr>
          <p:cNvPr id="6" name="Shape 6"/>
          <p:cNvSpPr/>
          <p:nvPr/>
        </p:nvSpPr>
        <p:spPr>
          <a:xfrm>
            <a:off x="1440180" y="2674620"/>
            <a:ext cx="685800" cy="685800"/>
          </a:xfrm>
          <a:prstGeom prst="ellipse">
            <a:avLst/>
          </a:prstGeom>
          <a:solidFill>
            <a:srgbClr val="31485D"/>
          </a:solidFill>
          <a:ln>
            <a:noFill/>
          </a:ln>
        </p:spPr>
      </p:sp>
      <p:sp>
        <p:nvSpPr>
          <p:cNvPr id="7" name="Text 7"/>
          <p:cNvSpPr txBox="1"/>
          <p:nvPr/>
        </p:nvSpPr>
        <p:spPr>
          <a:xfrm>
            <a:off x="1440180"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1</a:t>
            </a:r>
            <a:endParaRPr lang="pt-BR" sz="1800" dirty="0"/>
          </a:p>
        </p:txBody>
      </p:sp>
      <p:sp>
        <p:nvSpPr>
          <p:cNvPr id="8" name="Text 8"/>
          <p:cNvSpPr txBox="1"/>
          <p:nvPr/>
        </p:nvSpPr>
        <p:spPr>
          <a:xfrm>
            <a:off x="914400"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Despacho de submissão ao rito (art. 17 da Portaria)</a:t>
            </a:r>
            <a:endParaRPr lang="pt-BR" sz="1400" dirty="0"/>
          </a:p>
        </p:txBody>
      </p:sp>
      <p:sp>
        <p:nvSpPr>
          <p:cNvPr id="9" name="Shape 9"/>
          <p:cNvSpPr/>
          <p:nvPr/>
        </p:nvSpPr>
        <p:spPr>
          <a:xfrm>
            <a:off x="3250692" y="2674620"/>
            <a:ext cx="685800" cy="685800"/>
          </a:xfrm>
          <a:prstGeom prst="ellipse">
            <a:avLst/>
          </a:prstGeom>
          <a:solidFill>
            <a:srgbClr val="31485D"/>
          </a:solidFill>
          <a:ln>
            <a:noFill/>
          </a:ln>
        </p:spPr>
      </p:sp>
      <p:sp>
        <p:nvSpPr>
          <p:cNvPr id="10" name="Text 10"/>
          <p:cNvSpPr txBox="1"/>
          <p:nvPr/>
        </p:nvSpPr>
        <p:spPr>
          <a:xfrm>
            <a:off x="3250692"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2</a:t>
            </a:r>
            <a:endParaRPr lang="pt-BR" sz="1800" dirty="0"/>
          </a:p>
        </p:txBody>
      </p:sp>
      <p:sp>
        <p:nvSpPr>
          <p:cNvPr id="11" name="Text 11"/>
          <p:cNvSpPr txBox="1"/>
          <p:nvPr/>
        </p:nvSpPr>
        <p:spPr>
          <a:xfrm>
            <a:off x="2724912"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NAC expedida às partes</a:t>
            </a:r>
            <a:endParaRPr lang="pt-BR" sz="1400" dirty="0"/>
          </a:p>
        </p:txBody>
      </p:sp>
      <p:sp>
        <p:nvSpPr>
          <p:cNvPr id="12" name="Shape 12"/>
          <p:cNvSpPr/>
          <p:nvPr/>
        </p:nvSpPr>
        <p:spPr>
          <a:xfrm>
            <a:off x="5061204" y="2674620"/>
            <a:ext cx="685800" cy="685800"/>
          </a:xfrm>
          <a:prstGeom prst="ellipse">
            <a:avLst/>
          </a:prstGeom>
          <a:solidFill>
            <a:srgbClr val="31485D"/>
          </a:solidFill>
          <a:ln>
            <a:noFill/>
          </a:ln>
        </p:spPr>
      </p:sp>
      <p:sp>
        <p:nvSpPr>
          <p:cNvPr id="13" name="Text 13"/>
          <p:cNvSpPr txBox="1"/>
          <p:nvPr/>
        </p:nvSpPr>
        <p:spPr>
          <a:xfrm>
            <a:off x="5061204"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3</a:t>
            </a:r>
            <a:endParaRPr lang="pt-BR" sz="1800" dirty="0"/>
          </a:p>
        </p:txBody>
      </p:sp>
      <p:sp>
        <p:nvSpPr>
          <p:cNvPr id="14" name="Text 14"/>
          <p:cNvSpPr txBox="1"/>
          <p:nvPr/>
        </p:nvSpPr>
        <p:spPr>
          <a:xfrm>
            <a:off x="4535424"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Prazo de 15 dias corridos (art. 10), prorrogável a critério do GEF</a:t>
            </a:r>
            <a:endParaRPr lang="pt-BR" sz="1400" dirty="0"/>
          </a:p>
        </p:txBody>
      </p:sp>
      <p:sp>
        <p:nvSpPr>
          <p:cNvPr id="15" name="Shape 15"/>
          <p:cNvSpPr/>
          <p:nvPr/>
        </p:nvSpPr>
        <p:spPr>
          <a:xfrm>
            <a:off x="6871716" y="2674620"/>
            <a:ext cx="685800" cy="685800"/>
          </a:xfrm>
          <a:prstGeom prst="ellipse">
            <a:avLst/>
          </a:prstGeom>
          <a:solidFill>
            <a:srgbClr val="31485D"/>
          </a:solidFill>
          <a:ln>
            <a:noFill/>
          </a:ln>
        </p:spPr>
      </p:sp>
      <p:sp>
        <p:nvSpPr>
          <p:cNvPr id="16" name="Text 16"/>
          <p:cNvSpPr txBox="1"/>
          <p:nvPr/>
        </p:nvSpPr>
        <p:spPr>
          <a:xfrm>
            <a:off x="6871716"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4</a:t>
            </a:r>
            <a:endParaRPr lang="pt-BR" sz="1800" dirty="0"/>
          </a:p>
        </p:txBody>
      </p:sp>
      <p:sp>
        <p:nvSpPr>
          <p:cNvPr id="17" name="Text 17"/>
          <p:cNvSpPr txBox="1"/>
          <p:nvPr/>
        </p:nvSpPr>
        <p:spPr>
          <a:xfrm>
            <a:off x="6345936"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Manifestação das partes; no silêncio, ofício de interesse no prosseguimento</a:t>
            </a:r>
            <a:endParaRPr lang="pt-BR" sz="1400" dirty="0"/>
          </a:p>
        </p:txBody>
      </p:sp>
      <p:sp>
        <p:nvSpPr>
          <p:cNvPr id="18" name="Shape 18"/>
          <p:cNvSpPr/>
          <p:nvPr/>
        </p:nvSpPr>
        <p:spPr>
          <a:xfrm>
            <a:off x="8682228" y="2674620"/>
            <a:ext cx="685800" cy="685800"/>
          </a:xfrm>
          <a:prstGeom prst="ellipse">
            <a:avLst/>
          </a:prstGeom>
          <a:solidFill>
            <a:srgbClr val="31485D"/>
          </a:solidFill>
          <a:ln>
            <a:noFill/>
          </a:ln>
        </p:spPr>
      </p:sp>
      <p:sp>
        <p:nvSpPr>
          <p:cNvPr id="19" name="Text 19"/>
          <p:cNvSpPr txBox="1"/>
          <p:nvPr/>
        </p:nvSpPr>
        <p:spPr>
          <a:xfrm>
            <a:off x="8682228"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5</a:t>
            </a:r>
            <a:endParaRPr lang="pt-BR" sz="1800" dirty="0"/>
          </a:p>
        </p:txBody>
      </p:sp>
      <p:sp>
        <p:nvSpPr>
          <p:cNvPr id="20" name="Text 20"/>
          <p:cNvSpPr txBox="1"/>
          <p:nvPr/>
        </p:nvSpPr>
        <p:spPr>
          <a:xfrm>
            <a:off x="8156448"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Encerramento: Nota Técnica (acordo) ou certidão (demais hipóteses)</a:t>
            </a:r>
            <a:endParaRPr lang="pt-BR" sz="1400" dirty="0"/>
          </a:p>
        </p:txBody>
      </p:sp>
      <p:sp>
        <p:nvSpPr>
          <p:cNvPr id="21" name="Shape 21"/>
          <p:cNvSpPr/>
          <p:nvPr/>
        </p:nvSpPr>
        <p:spPr>
          <a:xfrm>
            <a:off x="10492740" y="2674620"/>
            <a:ext cx="685800" cy="685800"/>
          </a:xfrm>
          <a:prstGeom prst="ellipse">
            <a:avLst/>
          </a:prstGeom>
          <a:solidFill>
            <a:srgbClr val="31485D"/>
          </a:solidFill>
          <a:ln>
            <a:noFill/>
          </a:ln>
        </p:spPr>
      </p:sp>
      <p:sp>
        <p:nvSpPr>
          <p:cNvPr id="22" name="Text 22"/>
          <p:cNvSpPr txBox="1"/>
          <p:nvPr/>
        </p:nvSpPr>
        <p:spPr>
          <a:xfrm>
            <a:off x="10492740" y="2674620"/>
            <a:ext cx="685800" cy="685800"/>
          </a:xfrm>
          <a:prstGeom prst="rect">
            <a:avLst/>
          </a:prstGeom>
          <a:noFill/>
          <a:ln>
            <a:noFill/>
          </a:ln>
        </p:spPr>
        <p:txBody>
          <a:bodyPr wrap="square" lIns="0" tIns="0" rIns="0" bIns="0" rtlCol="0" anchor="ctr"/>
          <a:lstStyle/>
          <a:p>
            <a:pPr marL="0" indent="0" algn="ctr">
              <a:buNone/>
            </a:pPr>
            <a:r>
              <a:rPr lang="pt-BR" sz="1800" b="1" dirty="0">
                <a:solidFill>
                  <a:srgbClr val="FFFFFF"/>
                </a:solidFill>
                <a:latin typeface="Arial" pitchFamily="34" charset="0"/>
                <a:ea typeface="Arial" pitchFamily="34" charset="-122"/>
                <a:cs typeface="Arial" pitchFamily="34" charset="-120"/>
              </a:rPr>
              <a:t>6</a:t>
            </a:r>
            <a:endParaRPr lang="pt-BR" sz="1800" dirty="0"/>
          </a:p>
        </p:txBody>
      </p:sp>
      <p:sp>
        <p:nvSpPr>
          <p:cNvPr id="23" name="Text 23"/>
          <p:cNvSpPr txBox="1"/>
          <p:nvPr/>
        </p:nvSpPr>
        <p:spPr>
          <a:xfrm>
            <a:off x="9966960" y="3566160"/>
            <a:ext cx="1737360" cy="2011680"/>
          </a:xfrm>
          <a:prstGeom prst="rect">
            <a:avLst/>
          </a:prstGeom>
          <a:noFill/>
          <a:ln>
            <a:noFill/>
          </a:ln>
        </p:spPr>
        <p:txBody>
          <a:bodyPr wrap="square" lIns="0" tIns="0" rIns="0" bIns="0" rtlCol="0" anchor="t"/>
          <a:lstStyle/>
          <a:p>
            <a:pPr marL="0" indent="0" algn="ctr">
              <a:lnSpc>
                <a:spcPct val="105000"/>
              </a:lnSpc>
              <a:buNone/>
            </a:pPr>
            <a:r>
              <a:rPr lang="pt-BR" sz="1400" dirty="0">
                <a:solidFill>
                  <a:srgbClr val="3A4750"/>
                </a:solidFill>
                <a:latin typeface="Arial" pitchFamily="34" charset="0"/>
                <a:ea typeface="Arial" pitchFamily="34" charset="-122"/>
                <a:cs typeface="Arial" pitchFamily="34" charset="-120"/>
              </a:rPr>
              <a:t>Despacho à SFC para arquivamento, ou ODSF</a:t>
            </a:r>
            <a:endParaRPr lang="pt-BR" sz="1400" dirty="0"/>
          </a:p>
        </p:txBody>
      </p:sp>
      <p:sp>
        <p:nvSpPr>
          <p:cNvPr id="24" name="Text 24"/>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39</a:t>
            </a:r>
            <a:endParaRPr lang="pt-BR"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 Notificação para Autocomposição (NAC)</a:t>
            </a:r>
            <a:endParaRPr lang="pt-BR" sz="2400" dirty="0"/>
          </a:p>
        </p:txBody>
      </p:sp>
      <p:pic>
        <p:nvPicPr>
          <p:cNvPr id="5" name="Picture 4" descr="nac_c.jpg"/>
          <p:cNvPicPr>
            <a:picLocks noChangeAspect="1"/>
          </p:cNvPicPr>
          <p:nvPr/>
        </p:nvPicPr>
        <p:blipFill>
          <a:blip r:embed="rId2"/>
          <a:stretch>
            <a:fillRect/>
          </a:stretch>
        </p:blipFill>
        <p:spPr>
          <a:xfrm>
            <a:off x="1051560" y="1143000"/>
            <a:ext cx="10424160" cy="5345723"/>
          </a:xfrm>
          <a:prstGeom prst="rect">
            <a:avLst/>
          </a:prstGeom>
        </p:spPr>
      </p:pic>
      <p:sp>
        <p:nvSpPr>
          <p:cNvPr id="6" name="Text 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40</a:t>
            </a:r>
            <a:endParaRPr lang="pt-B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 Notificação para Autocomposição (NAC): exemplo</a:t>
            </a:r>
            <a:endParaRPr lang="pt-BR" sz="2400" dirty="0"/>
          </a:p>
        </p:txBody>
      </p:sp>
      <p:pic>
        <p:nvPicPr>
          <p:cNvPr id="5" name="Picture 4" descr="nac_b_blur.jpg"/>
          <p:cNvPicPr>
            <a:picLocks noChangeAspect="1"/>
          </p:cNvPicPr>
          <p:nvPr/>
        </p:nvPicPr>
        <p:blipFill>
          <a:blip r:embed="rId2"/>
          <a:stretch>
            <a:fillRect/>
          </a:stretch>
        </p:blipFill>
        <p:spPr>
          <a:xfrm>
            <a:off x="1051560" y="1143000"/>
            <a:ext cx="10424160" cy="5024980"/>
          </a:xfrm>
          <a:prstGeom prst="rect">
            <a:avLst/>
          </a:prstGeom>
        </p:spPr>
      </p:pic>
      <p:sp>
        <p:nvSpPr>
          <p:cNvPr id="6" name="Text 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41</a:t>
            </a:r>
            <a:endParaRPr lang="pt-BR"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 Notificação para Autocomposição (NAC): exemplo</a:t>
            </a:r>
            <a:endParaRPr lang="pt-BR" sz="2400" dirty="0"/>
          </a:p>
        </p:txBody>
      </p:sp>
      <p:pic>
        <p:nvPicPr>
          <p:cNvPr id="5" name="Picture 4" descr="nac_a.jpg"/>
          <p:cNvPicPr>
            <a:picLocks noChangeAspect="1"/>
          </p:cNvPicPr>
          <p:nvPr/>
        </p:nvPicPr>
        <p:blipFill>
          <a:blip r:embed="rId2"/>
          <a:stretch>
            <a:fillRect/>
          </a:stretch>
        </p:blipFill>
        <p:spPr>
          <a:xfrm>
            <a:off x="1051560" y="2194560"/>
            <a:ext cx="10424160" cy="3131066"/>
          </a:xfrm>
          <a:prstGeom prst="rect">
            <a:avLst/>
          </a:prstGeom>
        </p:spPr>
      </p:pic>
      <p:sp>
        <p:nvSpPr>
          <p:cNvPr id="6" name="Text 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42</a:t>
            </a:r>
            <a:endParaRPr lang="pt-BR"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Os resultados possíveis na autocomposição</a:t>
            </a:r>
            <a:endParaRPr lang="pt-BR" sz="2400" dirty="0"/>
          </a:p>
        </p:txBody>
      </p:sp>
      <p:graphicFrame>
        <p:nvGraphicFramePr>
          <p:cNvPr id="5" name="Table 4"/>
          <p:cNvGraphicFramePr>
            <a:graphicFrameLocks noGrp="1"/>
          </p:cNvGraphicFramePr>
          <p:nvPr/>
        </p:nvGraphicFramePr>
        <p:xfrm>
          <a:off x="868680" y="1463040"/>
          <a:ext cx="10881360" cy="4901184"/>
        </p:xfrm>
        <a:graphic>
          <a:graphicData uri="http://schemas.openxmlformats.org/drawingml/2006/table">
            <a:tbl>
              <a:tblPr firstRow="1"/>
              <a:tblGrid>
                <a:gridCol w="6309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48640">
                <a:tc>
                  <a:txBody>
                    <a:bodyPr/>
                    <a:lstStyle/>
                    <a:p>
                      <a:r>
                        <a:rPr sz="1400" b="1">
                          <a:solidFill>
                            <a:srgbClr val="FFFFFF"/>
                          </a:solidFill>
                          <a:latin typeface="Arial"/>
                        </a:rPr>
                        <a:t>Resultado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31485D"/>
                    </a:solidFill>
                  </a:tcPr>
                </a:tc>
                <a:tc>
                  <a:txBody>
                    <a:bodyPr/>
                    <a:lstStyle/>
                    <a:p>
                      <a:r>
                        <a:rPr sz="1400" b="1">
                          <a:solidFill>
                            <a:srgbClr val="FFFFFF"/>
                          </a:solidFill>
                          <a:latin typeface="Arial"/>
                        </a:rPr>
                        <a:t>Encaminhamento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31485D"/>
                    </a:solidFill>
                  </a:tcPr>
                </a:tc>
                <a:extLst>
                  <a:ext uri="{0D108BD9-81ED-4DB2-BD59-A6C34878D82A}">
                    <a16:rowId xmlns:a16="http://schemas.microsoft.com/office/drawing/2014/main" val="10000"/>
                  </a:ext>
                </a:extLst>
              </a:tr>
              <a:tr h="621792">
                <a:tc>
                  <a:txBody>
                    <a:bodyPr/>
                    <a:lstStyle/>
                    <a:p>
                      <a:r>
                        <a:rPr sz="1400" b="0">
                          <a:solidFill>
                            <a:srgbClr val="3A4750"/>
                          </a:solidFill>
                          <a:latin typeface="Arial"/>
                        </a:rPr>
                        <a:t>Acordo: cancelamento integral da cobrança</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tc>
                  <a:txBody>
                    <a:bodyPr/>
                    <a:lstStyle/>
                    <a:p>
                      <a:r>
                        <a:rPr sz="1400" b="0">
                          <a:solidFill>
                            <a:srgbClr val="3A4750"/>
                          </a:solidFill>
                          <a:latin typeface="Arial"/>
                        </a:rPr>
                        <a:t>Despacho à SFC para arquivamento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extLst>
                  <a:ext uri="{0D108BD9-81ED-4DB2-BD59-A6C34878D82A}">
                    <a16:rowId xmlns:a16="http://schemas.microsoft.com/office/drawing/2014/main" val="10001"/>
                  </a:ext>
                </a:extLst>
              </a:tr>
              <a:tr h="621792">
                <a:tc>
                  <a:txBody>
                    <a:bodyPr/>
                    <a:lstStyle/>
                    <a:p>
                      <a:r>
                        <a:rPr sz="1400" b="0">
                          <a:solidFill>
                            <a:srgbClr val="3A4750"/>
                          </a:solidFill>
                          <a:latin typeface="Arial"/>
                        </a:rPr>
                        <a:t>Acordo: revisão parcial da cobrança, aceita pelo denunciante</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tc>
                  <a:txBody>
                    <a:bodyPr/>
                    <a:lstStyle/>
                    <a:p>
                      <a:r>
                        <a:rPr sz="1400" b="0">
                          <a:solidFill>
                            <a:srgbClr val="3A4750"/>
                          </a:solidFill>
                          <a:latin typeface="Arial"/>
                        </a:rPr>
                        <a:t>Despacho à SFC para arquivamento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extLst>
                  <a:ext uri="{0D108BD9-81ED-4DB2-BD59-A6C34878D82A}">
                    <a16:rowId xmlns:a16="http://schemas.microsoft.com/office/drawing/2014/main" val="10002"/>
                  </a:ext>
                </a:extLst>
              </a:tr>
              <a:tr h="621792">
                <a:tc>
                  <a:txBody>
                    <a:bodyPr/>
                    <a:lstStyle/>
                    <a:p>
                      <a:r>
                        <a:rPr sz="1400" b="0">
                          <a:solidFill>
                            <a:srgbClr val="3A4750"/>
                          </a:solidFill>
                          <a:latin typeface="Arial"/>
                        </a:rPr>
                        <a:t>Acordo: cancelamento pelo intermediário e prosseguimento contra o emissor originário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tc>
                  <a:txBody>
                    <a:bodyPr/>
                    <a:lstStyle/>
                    <a:p>
                      <a:r>
                        <a:rPr sz="1400" b="0">
                          <a:solidFill>
                            <a:srgbClr val="3A4750"/>
                          </a:solidFill>
                          <a:latin typeface="Arial"/>
                        </a:rPr>
                        <a:t>Apartado contra o emissor originário; arquivamento quanto ao intermediário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extLst>
                  <a:ext uri="{0D108BD9-81ED-4DB2-BD59-A6C34878D82A}">
                    <a16:rowId xmlns:a16="http://schemas.microsoft.com/office/drawing/2014/main" val="10003"/>
                  </a:ext>
                </a:extLst>
              </a:tr>
              <a:tr h="621792">
                <a:tc>
                  <a:txBody>
                    <a:bodyPr/>
                    <a:lstStyle/>
                    <a:p>
                      <a:r>
                        <a:rPr sz="1400" b="0">
                          <a:solidFill>
                            <a:srgbClr val="3A4750"/>
                          </a:solidFill>
                          <a:latin typeface="Arial"/>
                        </a:rPr>
                        <a:t>Ausência de manifestação das partes</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tc>
                  <a:txBody>
                    <a:bodyPr/>
                    <a:lstStyle/>
                    <a:p>
                      <a:r>
                        <a:rPr sz="1400" b="0">
                          <a:solidFill>
                            <a:srgbClr val="3A4750"/>
                          </a:solidFill>
                          <a:latin typeface="Arial"/>
                        </a:rPr>
                        <a:t>Despacho à SFC para arquivamento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extLst>
                  <a:ext uri="{0D108BD9-81ED-4DB2-BD59-A6C34878D82A}">
                    <a16:rowId xmlns:a16="http://schemas.microsoft.com/office/drawing/2014/main" val="10004"/>
                  </a:ext>
                </a:extLst>
              </a:tr>
              <a:tr h="621792">
                <a:tc>
                  <a:txBody>
                    <a:bodyPr/>
                    <a:lstStyle/>
                    <a:p>
                      <a:r>
                        <a:rPr sz="1400" b="0">
                          <a:solidFill>
                            <a:srgbClr val="3A4750"/>
                          </a:solidFill>
                          <a:latin typeface="Arial"/>
                        </a:rPr>
                        <a:t>Ausência de manifestação do denunciante quanto ao prosseguimento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tc>
                  <a:txBody>
                    <a:bodyPr/>
                    <a:lstStyle/>
                    <a:p>
                      <a:r>
                        <a:rPr sz="1400" b="0">
                          <a:solidFill>
                            <a:srgbClr val="3A4750"/>
                          </a:solidFill>
                          <a:latin typeface="Arial"/>
                        </a:rPr>
                        <a:t>Despacho à SFC para arquivamento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extLst>
                  <a:ext uri="{0D108BD9-81ED-4DB2-BD59-A6C34878D82A}">
                    <a16:rowId xmlns:a16="http://schemas.microsoft.com/office/drawing/2014/main" val="10005"/>
                  </a:ext>
                </a:extLst>
              </a:tr>
              <a:tr h="621792">
                <a:tc>
                  <a:txBody>
                    <a:bodyPr/>
                    <a:lstStyle/>
                    <a:p>
                      <a:r>
                        <a:rPr sz="1400" b="0">
                          <a:solidFill>
                            <a:srgbClr val="3A4750"/>
                          </a:solidFill>
                          <a:latin typeface="Arial"/>
                        </a:rPr>
                        <a:t>Desistência expressa do denunciante</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tc>
                  <a:txBody>
                    <a:bodyPr/>
                    <a:lstStyle/>
                    <a:p>
                      <a:r>
                        <a:rPr sz="1400" b="0">
                          <a:solidFill>
                            <a:srgbClr val="3A4750"/>
                          </a:solidFill>
                          <a:latin typeface="Arial"/>
                        </a:rPr>
                        <a:t>Despacho à SFC para arquivamento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EEF3F6"/>
                    </a:solidFill>
                  </a:tcPr>
                </a:tc>
                <a:extLst>
                  <a:ext uri="{0D108BD9-81ED-4DB2-BD59-A6C34878D82A}">
                    <a16:rowId xmlns:a16="http://schemas.microsoft.com/office/drawing/2014/main" val="10006"/>
                  </a:ext>
                </a:extLst>
              </a:tr>
              <a:tr h="621792">
                <a:tc>
                  <a:txBody>
                    <a:bodyPr/>
                    <a:lstStyle/>
                    <a:p>
                      <a:r>
                        <a:rPr sz="1400" b="0">
                          <a:solidFill>
                            <a:srgbClr val="3A4750"/>
                          </a:solidFill>
                          <a:latin typeface="Arial"/>
                        </a:rPr>
                        <a:t>Insucesso com interesse no prosseguimento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tc>
                  <a:txBody>
                    <a:bodyPr/>
                    <a:lstStyle/>
                    <a:p>
                      <a:r>
                        <a:rPr sz="1400" b="0">
                          <a:solidFill>
                            <a:srgbClr val="3A4750"/>
                          </a:solidFill>
                          <a:latin typeface="Arial"/>
                        </a:rPr>
                        <a:t>ODSF; o processo entra para apuração</a:t>
                      </a:r>
                    </a:p>
                  </a:txBody>
                  <a:tcPr marL="109728" marR="109728" anchor="ctr">
                    <a:lnL w="6350">
                      <a:solidFill>
                        <a:srgbClr val="C9D6E0"/>
                      </a:solidFill>
                    </a:lnL>
                    <a:lnR w="6350">
                      <a:solidFill>
                        <a:srgbClr val="C9D6E0"/>
                      </a:solidFill>
                    </a:lnR>
                    <a:lnT w="6350">
                      <a:solidFill>
                        <a:srgbClr val="C9D6E0"/>
                      </a:solidFill>
                    </a:lnT>
                    <a:lnB w="6350">
                      <a:solidFill>
                        <a:srgbClr val="C9D6E0"/>
                      </a:solidFill>
                    </a:lnB>
                    <a:solidFill>
                      <a:srgbClr val="FFFFFF"/>
                    </a:solidFill>
                  </a:tcPr>
                </a:tc>
                <a:extLst>
                  <a:ext uri="{0D108BD9-81ED-4DB2-BD59-A6C34878D82A}">
                    <a16:rowId xmlns:a16="http://schemas.microsoft.com/office/drawing/2014/main" val="10007"/>
                  </a:ext>
                </a:extLst>
              </a:tr>
            </a:tbl>
          </a:graphicData>
        </a:graphic>
      </p:graphicFrame>
      <p:sp>
        <p:nvSpPr>
          <p:cNvPr id="6" name="Text 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43</a:t>
            </a:r>
            <a:endParaRPr lang="pt-BR"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Resultados parciais da autocomposição</a:t>
            </a:r>
            <a:endParaRPr lang="pt-BR" sz="2400" dirty="0"/>
          </a:p>
        </p:txBody>
      </p:sp>
      <p:sp>
        <p:nvSpPr>
          <p:cNvPr id="5" name="Shape 5"/>
          <p:cNvSpPr/>
          <p:nvPr/>
        </p:nvSpPr>
        <p:spPr>
          <a:xfrm>
            <a:off x="868680" y="1417320"/>
            <a:ext cx="10881360" cy="2514600"/>
          </a:xfrm>
          <a:prstGeom prst="roundRect">
            <a:avLst>
              <a:gd name="adj" fmla="val 2909"/>
            </a:avLst>
          </a:prstGeom>
          <a:solidFill>
            <a:srgbClr val="EEF3F6"/>
          </a:solidFill>
          <a:ln w="12700">
            <a:solidFill>
              <a:srgbClr val="72BAE3"/>
            </a:solidFill>
            <a:prstDash val="solid"/>
          </a:ln>
        </p:spPr>
      </p:sp>
      <p:sp>
        <p:nvSpPr>
          <p:cNvPr id="6" name="Text 6"/>
          <p:cNvSpPr txBox="1"/>
          <p:nvPr/>
        </p:nvSpPr>
        <p:spPr>
          <a:xfrm>
            <a:off x="1188720" y="1554480"/>
            <a:ext cx="2377440" cy="1005840"/>
          </a:xfrm>
          <a:prstGeom prst="rect">
            <a:avLst/>
          </a:prstGeom>
          <a:noFill/>
          <a:ln>
            <a:noFill/>
          </a:ln>
        </p:spPr>
        <p:txBody>
          <a:bodyPr wrap="square" lIns="0" tIns="0" rIns="0" bIns="0" rtlCol="0" anchor="ctr"/>
          <a:lstStyle/>
          <a:p>
            <a:pPr marL="0" indent="0" algn="l">
              <a:buNone/>
            </a:pPr>
            <a:r>
              <a:rPr lang="pt-BR" sz="4400" b="1" dirty="0">
                <a:solidFill>
                  <a:srgbClr val="31485D"/>
                </a:solidFill>
                <a:latin typeface="Arial" pitchFamily="34" charset="0"/>
                <a:ea typeface="Arial" pitchFamily="34" charset="-122"/>
                <a:cs typeface="Arial" pitchFamily="34" charset="-120"/>
              </a:rPr>
              <a:t>419</a:t>
            </a:r>
            <a:endParaRPr lang="pt-BR" sz="4400" dirty="0"/>
          </a:p>
        </p:txBody>
      </p:sp>
      <p:sp>
        <p:nvSpPr>
          <p:cNvPr id="7" name="Text 7"/>
          <p:cNvSpPr txBox="1"/>
          <p:nvPr/>
        </p:nvSpPr>
        <p:spPr>
          <a:xfrm>
            <a:off x="3611880" y="1554480"/>
            <a:ext cx="7863840" cy="1005840"/>
          </a:xfrm>
          <a:prstGeom prst="rect">
            <a:avLst/>
          </a:prstGeom>
          <a:noFill/>
          <a:ln>
            <a:noFill/>
          </a:ln>
        </p:spPr>
        <p:txBody>
          <a:bodyPr wrap="square" lIns="0" tIns="0" rIns="0" bIns="0" rtlCol="0" anchor="ctr"/>
          <a:lstStyle/>
          <a:p>
            <a:pPr marL="0" indent="0" algn="l">
              <a:buNone/>
            </a:pPr>
            <a:r>
              <a:rPr lang="pt-BR" sz="2000" b="1" dirty="0">
                <a:solidFill>
                  <a:srgbClr val="31485D"/>
                </a:solidFill>
                <a:latin typeface="Arial" pitchFamily="34" charset="0"/>
                <a:ea typeface="Arial" pitchFamily="34" charset="-122"/>
                <a:cs typeface="Arial" pitchFamily="34" charset="-120"/>
              </a:rPr>
              <a:t>NACs expedidas (desde 26/06/2026):</a:t>
            </a:r>
            <a:endParaRPr lang="pt-BR" sz="2000" dirty="0"/>
          </a:p>
        </p:txBody>
      </p:sp>
      <p:sp>
        <p:nvSpPr>
          <p:cNvPr id="8" name="Text 8"/>
          <p:cNvSpPr txBox="1"/>
          <p:nvPr/>
        </p:nvSpPr>
        <p:spPr>
          <a:xfrm>
            <a:off x="1188720" y="2697480"/>
            <a:ext cx="1005840" cy="1005840"/>
          </a:xfrm>
          <a:prstGeom prst="rect">
            <a:avLst/>
          </a:prstGeom>
          <a:noFill/>
          <a:ln>
            <a:noFill/>
          </a:ln>
        </p:spPr>
        <p:txBody>
          <a:bodyPr wrap="square" lIns="0" tIns="0" rIns="0" bIns="0" rtlCol="0" anchor="ctr"/>
          <a:lstStyle/>
          <a:p>
            <a:pPr marL="0" indent="0" algn="r">
              <a:buNone/>
            </a:pPr>
            <a:r>
              <a:rPr lang="pt-BR" sz="2600" b="1" dirty="0">
                <a:solidFill>
                  <a:srgbClr val="31485D"/>
                </a:solidFill>
                <a:latin typeface="Arial" pitchFamily="34" charset="0"/>
                <a:ea typeface="Arial" pitchFamily="34" charset="-122"/>
                <a:cs typeface="Arial" pitchFamily="34" charset="-120"/>
              </a:rPr>
              <a:t>45</a:t>
            </a:r>
            <a:endParaRPr lang="pt-BR" sz="2600" dirty="0"/>
          </a:p>
        </p:txBody>
      </p:sp>
      <p:sp>
        <p:nvSpPr>
          <p:cNvPr id="9" name="Text 9"/>
          <p:cNvSpPr txBox="1"/>
          <p:nvPr/>
        </p:nvSpPr>
        <p:spPr>
          <a:xfrm>
            <a:off x="2331720" y="2697480"/>
            <a:ext cx="2240280" cy="1005840"/>
          </a:xfrm>
          <a:prstGeom prst="rect">
            <a:avLst/>
          </a:prstGeom>
          <a:noFill/>
          <a:ln>
            <a:noFill/>
          </a:ln>
        </p:spPr>
        <p:txBody>
          <a:bodyPr wrap="square" lIns="0" tIns="0" rIns="0" bIns="0" rtlCol="0" anchor="ctr"/>
          <a:lstStyle/>
          <a:p>
            <a:pPr marL="0" indent="0" algn="l">
              <a:lnSpc>
                <a:spcPct val="105000"/>
              </a:lnSpc>
              <a:buNone/>
            </a:pPr>
            <a:r>
              <a:rPr lang="pt-BR" sz="1300" dirty="0">
                <a:solidFill>
                  <a:srgbClr val="3A4750"/>
                </a:solidFill>
                <a:latin typeface="Arial" pitchFamily="34" charset="0"/>
                <a:ea typeface="Arial" pitchFamily="34" charset="-122"/>
                <a:cs typeface="Arial" pitchFamily="34" charset="-120"/>
              </a:rPr>
              <a:t>composições bem sucedidas</a:t>
            </a:r>
            <a:endParaRPr lang="pt-BR" sz="1300" dirty="0"/>
          </a:p>
        </p:txBody>
      </p:sp>
      <p:sp>
        <p:nvSpPr>
          <p:cNvPr id="10" name="Text 10"/>
          <p:cNvSpPr txBox="1"/>
          <p:nvPr/>
        </p:nvSpPr>
        <p:spPr>
          <a:xfrm>
            <a:off x="4709160" y="2697480"/>
            <a:ext cx="1005840" cy="1005840"/>
          </a:xfrm>
          <a:prstGeom prst="rect">
            <a:avLst/>
          </a:prstGeom>
          <a:noFill/>
          <a:ln>
            <a:noFill/>
          </a:ln>
        </p:spPr>
        <p:txBody>
          <a:bodyPr wrap="square" lIns="0" tIns="0" rIns="0" bIns="0" rtlCol="0" anchor="ctr"/>
          <a:lstStyle/>
          <a:p>
            <a:pPr marL="0" indent="0" algn="r">
              <a:buNone/>
            </a:pPr>
            <a:r>
              <a:rPr lang="pt-BR" sz="2600" b="1" dirty="0">
                <a:solidFill>
                  <a:srgbClr val="31485D"/>
                </a:solidFill>
                <a:latin typeface="Arial" pitchFamily="34" charset="0"/>
                <a:ea typeface="Arial" pitchFamily="34" charset="-122"/>
                <a:cs typeface="Arial" pitchFamily="34" charset="-120"/>
              </a:rPr>
              <a:t>47</a:t>
            </a:r>
            <a:endParaRPr lang="pt-BR" sz="2600" dirty="0"/>
          </a:p>
        </p:txBody>
      </p:sp>
      <p:sp>
        <p:nvSpPr>
          <p:cNvPr id="11" name="Text 11"/>
          <p:cNvSpPr txBox="1"/>
          <p:nvPr/>
        </p:nvSpPr>
        <p:spPr>
          <a:xfrm>
            <a:off x="5852160" y="2697480"/>
            <a:ext cx="2240280" cy="1005840"/>
          </a:xfrm>
          <a:prstGeom prst="rect">
            <a:avLst/>
          </a:prstGeom>
          <a:noFill/>
          <a:ln>
            <a:noFill/>
          </a:ln>
        </p:spPr>
        <p:txBody>
          <a:bodyPr wrap="square" lIns="0" tIns="0" rIns="0" bIns="0" rtlCol="0" anchor="ctr"/>
          <a:lstStyle/>
          <a:p>
            <a:pPr marL="0" indent="0" algn="l">
              <a:lnSpc>
                <a:spcPct val="105000"/>
              </a:lnSpc>
              <a:buNone/>
            </a:pPr>
            <a:r>
              <a:rPr lang="pt-BR" sz="1300" dirty="0">
                <a:solidFill>
                  <a:srgbClr val="3A4750"/>
                </a:solidFill>
                <a:latin typeface="Arial" pitchFamily="34" charset="0"/>
                <a:ea typeface="Arial" pitchFamily="34" charset="-122"/>
                <a:cs typeface="Arial" pitchFamily="34" charset="-120"/>
              </a:rPr>
              <a:t>pedidos de prosseguimento da denúncia</a:t>
            </a:r>
            <a:endParaRPr lang="pt-BR" sz="1300" dirty="0"/>
          </a:p>
        </p:txBody>
      </p:sp>
      <p:sp>
        <p:nvSpPr>
          <p:cNvPr id="12" name="Text 12"/>
          <p:cNvSpPr txBox="1"/>
          <p:nvPr/>
        </p:nvSpPr>
        <p:spPr>
          <a:xfrm>
            <a:off x="8229600" y="2697480"/>
            <a:ext cx="1005840" cy="1005840"/>
          </a:xfrm>
          <a:prstGeom prst="rect">
            <a:avLst/>
          </a:prstGeom>
          <a:noFill/>
          <a:ln>
            <a:noFill/>
          </a:ln>
        </p:spPr>
        <p:txBody>
          <a:bodyPr wrap="square" lIns="0" tIns="0" rIns="0" bIns="0" rtlCol="0" anchor="ctr"/>
          <a:lstStyle/>
          <a:p>
            <a:pPr marL="0" indent="0" algn="r">
              <a:buNone/>
            </a:pPr>
            <a:r>
              <a:rPr lang="pt-BR" sz="2600" b="1" dirty="0">
                <a:solidFill>
                  <a:srgbClr val="31485D"/>
                </a:solidFill>
                <a:latin typeface="Arial" pitchFamily="34" charset="0"/>
                <a:ea typeface="Arial" pitchFamily="34" charset="-122"/>
                <a:cs typeface="Arial" pitchFamily="34" charset="-120"/>
              </a:rPr>
              <a:t>327</a:t>
            </a:r>
            <a:endParaRPr lang="pt-BR" sz="2600" dirty="0"/>
          </a:p>
        </p:txBody>
      </p:sp>
      <p:sp>
        <p:nvSpPr>
          <p:cNvPr id="13" name="Text 13"/>
          <p:cNvSpPr txBox="1"/>
          <p:nvPr/>
        </p:nvSpPr>
        <p:spPr>
          <a:xfrm>
            <a:off x="9372600" y="2697480"/>
            <a:ext cx="2240280" cy="1005840"/>
          </a:xfrm>
          <a:prstGeom prst="rect">
            <a:avLst/>
          </a:prstGeom>
          <a:noFill/>
          <a:ln>
            <a:noFill/>
          </a:ln>
        </p:spPr>
        <p:txBody>
          <a:bodyPr wrap="square" lIns="0" tIns="0" rIns="0" bIns="0" rtlCol="0" anchor="ctr"/>
          <a:lstStyle/>
          <a:p>
            <a:pPr marL="0" indent="0" algn="l">
              <a:lnSpc>
                <a:spcPct val="105000"/>
              </a:lnSpc>
              <a:buNone/>
            </a:pPr>
            <a:r>
              <a:rPr lang="pt-BR" sz="1300" dirty="0">
                <a:solidFill>
                  <a:srgbClr val="3A4750"/>
                </a:solidFill>
                <a:latin typeface="Arial" pitchFamily="34" charset="0"/>
                <a:ea typeface="Arial" pitchFamily="34" charset="-122"/>
                <a:cs typeface="Arial" pitchFamily="34" charset="-120"/>
              </a:rPr>
              <a:t>NACs em aberto (no prazo ou pendentes de análise)</a:t>
            </a:r>
            <a:endParaRPr lang="pt-BR" sz="1300" dirty="0"/>
          </a:p>
        </p:txBody>
      </p:sp>
      <p:sp>
        <p:nvSpPr>
          <p:cNvPr id="14" name="Shape 14"/>
          <p:cNvSpPr/>
          <p:nvPr/>
        </p:nvSpPr>
        <p:spPr>
          <a:xfrm>
            <a:off x="868680" y="4206240"/>
            <a:ext cx="5303520" cy="1920240"/>
          </a:xfrm>
          <a:prstGeom prst="roundRect">
            <a:avLst>
              <a:gd name="adj" fmla="val 3810"/>
            </a:avLst>
          </a:prstGeom>
          <a:solidFill>
            <a:srgbClr val="EEF3F6"/>
          </a:solidFill>
          <a:ln w="12700">
            <a:solidFill>
              <a:srgbClr val="72BAE3"/>
            </a:solidFill>
            <a:prstDash val="solid"/>
          </a:ln>
        </p:spPr>
      </p:sp>
      <p:sp>
        <p:nvSpPr>
          <p:cNvPr id="15" name="Text 15"/>
          <p:cNvSpPr txBox="1"/>
          <p:nvPr/>
        </p:nvSpPr>
        <p:spPr>
          <a:xfrm>
            <a:off x="1143000" y="4343400"/>
            <a:ext cx="1828800" cy="1645920"/>
          </a:xfrm>
          <a:prstGeom prst="rect">
            <a:avLst/>
          </a:prstGeom>
          <a:noFill/>
          <a:ln>
            <a:noFill/>
          </a:ln>
        </p:spPr>
        <p:txBody>
          <a:bodyPr wrap="square" lIns="0" tIns="0" rIns="0" bIns="0" rtlCol="0" anchor="ctr"/>
          <a:lstStyle/>
          <a:p>
            <a:pPr marL="0" indent="0" algn="ctr">
              <a:buNone/>
            </a:pPr>
            <a:r>
              <a:rPr lang="pt-BR" sz="4000" b="1" dirty="0">
                <a:solidFill>
                  <a:srgbClr val="31485D"/>
                </a:solidFill>
                <a:latin typeface="Arial" pitchFamily="34" charset="0"/>
                <a:ea typeface="Arial" pitchFamily="34" charset="-122"/>
                <a:cs typeface="Arial" pitchFamily="34" charset="-120"/>
              </a:rPr>
              <a:t>83</a:t>
            </a:r>
            <a:endParaRPr lang="pt-BR" sz="4000" dirty="0"/>
          </a:p>
        </p:txBody>
      </p:sp>
      <p:sp>
        <p:nvSpPr>
          <p:cNvPr id="16" name="Text 16"/>
          <p:cNvSpPr txBox="1"/>
          <p:nvPr/>
        </p:nvSpPr>
        <p:spPr>
          <a:xfrm>
            <a:off x="3063240" y="4343400"/>
            <a:ext cx="2926080" cy="1645920"/>
          </a:xfrm>
          <a:prstGeom prst="rect">
            <a:avLst/>
          </a:prstGeom>
          <a:noFill/>
          <a:ln>
            <a:noFill/>
          </a:ln>
        </p:spPr>
        <p:txBody>
          <a:bodyPr wrap="square" lIns="0" tIns="0" rIns="0" bIns="0" rtlCol="0" anchor="ctr"/>
          <a:lstStyle/>
          <a:p>
            <a:pPr marL="0" indent="0" algn="l">
              <a:lnSpc>
                <a:spcPct val="105000"/>
              </a:lnSpc>
              <a:buNone/>
            </a:pPr>
            <a:r>
              <a:rPr lang="pt-BR" sz="1600" dirty="0">
                <a:solidFill>
                  <a:srgbClr val="31485D"/>
                </a:solidFill>
                <a:latin typeface="Arial" pitchFamily="34" charset="0"/>
                <a:ea typeface="Arial" pitchFamily="34" charset="-122"/>
                <a:cs typeface="Arial" pitchFamily="34" charset="-120"/>
              </a:rPr>
              <a:t>NACs por expedir (16/09/2026)</a:t>
            </a:r>
            <a:endParaRPr lang="pt-BR" sz="1600" dirty="0"/>
          </a:p>
        </p:txBody>
      </p:sp>
      <p:sp>
        <p:nvSpPr>
          <p:cNvPr id="17" name="Shape 17"/>
          <p:cNvSpPr/>
          <p:nvPr/>
        </p:nvSpPr>
        <p:spPr>
          <a:xfrm>
            <a:off x="6446520" y="4206240"/>
            <a:ext cx="5303520" cy="1920240"/>
          </a:xfrm>
          <a:prstGeom prst="roundRect">
            <a:avLst>
              <a:gd name="adj" fmla="val 3810"/>
            </a:avLst>
          </a:prstGeom>
          <a:solidFill>
            <a:srgbClr val="31485D"/>
          </a:solidFill>
          <a:ln>
            <a:noFill/>
          </a:ln>
        </p:spPr>
      </p:sp>
      <p:sp>
        <p:nvSpPr>
          <p:cNvPr id="18" name="Text 18"/>
          <p:cNvSpPr txBox="1"/>
          <p:nvPr/>
        </p:nvSpPr>
        <p:spPr>
          <a:xfrm>
            <a:off x="6720840" y="4343400"/>
            <a:ext cx="1828800" cy="1645920"/>
          </a:xfrm>
          <a:prstGeom prst="rect">
            <a:avLst/>
          </a:prstGeom>
          <a:noFill/>
          <a:ln>
            <a:noFill/>
          </a:ln>
        </p:spPr>
        <p:txBody>
          <a:bodyPr wrap="square" lIns="0" tIns="0" rIns="0" bIns="0" rtlCol="0" anchor="ctr"/>
          <a:lstStyle/>
          <a:p>
            <a:pPr marL="0" indent="0" algn="ctr">
              <a:buNone/>
            </a:pPr>
            <a:r>
              <a:rPr lang="pt-BR" sz="4000" b="1" dirty="0">
                <a:solidFill>
                  <a:srgbClr val="72BAE3"/>
                </a:solidFill>
                <a:latin typeface="Arial" pitchFamily="34" charset="0"/>
                <a:ea typeface="Arial" pitchFamily="34" charset="-122"/>
                <a:cs typeface="Arial" pitchFamily="34" charset="-120"/>
              </a:rPr>
              <a:t>227</a:t>
            </a:r>
            <a:endParaRPr lang="pt-BR" sz="4000" dirty="0"/>
          </a:p>
        </p:txBody>
      </p:sp>
      <p:sp>
        <p:nvSpPr>
          <p:cNvPr id="19" name="Text 19"/>
          <p:cNvSpPr txBox="1"/>
          <p:nvPr/>
        </p:nvSpPr>
        <p:spPr>
          <a:xfrm>
            <a:off x="8641080" y="4343400"/>
            <a:ext cx="2926080" cy="1645920"/>
          </a:xfrm>
          <a:prstGeom prst="rect">
            <a:avLst/>
          </a:prstGeom>
          <a:noFill/>
          <a:ln>
            <a:noFill/>
          </a:ln>
        </p:spPr>
        <p:txBody>
          <a:bodyPr wrap="square" lIns="0" tIns="0" rIns="0" bIns="0" rtlCol="0" anchor="ctr"/>
          <a:lstStyle/>
          <a:p>
            <a:pPr marL="0" indent="0" algn="l">
              <a:lnSpc>
                <a:spcPct val="105000"/>
              </a:lnSpc>
              <a:buNone/>
            </a:pPr>
            <a:r>
              <a:rPr lang="pt-BR" sz="1600" dirty="0">
                <a:solidFill>
                  <a:srgbClr val="FFFFFF"/>
                </a:solidFill>
                <a:latin typeface="Arial" pitchFamily="34" charset="0"/>
                <a:ea typeface="Arial" pitchFamily="34" charset="-122"/>
                <a:cs typeface="Arial" pitchFamily="34" charset="-120"/>
              </a:rPr>
              <a:t>NACs expedidas em 10 dias! (julho)</a:t>
            </a:r>
            <a:endParaRPr lang="pt-BR" sz="1600" dirty="0"/>
          </a:p>
        </p:txBody>
      </p:sp>
      <p:sp>
        <p:nvSpPr>
          <p:cNvPr id="20" name="Text 20"/>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44</a:t>
            </a:r>
            <a:endParaRPr lang="pt-BR"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O resultado da segunda fase de conciliação: autocomposição</a:t>
            </a:r>
            <a:endParaRPr lang="pt-BR" sz="2400" dirty="0"/>
          </a:p>
        </p:txBody>
      </p:sp>
      <p:sp>
        <p:nvSpPr>
          <p:cNvPr id="5" name="Shape 5"/>
          <p:cNvSpPr/>
          <p:nvPr/>
        </p:nvSpPr>
        <p:spPr>
          <a:xfrm>
            <a:off x="868680" y="1737360"/>
            <a:ext cx="5303520" cy="3566160"/>
          </a:xfrm>
          <a:prstGeom prst="roundRect">
            <a:avLst>
              <a:gd name="adj" fmla="val 2051"/>
            </a:avLst>
          </a:prstGeom>
          <a:solidFill>
            <a:srgbClr val="31485D"/>
          </a:solidFill>
          <a:ln>
            <a:noFill/>
          </a:ln>
        </p:spPr>
      </p:sp>
      <p:sp>
        <p:nvSpPr>
          <p:cNvPr id="6" name="Text 6"/>
          <p:cNvSpPr txBox="1"/>
          <p:nvPr/>
        </p:nvSpPr>
        <p:spPr>
          <a:xfrm>
            <a:off x="1143000" y="2011680"/>
            <a:ext cx="4754880" cy="1463040"/>
          </a:xfrm>
          <a:prstGeom prst="rect">
            <a:avLst/>
          </a:prstGeom>
          <a:noFill/>
          <a:ln>
            <a:noFill/>
          </a:ln>
        </p:spPr>
        <p:txBody>
          <a:bodyPr wrap="square" lIns="0" tIns="0" rIns="0" bIns="0" rtlCol="0" anchor="ctr"/>
          <a:lstStyle/>
          <a:p>
            <a:pPr marL="0" indent="0" algn="ctr">
              <a:buNone/>
            </a:pPr>
            <a:r>
              <a:rPr lang="pt-BR" sz="3800" b="1" dirty="0">
                <a:solidFill>
                  <a:srgbClr val="72BAE3"/>
                </a:solidFill>
                <a:latin typeface="Arial" pitchFamily="34" charset="0"/>
                <a:ea typeface="Arial" pitchFamily="34" charset="-122"/>
                <a:cs typeface="Arial" pitchFamily="34" charset="-120"/>
              </a:rPr>
              <a:t>≈ R$ 2,5 milhões</a:t>
            </a:r>
            <a:endParaRPr lang="pt-BR" sz="3800" dirty="0"/>
          </a:p>
        </p:txBody>
      </p:sp>
      <p:sp>
        <p:nvSpPr>
          <p:cNvPr id="7" name="Text 7"/>
          <p:cNvSpPr txBox="1"/>
          <p:nvPr/>
        </p:nvSpPr>
        <p:spPr>
          <a:xfrm>
            <a:off x="1143000" y="3566160"/>
            <a:ext cx="4754880" cy="1463040"/>
          </a:xfrm>
          <a:prstGeom prst="rect">
            <a:avLst/>
          </a:prstGeom>
          <a:noFill/>
          <a:ln>
            <a:noFill/>
          </a:ln>
        </p:spPr>
        <p:txBody>
          <a:bodyPr wrap="square" lIns="0" tIns="0" rIns="0" bIns="0" rtlCol="0" anchor="ctr"/>
          <a:lstStyle/>
          <a:p>
            <a:pPr marL="0" indent="0" algn="ctr">
              <a:lnSpc>
                <a:spcPct val="110000"/>
              </a:lnSpc>
              <a:buNone/>
            </a:pPr>
            <a:r>
              <a:rPr lang="pt-BR" sz="1800" dirty="0">
                <a:solidFill>
                  <a:srgbClr val="FFFFFF"/>
                </a:solidFill>
                <a:latin typeface="Arial" pitchFamily="34" charset="0"/>
                <a:ea typeface="Arial" pitchFamily="34" charset="-122"/>
                <a:cs typeface="Arial" pitchFamily="34" charset="-120"/>
              </a:rPr>
              <a:t>dos 45 acordos resultantes de NACs</a:t>
            </a:r>
            <a:endParaRPr lang="pt-BR" sz="1800" dirty="0"/>
          </a:p>
        </p:txBody>
      </p:sp>
      <p:sp>
        <p:nvSpPr>
          <p:cNvPr id="8" name="Shape 8"/>
          <p:cNvSpPr/>
          <p:nvPr/>
        </p:nvSpPr>
        <p:spPr>
          <a:xfrm>
            <a:off x="6446520" y="1737360"/>
            <a:ext cx="5303520" cy="3566160"/>
          </a:xfrm>
          <a:prstGeom prst="roundRect">
            <a:avLst>
              <a:gd name="adj" fmla="val 2051"/>
            </a:avLst>
          </a:prstGeom>
          <a:solidFill>
            <a:srgbClr val="EEF3F6"/>
          </a:solidFill>
          <a:ln w="12700">
            <a:solidFill>
              <a:srgbClr val="72BAE3"/>
            </a:solidFill>
            <a:prstDash val="solid"/>
          </a:ln>
        </p:spPr>
      </p:sp>
      <p:sp>
        <p:nvSpPr>
          <p:cNvPr id="9" name="Text 9"/>
          <p:cNvSpPr txBox="1"/>
          <p:nvPr/>
        </p:nvSpPr>
        <p:spPr>
          <a:xfrm>
            <a:off x="6720840" y="2011680"/>
            <a:ext cx="4754880" cy="1463040"/>
          </a:xfrm>
          <a:prstGeom prst="rect">
            <a:avLst/>
          </a:prstGeom>
          <a:noFill/>
          <a:ln>
            <a:noFill/>
          </a:ln>
        </p:spPr>
        <p:txBody>
          <a:bodyPr wrap="square" lIns="0" tIns="0" rIns="0" bIns="0" rtlCol="0" anchor="ctr"/>
          <a:lstStyle/>
          <a:p>
            <a:pPr marL="0" indent="0" algn="ctr">
              <a:buNone/>
            </a:pPr>
            <a:r>
              <a:rPr lang="pt-BR" sz="3800" b="1" dirty="0">
                <a:solidFill>
                  <a:srgbClr val="31485D"/>
                </a:solidFill>
                <a:latin typeface="Arial" pitchFamily="34" charset="0"/>
                <a:ea typeface="Arial" pitchFamily="34" charset="-122"/>
                <a:cs typeface="Arial" pitchFamily="34" charset="-120"/>
              </a:rPr>
              <a:t>≈ R$ 900 mil</a:t>
            </a:r>
            <a:endParaRPr lang="pt-BR" sz="3800" dirty="0"/>
          </a:p>
        </p:txBody>
      </p:sp>
      <p:sp>
        <p:nvSpPr>
          <p:cNvPr id="10" name="Text 10"/>
          <p:cNvSpPr txBox="1"/>
          <p:nvPr/>
        </p:nvSpPr>
        <p:spPr>
          <a:xfrm>
            <a:off x="6720840" y="3566160"/>
            <a:ext cx="4754880" cy="1463040"/>
          </a:xfrm>
          <a:prstGeom prst="rect">
            <a:avLst/>
          </a:prstGeom>
          <a:noFill/>
          <a:ln>
            <a:noFill/>
          </a:ln>
        </p:spPr>
        <p:txBody>
          <a:bodyPr wrap="square" lIns="0" tIns="0" rIns="0" bIns="0" rtlCol="0" anchor="ctr"/>
          <a:lstStyle/>
          <a:p>
            <a:pPr marL="0" indent="0" algn="ctr">
              <a:lnSpc>
                <a:spcPct val="110000"/>
              </a:lnSpc>
              <a:buNone/>
            </a:pPr>
            <a:r>
              <a:rPr lang="pt-BR" sz="1800" dirty="0">
                <a:solidFill>
                  <a:srgbClr val="31485D"/>
                </a:solidFill>
                <a:latin typeface="Arial" pitchFamily="34" charset="0"/>
                <a:ea typeface="Arial" pitchFamily="34" charset="-122"/>
                <a:cs typeface="Arial" pitchFamily="34" charset="-120"/>
              </a:rPr>
              <a:t>79 acordos espontâneos (antes da Portaria), até 19/08/2026</a:t>
            </a:r>
            <a:endParaRPr lang="pt-BR" sz="1800" dirty="0"/>
          </a:p>
        </p:txBody>
      </p:sp>
      <p:sp>
        <p:nvSpPr>
          <p:cNvPr id="11" name="Text 11"/>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45</a:t>
            </a:r>
            <a:endParaRPr lang="pt-BR"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Atividades do Grupo</a:t>
            </a:r>
            <a:endParaRPr lang="pt-BR" sz="2400" dirty="0"/>
          </a:p>
        </p:txBody>
      </p:sp>
      <p:sp>
        <p:nvSpPr>
          <p:cNvPr id="5" name="Shape 5"/>
          <p:cNvSpPr/>
          <p:nvPr/>
        </p:nvSpPr>
        <p:spPr>
          <a:xfrm>
            <a:off x="868680" y="1417320"/>
            <a:ext cx="2569464" cy="4754880"/>
          </a:xfrm>
          <a:prstGeom prst="roundRect">
            <a:avLst>
              <a:gd name="adj" fmla="val 2847"/>
            </a:avLst>
          </a:prstGeom>
          <a:solidFill>
            <a:srgbClr val="FFFFFF"/>
          </a:solidFill>
          <a:ln w="15875">
            <a:solidFill>
              <a:srgbClr val="72BAE3"/>
            </a:solidFill>
            <a:prstDash val="solid"/>
          </a:ln>
        </p:spPr>
      </p:sp>
      <p:sp>
        <p:nvSpPr>
          <p:cNvPr id="6" name="Shape 6"/>
          <p:cNvSpPr/>
          <p:nvPr/>
        </p:nvSpPr>
        <p:spPr>
          <a:xfrm>
            <a:off x="1097280" y="1600200"/>
            <a:ext cx="548640" cy="548640"/>
          </a:xfrm>
          <a:prstGeom prst="ellipse">
            <a:avLst/>
          </a:prstGeom>
          <a:solidFill>
            <a:srgbClr val="31485D"/>
          </a:solidFill>
          <a:ln>
            <a:noFill/>
          </a:ln>
        </p:spPr>
      </p:sp>
      <p:sp>
        <p:nvSpPr>
          <p:cNvPr id="7" name="Text 7"/>
          <p:cNvSpPr txBox="1"/>
          <p:nvPr/>
        </p:nvSpPr>
        <p:spPr>
          <a:xfrm>
            <a:off x="1097280" y="1600200"/>
            <a:ext cx="548640" cy="548640"/>
          </a:xfrm>
          <a:prstGeom prst="rect">
            <a:avLst/>
          </a:prstGeom>
          <a:noFill/>
          <a:ln>
            <a:noFill/>
          </a:ln>
        </p:spPr>
        <p:txBody>
          <a:bodyPr wrap="square" lIns="0" tIns="0" rIns="0" bIns="0" rtlCol="0" anchor="ctr"/>
          <a:lstStyle/>
          <a:p>
            <a:pPr marL="0" indent="0" algn="ctr">
              <a:buNone/>
            </a:pPr>
            <a:r>
              <a:rPr lang="pt-BR" sz="1600" b="1" dirty="0">
                <a:solidFill>
                  <a:srgbClr val="FFFFFF"/>
                </a:solidFill>
                <a:latin typeface="Arial" pitchFamily="34" charset="0"/>
                <a:ea typeface="Arial" pitchFamily="34" charset="-122"/>
                <a:cs typeface="Arial" pitchFamily="34" charset="-120"/>
              </a:rPr>
              <a:t>1</a:t>
            </a:r>
            <a:endParaRPr lang="pt-BR" sz="1600" dirty="0"/>
          </a:p>
        </p:txBody>
      </p:sp>
      <p:sp>
        <p:nvSpPr>
          <p:cNvPr id="8" name="Text 8"/>
          <p:cNvSpPr txBox="1"/>
          <p:nvPr/>
        </p:nvSpPr>
        <p:spPr>
          <a:xfrm>
            <a:off x="1097280" y="2331720"/>
            <a:ext cx="2112264" cy="457200"/>
          </a:xfrm>
          <a:prstGeom prst="rect">
            <a:avLst/>
          </a:prstGeom>
          <a:noFill/>
          <a:ln>
            <a:noFill/>
          </a:ln>
        </p:spPr>
        <p:txBody>
          <a:bodyPr wrap="square" lIns="0" tIns="0" rIns="0" bIns="0" rtlCol="0" anchor="ctr"/>
          <a:lstStyle/>
          <a:p>
            <a:pPr marL="0" indent="0" algn="l">
              <a:buNone/>
            </a:pPr>
            <a:r>
              <a:rPr lang="pt-BR" sz="1600" b="1" dirty="0">
                <a:solidFill>
                  <a:srgbClr val="31485D"/>
                </a:solidFill>
                <a:latin typeface="Arial" pitchFamily="34" charset="0"/>
                <a:ea typeface="Arial" pitchFamily="34" charset="-122"/>
                <a:cs typeface="Arial" pitchFamily="34" charset="-120"/>
              </a:rPr>
              <a:t>Cautelar</a:t>
            </a:r>
            <a:endParaRPr lang="pt-BR" sz="1600" dirty="0"/>
          </a:p>
        </p:txBody>
      </p:sp>
      <p:sp>
        <p:nvSpPr>
          <p:cNvPr id="9" name="Text 9"/>
          <p:cNvSpPr txBox="1"/>
          <p:nvPr/>
        </p:nvSpPr>
        <p:spPr>
          <a:xfrm>
            <a:off x="1143000" y="2926080"/>
            <a:ext cx="2066544" cy="3108960"/>
          </a:xfrm>
          <a:prstGeom prst="rect">
            <a:avLst/>
          </a:prstGeom>
          <a:noFill/>
          <a:ln>
            <a:noFill/>
          </a:ln>
        </p:spPr>
        <p:txBody>
          <a:bodyPr wrap="square" lIns="0" tIns="0" rIns="0" bIns="0" rtlCol="0" anchor="t"/>
          <a:lstStyle/>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Despacho de designação</a:t>
            </a:r>
            <a:endParaRPr lang="pt-BR" sz="1300" dirty="0"/>
          </a:p>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Nota Técnica de análise cautelar</a:t>
            </a:r>
            <a:endParaRPr lang="pt-BR" sz="1300" dirty="0"/>
          </a:p>
          <a:p>
            <a:pPr marL="190500" indent="-190500" algn="l">
              <a:lnSpc>
                <a:spcPct val="105000"/>
              </a:lnSpc>
              <a:buSzPct val="100000"/>
              <a:buChar char="•"/>
            </a:pPr>
            <a:r>
              <a:rPr lang="pt-BR" sz="1300" dirty="0">
                <a:solidFill>
                  <a:srgbClr val="3A4750"/>
                </a:solidFill>
                <a:latin typeface="Arial" pitchFamily="34" charset="0"/>
                <a:ea typeface="Arial" pitchFamily="34" charset="-122"/>
                <a:cs typeface="Arial" pitchFamily="34" charset="-120"/>
              </a:rPr>
              <a:t>Decisão da autoridade competente</a:t>
            </a:r>
            <a:endParaRPr lang="pt-BR" sz="1300" dirty="0"/>
          </a:p>
        </p:txBody>
      </p:sp>
      <p:sp>
        <p:nvSpPr>
          <p:cNvPr id="10" name="Shape 10"/>
          <p:cNvSpPr/>
          <p:nvPr/>
        </p:nvSpPr>
        <p:spPr>
          <a:xfrm>
            <a:off x="3639312" y="1417320"/>
            <a:ext cx="2569464" cy="4754880"/>
          </a:xfrm>
          <a:prstGeom prst="roundRect">
            <a:avLst>
              <a:gd name="adj" fmla="val 2847"/>
            </a:avLst>
          </a:prstGeom>
          <a:solidFill>
            <a:srgbClr val="31485D"/>
          </a:solidFill>
          <a:ln>
            <a:noFill/>
          </a:ln>
        </p:spPr>
      </p:sp>
      <p:sp>
        <p:nvSpPr>
          <p:cNvPr id="11" name="Shape 11"/>
          <p:cNvSpPr/>
          <p:nvPr/>
        </p:nvSpPr>
        <p:spPr>
          <a:xfrm>
            <a:off x="3867912" y="1600200"/>
            <a:ext cx="548640" cy="548640"/>
          </a:xfrm>
          <a:prstGeom prst="ellipse">
            <a:avLst/>
          </a:prstGeom>
          <a:solidFill>
            <a:srgbClr val="72BAE3"/>
          </a:solidFill>
          <a:ln>
            <a:noFill/>
          </a:ln>
        </p:spPr>
      </p:sp>
      <p:sp>
        <p:nvSpPr>
          <p:cNvPr id="12" name="Text 12"/>
          <p:cNvSpPr txBox="1"/>
          <p:nvPr/>
        </p:nvSpPr>
        <p:spPr>
          <a:xfrm>
            <a:off x="3867912" y="1600200"/>
            <a:ext cx="548640" cy="548640"/>
          </a:xfrm>
          <a:prstGeom prst="rect">
            <a:avLst/>
          </a:prstGeom>
          <a:noFill/>
          <a:ln>
            <a:noFill/>
          </a:ln>
        </p:spPr>
        <p:txBody>
          <a:bodyPr wrap="square" lIns="0" tIns="0" rIns="0" bIns="0" rtlCol="0" anchor="ctr"/>
          <a:lstStyle/>
          <a:p>
            <a:pPr marL="0" indent="0" algn="ctr">
              <a:buNone/>
            </a:pPr>
            <a:r>
              <a:rPr lang="pt-BR" sz="1600" b="1" dirty="0">
                <a:solidFill>
                  <a:srgbClr val="31485D"/>
                </a:solidFill>
                <a:latin typeface="Arial" pitchFamily="34" charset="0"/>
                <a:ea typeface="Arial" pitchFamily="34" charset="-122"/>
                <a:cs typeface="Arial" pitchFamily="34" charset="-120"/>
              </a:rPr>
              <a:t>2</a:t>
            </a:r>
            <a:endParaRPr lang="pt-BR" sz="1600" dirty="0"/>
          </a:p>
        </p:txBody>
      </p:sp>
      <p:sp>
        <p:nvSpPr>
          <p:cNvPr id="13" name="Text 13"/>
          <p:cNvSpPr txBox="1"/>
          <p:nvPr/>
        </p:nvSpPr>
        <p:spPr>
          <a:xfrm>
            <a:off x="3867912" y="2331720"/>
            <a:ext cx="2112264" cy="457200"/>
          </a:xfrm>
          <a:prstGeom prst="rect">
            <a:avLst/>
          </a:prstGeom>
          <a:noFill/>
          <a:ln>
            <a:noFill/>
          </a:ln>
        </p:spPr>
        <p:txBody>
          <a:bodyPr wrap="square" lIns="0" tIns="0" rIns="0" bIns="0" rtlCol="0" anchor="ctr"/>
          <a:lstStyle/>
          <a:p>
            <a:pPr marL="0" indent="0" algn="l">
              <a:buNone/>
            </a:pPr>
            <a:r>
              <a:rPr lang="pt-BR" sz="1600" b="1" dirty="0">
                <a:solidFill>
                  <a:srgbClr val="72BAE3"/>
                </a:solidFill>
                <a:latin typeface="Arial" pitchFamily="34" charset="0"/>
                <a:ea typeface="Arial" pitchFamily="34" charset="-122"/>
                <a:cs typeface="Arial" pitchFamily="34" charset="-120"/>
              </a:rPr>
              <a:t>NAC / Autocomposição</a:t>
            </a:r>
            <a:endParaRPr lang="pt-BR" sz="1600" dirty="0"/>
          </a:p>
        </p:txBody>
      </p:sp>
      <p:sp>
        <p:nvSpPr>
          <p:cNvPr id="14" name="Text 14"/>
          <p:cNvSpPr txBox="1"/>
          <p:nvPr/>
        </p:nvSpPr>
        <p:spPr>
          <a:xfrm>
            <a:off x="3913632" y="2926080"/>
            <a:ext cx="2066544" cy="3108960"/>
          </a:xfrm>
          <a:prstGeom prst="rect">
            <a:avLst/>
          </a:prstGeom>
          <a:noFill/>
          <a:ln>
            <a:noFill/>
          </a:ln>
        </p:spPr>
        <p:txBody>
          <a:bodyPr wrap="square" lIns="0" tIns="0" rIns="0" bIns="0" rtlCol="0" anchor="t"/>
          <a:lstStyle/>
          <a:p>
            <a:pPr marL="190500" indent="-190500" algn="l">
              <a:lnSpc>
                <a:spcPct val="105000"/>
              </a:lnSpc>
              <a:spcAft>
                <a:spcPts val="800"/>
              </a:spcAft>
              <a:buSzPct val="100000"/>
              <a:buChar char="•"/>
            </a:pPr>
            <a:r>
              <a:rPr lang="pt-BR" sz="1300" dirty="0">
                <a:solidFill>
                  <a:srgbClr val="FFFFFF"/>
                </a:solidFill>
                <a:latin typeface="Arial" pitchFamily="34" charset="0"/>
                <a:ea typeface="Arial" pitchFamily="34" charset="-122"/>
                <a:cs typeface="Arial" pitchFamily="34" charset="-120"/>
              </a:rPr>
              <a:t>Despacho de submissão ao rito</a:t>
            </a:r>
            <a:endParaRPr lang="pt-BR" sz="1300" dirty="0"/>
          </a:p>
          <a:p>
            <a:pPr marL="190500" indent="-190500" algn="l">
              <a:lnSpc>
                <a:spcPct val="105000"/>
              </a:lnSpc>
              <a:spcAft>
                <a:spcPts val="800"/>
              </a:spcAft>
              <a:buSzPct val="100000"/>
              <a:buChar char="•"/>
            </a:pPr>
            <a:r>
              <a:rPr lang="pt-BR" sz="1300" dirty="0">
                <a:solidFill>
                  <a:srgbClr val="FFFFFF"/>
                </a:solidFill>
                <a:latin typeface="Arial" pitchFamily="34" charset="0"/>
                <a:ea typeface="Arial" pitchFamily="34" charset="-122"/>
                <a:cs typeface="Arial" pitchFamily="34" charset="-120"/>
              </a:rPr>
              <a:t>Notificação para Autocomposição (NAC)</a:t>
            </a:r>
            <a:endParaRPr lang="pt-BR" sz="1300" dirty="0"/>
          </a:p>
          <a:p>
            <a:pPr marL="190500" indent="-190500" algn="l">
              <a:lnSpc>
                <a:spcPct val="105000"/>
              </a:lnSpc>
              <a:spcAft>
                <a:spcPts val="800"/>
              </a:spcAft>
              <a:buSzPct val="100000"/>
              <a:buChar char="•"/>
            </a:pPr>
            <a:r>
              <a:rPr lang="pt-BR" sz="1300" dirty="0">
                <a:solidFill>
                  <a:srgbClr val="FFFFFF"/>
                </a:solidFill>
                <a:latin typeface="Arial" pitchFamily="34" charset="0"/>
                <a:ea typeface="Arial" pitchFamily="34" charset="-122"/>
                <a:cs typeface="Arial" pitchFamily="34" charset="-120"/>
              </a:rPr>
              <a:t>Certidão ou Nota Técnica de encerramento</a:t>
            </a:r>
            <a:endParaRPr lang="pt-BR" sz="1300" dirty="0"/>
          </a:p>
          <a:p>
            <a:pPr marL="190500" indent="-190500" algn="l">
              <a:lnSpc>
                <a:spcPct val="105000"/>
              </a:lnSpc>
              <a:buSzPct val="100000"/>
              <a:buChar char="•"/>
            </a:pPr>
            <a:r>
              <a:rPr lang="pt-BR" sz="1300" dirty="0">
                <a:solidFill>
                  <a:srgbClr val="FFFFFF"/>
                </a:solidFill>
                <a:latin typeface="Arial" pitchFamily="34" charset="0"/>
                <a:ea typeface="Arial" pitchFamily="34" charset="-122"/>
                <a:cs typeface="Arial" pitchFamily="34" charset="-120"/>
              </a:rPr>
              <a:t>Despacho à SFC para arquivamento</a:t>
            </a:r>
            <a:endParaRPr lang="pt-BR" sz="1300" dirty="0"/>
          </a:p>
        </p:txBody>
      </p:sp>
      <p:sp>
        <p:nvSpPr>
          <p:cNvPr id="15" name="Shape 15"/>
          <p:cNvSpPr/>
          <p:nvPr/>
        </p:nvSpPr>
        <p:spPr>
          <a:xfrm>
            <a:off x="6409944" y="1417320"/>
            <a:ext cx="2569464" cy="4754880"/>
          </a:xfrm>
          <a:prstGeom prst="roundRect">
            <a:avLst>
              <a:gd name="adj" fmla="val 2847"/>
            </a:avLst>
          </a:prstGeom>
          <a:solidFill>
            <a:srgbClr val="FFFFFF"/>
          </a:solidFill>
          <a:ln w="15875">
            <a:solidFill>
              <a:srgbClr val="72BAE3"/>
            </a:solidFill>
            <a:prstDash val="solid"/>
          </a:ln>
        </p:spPr>
      </p:sp>
      <p:sp>
        <p:nvSpPr>
          <p:cNvPr id="16" name="Shape 16"/>
          <p:cNvSpPr/>
          <p:nvPr/>
        </p:nvSpPr>
        <p:spPr>
          <a:xfrm>
            <a:off x="6638544" y="1600200"/>
            <a:ext cx="548640" cy="548640"/>
          </a:xfrm>
          <a:prstGeom prst="ellipse">
            <a:avLst/>
          </a:prstGeom>
          <a:solidFill>
            <a:srgbClr val="31485D"/>
          </a:solidFill>
          <a:ln>
            <a:noFill/>
          </a:ln>
        </p:spPr>
      </p:sp>
      <p:sp>
        <p:nvSpPr>
          <p:cNvPr id="17" name="Text 17"/>
          <p:cNvSpPr txBox="1"/>
          <p:nvPr/>
        </p:nvSpPr>
        <p:spPr>
          <a:xfrm>
            <a:off x="6638544" y="1600200"/>
            <a:ext cx="548640" cy="548640"/>
          </a:xfrm>
          <a:prstGeom prst="rect">
            <a:avLst/>
          </a:prstGeom>
          <a:noFill/>
          <a:ln>
            <a:noFill/>
          </a:ln>
        </p:spPr>
        <p:txBody>
          <a:bodyPr wrap="square" lIns="0" tIns="0" rIns="0" bIns="0" rtlCol="0" anchor="ctr"/>
          <a:lstStyle/>
          <a:p>
            <a:pPr marL="0" indent="0" algn="ctr">
              <a:buNone/>
            </a:pPr>
            <a:r>
              <a:rPr lang="pt-BR" sz="1600" b="1" dirty="0">
                <a:solidFill>
                  <a:srgbClr val="FFFFFF"/>
                </a:solidFill>
                <a:latin typeface="Arial" pitchFamily="34" charset="0"/>
                <a:ea typeface="Arial" pitchFamily="34" charset="-122"/>
                <a:cs typeface="Arial" pitchFamily="34" charset="-120"/>
              </a:rPr>
              <a:t>3</a:t>
            </a:r>
            <a:endParaRPr lang="pt-BR" sz="1600" dirty="0"/>
          </a:p>
        </p:txBody>
      </p:sp>
      <p:sp>
        <p:nvSpPr>
          <p:cNvPr id="18" name="Text 18"/>
          <p:cNvSpPr txBox="1"/>
          <p:nvPr/>
        </p:nvSpPr>
        <p:spPr>
          <a:xfrm>
            <a:off x="6638544" y="2331720"/>
            <a:ext cx="2112264" cy="457200"/>
          </a:xfrm>
          <a:prstGeom prst="rect">
            <a:avLst/>
          </a:prstGeom>
          <a:noFill/>
          <a:ln>
            <a:noFill/>
          </a:ln>
        </p:spPr>
        <p:txBody>
          <a:bodyPr wrap="square" lIns="0" tIns="0" rIns="0" bIns="0" rtlCol="0" anchor="ctr"/>
          <a:lstStyle/>
          <a:p>
            <a:pPr marL="0" indent="0" algn="l">
              <a:buNone/>
            </a:pPr>
            <a:r>
              <a:rPr lang="pt-BR" sz="1600" b="1" dirty="0">
                <a:solidFill>
                  <a:srgbClr val="31485D"/>
                </a:solidFill>
                <a:latin typeface="Arial" pitchFamily="34" charset="0"/>
                <a:ea typeface="Arial" pitchFamily="34" charset="-122"/>
                <a:cs typeface="Arial" pitchFamily="34" charset="-120"/>
              </a:rPr>
              <a:t>ODSF / Apuração</a:t>
            </a:r>
            <a:endParaRPr lang="pt-BR" sz="1600" dirty="0"/>
          </a:p>
        </p:txBody>
      </p:sp>
      <p:sp>
        <p:nvSpPr>
          <p:cNvPr id="19" name="Text 19"/>
          <p:cNvSpPr txBox="1"/>
          <p:nvPr/>
        </p:nvSpPr>
        <p:spPr>
          <a:xfrm>
            <a:off x="6684264" y="2926080"/>
            <a:ext cx="2066544" cy="3108960"/>
          </a:xfrm>
          <a:prstGeom prst="rect">
            <a:avLst/>
          </a:prstGeom>
          <a:noFill/>
          <a:ln>
            <a:noFill/>
          </a:ln>
        </p:spPr>
        <p:txBody>
          <a:bodyPr wrap="square" lIns="0" tIns="0" rIns="0" bIns="0" rtlCol="0" anchor="t"/>
          <a:lstStyle/>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Ordem de Serviço de Fiscalização</a:t>
            </a:r>
            <a:endParaRPr lang="pt-BR" sz="1300" dirty="0"/>
          </a:p>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Ofícios de instrução em fases</a:t>
            </a:r>
            <a:endParaRPr lang="pt-BR" sz="1300" dirty="0"/>
          </a:p>
          <a:p>
            <a:pPr marL="190500" indent="-190500" algn="l">
              <a:lnSpc>
                <a:spcPct val="105000"/>
              </a:lnSpc>
              <a:buSzPct val="100000"/>
              <a:buChar char="•"/>
            </a:pPr>
            <a:r>
              <a:rPr lang="pt-BR" sz="1300" dirty="0">
                <a:solidFill>
                  <a:srgbClr val="3A4750"/>
                </a:solidFill>
                <a:latin typeface="Arial" pitchFamily="34" charset="0"/>
                <a:ea typeface="Arial" pitchFamily="34" charset="-122"/>
                <a:cs typeface="Arial" pitchFamily="34" charset="-120"/>
              </a:rPr>
              <a:t>FIMA ou FIPO: o relatório de fiscalização</a:t>
            </a:r>
            <a:endParaRPr lang="pt-BR" sz="1300" dirty="0"/>
          </a:p>
        </p:txBody>
      </p:sp>
      <p:sp>
        <p:nvSpPr>
          <p:cNvPr id="20" name="Shape 20"/>
          <p:cNvSpPr/>
          <p:nvPr/>
        </p:nvSpPr>
        <p:spPr>
          <a:xfrm>
            <a:off x="9180576" y="1417320"/>
            <a:ext cx="2569464" cy="4754880"/>
          </a:xfrm>
          <a:prstGeom prst="roundRect">
            <a:avLst>
              <a:gd name="adj" fmla="val 2847"/>
            </a:avLst>
          </a:prstGeom>
          <a:solidFill>
            <a:srgbClr val="FFFFFF"/>
          </a:solidFill>
          <a:ln w="15875">
            <a:solidFill>
              <a:srgbClr val="72BAE3"/>
            </a:solidFill>
            <a:prstDash val="solid"/>
          </a:ln>
        </p:spPr>
      </p:sp>
      <p:sp>
        <p:nvSpPr>
          <p:cNvPr id="21" name="Shape 21"/>
          <p:cNvSpPr/>
          <p:nvPr/>
        </p:nvSpPr>
        <p:spPr>
          <a:xfrm>
            <a:off x="9409176" y="1600200"/>
            <a:ext cx="548640" cy="548640"/>
          </a:xfrm>
          <a:prstGeom prst="ellipse">
            <a:avLst/>
          </a:prstGeom>
          <a:solidFill>
            <a:srgbClr val="31485D"/>
          </a:solidFill>
          <a:ln>
            <a:noFill/>
          </a:ln>
        </p:spPr>
      </p:sp>
      <p:sp>
        <p:nvSpPr>
          <p:cNvPr id="22" name="Text 22"/>
          <p:cNvSpPr txBox="1"/>
          <p:nvPr/>
        </p:nvSpPr>
        <p:spPr>
          <a:xfrm>
            <a:off x="9409176" y="1600200"/>
            <a:ext cx="548640" cy="548640"/>
          </a:xfrm>
          <a:prstGeom prst="rect">
            <a:avLst/>
          </a:prstGeom>
          <a:noFill/>
          <a:ln>
            <a:noFill/>
          </a:ln>
        </p:spPr>
        <p:txBody>
          <a:bodyPr wrap="square" lIns="0" tIns="0" rIns="0" bIns="0" rtlCol="0" anchor="ctr"/>
          <a:lstStyle/>
          <a:p>
            <a:pPr marL="0" indent="0" algn="ctr">
              <a:buNone/>
            </a:pPr>
            <a:r>
              <a:rPr lang="pt-BR" sz="1600" b="1" dirty="0">
                <a:solidFill>
                  <a:srgbClr val="FFFFFF"/>
                </a:solidFill>
                <a:latin typeface="Arial" pitchFamily="34" charset="0"/>
                <a:ea typeface="Arial" pitchFamily="34" charset="-122"/>
                <a:cs typeface="Arial" pitchFamily="34" charset="-120"/>
              </a:rPr>
              <a:t>4</a:t>
            </a:r>
            <a:endParaRPr lang="pt-BR" sz="1600" dirty="0"/>
          </a:p>
        </p:txBody>
      </p:sp>
      <p:sp>
        <p:nvSpPr>
          <p:cNvPr id="23" name="Text 23"/>
          <p:cNvSpPr txBox="1"/>
          <p:nvPr/>
        </p:nvSpPr>
        <p:spPr>
          <a:xfrm>
            <a:off x="9409176" y="2331720"/>
            <a:ext cx="2112264" cy="457200"/>
          </a:xfrm>
          <a:prstGeom prst="rect">
            <a:avLst/>
          </a:prstGeom>
          <a:noFill/>
          <a:ln>
            <a:noFill/>
          </a:ln>
        </p:spPr>
        <p:txBody>
          <a:bodyPr wrap="square" lIns="0" tIns="0" rIns="0" bIns="0" rtlCol="0" anchor="ctr"/>
          <a:lstStyle/>
          <a:p>
            <a:pPr marL="0" indent="0" algn="l">
              <a:buNone/>
            </a:pPr>
            <a:r>
              <a:rPr lang="pt-BR" sz="1600" b="1" dirty="0">
                <a:solidFill>
                  <a:srgbClr val="31485D"/>
                </a:solidFill>
                <a:latin typeface="Arial" pitchFamily="34" charset="0"/>
                <a:ea typeface="Arial" pitchFamily="34" charset="-122"/>
                <a:cs typeface="Arial" pitchFamily="34" charset="-120"/>
              </a:rPr>
              <a:t>Sancionador</a:t>
            </a:r>
            <a:endParaRPr lang="pt-BR" sz="1600" dirty="0"/>
          </a:p>
        </p:txBody>
      </p:sp>
      <p:sp>
        <p:nvSpPr>
          <p:cNvPr id="24" name="Text 24"/>
          <p:cNvSpPr txBox="1"/>
          <p:nvPr/>
        </p:nvSpPr>
        <p:spPr>
          <a:xfrm>
            <a:off x="9454896" y="2926080"/>
            <a:ext cx="2066544" cy="3108960"/>
          </a:xfrm>
          <a:prstGeom prst="rect">
            <a:avLst/>
          </a:prstGeom>
          <a:noFill/>
          <a:ln>
            <a:noFill/>
          </a:ln>
        </p:spPr>
        <p:txBody>
          <a:bodyPr wrap="square" lIns="0" tIns="0" rIns="0" bIns="0" rtlCol="0" anchor="t"/>
          <a:lstStyle/>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Auto de Infração</a:t>
            </a:r>
            <a:endParaRPr lang="pt-BR" sz="1300" dirty="0"/>
          </a:p>
          <a:p>
            <a:pPr marL="190500" indent="-190500" algn="l">
              <a:lnSpc>
                <a:spcPct val="105000"/>
              </a:lnSpc>
              <a:spcAft>
                <a:spcPts val="800"/>
              </a:spcAft>
              <a:buSzPct val="100000"/>
              <a:buChar char="•"/>
            </a:pPr>
            <a:r>
              <a:rPr lang="pt-BR" sz="1300" dirty="0">
                <a:solidFill>
                  <a:srgbClr val="3A4750"/>
                </a:solidFill>
                <a:latin typeface="Arial" pitchFamily="34" charset="0"/>
                <a:ea typeface="Arial" pitchFamily="34" charset="-122"/>
                <a:cs typeface="Arial" pitchFamily="34" charset="-120"/>
              </a:rPr>
              <a:t>Defesa e PATI</a:t>
            </a:r>
            <a:endParaRPr lang="pt-BR" sz="1300" dirty="0"/>
          </a:p>
          <a:p>
            <a:pPr marL="190500" indent="-190500" algn="l">
              <a:lnSpc>
                <a:spcPct val="105000"/>
              </a:lnSpc>
              <a:buSzPct val="100000"/>
              <a:buChar char="•"/>
            </a:pPr>
            <a:r>
              <a:rPr lang="pt-BR" sz="1300" dirty="0">
                <a:solidFill>
                  <a:srgbClr val="3A4750"/>
                </a:solidFill>
                <a:latin typeface="Arial" pitchFamily="34" charset="0"/>
                <a:ea typeface="Arial" pitchFamily="34" charset="-122"/>
                <a:cs typeface="Arial" pitchFamily="34" charset="-120"/>
              </a:rPr>
              <a:t>Despacho conclusivo e julgamento</a:t>
            </a:r>
            <a:endParaRPr lang="pt-BR" sz="1300" dirty="0"/>
          </a:p>
        </p:txBody>
      </p:sp>
      <p:sp>
        <p:nvSpPr>
          <p:cNvPr id="25" name="Text 25"/>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46</a:t>
            </a:r>
            <a:endParaRPr lang="pt-BR"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O Acórdão nº 72 e a autocomposição</a:t>
            </a:r>
            <a:r>
              <a:rPr lang="pt-BR" sz="1000" dirty="0">
                <a:solidFill>
                  <a:srgbClr val="72BAE3"/>
                </a:solidFill>
                <a:latin typeface="Arial" pitchFamily="34" charset="0"/>
                <a:ea typeface="Arial" pitchFamily="34" charset="-122"/>
                <a:cs typeface="Arial" pitchFamily="34" charset="-120"/>
              </a:rPr>
              <a:t>   ·   O estágio atual do GEF Contêineres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Números do GEF</a:t>
            </a:r>
            <a:endParaRPr lang="pt-BR" sz="2400" dirty="0"/>
          </a:p>
        </p:txBody>
      </p:sp>
      <p:sp>
        <p:nvSpPr>
          <p:cNvPr id="5" name="Shape 5"/>
          <p:cNvSpPr/>
          <p:nvPr/>
        </p:nvSpPr>
        <p:spPr>
          <a:xfrm>
            <a:off x="868680" y="1417320"/>
            <a:ext cx="3493008" cy="1737360"/>
          </a:xfrm>
          <a:prstGeom prst="roundRect">
            <a:avLst>
              <a:gd name="adj" fmla="val 4211"/>
            </a:avLst>
          </a:prstGeom>
          <a:solidFill>
            <a:srgbClr val="EEF3F6"/>
          </a:solidFill>
          <a:ln w="12700">
            <a:solidFill>
              <a:srgbClr val="72BAE3"/>
            </a:solidFill>
            <a:prstDash val="solid"/>
          </a:ln>
        </p:spPr>
      </p:sp>
      <p:sp>
        <p:nvSpPr>
          <p:cNvPr id="6" name="Text 6"/>
          <p:cNvSpPr txBox="1"/>
          <p:nvPr/>
        </p:nvSpPr>
        <p:spPr>
          <a:xfrm>
            <a:off x="1051560" y="1508760"/>
            <a:ext cx="3127248" cy="914400"/>
          </a:xfrm>
          <a:prstGeom prst="rect">
            <a:avLst/>
          </a:prstGeom>
          <a:noFill/>
          <a:ln>
            <a:noFill/>
          </a:ln>
        </p:spPr>
        <p:txBody>
          <a:bodyPr wrap="square" lIns="0" tIns="0" rIns="0" bIns="0" rtlCol="0" anchor="ctr"/>
          <a:lstStyle/>
          <a:p>
            <a:pPr marL="0" indent="0" algn="ctr">
              <a:buNone/>
            </a:pPr>
            <a:r>
              <a:rPr lang="pt-BR" sz="3600" b="1" dirty="0">
                <a:solidFill>
                  <a:srgbClr val="31485D"/>
                </a:solidFill>
                <a:latin typeface="Arial" pitchFamily="34" charset="0"/>
                <a:ea typeface="Arial" pitchFamily="34" charset="-122"/>
                <a:cs typeface="Arial" pitchFamily="34" charset="-120"/>
              </a:rPr>
              <a:t>832</a:t>
            </a:r>
            <a:endParaRPr lang="pt-BR" sz="3600" dirty="0"/>
          </a:p>
        </p:txBody>
      </p:sp>
      <p:sp>
        <p:nvSpPr>
          <p:cNvPr id="7" name="Text 7"/>
          <p:cNvSpPr txBox="1"/>
          <p:nvPr/>
        </p:nvSpPr>
        <p:spPr>
          <a:xfrm>
            <a:off x="1051560" y="2423160"/>
            <a:ext cx="3127248" cy="640080"/>
          </a:xfrm>
          <a:prstGeom prst="rect">
            <a:avLst/>
          </a:prstGeom>
          <a:noFill/>
          <a:ln>
            <a:noFill/>
          </a:ln>
        </p:spPr>
        <p:txBody>
          <a:bodyPr wrap="square" lIns="0" tIns="0" rIns="0" bIns="0" rtlCol="0" anchor="ctr"/>
          <a:lstStyle/>
          <a:p>
            <a:pPr marL="0" indent="0" algn="ctr">
              <a:lnSpc>
                <a:spcPct val="105000"/>
              </a:lnSpc>
              <a:buNone/>
            </a:pPr>
            <a:r>
              <a:rPr lang="pt-BR" sz="1250" dirty="0">
                <a:solidFill>
                  <a:srgbClr val="3A4750"/>
                </a:solidFill>
                <a:latin typeface="Arial" pitchFamily="34" charset="0"/>
                <a:ea typeface="Arial" pitchFamily="34" charset="-122"/>
                <a:cs typeface="Arial" pitchFamily="34" charset="-120"/>
              </a:rPr>
              <a:t>processos abertos na unidade (16/09/2026)</a:t>
            </a:r>
            <a:endParaRPr lang="pt-BR" sz="1250" dirty="0"/>
          </a:p>
        </p:txBody>
      </p:sp>
      <p:sp>
        <p:nvSpPr>
          <p:cNvPr id="8" name="Shape 8"/>
          <p:cNvSpPr/>
          <p:nvPr/>
        </p:nvSpPr>
        <p:spPr>
          <a:xfrm>
            <a:off x="4562856" y="1417320"/>
            <a:ext cx="3493008" cy="1737360"/>
          </a:xfrm>
          <a:prstGeom prst="roundRect">
            <a:avLst>
              <a:gd name="adj" fmla="val 4211"/>
            </a:avLst>
          </a:prstGeom>
          <a:solidFill>
            <a:srgbClr val="31485D"/>
          </a:solidFill>
          <a:ln>
            <a:noFill/>
          </a:ln>
        </p:spPr>
      </p:sp>
      <p:sp>
        <p:nvSpPr>
          <p:cNvPr id="9" name="Text 9"/>
          <p:cNvSpPr txBox="1"/>
          <p:nvPr/>
        </p:nvSpPr>
        <p:spPr>
          <a:xfrm>
            <a:off x="4745736" y="1508760"/>
            <a:ext cx="3127248" cy="914400"/>
          </a:xfrm>
          <a:prstGeom prst="rect">
            <a:avLst/>
          </a:prstGeom>
          <a:noFill/>
          <a:ln>
            <a:noFill/>
          </a:ln>
        </p:spPr>
        <p:txBody>
          <a:bodyPr wrap="square" lIns="0" tIns="0" rIns="0" bIns="0" rtlCol="0" anchor="ctr"/>
          <a:lstStyle/>
          <a:p>
            <a:pPr marL="0" indent="0" algn="ctr">
              <a:buNone/>
            </a:pPr>
            <a:r>
              <a:rPr lang="pt-BR" sz="3600" b="1" dirty="0">
                <a:solidFill>
                  <a:srgbClr val="72BAE3"/>
                </a:solidFill>
                <a:latin typeface="Arial" pitchFamily="34" charset="0"/>
                <a:ea typeface="Arial" pitchFamily="34" charset="-122"/>
                <a:cs typeface="Arial" pitchFamily="34" charset="-120"/>
              </a:rPr>
              <a:t>≈ 10</a:t>
            </a:r>
            <a:endParaRPr lang="pt-BR" sz="3600" dirty="0"/>
          </a:p>
        </p:txBody>
      </p:sp>
      <p:sp>
        <p:nvSpPr>
          <p:cNvPr id="10" name="Text 10"/>
          <p:cNvSpPr txBox="1"/>
          <p:nvPr/>
        </p:nvSpPr>
        <p:spPr>
          <a:xfrm>
            <a:off x="4745736" y="2423160"/>
            <a:ext cx="3127248" cy="640080"/>
          </a:xfrm>
          <a:prstGeom prst="rect">
            <a:avLst/>
          </a:prstGeom>
          <a:noFill/>
          <a:ln>
            <a:noFill/>
          </a:ln>
        </p:spPr>
        <p:txBody>
          <a:bodyPr wrap="square" lIns="0" tIns="0" rIns="0" bIns="0" rtlCol="0" anchor="ctr"/>
          <a:lstStyle/>
          <a:p>
            <a:pPr marL="0" indent="0" algn="ctr">
              <a:lnSpc>
                <a:spcPct val="105000"/>
              </a:lnSpc>
              <a:buNone/>
            </a:pPr>
            <a:r>
              <a:rPr lang="pt-BR" sz="1250" dirty="0">
                <a:solidFill>
                  <a:srgbClr val="FFFFFF"/>
                </a:solidFill>
                <a:latin typeface="Arial" pitchFamily="34" charset="0"/>
                <a:ea typeface="Arial" pitchFamily="34" charset="-122"/>
                <a:cs typeface="Arial" pitchFamily="34" charset="-120"/>
              </a:rPr>
              <a:t>denúncias novas por semana (jul/2026)</a:t>
            </a:r>
            <a:endParaRPr lang="pt-BR" sz="1250" dirty="0"/>
          </a:p>
        </p:txBody>
      </p:sp>
      <p:sp>
        <p:nvSpPr>
          <p:cNvPr id="11" name="Shape 11"/>
          <p:cNvSpPr/>
          <p:nvPr/>
        </p:nvSpPr>
        <p:spPr>
          <a:xfrm>
            <a:off x="8257032" y="1417320"/>
            <a:ext cx="3493008" cy="1737360"/>
          </a:xfrm>
          <a:prstGeom prst="roundRect">
            <a:avLst>
              <a:gd name="adj" fmla="val 4211"/>
            </a:avLst>
          </a:prstGeom>
          <a:solidFill>
            <a:srgbClr val="EEF3F6"/>
          </a:solidFill>
          <a:ln w="12700">
            <a:solidFill>
              <a:srgbClr val="72BAE3"/>
            </a:solidFill>
            <a:prstDash val="solid"/>
          </a:ln>
        </p:spPr>
      </p:sp>
      <p:sp>
        <p:nvSpPr>
          <p:cNvPr id="12" name="Text 12"/>
          <p:cNvSpPr txBox="1"/>
          <p:nvPr/>
        </p:nvSpPr>
        <p:spPr>
          <a:xfrm>
            <a:off x="8439912" y="1508760"/>
            <a:ext cx="3127248" cy="914400"/>
          </a:xfrm>
          <a:prstGeom prst="rect">
            <a:avLst/>
          </a:prstGeom>
          <a:noFill/>
          <a:ln>
            <a:noFill/>
          </a:ln>
        </p:spPr>
        <p:txBody>
          <a:bodyPr wrap="square" lIns="0" tIns="0" rIns="0" bIns="0" rtlCol="0" anchor="ctr"/>
          <a:lstStyle/>
          <a:p>
            <a:pPr marL="0" indent="0" algn="ctr">
              <a:buNone/>
            </a:pPr>
            <a:r>
              <a:rPr lang="pt-BR" sz="3600" b="1" dirty="0">
                <a:solidFill>
                  <a:srgbClr val="31485D"/>
                </a:solidFill>
                <a:latin typeface="Arial" pitchFamily="34" charset="0"/>
                <a:ea typeface="Arial" pitchFamily="34" charset="-122"/>
                <a:cs typeface="Arial" pitchFamily="34" charset="-120"/>
              </a:rPr>
              <a:t>9</a:t>
            </a:r>
            <a:endParaRPr lang="pt-BR" sz="3600" dirty="0"/>
          </a:p>
        </p:txBody>
      </p:sp>
      <p:sp>
        <p:nvSpPr>
          <p:cNvPr id="13" name="Text 13"/>
          <p:cNvSpPr txBox="1"/>
          <p:nvPr/>
        </p:nvSpPr>
        <p:spPr>
          <a:xfrm>
            <a:off x="8439912" y="2423160"/>
            <a:ext cx="3127248" cy="640080"/>
          </a:xfrm>
          <a:prstGeom prst="rect">
            <a:avLst/>
          </a:prstGeom>
          <a:noFill/>
          <a:ln>
            <a:noFill/>
          </a:ln>
        </p:spPr>
        <p:txBody>
          <a:bodyPr wrap="square" lIns="0" tIns="0" rIns="0" bIns="0" rtlCol="0" anchor="ctr"/>
          <a:lstStyle/>
          <a:p>
            <a:pPr marL="0" indent="0" algn="ctr">
              <a:lnSpc>
                <a:spcPct val="105000"/>
              </a:lnSpc>
              <a:buNone/>
            </a:pPr>
            <a:r>
              <a:rPr lang="pt-BR" sz="1250" dirty="0">
                <a:solidFill>
                  <a:srgbClr val="3A4750"/>
                </a:solidFill>
                <a:latin typeface="Arial" pitchFamily="34" charset="0"/>
                <a:ea typeface="Arial" pitchFamily="34" charset="-122"/>
                <a:cs typeface="Arial" pitchFamily="34" charset="-120"/>
              </a:rPr>
              <a:t>servidores integralmente dedicados (jul/2026)</a:t>
            </a:r>
            <a:endParaRPr lang="pt-BR" sz="1250" dirty="0"/>
          </a:p>
        </p:txBody>
      </p:sp>
      <p:sp>
        <p:nvSpPr>
          <p:cNvPr id="14" name="Shape 14"/>
          <p:cNvSpPr/>
          <p:nvPr/>
        </p:nvSpPr>
        <p:spPr>
          <a:xfrm>
            <a:off x="868680" y="3429000"/>
            <a:ext cx="10881360" cy="2788920"/>
          </a:xfrm>
          <a:prstGeom prst="roundRect">
            <a:avLst>
              <a:gd name="adj" fmla="val 2623"/>
            </a:avLst>
          </a:prstGeom>
          <a:solidFill>
            <a:srgbClr val="EEF3F6"/>
          </a:solidFill>
          <a:ln w="12700">
            <a:solidFill>
              <a:srgbClr val="72BAE3"/>
            </a:solidFill>
            <a:prstDash val="solid"/>
          </a:ln>
        </p:spPr>
      </p:sp>
      <p:sp>
        <p:nvSpPr>
          <p:cNvPr id="15" name="Text 15"/>
          <p:cNvSpPr txBox="1"/>
          <p:nvPr/>
        </p:nvSpPr>
        <p:spPr>
          <a:xfrm>
            <a:off x="1188720" y="3566160"/>
            <a:ext cx="10241280" cy="457200"/>
          </a:xfrm>
          <a:prstGeom prst="rect">
            <a:avLst/>
          </a:prstGeom>
          <a:noFill/>
          <a:ln>
            <a:noFill/>
          </a:ln>
        </p:spPr>
        <p:txBody>
          <a:bodyPr wrap="square" lIns="0" tIns="0" rIns="0" bIns="0" rtlCol="0" anchor="ctr"/>
          <a:lstStyle/>
          <a:p>
            <a:pPr marL="0" indent="0" algn="l">
              <a:buNone/>
            </a:pPr>
            <a:r>
              <a:rPr lang="pt-BR" sz="1500" b="1" dirty="0">
                <a:solidFill>
                  <a:srgbClr val="31485D"/>
                </a:solidFill>
                <a:latin typeface="Arial" pitchFamily="34" charset="0"/>
                <a:ea typeface="Arial" pitchFamily="34" charset="-122"/>
                <a:cs typeface="Arial" pitchFamily="34" charset="-120"/>
              </a:rPr>
              <a:t>Por tipo de processo (16/09/2026)</a:t>
            </a:r>
            <a:endParaRPr lang="pt-BR" sz="1500" dirty="0"/>
          </a:p>
        </p:txBody>
      </p:sp>
      <p:sp>
        <p:nvSpPr>
          <p:cNvPr id="16" name="Text 16"/>
          <p:cNvSpPr txBox="1"/>
          <p:nvPr/>
        </p:nvSpPr>
        <p:spPr>
          <a:xfrm>
            <a:off x="1188720" y="4160520"/>
            <a:ext cx="777240" cy="548640"/>
          </a:xfrm>
          <a:prstGeom prst="rect">
            <a:avLst/>
          </a:prstGeom>
          <a:noFill/>
          <a:ln>
            <a:noFill/>
          </a:ln>
        </p:spPr>
        <p:txBody>
          <a:bodyPr wrap="square" lIns="0" tIns="0" rIns="0" bIns="0" rtlCol="0" anchor="ctr"/>
          <a:lstStyle/>
          <a:p>
            <a:pPr marL="0" indent="0" algn="r">
              <a:buNone/>
            </a:pPr>
            <a:r>
              <a:rPr lang="pt-BR" sz="1800" b="1" dirty="0">
                <a:solidFill>
                  <a:srgbClr val="31485D"/>
                </a:solidFill>
                <a:latin typeface="Arial" pitchFamily="34" charset="0"/>
                <a:ea typeface="Arial" pitchFamily="34" charset="-122"/>
                <a:cs typeface="Arial" pitchFamily="34" charset="-120"/>
              </a:rPr>
              <a:t>511</a:t>
            </a:r>
            <a:endParaRPr lang="pt-BR" sz="1800" dirty="0"/>
          </a:p>
        </p:txBody>
      </p:sp>
      <p:sp>
        <p:nvSpPr>
          <p:cNvPr id="17" name="Text 17"/>
          <p:cNvSpPr txBox="1"/>
          <p:nvPr/>
        </p:nvSpPr>
        <p:spPr>
          <a:xfrm>
            <a:off x="2148840" y="4160520"/>
            <a:ext cx="3931920" cy="548640"/>
          </a:xfrm>
          <a:prstGeom prst="rect">
            <a:avLst/>
          </a:prstGeom>
          <a:noFill/>
          <a:ln>
            <a:noFill/>
          </a:ln>
        </p:spPr>
        <p:txBody>
          <a:bodyPr wrap="square" lIns="0" tIns="0" rIns="0" bIns="0" rtlCol="0" anchor="ctr"/>
          <a:lstStyle/>
          <a:p>
            <a:pPr marL="0" indent="0" algn="l">
              <a:lnSpc>
                <a:spcPct val="105000"/>
              </a:lnSpc>
              <a:buNone/>
            </a:pPr>
            <a:r>
              <a:rPr lang="pt-BR" sz="1250" dirty="0">
                <a:solidFill>
                  <a:srgbClr val="3A4750"/>
                </a:solidFill>
                <a:latin typeface="Arial" pitchFamily="34" charset="0"/>
                <a:ea typeface="Arial" pitchFamily="34" charset="-122"/>
                <a:cs typeface="Arial" pitchFamily="34" charset="-120"/>
              </a:rPr>
              <a:t>Procedimento Extraordinário de Fiscalização na Navegação Marítima e de Apoio</a:t>
            </a:r>
            <a:endParaRPr lang="pt-BR" sz="1250" dirty="0"/>
          </a:p>
        </p:txBody>
      </p:sp>
      <p:sp>
        <p:nvSpPr>
          <p:cNvPr id="18" name="Text 18"/>
          <p:cNvSpPr txBox="1"/>
          <p:nvPr/>
        </p:nvSpPr>
        <p:spPr>
          <a:xfrm>
            <a:off x="1188720" y="4818888"/>
            <a:ext cx="777240" cy="548640"/>
          </a:xfrm>
          <a:prstGeom prst="rect">
            <a:avLst/>
          </a:prstGeom>
          <a:noFill/>
          <a:ln>
            <a:noFill/>
          </a:ln>
        </p:spPr>
        <p:txBody>
          <a:bodyPr wrap="square" lIns="0" tIns="0" rIns="0" bIns="0" rtlCol="0" anchor="ctr"/>
          <a:lstStyle/>
          <a:p>
            <a:pPr marL="0" indent="0" algn="r">
              <a:buNone/>
            </a:pPr>
            <a:r>
              <a:rPr lang="pt-BR" sz="1800" b="1" dirty="0">
                <a:solidFill>
                  <a:srgbClr val="31485D"/>
                </a:solidFill>
                <a:latin typeface="Arial" pitchFamily="34" charset="0"/>
                <a:ea typeface="Arial" pitchFamily="34" charset="-122"/>
                <a:cs typeface="Arial" pitchFamily="34" charset="-120"/>
              </a:rPr>
              <a:t>128</a:t>
            </a:r>
            <a:endParaRPr lang="pt-BR" sz="1800" dirty="0"/>
          </a:p>
        </p:txBody>
      </p:sp>
      <p:sp>
        <p:nvSpPr>
          <p:cNvPr id="19" name="Text 19"/>
          <p:cNvSpPr txBox="1"/>
          <p:nvPr/>
        </p:nvSpPr>
        <p:spPr>
          <a:xfrm>
            <a:off x="2148840" y="4818888"/>
            <a:ext cx="3931920" cy="548640"/>
          </a:xfrm>
          <a:prstGeom prst="rect">
            <a:avLst/>
          </a:prstGeom>
          <a:noFill/>
          <a:ln>
            <a:noFill/>
          </a:ln>
        </p:spPr>
        <p:txBody>
          <a:bodyPr wrap="square" lIns="0" tIns="0" rIns="0" bIns="0" rtlCol="0" anchor="ctr"/>
          <a:lstStyle/>
          <a:p>
            <a:pPr marL="0" indent="0" algn="l">
              <a:lnSpc>
                <a:spcPct val="105000"/>
              </a:lnSpc>
              <a:buNone/>
            </a:pPr>
            <a:r>
              <a:rPr lang="pt-BR" sz="1250" dirty="0">
                <a:solidFill>
                  <a:srgbClr val="3A4750"/>
                </a:solidFill>
                <a:latin typeface="Arial" pitchFamily="34" charset="0"/>
                <a:ea typeface="Arial" pitchFamily="34" charset="-122"/>
                <a:cs typeface="Arial" pitchFamily="34" charset="-120"/>
              </a:rPr>
              <a:t>Denúncias e Representações em Terminais Portuários</a:t>
            </a:r>
            <a:endParaRPr lang="pt-BR" sz="1250" dirty="0"/>
          </a:p>
        </p:txBody>
      </p:sp>
      <p:sp>
        <p:nvSpPr>
          <p:cNvPr id="20" name="Text 20"/>
          <p:cNvSpPr txBox="1"/>
          <p:nvPr/>
        </p:nvSpPr>
        <p:spPr>
          <a:xfrm>
            <a:off x="1188720" y="5477256"/>
            <a:ext cx="777240" cy="548640"/>
          </a:xfrm>
          <a:prstGeom prst="rect">
            <a:avLst/>
          </a:prstGeom>
          <a:noFill/>
          <a:ln>
            <a:noFill/>
          </a:ln>
        </p:spPr>
        <p:txBody>
          <a:bodyPr wrap="square" lIns="0" tIns="0" rIns="0" bIns="0" rtlCol="0" anchor="ctr"/>
          <a:lstStyle/>
          <a:p>
            <a:pPr marL="0" indent="0" algn="r">
              <a:buNone/>
            </a:pPr>
            <a:r>
              <a:rPr lang="pt-BR" sz="1800" b="1" dirty="0">
                <a:solidFill>
                  <a:srgbClr val="31485D"/>
                </a:solidFill>
                <a:latin typeface="Arial" pitchFamily="34" charset="0"/>
                <a:ea typeface="Arial" pitchFamily="34" charset="-122"/>
                <a:cs typeface="Arial" pitchFamily="34" charset="-120"/>
              </a:rPr>
              <a:t>108</a:t>
            </a:r>
            <a:endParaRPr lang="pt-BR" sz="1800" dirty="0"/>
          </a:p>
        </p:txBody>
      </p:sp>
      <p:sp>
        <p:nvSpPr>
          <p:cNvPr id="21" name="Text 21"/>
          <p:cNvSpPr txBox="1"/>
          <p:nvPr/>
        </p:nvSpPr>
        <p:spPr>
          <a:xfrm>
            <a:off x="2148840" y="5477256"/>
            <a:ext cx="3931920" cy="548640"/>
          </a:xfrm>
          <a:prstGeom prst="rect">
            <a:avLst/>
          </a:prstGeom>
          <a:noFill/>
          <a:ln>
            <a:noFill/>
          </a:ln>
        </p:spPr>
        <p:txBody>
          <a:bodyPr wrap="square" lIns="0" tIns="0" rIns="0" bIns="0" rtlCol="0" anchor="ctr"/>
          <a:lstStyle/>
          <a:p>
            <a:pPr marL="0" indent="0" algn="l">
              <a:lnSpc>
                <a:spcPct val="105000"/>
              </a:lnSpc>
              <a:buNone/>
            </a:pPr>
            <a:r>
              <a:rPr lang="pt-BR" sz="1250" dirty="0">
                <a:solidFill>
                  <a:srgbClr val="3A4750"/>
                </a:solidFill>
                <a:latin typeface="Arial" pitchFamily="34" charset="0"/>
                <a:ea typeface="Arial" pitchFamily="34" charset="-122"/>
                <a:cs typeface="Arial" pitchFamily="34" charset="-120"/>
              </a:rPr>
              <a:t>Denúncias e Representações na Navegação Marítima e de Apoio</a:t>
            </a:r>
            <a:endParaRPr lang="pt-BR" sz="1250" dirty="0"/>
          </a:p>
        </p:txBody>
      </p:sp>
      <p:sp>
        <p:nvSpPr>
          <p:cNvPr id="22" name="Text 22"/>
          <p:cNvSpPr txBox="1"/>
          <p:nvPr/>
        </p:nvSpPr>
        <p:spPr>
          <a:xfrm>
            <a:off x="6720840" y="4160520"/>
            <a:ext cx="777240" cy="548640"/>
          </a:xfrm>
          <a:prstGeom prst="rect">
            <a:avLst/>
          </a:prstGeom>
          <a:noFill/>
          <a:ln>
            <a:noFill/>
          </a:ln>
        </p:spPr>
        <p:txBody>
          <a:bodyPr wrap="square" lIns="0" tIns="0" rIns="0" bIns="0" rtlCol="0" anchor="ctr"/>
          <a:lstStyle/>
          <a:p>
            <a:pPr marL="0" indent="0" algn="r">
              <a:buNone/>
            </a:pPr>
            <a:r>
              <a:rPr lang="pt-BR" sz="1800" b="1" dirty="0">
                <a:solidFill>
                  <a:srgbClr val="31485D"/>
                </a:solidFill>
                <a:latin typeface="Arial" pitchFamily="34" charset="0"/>
                <a:ea typeface="Arial" pitchFamily="34" charset="-122"/>
                <a:cs typeface="Arial" pitchFamily="34" charset="-120"/>
              </a:rPr>
              <a:t>39</a:t>
            </a:r>
            <a:endParaRPr lang="pt-BR" sz="1800" dirty="0"/>
          </a:p>
        </p:txBody>
      </p:sp>
      <p:sp>
        <p:nvSpPr>
          <p:cNvPr id="23" name="Text 23"/>
          <p:cNvSpPr txBox="1"/>
          <p:nvPr/>
        </p:nvSpPr>
        <p:spPr>
          <a:xfrm>
            <a:off x="7680960" y="4160520"/>
            <a:ext cx="3931920" cy="548640"/>
          </a:xfrm>
          <a:prstGeom prst="rect">
            <a:avLst/>
          </a:prstGeom>
          <a:noFill/>
          <a:ln>
            <a:noFill/>
          </a:ln>
        </p:spPr>
        <p:txBody>
          <a:bodyPr wrap="square" lIns="0" tIns="0" rIns="0" bIns="0" rtlCol="0" anchor="ctr"/>
          <a:lstStyle/>
          <a:p>
            <a:pPr marL="0" indent="0" algn="l">
              <a:lnSpc>
                <a:spcPct val="105000"/>
              </a:lnSpc>
              <a:buNone/>
            </a:pPr>
            <a:r>
              <a:rPr lang="pt-BR" sz="1250" dirty="0">
                <a:solidFill>
                  <a:srgbClr val="3A4750"/>
                </a:solidFill>
                <a:latin typeface="Arial" pitchFamily="34" charset="0"/>
                <a:ea typeface="Arial" pitchFamily="34" charset="-122"/>
                <a:cs typeface="Arial" pitchFamily="34" charset="-120"/>
              </a:rPr>
              <a:t>Pedido de Medida Cautelar</a:t>
            </a:r>
            <a:endParaRPr lang="pt-BR" sz="1250" dirty="0"/>
          </a:p>
        </p:txBody>
      </p:sp>
      <p:sp>
        <p:nvSpPr>
          <p:cNvPr id="24" name="Text 24"/>
          <p:cNvSpPr txBox="1"/>
          <p:nvPr/>
        </p:nvSpPr>
        <p:spPr>
          <a:xfrm>
            <a:off x="6720840" y="4818888"/>
            <a:ext cx="777240" cy="548640"/>
          </a:xfrm>
          <a:prstGeom prst="rect">
            <a:avLst/>
          </a:prstGeom>
          <a:noFill/>
          <a:ln>
            <a:noFill/>
          </a:ln>
        </p:spPr>
        <p:txBody>
          <a:bodyPr wrap="square" lIns="0" tIns="0" rIns="0" bIns="0" rtlCol="0" anchor="ctr"/>
          <a:lstStyle/>
          <a:p>
            <a:pPr marL="0" indent="0" algn="r">
              <a:buNone/>
            </a:pPr>
            <a:r>
              <a:rPr lang="pt-BR" sz="1800" b="1" dirty="0">
                <a:solidFill>
                  <a:srgbClr val="31485D"/>
                </a:solidFill>
                <a:latin typeface="Arial" pitchFamily="34" charset="0"/>
                <a:ea typeface="Arial" pitchFamily="34" charset="-122"/>
                <a:cs typeface="Arial" pitchFamily="34" charset="-120"/>
              </a:rPr>
              <a:t>46</a:t>
            </a:r>
            <a:endParaRPr lang="pt-BR" sz="1800" dirty="0"/>
          </a:p>
        </p:txBody>
      </p:sp>
      <p:sp>
        <p:nvSpPr>
          <p:cNvPr id="25" name="Text 25"/>
          <p:cNvSpPr txBox="1"/>
          <p:nvPr/>
        </p:nvSpPr>
        <p:spPr>
          <a:xfrm>
            <a:off x="7680960" y="4818888"/>
            <a:ext cx="3931920" cy="548640"/>
          </a:xfrm>
          <a:prstGeom prst="rect">
            <a:avLst/>
          </a:prstGeom>
          <a:noFill/>
          <a:ln>
            <a:noFill/>
          </a:ln>
        </p:spPr>
        <p:txBody>
          <a:bodyPr wrap="square" lIns="0" tIns="0" rIns="0" bIns="0" rtlCol="0" anchor="ctr"/>
          <a:lstStyle/>
          <a:p>
            <a:pPr marL="0" indent="0" algn="l">
              <a:lnSpc>
                <a:spcPct val="105000"/>
              </a:lnSpc>
              <a:buNone/>
            </a:pPr>
            <a:r>
              <a:rPr lang="pt-BR" sz="1250" dirty="0">
                <a:solidFill>
                  <a:srgbClr val="3A4750"/>
                </a:solidFill>
                <a:latin typeface="Arial" pitchFamily="34" charset="0"/>
                <a:ea typeface="Arial" pitchFamily="34" charset="-122"/>
                <a:cs typeface="Arial" pitchFamily="34" charset="-120"/>
              </a:rPr>
              <a:t>Demais vinte tipos de processo</a:t>
            </a:r>
            <a:endParaRPr lang="pt-BR" sz="1250" dirty="0"/>
          </a:p>
        </p:txBody>
      </p:sp>
      <p:sp>
        <p:nvSpPr>
          <p:cNvPr id="26" name="Text 2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47</a:t>
            </a:r>
            <a:endParaRPr lang="pt-BR"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40080" y="411480"/>
            <a:ext cx="10972800" cy="640080"/>
          </a:xfrm>
          <a:prstGeom prst="rect">
            <a:avLst/>
          </a:prstGeom>
          <a:noFill/>
          <a:ln>
            <a:noFill/>
          </a:ln>
        </p:spPr>
        <p:txBody>
          <a:bodyPr wrap="square" lIns="0" tIns="0" rIns="0" bIns="0" rtlCol="0" anchor="ctr"/>
          <a:lstStyle/>
          <a:p>
            <a:pPr marL="0" indent="0" algn="l">
              <a:buNone/>
            </a:pPr>
            <a:r>
              <a:rPr lang="pt-BR" sz="3000" b="1" dirty="0">
                <a:solidFill>
                  <a:srgbClr val="31485D"/>
                </a:solidFill>
                <a:latin typeface="Arial" pitchFamily="34" charset="0"/>
                <a:ea typeface="Arial" pitchFamily="34" charset="-122"/>
                <a:cs typeface="Arial" pitchFamily="34" charset="-120"/>
              </a:rPr>
              <a:t>Considerações finais</a:t>
            </a:r>
            <a:endParaRPr lang="pt-BR" sz="3000" dirty="0"/>
          </a:p>
        </p:txBody>
      </p:sp>
      <p:sp>
        <p:nvSpPr>
          <p:cNvPr id="3" name="Shape 3"/>
          <p:cNvSpPr/>
          <p:nvPr/>
        </p:nvSpPr>
        <p:spPr>
          <a:xfrm>
            <a:off x="640080" y="1600200"/>
            <a:ext cx="10927080" cy="4023360"/>
          </a:xfrm>
          <a:prstGeom prst="roundRect">
            <a:avLst>
              <a:gd name="adj" fmla="val 1818"/>
            </a:avLst>
          </a:prstGeom>
          <a:solidFill>
            <a:srgbClr val="EEF3F6"/>
          </a:solidFill>
          <a:ln w="12700">
            <a:solidFill>
              <a:srgbClr val="72BAE3"/>
            </a:solidFill>
            <a:prstDash val="solid"/>
          </a:ln>
        </p:spPr>
      </p:sp>
      <p:sp>
        <p:nvSpPr>
          <p:cNvPr id="4" name="Text 4"/>
          <p:cNvSpPr txBox="1"/>
          <p:nvPr/>
        </p:nvSpPr>
        <p:spPr>
          <a:xfrm>
            <a:off x="960120" y="1874520"/>
            <a:ext cx="10332720" cy="640080"/>
          </a:xfrm>
          <a:prstGeom prst="rect">
            <a:avLst/>
          </a:prstGeom>
          <a:noFill/>
          <a:ln>
            <a:noFill/>
          </a:ln>
        </p:spPr>
        <p:txBody>
          <a:bodyPr wrap="square" lIns="0" tIns="0" rIns="0" bIns="0" rtlCol="0" anchor="ctr"/>
          <a:lstStyle/>
          <a:p>
            <a:pPr marL="0" indent="0" algn="l">
              <a:buNone/>
            </a:pPr>
            <a:r>
              <a:rPr lang="pt-BR" sz="2000" b="1" dirty="0">
                <a:solidFill>
                  <a:srgbClr val="31485D"/>
                </a:solidFill>
                <a:latin typeface="Arial" pitchFamily="34" charset="0"/>
                <a:ea typeface="Arial" pitchFamily="34" charset="-122"/>
                <a:cs typeface="Arial" pitchFamily="34" charset="-120"/>
              </a:rPr>
              <a:t>Conhecer o problema, o "mundo real":</a:t>
            </a:r>
            <a:endParaRPr lang="pt-BR" sz="2000" dirty="0"/>
          </a:p>
        </p:txBody>
      </p:sp>
      <p:sp>
        <p:nvSpPr>
          <p:cNvPr id="5" name="Text 5"/>
          <p:cNvSpPr txBox="1"/>
          <p:nvPr/>
        </p:nvSpPr>
        <p:spPr>
          <a:xfrm>
            <a:off x="1097280" y="2743200"/>
            <a:ext cx="10058400" cy="2743200"/>
          </a:xfrm>
          <a:prstGeom prst="rect">
            <a:avLst/>
          </a:prstGeom>
          <a:noFill/>
          <a:ln>
            <a:noFill/>
          </a:ln>
        </p:spPr>
        <p:txBody>
          <a:bodyPr wrap="square" lIns="0" tIns="0" rIns="0" bIns="0" rtlCol="0" anchor="t"/>
          <a:lstStyle/>
          <a:p>
            <a:pPr marL="190500" indent="-190500" algn="l">
              <a:spcAft>
                <a:spcPts val="1400"/>
              </a:spcAft>
              <a:buSzPct val="100000"/>
              <a:buChar char="•"/>
            </a:pPr>
            <a:r>
              <a:rPr lang="pt-BR" sz="1800" dirty="0">
                <a:solidFill>
                  <a:srgbClr val="3A4750"/>
                </a:solidFill>
                <a:latin typeface="Arial" pitchFamily="34" charset="0"/>
                <a:ea typeface="Arial" pitchFamily="34" charset="-122"/>
                <a:cs typeface="Arial" pitchFamily="34" charset="-120"/>
              </a:rPr>
              <a:t>Identificar consensos e dissensos internamente</a:t>
            </a:r>
            <a:endParaRPr lang="pt-BR" sz="1800" dirty="0"/>
          </a:p>
          <a:p>
            <a:pPr marL="190500" indent="-190500" algn="l">
              <a:buSzPct val="100000"/>
              <a:buChar char="•"/>
            </a:pPr>
            <a:r>
              <a:rPr lang="pt-BR" sz="1800" dirty="0">
                <a:solidFill>
                  <a:srgbClr val="3A4750"/>
                </a:solidFill>
                <a:latin typeface="Arial" pitchFamily="34" charset="0"/>
                <a:ea typeface="Arial" pitchFamily="34" charset="-122"/>
                <a:cs typeface="Arial" pitchFamily="34" charset="-120"/>
              </a:rPr>
              <a:t>Estruturar busca pelo conhecimento prático</a:t>
            </a:r>
            <a:endParaRPr lang="pt-BR" sz="1800" dirty="0"/>
          </a:p>
        </p:txBody>
      </p:sp>
      <p:sp>
        <p:nvSpPr>
          <p:cNvPr id="6" name="Text 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48</a:t>
            </a:r>
            <a:endParaRPr lang="pt-BR"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Considerações finais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Considerações finais</a:t>
            </a:r>
            <a:endParaRPr lang="pt-BR" sz="2400" dirty="0"/>
          </a:p>
        </p:txBody>
      </p:sp>
      <p:sp>
        <p:nvSpPr>
          <p:cNvPr id="5" name="Text 5"/>
          <p:cNvSpPr txBox="1"/>
          <p:nvPr/>
        </p:nvSpPr>
        <p:spPr>
          <a:xfrm>
            <a:off x="868680" y="1371600"/>
            <a:ext cx="10881360" cy="502920"/>
          </a:xfrm>
          <a:prstGeom prst="rect">
            <a:avLst/>
          </a:prstGeom>
          <a:noFill/>
          <a:ln>
            <a:noFill/>
          </a:ln>
        </p:spPr>
        <p:txBody>
          <a:bodyPr wrap="square" lIns="0" tIns="0" rIns="0" bIns="0" rtlCol="0" anchor="ctr"/>
          <a:lstStyle/>
          <a:p>
            <a:pPr marL="0" indent="0" algn="l">
              <a:buNone/>
            </a:pPr>
            <a:r>
              <a:rPr lang="pt-BR" sz="2000" b="1" dirty="0">
                <a:solidFill>
                  <a:srgbClr val="31485D"/>
                </a:solidFill>
                <a:latin typeface="Arial" pitchFamily="34" charset="0"/>
                <a:ea typeface="Arial" pitchFamily="34" charset="-122"/>
                <a:cs typeface="Arial" pitchFamily="34" charset="-120"/>
              </a:rPr>
              <a:t>Definições normativas:</a:t>
            </a:r>
            <a:endParaRPr lang="pt-BR" sz="2000" dirty="0"/>
          </a:p>
        </p:txBody>
      </p:sp>
      <p:sp>
        <p:nvSpPr>
          <p:cNvPr id="6" name="Shape 6"/>
          <p:cNvSpPr/>
          <p:nvPr/>
        </p:nvSpPr>
        <p:spPr>
          <a:xfrm>
            <a:off x="868680" y="2057400"/>
            <a:ext cx="5303520" cy="4023360"/>
          </a:xfrm>
          <a:prstGeom prst="roundRect">
            <a:avLst>
              <a:gd name="adj" fmla="val 2273"/>
            </a:avLst>
          </a:prstGeom>
          <a:solidFill>
            <a:srgbClr val="FFFFFF"/>
          </a:solidFill>
          <a:ln w="15875">
            <a:solidFill>
              <a:srgbClr val="72BAE3"/>
            </a:solidFill>
            <a:prstDash val="solid"/>
          </a:ln>
        </p:spPr>
      </p:sp>
      <p:sp>
        <p:nvSpPr>
          <p:cNvPr id="7" name="Shape 7"/>
          <p:cNvSpPr/>
          <p:nvPr/>
        </p:nvSpPr>
        <p:spPr>
          <a:xfrm>
            <a:off x="868680" y="2057400"/>
            <a:ext cx="5303520" cy="640080"/>
          </a:xfrm>
          <a:prstGeom prst="roundRect">
            <a:avLst>
              <a:gd name="adj" fmla="val 14286"/>
            </a:avLst>
          </a:prstGeom>
          <a:solidFill>
            <a:srgbClr val="31485D"/>
          </a:solidFill>
          <a:ln>
            <a:noFill/>
          </a:ln>
        </p:spPr>
      </p:sp>
      <p:sp>
        <p:nvSpPr>
          <p:cNvPr id="8" name="Shape 8"/>
          <p:cNvSpPr/>
          <p:nvPr/>
        </p:nvSpPr>
        <p:spPr>
          <a:xfrm>
            <a:off x="868680" y="2377440"/>
            <a:ext cx="5303520" cy="320040"/>
          </a:xfrm>
          <a:prstGeom prst="rect">
            <a:avLst/>
          </a:prstGeom>
          <a:solidFill>
            <a:srgbClr val="31485D"/>
          </a:solidFill>
          <a:ln>
            <a:noFill/>
          </a:ln>
        </p:spPr>
      </p:sp>
      <p:sp>
        <p:nvSpPr>
          <p:cNvPr id="9" name="Text 9"/>
          <p:cNvSpPr txBox="1"/>
          <p:nvPr/>
        </p:nvSpPr>
        <p:spPr>
          <a:xfrm>
            <a:off x="1097280" y="2057400"/>
            <a:ext cx="4846320" cy="640080"/>
          </a:xfrm>
          <a:prstGeom prst="rect">
            <a:avLst/>
          </a:prstGeom>
          <a:noFill/>
          <a:ln>
            <a:noFill/>
          </a:ln>
        </p:spPr>
        <p:txBody>
          <a:bodyPr wrap="square" lIns="0" tIns="0" rIns="0" bIns="0" rtlCol="0" anchor="ctr"/>
          <a:lstStyle/>
          <a:p>
            <a:pPr marL="0" indent="0" algn="l">
              <a:lnSpc>
                <a:spcPct val="100000"/>
              </a:lnSpc>
              <a:buNone/>
            </a:pPr>
            <a:r>
              <a:rPr lang="pt-BR" sz="1500" b="1" dirty="0">
                <a:solidFill>
                  <a:srgbClr val="FFFFFF"/>
                </a:solidFill>
                <a:latin typeface="Arial" pitchFamily="34" charset="0"/>
                <a:ea typeface="Arial" pitchFamily="34" charset="-122"/>
                <a:cs typeface="Arial" pitchFamily="34" charset="-120"/>
              </a:rPr>
              <a:t>O papel do NVOCC:</a:t>
            </a:r>
            <a:endParaRPr lang="pt-BR" sz="1400" dirty="0"/>
          </a:p>
        </p:txBody>
      </p:sp>
      <p:sp>
        <p:nvSpPr>
          <p:cNvPr id="10" name="Text 10"/>
          <p:cNvSpPr txBox="1"/>
          <p:nvPr/>
        </p:nvSpPr>
        <p:spPr>
          <a:xfrm>
            <a:off x="1143000" y="3017520"/>
            <a:ext cx="4800600" cy="2926080"/>
          </a:xfrm>
          <a:prstGeom prst="rect">
            <a:avLst/>
          </a:prstGeom>
          <a:noFill/>
          <a:ln>
            <a:noFill/>
          </a:ln>
        </p:spPr>
        <p:txBody>
          <a:bodyPr wrap="square" lIns="0" tIns="0" rIns="0" bIns="0" rtlCol="0" anchor="t"/>
          <a:lstStyle/>
          <a:p>
            <a:pPr marL="190500" indent="-190500" algn="l">
              <a:lnSpc>
                <a:spcPct val="105000"/>
              </a:lnSpc>
              <a:spcAft>
                <a:spcPts val="1200"/>
              </a:spcAft>
              <a:buSzPct val="100000"/>
              <a:buChar char="•"/>
            </a:pPr>
            <a:r>
              <a:rPr lang="pt-BR" sz="1500" dirty="0">
                <a:solidFill>
                  <a:srgbClr val="3A4750"/>
                </a:solidFill>
                <a:latin typeface="Arial" pitchFamily="34" charset="0"/>
                <a:ea typeface="Arial" pitchFamily="34" charset="-122"/>
                <a:cs typeface="Arial" pitchFamily="34" charset="-120"/>
              </a:rPr>
              <a:t>"Usa" o transporte ou explora atividade econômica?</a:t>
            </a:r>
            <a:endParaRPr lang="pt-BR" sz="1500" dirty="0"/>
          </a:p>
          <a:p>
            <a:pPr marL="190500" indent="-190500" algn="l">
              <a:lnSpc>
                <a:spcPct val="105000"/>
              </a:lnSpc>
              <a:buSzPct val="100000"/>
              <a:buChar char="•"/>
            </a:pPr>
            <a:r>
              <a:rPr lang="pt-BR" sz="1500" dirty="0">
                <a:solidFill>
                  <a:srgbClr val="3A4750"/>
                </a:solidFill>
                <a:latin typeface="Arial" pitchFamily="34" charset="0"/>
                <a:ea typeface="Arial" pitchFamily="34" charset="-122"/>
                <a:cs typeface="Arial" pitchFamily="34" charset="-120"/>
              </a:rPr>
              <a:t>São duas contratações separadas ou uma subcontratação?</a:t>
            </a:r>
            <a:endParaRPr lang="pt-BR" sz="1500" dirty="0"/>
          </a:p>
        </p:txBody>
      </p:sp>
      <p:sp>
        <p:nvSpPr>
          <p:cNvPr id="11" name="Shape 11"/>
          <p:cNvSpPr/>
          <p:nvPr/>
        </p:nvSpPr>
        <p:spPr>
          <a:xfrm>
            <a:off x="6446520" y="2057400"/>
            <a:ext cx="5303520" cy="4023360"/>
          </a:xfrm>
          <a:prstGeom prst="roundRect">
            <a:avLst>
              <a:gd name="adj" fmla="val 2273"/>
            </a:avLst>
          </a:prstGeom>
          <a:solidFill>
            <a:srgbClr val="FFFFFF"/>
          </a:solidFill>
          <a:ln w="15875">
            <a:solidFill>
              <a:srgbClr val="72BAE3"/>
            </a:solidFill>
            <a:prstDash val="solid"/>
          </a:ln>
        </p:spPr>
      </p:sp>
      <p:sp>
        <p:nvSpPr>
          <p:cNvPr id="12" name="Shape 12"/>
          <p:cNvSpPr/>
          <p:nvPr/>
        </p:nvSpPr>
        <p:spPr>
          <a:xfrm>
            <a:off x="6446520" y="2057400"/>
            <a:ext cx="5303520" cy="640080"/>
          </a:xfrm>
          <a:prstGeom prst="roundRect">
            <a:avLst>
              <a:gd name="adj" fmla="val 14286"/>
            </a:avLst>
          </a:prstGeom>
          <a:solidFill>
            <a:srgbClr val="31485D"/>
          </a:solidFill>
          <a:ln>
            <a:noFill/>
          </a:ln>
        </p:spPr>
      </p:sp>
      <p:sp>
        <p:nvSpPr>
          <p:cNvPr id="13" name="Shape 13"/>
          <p:cNvSpPr/>
          <p:nvPr/>
        </p:nvSpPr>
        <p:spPr>
          <a:xfrm>
            <a:off x="6446520" y="2377440"/>
            <a:ext cx="5303520" cy="320040"/>
          </a:xfrm>
          <a:prstGeom prst="rect">
            <a:avLst/>
          </a:prstGeom>
          <a:solidFill>
            <a:srgbClr val="31485D"/>
          </a:solidFill>
          <a:ln>
            <a:noFill/>
          </a:ln>
        </p:spPr>
      </p:sp>
      <p:sp>
        <p:nvSpPr>
          <p:cNvPr id="14" name="Text 14"/>
          <p:cNvSpPr txBox="1"/>
          <p:nvPr/>
        </p:nvSpPr>
        <p:spPr>
          <a:xfrm>
            <a:off x="6675120" y="2057400"/>
            <a:ext cx="4846320" cy="640080"/>
          </a:xfrm>
          <a:prstGeom prst="rect">
            <a:avLst/>
          </a:prstGeom>
          <a:noFill/>
          <a:ln>
            <a:noFill/>
          </a:ln>
        </p:spPr>
        <p:txBody>
          <a:bodyPr wrap="square" lIns="0" tIns="0" rIns="0" bIns="0" rtlCol="0" anchor="ctr"/>
          <a:lstStyle/>
          <a:p>
            <a:pPr marL="0" indent="0" algn="l">
              <a:lnSpc>
                <a:spcPct val="100000"/>
              </a:lnSpc>
              <a:buNone/>
            </a:pPr>
            <a:r>
              <a:rPr lang="pt-BR" sz="1500" b="1" dirty="0">
                <a:solidFill>
                  <a:srgbClr val="FFFFFF"/>
                </a:solidFill>
                <a:latin typeface="Arial" pitchFamily="34" charset="0"/>
                <a:ea typeface="Arial" pitchFamily="34" charset="-122"/>
                <a:cs typeface="Arial" pitchFamily="34" charset="-120"/>
              </a:rPr>
              <a:t>Sobre-estadia:</a:t>
            </a:r>
            <a:endParaRPr lang="pt-BR" sz="1400" dirty="0"/>
          </a:p>
        </p:txBody>
      </p:sp>
      <p:sp>
        <p:nvSpPr>
          <p:cNvPr id="15" name="Text 15"/>
          <p:cNvSpPr txBox="1"/>
          <p:nvPr/>
        </p:nvSpPr>
        <p:spPr>
          <a:xfrm>
            <a:off x="6720840" y="3017520"/>
            <a:ext cx="4800600" cy="2926080"/>
          </a:xfrm>
          <a:prstGeom prst="rect">
            <a:avLst/>
          </a:prstGeom>
          <a:noFill/>
          <a:ln>
            <a:noFill/>
          </a:ln>
        </p:spPr>
        <p:txBody>
          <a:bodyPr wrap="square" lIns="0" tIns="0" rIns="0" bIns="0" rtlCol="0" anchor="t"/>
          <a:lstStyle/>
          <a:p>
            <a:pPr marL="190500" indent="-190500" algn="l">
              <a:lnSpc>
                <a:spcPct val="105000"/>
              </a:lnSpc>
              <a:spcAft>
                <a:spcPts val="1200"/>
              </a:spcAft>
              <a:buSzPct val="100000"/>
              <a:buChar char="•"/>
            </a:pPr>
            <a:r>
              <a:rPr lang="pt-BR" sz="1500" dirty="0">
                <a:solidFill>
                  <a:srgbClr val="3A4750"/>
                </a:solidFill>
                <a:latin typeface="Arial" pitchFamily="34" charset="0"/>
                <a:ea typeface="Arial" pitchFamily="34" charset="-122"/>
                <a:cs typeface="Arial" pitchFamily="34" charset="-120"/>
              </a:rPr>
              <a:t>Incentivo à circulação do contêiner ou ressarcimento pela indisponibilidade?</a:t>
            </a:r>
            <a:endParaRPr lang="pt-BR" sz="1500" dirty="0"/>
          </a:p>
          <a:p>
            <a:pPr marL="190500" indent="-190500" algn="l">
              <a:lnSpc>
                <a:spcPct val="105000"/>
              </a:lnSpc>
              <a:buSzPct val="100000"/>
              <a:buChar char="•"/>
            </a:pPr>
            <a:r>
              <a:rPr lang="pt-BR" sz="1500" dirty="0">
                <a:solidFill>
                  <a:srgbClr val="3A4750"/>
                </a:solidFill>
                <a:latin typeface="Arial" pitchFamily="34" charset="0"/>
                <a:ea typeface="Arial" pitchFamily="34" charset="-122"/>
                <a:cs typeface="Arial" pitchFamily="34" charset="-120"/>
              </a:rPr>
              <a:t>Incentivo mais perverso pode ser o "ágio" do NVOCC</a:t>
            </a:r>
            <a:endParaRPr lang="pt-BR" sz="1500" dirty="0"/>
          </a:p>
        </p:txBody>
      </p:sp>
      <p:sp>
        <p:nvSpPr>
          <p:cNvPr id="16" name="Text 16"/>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49</a:t>
            </a:r>
            <a:endParaRPr lang="pt-BR"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502920" cy="6858000"/>
          </a:xfrm>
          <a:prstGeom prst="rect">
            <a:avLst/>
          </a:prstGeom>
          <a:solidFill>
            <a:srgbClr val="31485D"/>
          </a:solidFill>
          <a:ln>
            <a:noFill/>
          </a:ln>
        </p:spPr>
      </p:sp>
      <p:sp>
        <p:nvSpPr>
          <p:cNvPr id="3" name="Band text"/>
          <p:cNvSpPr txBox="1"/>
          <p:nvPr/>
        </p:nvSpPr>
        <p:spPr>
          <a:xfrm rot="16200000">
            <a:off x="-3177540" y="3177540"/>
            <a:ext cx="6858000" cy="502920"/>
          </a:xfrm>
          <a:prstGeom prst="rect">
            <a:avLst/>
          </a:prstGeom>
          <a:noFill/>
          <a:ln>
            <a:noFill/>
          </a:ln>
        </p:spPr>
        <p:txBody>
          <a:bodyPr wrap="square" lIns="0" tIns="0" rIns="0" bIns="0" rtlCol="0" anchor="ctr"/>
          <a:lstStyle/>
          <a:p>
            <a:pPr marL="0" indent="0" algn="ctr">
              <a:buNone/>
            </a:pPr>
            <a:r>
              <a:rPr lang="pt-BR" sz="1200" b="1" dirty="0">
                <a:solidFill>
                  <a:srgbClr val="FFFFFF"/>
                </a:solidFill>
                <a:latin typeface="Arial" pitchFamily="34" charset="0"/>
                <a:ea typeface="Arial" pitchFamily="34" charset="-122"/>
                <a:cs typeface="Arial" pitchFamily="34" charset="-120"/>
              </a:rPr>
              <a:t>Considerações finais</a:t>
            </a:r>
            <a:endParaRPr lang="pt-BR" sz="1200" dirty="0"/>
          </a:p>
        </p:txBody>
      </p:sp>
      <p:sp>
        <p:nvSpPr>
          <p:cNvPr id="4" name="Text 4"/>
          <p:cNvSpPr txBox="1"/>
          <p:nvPr/>
        </p:nvSpPr>
        <p:spPr>
          <a:xfrm>
            <a:off x="868680" y="365760"/>
            <a:ext cx="10881360" cy="548640"/>
          </a:xfrm>
          <a:prstGeom prst="rect">
            <a:avLst/>
          </a:prstGeom>
          <a:noFill/>
          <a:ln>
            <a:noFill/>
          </a:ln>
        </p:spPr>
        <p:txBody>
          <a:bodyPr wrap="square" lIns="0" tIns="0" rIns="0" bIns="0" rtlCol="0" anchor="ctr"/>
          <a:lstStyle/>
          <a:p>
            <a:pPr marL="0" indent="0" algn="l">
              <a:buNone/>
            </a:pPr>
            <a:r>
              <a:rPr lang="pt-BR" sz="2400" b="1" dirty="0">
                <a:solidFill>
                  <a:srgbClr val="31485D"/>
                </a:solidFill>
                <a:latin typeface="Arial" pitchFamily="34" charset="0"/>
                <a:ea typeface="Arial" pitchFamily="34" charset="-122"/>
                <a:cs typeface="Arial" pitchFamily="34" charset="-120"/>
              </a:rPr>
              <a:t>Considerações finais</a:t>
            </a:r>
            <a:endParaRPr lang="pt-BR" sz="2400" dirty="0"/>
          </a:p>
        </p:txBody>
      </p:sp>
      <p:sp>
        <p:nvSpPr>
          <p:cNvPr id="5" name="Shape 5"/>
          <p:cNvSpPr/>
          <p:nvPr/>
        </p:nvSpPr>
        <p:spPr>
          <a:xfrm>
            <a:off x="868680" y="1828800"/>
            <a:ext cx="10881360" cy="1645920"/>
          </a:xfrm>
          <a:prstGeom prst="roundRect">
            <a:avLst>
              <a:gd name="adj" fmla="val 4444"/>
            </a:avLst>
          </a:prstGeom>
          <a:solidFill>
            <a:srgbClr val="31485D"/>
          </a:solidFill>
          <a:ln>
            <a:noFill/>
          </a:ln>
        </p:spPr>
      </p:sp>
      <p:sp>
        <p:nvSpPr>
          <p:cNvPr id="6" name="Text 6"/>
          <p:cNvSpPr txBox="1"/>
          <p:nvPr/>
        </p:nvSpPr>
        <p:spPr>
          <a:xfrm>
            <a:off x="1234440" y="1920240"/>
            <a:ext cx="10149840" cy="1463040"/>
          </a:xfrm>
          <a:prstGeom prst="rect">
            <a:avLst/>
          </a:prstGeom>
          <a:noFill/>
          <a:ln>
            <a:noFill/>
          </a:ln>
        </p:spPr>
        <p:txBody>
          <a:bodyPr wrap="square" lIns="0" tIns="0" rIns="0" bIns="0" rtlCol="0" anchor="ctr"/>
          <a:lstStyle/>
          <a:p>
            <a:pPr marL="0" indent="0" algn="ctr">
              <a:buNone/>
            </a:pPr>
            <a:r>
              <a:rPr lang="pt-BR" sz="2200" b="1" dirty="0">
                <a:solidFill>
                  <a:srgbClr val="FFFFFF"/>
                </a:solidFill>
                <a:latin typeface="Arial" pitchFamily="34" charset="0"/>
                <a:ea typeface="Arial" pitchFamily="34" charset="-122"/>
                <a:cs typeface="Arial" pitchFamily="34" charset="-120"/>
              </a:rPr>
              <a:t>Rito sumário "salvou" o GEF do colapso</a:t>
            </a:r>
            <a:endParaRPr lang="pt-BR" sz="2200" dirty="0"/>
          </a:p>
        </p:txBody>
      </p:sp>
      <p:sp>
        <p:nvSpPr>
          <p:cNvPr id="7" name="Shape 7"/>
          <p:cNvSpPr/>
          <p:nvPr/>
        </p:nvSpPr>
        <p:spPr>
          <a:xfrm>
            <a:off x="868680" y="3840480"/>
            <a:ext cx="10881360" cy="1645920"/>
          </a:xfrm>
          <a:prstGeom prst="roundRect">
            <a:avLst>
              <a:gd name="adj" fmla="val 4444"/>
            </a:avLst>
          </a:prstGeom>
          <a:solidFill>
            <a:srgbClr val="EEF3F6"/>
          </a:solidFill>
          <a:ln w="12700">
            <a:solidFill>
              <a:srgbClr val="72BAE3"/>
            </a:solidFill>
            <a:prstDash val="solid"/>
          </a:ln>
        </p:spPr>
      </p:sp>
      <p:sp>
        <p:nvSpPr>
          <p:cNvPr id="8" name="Shape 8"/>
          <p:cNvSpPr/>
          <p:nvPr/>
        </p:nvSpPr>
        <p:spPr>
          <a:xfrm>
            <a:off x="868680" y="3840480"/>
            <a:ext cx="109728" cy="1645920"/>
          </a:xfrm>
          <a:prstGeom prst="rect">
            <a:avLst/>
          </a:prstGeom>
          <a:solidFill>
            <a:srgbClr val="31485D"/>
          </a:solidFill>
          <a:ln>
            <a:noFill/>
          </a:ln>
        </p:spPr>
      </p:sp>
      <p:sp>
        <p:nvSpPr>
          <p:cNvPr id="9" name="Text 9"/>
          <p:cNvSpPr txBox="1"/>
          <p:nvPr/>
        </p:nvSpPr>
        <p:spPr>
          <a:xfrm>
            <a:off x="1234440" y="3931920"/>
            <a:ext cx="10149840" cy="1463040"/>
          </a:xfrm>
          <a:prstGeom prst="rect">
            <a:avLst/>
          </a:prstGeom>
          <a:noFill/>
          <a:ln>
            <a:noFill/>
          </a:ln>
        </p:spPr>
        <p:txBody>
          <a:bodyPr wrap="square" lIns="0" tIns="0" rIns="0" bIns="0" rtlCol="0" anchor="ctr"/>
          <a:lstStyle/>
          <a:p>
            <a:pPr marL="0" indent="0" algn="ctr">
              <a:buNone/>
            </a:pPr>
            <a:r>
              <a:rPr lang="pt-BR" sz="2200" b="1" dirty="0">
                <a:solidFill>
                  <a:srgbClr val="31485D"/>
                </a:solidFill>
                <a:latin typeface="Arial" pitchFamily="34" charset="0"/>
                <a:ea typeface="Arial" pitchFamily="34" charset="-122"/>
                <a:cs typeface="Arial" pitchFamily="34" charset="-120"/>
              </a:rPr>
              <a:t>Necessidade de sistematizar o tratamento das denúncias</a:t>
            </a:r>
            <a:endParaRPr lang="pt-BR" sz="2200" dirty="0"/>
          </a:p>
        </p:txBody>
      </p:sp>
      <p:sp>
        <p:nvSpPr>
          <p:cNvPr id="10" name="Text 10"/>
          <p:cNvSpPr txBox="1"/>
          <p:nvPr/>
        </p:nvSpPr>
        <p:spPr>
          <a:xfrm>
            <a:off x="640080" y="6492240"/>
            <a:ext cx="548640" cy="274320"/>
          </a:xfrm>
          <a:prstGeom prst="rect">
            <a:avLst/>
          </a:prstGeom>
          <a:noFill/>
          <a:ln>
            <a:noFill/>
          </a:ln>
        </p:spPr>
        <p:txBody>
          <a:bodyPr wrap="square" lIns="0" tIns="0" rIns="0" bIns="0" rtlCol="0" anchor="ctr"/>
          <a:lstStyle/>
          <a:p>
            <a:pPr marL="0" indent="0" algn="l">
              <a:buNone/>
            </a:pPr>
            <a:r>
              <a:rPr lang="pt-BR" sz="900" dirty="0">
                <a:solidFill>
                  <a:srgbClr val="9AA7B0"/>
                </a:solidFill>
                <a:latin typeface="Arial" pitchFamily="34" charset="0"/>
                <a:ea typeface="Arial" pitchFamily="34" charset="-122"/>
                <a:cs typeface="Arial" pitchFamily="34" charset="-120"/>
              </a:rPr>
              <a:t>50</a:t>
            </a:r>
            <a:endParaRPr lang="pt-BR"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hip.jpg"/>
          <p:cNvPicPr>
            <a:picLocks noChangeAspect="1"/>
          </p:cNvPicPr>
          <p:nvPr/>
        </p:nvPicPr>
        <p:blipFill>
          <a:blip r:embed="rId2"/>
          <a:srcRect l="24946" r="24946"/>
          <a:stretch>
            <a:fillRect/>
          </a:stretch>
        </p:blipFill>
        <p:spPr>
          <a:xfrm>
            <a:off x="7040880" y="0"/>
            <a:ext cx="5150815" cy="6858000"/>
          </a:xfrm>
          <a:prstGeom prst="rect">
            <a:avLst/>
          </a:prstGeom>
        </p:spPr>
      </p:pic>
      <p:sp>
        <p:nvSpPr>
          <p:cNvPr id="3" name="Shape 3"/>
          <p:cNvSpPr/>
          <p:nvPr/>
        </p:nvSpPr>
        <p:spPr>
          <a:xfrm>
            <a:off x="0" y="0"/>
            <a:ext cx="7040880" cy="6858000"/>
          </a:xfrm>
          <a:prstGeom prst="rect">
            <a:avLst/>
          </a:prstGeom>
          <a:solidFill>
            <a:srgbClr val="31485D"/>
          </a:solidFill>
          <a:ln>
            <a:noFill/>
          </a:ln>
        </p:spPr>
      </p:sp>
      <p:sp>
        <p:nvSpPr>
          <p:cNvPr id="5" name="Text 5"/>
          <p:cNvSpPr txBox="1"/>
          <p:nvPr/>
        </p:nvSpPr>
        <p:spPr>
          <a:xfrm>
            <a:off x="640080" y="2148840"/>
            <a:ext cx="6400800" cy="914400"/>
          </a:xfrm>
          <a:prstGeom prst="rect">
            <a:avLst/>
          </a:prstGeom>
          <a:noFill/>
          <a:ln>
            <a:noFill/>
          </a:ln>
        </p:spPr>
        <p:txBody>
          <a:bodyPr wrap="square" lIns="0" tIns="0" rIns="0" bIns="0" rtlCol="0" anchor="t"/>
          <a:lstStyle/>
          <a:p>
            <a:pPr marL="0" indent="0" algn="l">
              <a:lnSpc>
                <a:spcPct val="100000"/>
              </a:lnSpc>
              <a:buNone/>
            </a:pPr>
            <a:r>
              <a:rPr lang="pt-BR" sz="4000" b="1" dirty="0">
                <a:solidFill>
                  <a:srgbClr val="FFFFFF"/>
                </a:solidFill>
                <a:latin typeface="Arial" pitchFamily="34" charset="0"/>
                <a:ea typeface="Arial" pitchFamily="34" charset="-122"/>
                <a:cs typeface="Arial" pitchFamily="34" charset="-120"/>
              </a:rPr>
              <a:t>Muito obrigado!</a:t>
            </a:r>
            <a:endParaRPr lang="pt-BR" sz="4000" dirty="0"/>
          </a:p>
        </p:txBody>
      </p:sp>
      <p:sp>
        <p:nvSpPr>
          <p:cNvPr id="6" name="Text 6"/>
          <p:cNvSpPr txBox="1"/>
          <p:nvPr/>
        </p:nvSpPr>
        <p:spPr>
          <a:xfrm>
            <a:off x="640080" y="3246120"/>
            <a:ext cx="6400800" cy="1188720"/>
          </a:xfrm>
          <a:prstGeom prst="rect">
            <a:avLst/>
          </a:prstGeom>
          <a:noFill/>
          <a:ln>
            <a:noFill/>
          </a:ln>
        </p:spPr>
        <p:txBody>
          <a:bodyPr wrap="square" lIns="0" tIns="0" rIns="0" bIns="0" rtlCol="0" anchor="t"/>
          <a:lstStyle/>
          <a:p>
            <a:pPr marL="0" indent="0" algn="l">
              <a:lnSpc>
                <a:spcPct val="110000"/>
              </a:lnSpc>
              <a:buNone/>
            </a:pPr>
            <a:r>
              <a:rPr lang="pt-BR" sz="1200" b="1" dirty="0">
                <a:solidFill>
                  <a:srgbClr val="FFFFFF"/>
                </a:solidFill>
                <a:latin typeface="Arial" pitchFamily="34" charset="0"/>
                <a:ea typeface="Arial" pitchFamily="34" charset="-122"/>
                <a:cs typeface="Arial" pitchFamily="34" charset="-120"/>
              </a:rPr>
              <a:t>Luís Eduardo Bender</a:t>
            </a:r>
            <a:endParaRPr lang="pt-BR" sz="1200" dirty="0"/>
          </a:p>
          <a:p>
            <a:pPr marL="0" indent="0" algn="l">
              <a:lnSpc>
                <a:spcPct val="110000"/>
              </a:lnSpc>
              <a:buNone/>
            </a:pPr>
            <a:r>
              <a:rPr lang="pt-BR" sz="1200" dirty="0">
                <a:solidFill>
                  <a:srgbClr val="FFFFFF"/>
                </a:solidFill>
                <a:latin typeface="Arial" pitchFamily="34" charset="0"/>
                <a:ea typeface="Arial" pitchFamily="34" charset="-122"/>
                <a:cs typeface="Arial" pitchFamily="34" charset="-120"/>
              </a:rPr>
              <a:t>Técnico em Regulação de Serviços de Transportes Aquaviários</a:t>
            </a:r>
            <a:endParaRPr lang="pt-BR" sz="1200" dirty="0"/>
          </a:p>
          <a:p>
            <a:pPr marL="0" indent="0" algn="l">
              <a:lnSpc>
                <a:spcPct val="110000"/>
              </a:lnSpc>
              <a:buNone/>
            </a:pPr>
            <a:r>
              <a:rPr lang="pt-BR" sz="1200" dirty="0">
                <a:solidFill>
                  <a:srgbClr val="FFFFFF"/>
                </a:solidFill>
                <a:latin typeface="Arial" pitchFamily="34" charset="0"/>
                <a:ea typeface="Arial" pitchFamily="34" charset="-122"/>
                <a:cs typeface="Arial" pitchFamily="34" charset="-120"/>
              </a:rPr>
              <a:t>Líder do Grupo Especializado de Fiscalização de Contêineres - GEF Contêineres/GCOR/SFC</a:t>
            </a:r>
            <a:endParaRPr lang="pt-BR" sz="1200" dirty="0"/>
          </a:p>
        </p:txBody>
      </p:sp>
      <p:sp>
        <p:nvSpPr>
          <p:cNvPr id="7" name="Text 7"/>
          <p:cNvSpPr txBox="1"/>
          <p:nvPr/>
        </p:nvSpPr>
        <p:spPr>
          <a:xfrm>
            <a:off x="640080" y="4983480"/>
            <a:ext cx="6400800" cy="914400"/>
          </a:xfrm>
          <a:prstGeom prst="rect">
            <a:avLst/>
          </a:prstGeom>
          <a:noFill/>
          <a:ln>
            <a:noFill/>
          </a:ln>
        </p:spPr>
        <p:txBody>
          <a:bodyPr wrap="square" lIns="0" tIns="0" rIns="0" bIns="0" rtlCol="0" anchor="t"/>
          <a:lstStyle/>
          <a:p>
            <a:pPr marL="0" indent="0" algn="l">
              <a:lnSpc>
                <a:spcPct val="110000"/>
              </a:lnSpc>
              <a:spcAft>
                <a:spcPts val="400"/>
              </a:spcAft>
              <a:buNone/>
            </a:pPr>
            <a:r>
              <a:rPr lang="pt-BR" sz="1400" b="1" dirty="0">
                <a:solidFill>
                  <a:srgbClr val="72BAE3"/>
                </a:solidFill>
                <a:latin typeface="Arial" pitchFamily="34" charset="0"/>
                <a:ea typeface="Arial" pitchFamily="34" charset="-122"/>
                <a:cs typeface="Arial" pitchFamily="34" charset="-120"/>
              </a:rPr>
              <a:t>Reunião semanal:</a:t>
            </a:r>
            <a:endParaRPr lang="pt-BR" sz="1400" dirty="0"/>
          </a:p>
          <a:p>
            <a:pPr marL="0" indent="0" algn="l">
              <a:lnSpc>
                <a:spcPct val="110000"/>
              </a:lnSpc>
              <a:buNone/>
            </a:pPr>
            <a:r>
              <a:rPr lang="pt-BR" sz="1200" dirty="0">
                <a:solidFill>
                  <a:srgbClr val="FFFFFF"/>
                </a:solidFill>
                <a:latin typeface="Arial" pitchFamily="34" charset="0"/>
                <a:ea typeface="Arial" pitchFamily="34" charset="-122"/>
                <a:cs typeface="Arial" pitchFamily="34" charset="-120"/>
              </a:rPr>
              <a:t>Toda terça-feira, às 10h, aberta a toda a comunidade da SFC</a:t>
            </a:r>
            <a:endParaRPr lang="pt-BR" sz="1200" dirty="0"/>
          </a:p>
        </p:txBody>
      </p:sp>
      <p:sp>
        <p:nvSpPr>
          <p:cNvPr id="8" name="Text 8"/>
          <p:cNvSpPr txBox="1"/>
          <p:nvPr/>
        </p:nvSpPr>
        <p:spPr>
          <a:xfrm>
            <a:off x="6217920" y="6565392"/>
            <a:ext cx="5806440" cy="256032"/>
          </a:xfrm>
          <a:prstGeom prst="rect">
            <a:avLst/>
          </a:prstGeom>
          <a:noFill/>
          <a:ln>
            <a:noFill/>
          </a:ln>
        </p:spPr>
        <p:txBody>
          <a:bodyPr wrap="square" lIns="0" tIns="0" rIns="0" bIns="0" rtlCol="0" anchor="ctr"/>
          <a:lstStyle/>
          <a:p>
            <a:pPr marL="0" indent="0" algn="r">
              <a:buNone/>
            </a:pPr>
            <a:r>
              <a:rPr lang="pt-BR" sz="700" i="1" dirty="0">
                <a:solidFill>
                  <a:srgbClr val="9AA7B0"/>
                </a:solidFill>
                <a:latin typeface="Arial" pitchFamily="34" charset="0"/>
                <a:ea typeface="Arial" pitchFamily="34" charset="-122"/>
                <a:cs typeface="Arial" pitchFamily="34" charset="-120"/>
              </a:rPr>
              <a:t>Foto: embassyfreight.fr</a:t>
            </a:r>
            <a:endParaRPr lang="pt-BR" sz="700" dirty="0"/>
          </a:p>
        </p:txBody>
      </p:sp>
      <p:pic>
        <p:nvPicPr>
          <p:cNvPr id="10" name="Image 1" descr="assets_proc/logo_antaq_transp.png">
            <a:extLst>
              <a:ext uri="{FF2B5EF4-FFF2-40B4-BE49-F238E27FC236}">
                <a16:creationId xmlns:a16="http://schemas.microsoft.com/office/drawing/2014/main" id="{95D19656-0B1B-997E-501E-7835309A2B63}"/>
              </a:ext>
            </a:extLst>
          </p:cNvPr>
          <p:cNvPicPr>
            <a:picLocks noChangeAspect="1"/>
          </p:cNvPicPr>
          <p:nvPr/>
        </p:nvPicPr>
        <p:blipFill>
          <a:blip r:embed="rId3"/>
          <a:stretch>
            <a:fillRect/>
          </a:stretch>
        </p:blipFill>
        <p:spPr>
          <a:xfrm>
            <a:off x="10065959" y="457200"/>
            <a:ext cx="1643865"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3461</Words>
  <Application>Microsoft Office PowerPoint</Application>
  <PresentationFormat>Widescreen</PresentationFormat>
  <Paragraphs>485</Paragraphs>
  <Slides>51</Slides>
  <Notes>22</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51</vt:i4>
      </vt:variant>
    </vt:vector>
  </HeadingPairs>
  <TitlesOfParts>
    <vt:vector size="53" baseType="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ANTAQ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GEF Contêineres: um panorama</dc:title>
  <dc:subject>PptxGenJS Presentation</dc:subject>
  <dc:creator>Luís Eduardo Bender</dc:creator>
  <cp:lastModifiedBy>Jéssica Bersch</cp:lastModifiedBy>
  <cp:revision>3</cp:revision>
  <dcterms:created xsi:type="dcterms:W3CDTF">2026-09-22T20:25:24Z</dcterms:created>
  <dcterms:modified xsi:type="dcterms:W3CDTF">2026-09-23T13:35:09Z</dcterms:modified>
</cp:coreProperties>
</file>