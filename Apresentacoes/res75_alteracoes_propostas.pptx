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71" r:id="rId14"/>
    <p:sldId id="272" r:id="rId15"/>
    <p:sldId id="274" r:id="rId16"/>
    <p:sldId id="275" r:id="rId17"/>
    <p:sldId id="276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7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Apresentação das alterações propostas na Resolução nº 75-ANTAQ, com base na norma vigente (consolidada até a Res. 127/2025) e na minuta constante do Processo nº 50300.017497/2024-74. A minuta ainda não tem número, data nem reunião de deliberação definidos.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 do tempo elaborada a partir das indicações de alteração constantes do texto consolidado da Res. 75. A data da Res. 75 aparece como 2 de junho no texto vigente e como 6 de junho na minuta; por isso o slide usa apenas 'jun/2022'.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7 dispositivos avulsos revogados são: parágrafo único do art. 3º; alínea 'd' do inciso XXXVII e §1º do art. 33; parágrafos únicos dos arts. 34, 35 e 37; §1º do art. 36. A Seção VII (Da Classificação das Infrações) também é revogada, mas só contém o art. 38, já contado entre os artigos revogados.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dos cinco grandes movimentos da minuta. Os slides seguintes detalham cada eixo por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1º caput e §1º da minuta. Os incisos II, III e IV trazem agentes ou recortes que não constam do rol atual, com destaque para o concessionário, os exploradores de áreas e instalações e os terceiros presentes nas áreas operacionais em porto concedido.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1º, §§2º e 3º; art. 12, §2º; e novo inciso XL do art. 34, alíneas 'a' a 'd'. Os valores são multas máximas. A infração recai sobre a autoridade portuária ou concessionária que deixa de atuar sobre o contrato de exploração da área não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Arts. 2º (incisos VI e VII), 3º e 4º da minuta. O inciso VII do art. 2º aparece na minuta sem o verbo de abertura; a redação final deve ser conferida.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Esquema construído a partir dos novos arts. 11-A, 11-B, 15-A, 15-B e 15-C e do art. 8º, VII. As setas indicam a cadeia de fiscalização: Antaq sobre a concessionária, e concessionária sobre exploradores e terceiros.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art. 32-B já existe (Res. 127/2025); a minuta apenas acrescenta o §4º. O art. 11-B tem redação próxima à do art. 32-A vigente, agora voltada à concessionária.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6º, art. 8º (caput, incisos VI a IX e parágrafo único), art. 9º e art. 11 da minuta. O prazo e o detalhamento da tabela tarifária (antes no art. 11) reaparecem no novo inciso I-A do art. 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Revogação dos arts. 27 a 32 e 38 e da Seção VII. O novo art. 26-A remete à legislação e à norma do procedimento sancionador. Para a fiscalização, a competência de julgamento e a classificação das infrações deixam de estar na Res. 75 e devem ser consultadas na norma sancionatória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33, incisos XIX, XXXIV, XXXVII (alíneas b, c e d) e XL. Nos tipos alterados, o valor máximo da multa permanece o mesmo.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34, incisos I, III, V (alíneas a e b), VIII e XVIII. Os valores máximos de multa permanecem os mesmos do texto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Art. 34, incisos XXI, XXIV, XXIX, XXX e XXXI. Destaque para o XXIV (a conduta passa da manutenção da profundidade para a dragagem) e para o XXXI (retirada da referência a instrumento sem assinatura ou vencido).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Leitura preliminar elaborada a partir do texto da minuta, para estimular o debate. Não representa posição institucional consolidada.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minuta prevê entrada em vigor noventa dias após a publicação. As etapas anteriores decorrem dos campos ainda não preenchidos (número da Resolução, data e reunião ordinária). A etapa de adequação é uma sugestão de encaminhamento.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-1097280"/>
            <a:ext cx="5120640" cy="5120640"/>
          </a:xfrm>
          <a:prstGeom prst="ellipse">
            <a:avLst/>
          </a:prstGeom>
          <a:solidFill>
            <a:srgbClr val="00667D">
              <a:alpha val="45000"/>
            </a:srgbClr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583680" y="2103120"/>
            <a:ext cx="3474720" cy="3474720"/>
          </a:xfrm>
          <a:prstGeom prst="ellipse">
            <a:avLst/>
          </a:prstGeom>
          <a:solidFill>
            <a:srgbClr val="00667D">
              <a:alpha val="25000"/>
            </a:srgbClr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720840" y="1234440"/>
            <a:ext cx="1371600" cy="13716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00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Alterações propostas na Resolução nº 75-ANTAQ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889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da prestação dos serviços portuários e infrações administrativas: o que muda com a minuta em análise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de setembro de 2026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4988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nº 50300.017497/2024-74  ·  Minuta de documento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partida: a Resolução nº 75 e suas alterações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005840" y="1828800"/>
            <a:ext cx="7132320" cy="0"/>
          </a:xfrm>
          <a:prstGeom prst="line">
            <a:avLst/>
          </a:prstGeom>
          <a:noFill/>
          <a:ln w="31750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jun/2022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9536" y="1682496"/>
            <a:ext cx="292608" cy="292608"/>
          </a:xfrm>
          <a:prstGeom prst="ellipse">
            <a:avLst/>
          </a:prstGeom>
          <a:solidFill>
            <a:srgbClr val="0A2F3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30352" y="2212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75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2505456"/>
            <a:ext cx="950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Norma-base: serviço adequado e infrações. Vigência desde 1º/7/2022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31/05/2023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48256" y="1682496"/>
            <a:ext cx="292608" cy="292608"/>
          </a:xfrm>
          <a:prstGeom prst="ellipse">
            <a:avLst/>
          </a:prstGeom>
          <a:solidFill>
            <a:srgbClr val="00667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645920" y="2148840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1719072" y="2212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99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19072" y="2505456"/>
            <a:ext cx="950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Placa de atendimento ao usuário (art. 3º, par. único)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23/06/2023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36976" y="1682496"/>
            <a:ext cx="292608" cy="292608"/>
          </a:xfrm>
          <a:prstGeom prst="ellipse">
            <a:avLst/>
          </a:prstGeom>
          <a:solidFill>
            <a:srgbClr val="00667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834640" y="2148840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2907792" y="2212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104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07792" y="2505456"/>
            <a:ext cx="950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exigidos (art. 33, XVII)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17/11/2023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25696" y="1682496"/>
            <a:ext cx="292608" cy="292608"/>
          </a:xfrm>
          <a:prstGeom prst="ellipse">
            <a:avLst/>
          </a:prstGeom>
          <a:solidFill>
            <a:srgbClr val="00667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023360" y="2148840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4096512" y="2212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109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096512" y="2505456"/>
            <a:ext cx="950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de preços e simulador de contêineres (art. 33, XLIII a XLV)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12/03/2024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14416" y="1682496"/>
            <a:ext cx="292608" cy="292608"/>
          </a:xfrm>
          <a:prstGeom prst="ellipse">
            <a:avLst/>
          </a:prstGeom>
          <a:solidFill>
            <a:srgbClr val="00667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5212080" y="2148840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5285232" y="2212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112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85232" y="2505456"/>
            <a:ext cx="950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por armazenagem na exportação (art. 33, XLI)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08/04/2025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03136" y="1682496"/>
            <a:ext cx="292608" cy="292608"/>
          </a:xfrm>
          <a:prstGeom prst="ellipse">
            <a:avLst/>
          </a:prstGeom>
          <a:solidFill>
            <a:srgbClr val="00667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6400800" y="2148840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6473952" y="2212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Res. 127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73952" y="2505456"/>
            <a:ext cx="950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Caducidade, extinção por culpa e intervenção (arts. 32-A a 32-E)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758952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991856" y="1682496"/>
            <a:ext cx="292608" cy="292608"/>
          </a:xfrm>
          <a:prstGeom prst="ellipse">
            <a:avLst/>
          </a:prstGeom>
          <a:solidFill>
            <a:srgbClr val="D98E1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7589520" y="2148840"/>
            <a:ext cx="1097280" cy="1417320"/>
          </a:xfrm>
          <a:prstGeom prst="roundRect">
            <a:avLst>
              <a:gd name="adj" fmla="val 6667"/>
            </a:avLst>
          </a:prstGeom>
          <a:solidFill>
            <a:srgbClr val="FCEFD6"/>
          </a:solidFill>
          <a:ln w="12700">
            <a:solidFill>
              <a:srgbClr val="F2C0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 txBox="1"/>
          <p:nvPr/>
        </p:nvSpPr>
        <p:spPr>
          <a:xfrm>
            <a:off x="7662672" y="2212848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Minuta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662672" y="2505456"/>
            <a:ext cx="9509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ampla: alcance, concessões e regime infracional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 txBox="1"/>
          <p:nvPr/>
        </p:nvSpPr>
        <p:spPr>
          <a:xfrm>
            <a:off x="685800" y="3794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a Resolução alcança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administrações portuárias, arrendatários, operadores portuários e autorizatários</a:t>
            </a:r>
            <a:r>
              <a:rPr lang="en-US" sz="14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(art. 1º). A minuta amplia esse universo e reorganiza o regime de infrações.</a:t>
            </a:r>
            <a:endParaRPr lang="en-US" sz="14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minuta em números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alterados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560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1º, 2º, 3º, 4º, 6º, 8º, 9º, 11, 12, 13, 15, 16, 17, 19, 32-B, 33, 34, 35, 36 e 37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256032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9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artigos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60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11-A, 11-B, 15-A, 15-B, 15-C e 26-A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466344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artigos revogados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560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27 a 32 e 38, além de 7 dispositivos avulsos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20240" cy="2331720"/>
          </a:xfrm>
          <a:prstGeom prst="roundRect">
            <a:avLst>
              <a:gd name="adj" fmla="val 4762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766560" y="128016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após a publicação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56032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para entrada em vigor (art. 4º da minuta)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858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na minuta: </a:t>
            </a:r>
            <a:r>
              <a:rPr lang="en-US" sz="12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Capítulo IV-A (exploradores em porto concedido), novas Seções I e II no Capítulo III, 12 novos incisos e 1 nova alínea de infração no art. 34.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eixos da proposta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30352" cy="530352"/>
          </a:xfrm>
          <a:prstGeom prst="ellipse">
            <a:avLst/>
          </a:prstGeom>
          <a:solidFill>
            <a:srgbClr val="00667D"/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9" y="1337219"/>
            <a:ext cx="233355" cy="2333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1704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ampliado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1704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Concessionários, exploradores de áreas e instalações (inclusive em porto concedido), terceiros em áreas operacionais e áreas não operacionais com impacto passam a ser alcançados.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874520"/>
            <a:ext cx="530352" cy="530352"/>
          </a:xfrm>
          <a:prstGeom prst="ellipse">
            <a:avLst/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9" y="2023019"/>
            <a:ext cx="233355" cy="23335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8562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 modelo em porto concedido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18562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concessionária fiscaliza diretamente os exploradores; a Antaq mantém a tutela e o controle finalístico.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530352" cy="530352"/>
          </a:xfrm>
          <a:prstGeom prst="ellipse">
            <a:avLst/>
          </a:prstGeom>
          <a:solidFill>
            <a:srgbClr val="00667D"/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99" y="2708819"/>
            <a:ext cx="233355" cy="23335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25420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Serviço adequado revisitado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657600" y="25420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nos arts. 2º, 3º, 4º, 6º, 8º, 9º e 11, com novas competências e garantias da autoridade portuária.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7200" y="3246120"/>
            <a:ext cx="530352" cy="530352"/>
          </a:xfrm>
          <a:prstGeom prst="ellipse">
            <a:avLst/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99" y="3394619"/>
            <a:ext cx="233355" cy="23335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88720" y="32278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infracional recalibrado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3657600" y="32278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tipos, sobretudo para concessionárias, e ajustes em tipos existentes nos arts. 33 a 37.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7200" y="3931920"/>
            <a:ext cx="530352" cy="530352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699" y="4080419"/>
            <a:ext cx="233355" cy="23335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391363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Sanções e classificação saem da Resolução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3657600" y="39136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Penalidades, julgamento e classificação passam à norma do procedimento sancionador (art. 26-A).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· ART. 1º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passa a ser alcançado pela Resolução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834640" cy="3063240"/>
          </a:xfrm>
          <a:prstGeom prst="roundRect">
            <a:avLst>
              <a:gd name="adj" fmla="val 3226"/>
            </a:avLst>
          </a:prstGeom>
          <a:solidFill>
            <a:srgbClr val="F1F4F5"/>
          </a:solidFill>
          <a:ln w="12700">
            <a:solidFill>
              <a:srgbClr val="D3E2E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(art. 1º)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45920"/>
            <a:ext cx="2514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Administrações dos portos organizados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Arrendatários de áreas e instalações portuárias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portuários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Autorizatários de instalações portuárias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01568" y="2423160"/>
            <a:ext cx="457200" cy="411480"/>
          </a:xfrm>
          <a:prstGeom prst="rightArrow">
            <a:avLst/>
          </a:prstGeom>
          <a:solidFill>
            <a:srgbClr val="00667D"/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977640" y="1188720"/>
            <a:ext cx="4709160" cy="3063240"/>
          </a:xfrm>
          <a:prstGeom prst="roundRect">
            <a:avLst>
              <a:gd name="adj" fmla="val 2985"/>
            </a:avLst>
          </a:prstGeom>
          <a:solidFill>
            <a:srgbClr val="E6F3F5"/>
          </a:solidFill>
          <a:ln w="12700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41605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(art. 1º, §1º)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1627632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0066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4160520" y="162763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1609344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portuárias da Administração Pública direta ou indireta, de qualquer esfera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60520" y="2057400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160520" y="205740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203911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Concessionários, no desempenho total ou parcial das funções de autoridade portuária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0520" y="2487168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4160520" y="248716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645152" y="2468880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Arrendatários e demais exploradores de áreas e instalações operacionais ou com impacto na operação, em porto não concedido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3044952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1F9D6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4160520" y="3044952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645152" y="3026664"/>
            <a:ext cx="3886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Exploradores em porto concedido e terceiros presentes nas áreas operacionais a serviço dos concessionários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60520" y="3602736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0066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4160520" y="3602736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645152" y="35844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portuários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3904488"/>
            <a:ext cx="384048" cy="237744"/>
          </a:xfrm>
          <a:prstGeom prst="roundRect">
            <a:avLst>
              <a:gd name="adj" fmla="val 23077"/>
            </a:avLst>
          </a:prstGeom>
          <a:solidFill>
            <a:srgbClr val="00667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4160520" y="39044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645152" y="38862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Autorizatários de instalações portuárias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agente ou recorte que passa a constar expressamente do rol. A norma se aplica a portos e instalações dentro ou fora do porto organizado.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· ART. 1º, §§2º E 3º; ART. 12, §2º; ART. 34, XL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Áreas não operacionais: atuação suplementar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017520" cy="3429000"/>
          </a:xfrm>
          <a:prstGeom prst="roundRect">
            <a:avLst>
              <a:gd name="adj" fmla="val 3030"/>
            </a:avLst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8580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geral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73736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atuação da Antaq é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suplementar</a:t>
            </a:r>
            <a:r>
              <a:rPr lang="en-US" sz="12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da autoridade portuária.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 sobre questões com potencial de impacto nas operações portuárias e sobre a resolução de conflitos com usuários de serviços públicos.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de áreas não usadas em operações portuárias (como ferrovias internas) só são alcançados se houver impacto, em coordenação com outros órgãos.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1170432"/>
            <a:ext cx="4983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 relevantes e infração correspondente (art. 34, XL): deixar de atuar para assegurar o cumprimento do contrato e de aplicar as penalidades nele previstas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03320" y="1737360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3858768" y="1792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pactuados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858768" y="204825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quando impactarem as atividades portuárias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73736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R$ 200 mil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703320" y="2468880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3858768" y="25237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Interferências rodoferroviárias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858768" y="27797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 e mitigação de interferências prejudiciais ao porto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46888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 mil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03320" y="3200400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3858768" y="32552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com exploradores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858768" y="3511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 com exploradores de áreas ou instalações operacionais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0040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 mil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703320" y="3931920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3858768" y="39867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Interações porto-cidade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858768" y="42428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prejudiciais à relação porto-cidade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9319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 mil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ADEQUADO · ARTS. 2º, 3º E 4º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Ajustes nas condições do serviço adequado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9535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2º, VI e VII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Comunicar infrações cometidas por administração do porto, arrendatários, autorizatários e operadores. Contribuir para a conservação dos bens públicos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VI: comunicar infrações "cometidas na prestação do serviço", sem listar agentes. VII: passa a abranger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bens, equipamentos, instalações e infraestruturas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dos serviços,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públicos ou privados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3º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Placa de comunicação com a Antaq: caput e parágrafo único (locais de afixação)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 unificado no caput; inclui o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explorador de área e instalação em porto concedido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parágrafo único revogado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4º, caput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Autoridade portuária, arrendatário, autorizatário e operador devem observar as condições mínimas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prestação de serviços portuários"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será realizada observando as condições mínimas, sem listar agentes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4º, I, III(f) e IV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Regularidade compatível com embarcações-tipo. Outros critérios "estabelecidos" pela Antaq. Segurança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Regularidade também quanto ao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carga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com constância e padrão de qualidade. Critérios "regulamentados".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das instalações e operações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4º, par. único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Novo: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atividades contratadas com terceiros pressupõem cumprimento do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PDZ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aprovado e das normas dos serviços concedidos e contratados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PORTOS CONCEDIDOS · ARTS. 8º, VII; 11-A; 11-B; 15-A A 15-C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Portos concedidos: fiscalização em duas camadas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125272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ANTAQ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813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Tutela e controle finalístico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5564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 investimentos, obrigações legais e contratuais e indicadores da concessionária (art. 11-B)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00667D"/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640080" y="255117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CONCESSIONÁRIA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79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Fiscalização direta dos exploradores (art. 15-B)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540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6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por prejuízos (art. 11-A) e reporta infrações à Antaq (art. 8º, VII)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85616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E6F3F5"/>
          </a:solidFill>
          <a:ln w="12700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40080" y="38496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EXPLORADORES E TERCEIROS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0782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 regidos pelo direito privado (art. 15-A)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34640" y="2103120"/>
            <a:ext cx="274320" cy="365760"/>
          </a:xfrm>
          <a:prstGeom prst="downArrow">
            <a:avLst/>
          </a:prstGeom>
          <a:solidFill>
            <a:srgbClr val="CFE6EB"/>
          </a:solidFill>
          <a:ln w="12700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834640" y="3401568"/>
            <a:ext cx="274320" cy="365760"/>
          </a:xfrm>
          <a:prstGeom prst="downArrow">
            <a:avLst/>
          </a:prstGeom>
          <a:solidFill>
            <a:srgbClr val="CFE6EB"/>
          </a:solidFill>
          <a:ln w="12700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715000" y="1188720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5870448" y="128016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além do contrato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870448" y="1554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Antaq pode exigir relatórios e informações não previstos nos contratos de concessão (art. 11-B, par. único).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487168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5870448" y="25786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Conflitos com usuários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870448" y="285292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explorador em porto concedido fica sujeito à Antaq nas representações por conflitos na prestação de serviços (art. 15-B, par. único).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15000" y="3785616"/>
            <a:ext cx="2971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5870448" y="38770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da concessionária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870448" y="415137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Aplicam-se os tipos do art. 34, com prevalência do contrato de concessão em caso de conflito (art. 34, §1º).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PORTOS CONCEDIDOS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Novos dispositivos para portos concedidos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594360" y="1252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11-A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28016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2423160" y="12801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da concessionária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183794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o objeto da concessão e responder por prejuízos ao poder concedente, aos usuários e a terceiros. A fiscalização não exclui nem atenua essa responsabilidade.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430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383280" y="1252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11-B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212080" y="128016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212080" y="12801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da Antaq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83794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de investimentos, obrigações legais e contratuais, indicadores e eficiência, inclusive dos exploradores. Pode exigir relatórios e informações não previstos em contrato.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14300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172200" y="1252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15-A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01000" y="128016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8001000" y="12801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15636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com terceiros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183794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Regidos pelas normas de direito privado (Lei nº 12.815/2013). A execução exige cumprimento das normas legais e regulatórias do serviço concedido.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59436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15-B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423160" y="306324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2423160" y="3063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fiscaliza quem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4360" y="362102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Concessionária: fiscalização direta dos exploradores. Antaq: tutela e controle finalístico, e conflitos com usuários.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29260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338328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15-C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12080" y="306324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5212080" y="3063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portuária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3383280" y="362102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Titulares de contratos de exploração devem contratar operadores pré-qualificados ou se pré-qualificar, ressalvadas as hipóteses do art. 28 da Lei nº 12.815/2013.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035040" y="292608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 txBox="1"/>
          <p:nvPr/>
        </p:nvSpPr>
        <p:spPr>
          <a:xfrm>
            <a:off x="617220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6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32-B, §4º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001000" y="3063240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8001000" y="306324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6172200" y="33467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do serviço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172200" y="362102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serviços da concessionária não podem ser interrompidos ou paralisados em razão da proposta de caducidade ou intervenção.</a:t>
            </a:r>
            <a:endParaRPr lang="en-US" sz="11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PORTUÁRIA · ARTS. 6º, 8º, 9º E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Autoridade portuária: competências e garantias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581581"/>
              </p:ext>
            </p:extLst>
          </p:nvPr>
        </p:nvGraphicFramePr>
        <p:xfrm>
          <a:off x="457200" y="1143000"/>
          <a:ext cx="8229600" cy="235915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6º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Isonomia entre usuários, arrendatários, autorizatários e operadores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exploradores em porto concedido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exploradores de áreas ou instalações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afetas à operação portuária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8º, caput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Regulamento do porto e diretrizes do poder concedente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 também o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convênio ou contrato de concessão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o art. 17 da Lei nº 12.815/2013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8º, VI a 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Cessão de equipamentos de sua propriedade.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VI: inclui bens sob guarda e, para concessionárias,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bens reversíveis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 (novo):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fiscalização de todas as atividades no porto, inclusive de contratados e terceiros, reportando infrações à Antaq. 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8º, par. único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há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Novo: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 fiscalização da Antaq ou da autoridade portuária não exclui nem atenua a responsabilidade dos fiscalizados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Art.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Publicar tabelas em 10 dias da “</a:t>
                      </a:r>
                      <a:r>
                        <a:rPr lang="en-US" sz="1050" dirty="0" err="1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aprovação</a:t>
                      </a: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”, com descrição detalhada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Publicidade conforme a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 de Estrutura Tarifária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o contrato de concessão ou o convênio de delegação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INFRACIONAL · ARTS. 3º E 26-A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Sanções e classificação saem da Resolução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5212080" cy="3520440"/>
          </a:xfrm>
          <a:prstGeom prst="roundRect">
            <a:avLst>
              <a:gd name="adj" fmla="val 2597"/>
            </a:avLst>
          </a:prstGeom>
          <a:solidFill>
            <a:srgbClr val="FBF0EE"/>
          </a:solidFill>
          <a:ln w="12700">
            <a:solidFill>
              <a:srgbClr val="F0D3C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Revogados pela minuta (art. 3º)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609344"/>
            <a:ext cx="731520" cy="27432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40080" y="16093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27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15727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de penalidades: advertência, multa, proibição de ingresso, suspensão, cassação, inidoneidade, entre outras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731520" cy="27432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0080" y="2039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28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00253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Advertência em substituição à multa (infrações leves e médias)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468880"/>
            <a:ext cx="731520" cy="27432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40080" y="2468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29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243230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Cassação: competência do poder concedente, por proposta da Antaq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898648"/>
            <a:ext cx="731520" cy="27432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640080" y="28986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30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286207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de inidoneidade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328416"/>
            <a:ext cx="731520" cy="27432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40080" y="33284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32918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Caráter excepcional de suspensão, cassação e inidoneidade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758184"/>
            <a:ext cx="731520" cy="27432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40080" y="37581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32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481328" y="372160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julgadoras (URE, Gerência, Superintendência e Diretoria Colegiada)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187952"/>
            <a:ext cx="731520" cy="274320"/>
          </a:xfrm>
          <a:prstGeom prst="roundRect">
            <a:avLst>
              <a:gd name="adj" fmla="val 23333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640080" y="4187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38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4151376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Classificação: leve, média, grave e gravíssima, por faixas de multa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0" y="1143000"/>
            <a:ext cx="2834640" cy="2011680"/>
          </a:xfrm>
          <a:prstGeom prst="roundRect">
            <a:avLst>
              <a:gd name="adj" fmla="val 4545"/>
            </a:avLst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6035040" y="1261872"/>
            <a:ext cx="566928" cy="201168"/>
          </a:xfrm>
          <a:prstGeom prst="roundRect">
            <a:avLst>
              <a:gd name="adj" fmla="val 50000"/>
            </a:avLst>
          </a:prstGeom>
          <a:solidFill>
            <a:srgbClr val="1F9D6B"/>
          </a:solidFill>
          <a:ln w="12700">
            <a:solidFill>
              <a:srgbClr val="1F9D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 txBox="1"/>
          <p:nvPr/>
        </p:nvSpPr>
        <p:spPr>
          <a:xfrm>
            <a:off x="6035040" y="126187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6035040" y="1508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26-A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0" y="1847088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Penalidades e sua aplicação, autoridades julgadoras e classificação das infrações seguem as leis de regência e a norma do procedimento sancionador.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3291840"/>
            <a:ext cx="2834640" cy="1371600"/>
          </a:xfrm>
          <a:prstGeom prst="roundRect">
            <a:avLst>
              <a:gd name="adj" fmla="val 6667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 txBox="1"/>
          <p:nvPr/>
        </p:nvSpPr>
        <p:spPr>
          <a:xfrm>
            <a:off x="6035040" y="33649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Permanecem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035040" y="3639312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Arts. 32-A a 32-E (caducidade, extinção e intervenção) e arts. 39 a 41 (procedimento sancionador, penalidades contratuais e contagem de prazos).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INFRAÇÕES COMUNS · ART. 33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33: tipos alterados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78816"/>
              </p:ext>
            </p:extLst>
          </p:nvPr>
        </p:nvGraphicFramePr>
        <p:xfrm>
          <a:off x="457200" y="1143000"/>
          <a:ext cx="8229600" cy="212598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 até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Obras em desacordo com projetos autorizados pela Antaq e/ou poder concedente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Também em desacordo com o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cronograma físico-financeiro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contrato de outorga; projeto aprovado pela Antaq, poder concedente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 autoridade portuária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XXXIV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Desvio de finalidade de terrenos, áreas, equipamentos e instalações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 concessionária, também uso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desacordo com o PDZ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aprovado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XXXVII,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Descumprir contratos de concessão, arrendamento, adesão ou convênios de delegação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ampliado: uso temporário, espelho d'água, transição, passagem, uso público,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exploração em porto concedido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 milhão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XXXVII,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Regulamentos e normas da Antaq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Também do </a:t>
                      </a:r>
                      <a:r>
                        <a:rPr lang="en-US" sz="10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poder concedente e da autoridade portuária</a:t>
                      </a: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outras normas infralegais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R$ 500 mil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PORTUÁRIA E CONCESSIONÁRIAS · ART. 34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34: ajustes em informação e gestão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661916"/>
              </p:ext>
            </p:extLst>
          </p:nvPr>
        </p:nvGraphicFramePr>
        <p:xfrm>
          <a:off x="457200" y="1143000"/>
          <a:ext cx="8229600" cy="228295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 até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Divulgar mensalmente dados de movimentação, linhas regulares e operadores pré-qualificados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 divulgar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áreas disponíveis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para uso temporário, espelho d'água e uso público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decidir sobre conflitos entre agentes do porto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diligenciar ou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decidir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V,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Enviar contratos de uso temporário, cessão de uso, autorização de uso e passagem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 contratos de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exploração em porto concedido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de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 mil por documento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V,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Relatório de acompanhamento das operações e dos procedimentos de fiscalização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 e ROP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para a concessionária, documentos ou relatórios equivalentes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Permitir que máquinas ou veículos estacionem ou transitem de forma prejudicial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equipamentos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tráfego de veículos, </a:t>
                      </a:r>
                      <a:r>
                        <a:rPr lang="en-US" sz="110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pessoas</a:t>
                      </a: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cargas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 mil por máquina ou veículo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PORTUÁRIA E CONCESSIONÁRIAS · ART. 34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Art. 34: ajustes de conteúdo em tipos existentes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892552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Multa até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F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arrecadar os valores devidos a título de arrendamento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adotar medidas para a </a:t>
                      </a: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cobrança dos valores previstos em contratos de exploração portuária</a:t>
                      </a: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no porto organizado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R$ 100 mil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XXIV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manter a profundidade de projeto do canal, dos berços e da bacia de evolução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assegurar o </a:t>
                      </a: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 de dragagem</a:t>
                      </a: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manutenção, aprofundamento ou ampliação de acessos aquaviários, com remoção, escavação ou derrocamento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R$ 200 mil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submeter revisão ou reajuste de tarifas à aprovação prévia da Antaq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 a </a:t>
                      </a: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inclusão</a:t>
                      </a: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tarifas, quando exigido, conforme norma da Antaq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R$ 200 mil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fiscalizar a operação portuária quanto ao serviço 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Também </a:t>
                      </a: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deixar de adotar providências</a:t>
                      </a: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para regularizar a prestação do serviço adequado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R$ 200 mil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667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XXXI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7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Permitir exploração sem licitação, sem contrato válido, ou sem assinatura ou com contrato vencido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Suprime a expressão "</a:t>
                      </a:r>
                      <a:r>
                        <a:rPr lang="en-US" sz="1150" b="1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assinatura ou vencido</a:t>
                      </a: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 referido instrumento"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2D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 milhão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FISCALIZAÇÃO · LEITURA PRELIMINAR PARA DEBATE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na prática para quem fiscaliza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530352" cy="530352"/>
          </a:xfrm>
          <a:prstGeom prst="ellipse">
            <a:avLst/>
          </a:prstGeom>
          <a:solidFill>
            <a:srgbClr val="00667D"/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9" y="1318931"/>
            <a:ext cx="233355" cy="2333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1521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Universo fiscalizado maior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657600" y="11521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Concessionários, exploradores e terceiros em áreas operacionais entram no radar; áreas não operacionais, apenas quando houver impacto.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856232"/>
            <a:ext cx="530352" cy="530352"/>
          </a:xfrm>
          <a:prstGeom prst="ellipse">
            <a:avLst/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9" y="2004731"/>
            <a:ext cx="233355" cy="23335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8379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camadas em porto concedido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18379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concessionária fiscaliza diretamente e reporta; a Antaq acompanha o exercício dessa fiscalização e atua nos conflitos com usuários.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542032"/>
            <a:ext cx="530352" cy="530352"/>
          </a:xfrm>
          <a:prstGeom prst="ellipse">
            <a:avLst/>
          </a:prstGeom>
          <a:solidFill>
            <a:srgbClr val="00667D"/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699" y="2690531"/>
            <a:ext cx="233355" cy="23335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88720" y="25237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Novas condutas verificáveis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3657600" y="25237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tarifária, bens reversíveis, capital social, grupo econômico, certificações, banco de dados e dragagem.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227832"/>
            <a:ext cx="530352" cy="530352"/>
          </a:xfrm>
          <a:prstGeom prst="ellipse">
            <a:avLst/>
          </a:prstGeom>
          <a:solidFill>
            <a:srgbClr val="D98E1F"/>
          </a:solidFill>
          <a:ln w="12700">
            <a:solidFill>
              <a:srgbClr val="D98E1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699" y="3376331"/>
            <a:ext cx="233355" cy="23335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88720" y="32095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Instrução e julgamento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3657600" y="32095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e competência de julgamento passam à norma do procedimento sancionador (art. 26-A): atenção ao enquadramento e ao encaminhamento dos autos.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913632"/>
            <a:ext cx="530352" cy="530352"/>
          </a:xfrm>
          <a:prstGeom prst="ellipse">
            <a:avLst/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699" y="4062131"/>
            <a:ext cx="233355" cy="23335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88720" y="38953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Tipificação por agente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3657600" y="38953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a aplicabilidade de cada tipo: exclusões do art. 33 (§§2º, 3º e 5º) e tipos exclusivos de concessionárias (art. 34, §2º).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6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texto à prática: vigência e adequação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Minuta de alteração da Res. 75-ANTAQ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197864" y="1737360"/>
            <a:ext cx="6748272" cy="0"/>
          </a:xfrm>
          <a:prstGeom prst="line">
            <a:avLst/>
          </a:prstGeom>
          <a:noFill/>
          <a:ln w="31750">
            <a:solidFill>
              <a:srgbClr val="CFE6E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941832" y="1481328"/>
            <a:ext cx="512064" cy="512064"/>
          </a:xfrm>
          <a:prstGeom prst="ellipse">
            <a:avLst/>
          </a:prstGeom>
          <a:solidFill>
            <a:srgbClr val="00667D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941832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48640" y="23134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6517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Número, data e reunião de deliberação ainda em aberto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28900" y="1481328"/>
            <a:ext cx="512064" cy="512064"/>
          </a:xfrm>
          <a:prstGeom prst="ellipse">
            <a:avLst/>
          </a:prstGeom>
          <a:solidFill>
            <a:srgbClr val="00667D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262890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44268" y="2240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2235708" y="23134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Deliberação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235708" y="26517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Apreciação pela Diretoria Colegiada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5968" y="1481328"/>
            <a:ext cx="512064" cy="512064"/>
          </a:xfrm>
          <a:prstGeom prst="ellipse">
            <a:avLst/>
          </a:prstGeom>
          <a:solidFill>
            <a:srgbClr val="00667D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4315968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31336" y="2240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 txBox="1"/>
          <p:nvPr/>
        </p:nvSpPr>
        <p:spPr>
          <a:xfrm>
            <a:off x="3922776" y="23134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Publicação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922776" y="26517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da Resolução alteradora da Res. 75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03036" y="1481328"/>
            <a:ext cx="512064" cy="512064"/>
          </a:xfrm>
          <a:prstGeom prst="ellipse">
            <a:avLst/>
          </a:prstGeom>
          <a:solidFill>
            <a:srgbClr val="D98E1F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6003036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18404" y="2240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FCEFD6"/>
          </a:solidFill>
          <a:ln w="12700">
            <a:solidFill>
              <a:srgbClr val="F2C06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5609844" y="23134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dias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09844" y="26517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até a entrada em vigor (art. 4º da minuta)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690104" y="1481328"/>
            <a:ext cx="512064" cy="512064"/>
          </a:xfrm>
          <a:prstGeom prst="ellipse">
            <a:avLst/>
          </a:prstGeom>
          <a:solidFill>
            <a:srgbClr val="00667D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7690104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205472" y="2240280"/>
            <a:ext cx="1481328" cy="1371600"/>
          </a:xfrm>
          <a:prstGeom prst="roundRect">
            <a:avLst>
              <a:gd name="adj" fmla="val 5333"/>
            </a:avLst>
          </a:prstGeom>
          <a:solidFill>
            <a:srgbClr val="E6F3F5"/>
          </a:solidFill>
          <a:ln w="12700">
            <a:solidFill>
              <a:srgbClr val="E6F3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7296912" y="231343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F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296912" y="265176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roteiros, procedimentos e sistemas de fiscalização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A2F3F"/>
          </a:solidFill>
          <a:ln w="12700">
            <a:solidFill>
              <a:srgbClr val="0A2F3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685800" y="38862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deliberação e publicação: </a:t>
            </a:r>
            <a:r>
              <a:rPr lang="en-US" sz="125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os campos em branco da minuta. Datas a confirmar com a área responsável pelo processo.</a:t>
            </a:r>
            <a:endParaRPr lang="en-US" sz="12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377440"/>
            <a:ext cx="4206240" cy="4206240"/>
          </a:xfrm>
          <a:prstGeom prst="ellipse">
            <a:avLst/>
          </a:prstGeom>
          <a:solidFill>
            <a:srgbClr val="00667D">
              <a:alpha val="40000"/>
            </a:srgbClr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766560" y="-1280160"/>
            <a:ext cx="3474720" cy="3474720"/>
          </a:xfrm>
          <a:prstGeom prst="ellipse">
            <a:avLst/>
          </a:prstGeom>
          <a:solidFill>
            <a:srgbClr val="00667D">
              <a:alpha val="25000"/>
            </a:srgbClr>
          </a:solidFill>
          <a:ln w="12700">
            <a:solidFill>
              <a:srgbClr val="00667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Obrigado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!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E6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Alterações propostas na Resolução nº 75-ANTAQ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Nacional de Fiscalização 2026  ·  24/09/2026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3427</Words>
  <Application>Microsoft Office PowerPoint</Application>
  <PresentationFormat>Apresentação na tela (16:9)</PresentationFormat>
  <Paragraphs>372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Alterações propostas na Resolução nº 75-ANTAQ</dc:title>
  <dc:subject>PptxGenJS Presentation</dc:subject>
  <dc:creator>Antaq</dc:creator>
  <cp:lastModifiedBy>Fabio Queiroz Fonseca</cp:lastModifiedBy>
  <cp:revision>10</cp:revision>
  <dcterms:created xsi:type="dcterms:W3CDTF">2026-09-23T18:54:35Z</dcterms:created>
  <dcterms:modified xsi:type="dcterms:W3CDTF">2026-09-24T16:45:09Z</dcterms:modified>
</cp:coreProperties>
</file>