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5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Objetivo da fala: mostrar, com os números do Relatório Gerencial de Fiscalização do PAF 2026 (v2.0, setembro/2026), onde os processos falham, por que isso importa juridicamente e o que já está proposto para corrigir. Tese central: a disfunção nasce no planejamento e se agrava na redação do ato sancionador.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Situar a plateia: são 391 processos, dos quais 119 arquivados e 272 em andamento. Os dois blocos permitem duas leituras distintas: nos arquivados, avaliamos a qualidade do planejamento; nos ativos, o caminho até a sanção e a qualidade da tipificação.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Dos 119 arquivados, 93 (78,2%) estão conformes e 26 (21,8%) apresentam falhas. A maioria conforme é boa notícia, mas 26 processos encerrados com vício de origem significam ações cuja robustez depende de sorte, e não de método. Atenção: as falhas são de planejamento, ou seja, aparecem antes de qualquer diligência a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As quatro primeiras barras em âmbar (listagem de infrações, itens faltantes, assinatura e modelo em branco) somam 19 das 26 ocorrências e mostram que o problema dominante não é sofisticação técnica, é completude documental. A soma das categorias é 26 (6+5+4+4+2+2+1+1+1). Cada barra corresponde a um vício que um checklist eletrônico bloquearia.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Proposta de leitura: reagrupei as nove categorias em quatro famílias. 14 de 26 (53,8%) referem-se ao conteúdo do planejamento; 6 (23,1%) à ausência da peça; 4 (15,4%) ao vício formal de assinatura; 2 (7,7%) ao enquadramento. Esse agrupamento é análise minha, não classificação do Relatório. Mensagem: a solução principal é preventiva e de conteúdo mínimo obrigatório.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Em volume, são apenas 2 casos, mas o efeito é desproporcional: um enquadramento errado (Res. 41 em vez de Res. 1.558, ou empresa do grupo A1 tratada no regramento C2) compromete a fundamentação de tudo o que vem depois. Opinião do apresentador: é a disfunção mais barata de prevenir e a mais cara de corrigir na fase recursal.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Mudança de foco: dos arquivados para os 272 ativos. 46 (16,9%) já têm indicativos diretos de autuação (NOCI, AI lavrado ou previsão formal de AI). Note que o Relatório fala em indicativos, não em sanções aplicadas. Transição para a pergunta central: esses 46 estão sendo redigidos de forma a resistir ao contraditório?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Comparar as três formulações. A genérica obriga o autuado a adivinhar a acusação e obriga o julgador a reconstituir o fato. A específica delimita o objeto do processo. E a omissão total merece redação própria, pois é conduta distinta de cumprimento parcial. Sugerir à plateia que adote a fórmula nas minutas-padrão de AI e NOCI.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Ligar a técnica ao direito. Redação genérica não é apenas questão de estilo: afeta o núcleo do devido processo administrativo. Ressalva para a plateia: a Lei nº 9.784/1999 incide de forma subsidiária sobre os processos sancionadores da Agência, cujo rito próprio segue a regulamentação da ANTAQ; convém conferir os dispositivos aplicáveis ao rito vigente antes de citá-los em peças formais.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Três frentes do plano do Relatório. A 01 é preventiva e automatizável; a 02 é de capacitação; a 03 é de padronização de texto. Comentário: a 01 trata a causa mais frequente das falhas identificadas (planejamento incompleto ou sem assinatura); a 03 trata o risco maior na ponta sancionatória. Sugerir ordem de implantação: 01, 03 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Fechamento com as três mensagens. Reforçar que os números do Relatório apontam para falhas simples e evitáveis, o que é uma boa notícia: o custo de correção é baixo em relação ao risco jurídico evitado.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ENCONTRO NACIONAL DE FISCALIZAÇÃO · ENAFIS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15773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Disfunções nos processos de fiscalização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47770"/>
            <a:ext cx="10883392" cy="65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acompanhamento de 391 processos do PAF 2026 revela sobre planejamento, tipificação e sanção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54711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Fábio Queiroz Fonseca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8140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de Recursos e Apoio Técnico (GRAT) · SFC/ANTAQ · 24 de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391 processos analisados, 30,4% já arquivados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0"/>
            <a:ext cx="3379867" cy="2471420"/>
          </a:xfrm>
          <a:prstGeom prst="roundRect">
            <a:avLst>
              <a:gd name="adj" fmla="val 4111"/>
            </a:avLst>
          </a:prstGeom>
          <a:solidFill>
            <a:srgbClr val="14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7600" y="1920240"/>
            <a:ext cx="285337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391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17600" y="2948940"/>
            <a:ext cx="2853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analisados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3309620"/>
            <a:ext cx="28533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100,0% do acervo do PAF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9042" y="1618615"/>
            <a:ext cx="3383756" cy="246507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05747" y="1925320"/>
            <a:ext cx="2853457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1F6F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119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4705747" y="2954020"/>
            <a:ext cx="28534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5747" y="3314700"/>
            <a:ext cx="28534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30,4% · fase fiscalizatória concluída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349" y="1618615"/>
            <a:ext cx="3383677" cy="246507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99053" y="1925320"/>
            <a:ext cx="285337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9A5F0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272</a:t>
            </a:r>
            <a:endParaRPr lang="en-US" sz="7500" dirty="0"/>
          </a:p>
        </p:txBody>
      </p:sp>
      <p:sp>
        <p:nvSpPr>
          <p:cNvPr id="13" name="Text 11"/>
          <p:cNvSpPr/>
          <p:nvPr/>
        </p:nvSpPr>
        <p:spPr>
          <a:xfrm>
            <a:off x="8299053" y="2954020"/>
            <a:ext cx="2853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andamento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99053" y="3314700"/>
            <a:ext cx="28533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69,6% · fase ativa de apuração e instrução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4424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da avaliação: conformidade metodológica, instrução probatória e progresso sancionatório, por grupo de risco.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em cada cinco processos arquivados apresenta inconformidade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062480"/>
            <a:ext cx="8261350" cy="76200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2265680"/>
            <a:ext cx="1378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· 78,2%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74150" y="2062480"/>
            <a:ext cx="2305050" cy="762000"/>
          </a:xfrm>
          <a:prstGeom prst="rect">
            <a:avLst/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28150" y="2265680"/>
            <a:ext cx="13381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· 21,8%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180080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153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Finalizados em estrita conformidade técnica e procedimental.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9200" y="3180080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inconformidades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99200" y="35153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Falhas formais ou de planejamento que exigem atenção no aprimoramento das operações futuras.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base: 119 arquivados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Nove categorias de falha nos 26 processos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242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listagem das infrações a verificar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99200" y="1579880"/>
            <a:ext cx="4191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42600" y="1564641"/>
            <a:ext cx="18081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96850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faltantes no planejamento formal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99200" y="1965961"/>
            <a:ext cx="34925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944100" y="1950720"/>
            <a:ext cx="1752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35458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assinatura no planejamento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9200" y="2352041"/>
            <a:ext cx="2794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245600" y="2336800"/>
            <a:ext cx="18613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74066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não preenchido (modelo em branco)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9200" y="2738120"/>
            <a:ext cx="2794000" cy="254000"/>
          </a:xfrm>
          <a:prstGeom prst="roundRect">
            <a:avLst>
              <a:gd name="adj" fmla="val 15000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245600" y="2722880"/>
            <a:ext cx="18613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312674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sem menção ao CRI 2026 / sem infrações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9200" y="3124200"/>
            <a:ext cx="13970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848600" y="3108961"/>
            <a:ext cx="1774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351282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completa de planejamento nos autos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99200" y="3510280"/>
            <a:ext cx="13970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848600" y="3495041"/>
            <a:ext cx="1774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389890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com baixo detalhamento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99200" y="3896361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150100" y="388112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4284980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incorreta de norma (Res. 41 × Res. 1.558)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99200" y="4282441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150100" y="426720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4671061"/>
            <a:ext cx="5494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Enquadramento incorreto de grupo de risco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99200" y="4668520"/>
            <a:ext cx="698500" cy="25400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150100" y="4653280"/>
            <a:ext cx="1367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39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quantidade de processos por categoria (n = 26)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Metade das falhas está no conteúdo do planejamento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66800" y="2514600"/>
            <a:ext cx="2040636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do planejamento · 53,8%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3335021"/>
            <a:ext cx="2040636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listagem de infrações (6)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faltantes (5)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menção ao CRI 2026 ou infrações (2)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detalhamento 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52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592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759200" y="2514600"/>
            <a:ext cx="204063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da peça · 23,1%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59200" y="3091182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em branco (4)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completa nos autos (2)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76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516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51600" y="2514600"/>
            <a:ext cx="20406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Vício formal · 15,4%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1600" y="2847339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assinatura no planejamento (4)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90000" y="1536700"/>
            <a:ext cx="2489200" cy="3389630"/>
          </a:xfrm>
          <a:prstGeom prst="roundRect">
            <a:avLst>
              <a:gd name="adj" fmla="val 4082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0" y="1790700"/>
            <a:ext cx="20406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9144000" y="2514600"/>
            <a:ext cx="204063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Enquadramento · 7,7%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091182"/>
            <a:ext cx="204063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 incorreta (1)</a:t>
            </a:r>
            <a:endParaRPr lang="en-US" sz="1300" dirty="0"/>
          </a:p>
          <a:p>
            <a:pPr marL="198120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risco incorreto (1)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Erros de enquadramento são raros e de alto impacto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2142490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22680" y="1874521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 incorreta · 1 processo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2680" y="2235200"/>
            <a:ext cx="46986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Aplicada a Resolução 41 a caso longitudinal.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2680" y="2603500"/>
            <a:ext cx="46986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Correto: Resolução 1.558.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567814"/>
            <a:ext cx="5175250" cy="2142490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07480" y="1874521"/>
            <a:ext cx="469869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risco incorreto · 1 processo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7480" y="2235200"/>
            <a:ext cx="46986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do grupo A1 fiscalizada no regramento C2.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7480" y="2870200"/>
            <a:ext cx="46986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Correto: validar porte e grupo antes do planejamento.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4018282"/>
            <a:ext cx="10566400" cy="1270000"/>
          </a:xfrm>
          <a:prstGeom prst="roundRect">
            <a:avLst>
              <a:gd name="adj" fmla="val 8000"/>
            </a:avLst>
          </a:prstGeom>
          <a:solidFill>
            <a:srgbClr val="1426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7600" y="4323082"/>
            <a:ext cx="1025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enquadramento errado contamina toda a instrução seguinte: o auto nasce sobre base normativa ou regime de risco equivocado.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 272 processos ativos, 46 já indicam sanção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39"/>
            <a:ext cx="1784350" cy="762000"/>
          </a:xfrm>
          <a:prstGeom prst="rect">
            <a:avLst/>
          </a:prstGeom>
          <a:solidFill>
            <a:srgbClr val="C888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16000" y="1818639"/>
            <a:ext cx="1349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· 16,9%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97150" y="1615439"/>
            <a:ext cx="8782050" cy="76200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851150" y="1818639"/>
            <a:ext cx="4662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 · 83,1% em apuração e instrução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2733039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Indicativos diretos de sanção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068321"/>
            <a:ext cx="52324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Emissão de NOCI</a:t>
            </a:r>
            <a:endParaRPr lang="en-US" sz="1500" dirty="0"/>
          </a:p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Lavratura de Auto de Infração</a:t>
            </a:r>
            <a:endParaRPr lang="en-US" sz="1500" dirty="0"/>
          </a:p>
          <a:p>
            <a:pPr marL="228600" indent="-1765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formal de previsão de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9200" y="2733039"/>
            <a:ext cx="523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 fase importa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99200" y="3068321"/>
            <a:ext cx="523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aqui que a redação do fato punível se torna decisiva: um auto genérico transfere para a fase recursal um problema criado na instrução.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descrição do fato punível define a solidez do auto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264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71880" y="1823721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9A5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 atual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880" y="2194561"/>
            <a:ext cx="2954507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apresentou documentos solicitados (via Ofício XX).”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3144521"/>
            <a:ext cx="295450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a clareza instrutória e fragiliza o contraditório.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567814"/>
            <a:ext cx="3380343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1694" y="182372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recomendado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1694" y="2194561"/>
            <a:ext cx="2954589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apresentou a apólice de seguro contra terceiros, o certificado de vistoria do Corpo de Bombeiros e as demonstrações contábeis auditadas.”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1694" y="3967482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Explicitar exatamente a documentação faltante.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682" y="1567814"/>
            <a:ext cx="3380343" cy="311785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51587" y="182372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Omissão total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1587" y="2194561"/>
            <a:ext cx="2954589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i="1" dirty="0">
                <a:solidFill>
                  <a:srgbClr val="1B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empresa não enviou qualquer documento ou resposta ao Ofício XX.”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1587" y="3144521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Consignar textualmente na certidão ou no auto.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 · amostragem de Autos de Infração e Notificações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Consequências jurídicas de uma autuação genérica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2"/>
            <a:ext cx="10566400" cy="1127760"/>
          </a:xfrm>
          <a:prstGeom prst="roundRect">
            <a:avLst>
              <a:gd name="adj" fmla="val 9009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7600" y="1793242"/>
            <a:ext cx="340106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Contraditório e ampla defesa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24400" y="1861821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saber exatamente o que faltou, o autuado não consegue se defender. Base: Constituição Federal, art. 5º, LV.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44800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17600" y="3172464"/>
            <a:ext cx="34010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Motivação do ato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24400" y="307340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ato sancionador precisa indicar os fatos e fundamentos jurídicos. Base: Lei nº 9.784/1999, arts. 2º e 50.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987800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D34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7600" y="4315464"/>
            <a:ext cx="34010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Risco de anulação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24400" y="421640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Relatório aponta a robustez jurídica como meio de evitar anulações na fase recursal.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CF/1988; Lei nº 9.784/1999 (aplicação subsidiária); Relatório PAF 2026, v2.0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6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Plano de ação e melhoria contínua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7"/>
            <a:ext cx="3380264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97280" y="1849121"/>
            <a:ext cx="29021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407921"/>
            <a:ext cx="2902183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Padronização de checklists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3027679"/>
            <a:ext cx="290218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eletrônica obrigatória: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arquivado sem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indicação</a:t>
            </a: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 de infrações.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1567817"/>
            <a:ext cx="3380343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87094" y="1849121"/>
            <a:ext cx="29022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87094" y="2407921"/>
            <a:ext cx="290226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qualificação normativa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87094" y="3027679"/>
            <a:ext cx="2902265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Reciclagem técnica das equipes: uso correto da Resolução 1.558 em detrimento da 41 e rigor na validação de porte e grupo (A1 × C2).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682" y="1567817"/>
            <a:ext cx="3380343" cy="298577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6350">
            <a:solidFill>
              <a:srgbClr val="D9D5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76987" y="1849121"/>
            <a:ext cx="29022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88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76987" y="2407921"/>
            <a:ext cx="290226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6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redacional das autuações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6987" y="3027679"/>
            <a:ext cx="2902265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 nominal dos documentos não entregues nos AIs e NOCIs, com maior robustez jurídica e menos anulações recursais.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8502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Relatório Gerencial de Fiscalização, PAF 2026, v2.0, seção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4F2E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Três mensagens para levar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42"/>
            <a:ext cx="81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1798321"/>
            <a:ext cx="9836912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disfunção nasce no planejamento: 26 dos 119 arquivados (21,8%).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2327275"/>
            <a:ext cx="81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2510154"/>
            <a:ext cx="9836912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redação específica protege a sanção: 46 dos 272 ativos já indicam autuação.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039114"/>
            <a:ext cx="81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0A94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3221992"/>
            <a:ext cx="9836912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Prevenir é padronizar: checklist eletrônico, matriz normativa e detalhamento nominal.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1614</Words>
  <Application>Microsoft Office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Inter</vt:lpstr>
      <vt:lpstr>Source Serif 4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ENAFIS 2026 — Disfunções nos processos de fiscalização (PAF 2026)</dc:title>
  <dc:subject>PptxGenJS Presentation</dc:subject>
  <dc:creator>PptxGenJS</dc:creator>
  <cp:lastModifiedBy>Fabio Queiroz Fonseca</cp:lastModifiedBy>
  <cp:revision>2</cp:revision>
  <dcterms:created xsi:type="dcterms:W3CDTF">2026-09-24T17:14:50Z</dcterms:created>
  <dcterms:modified xsi:type="dcterms:W3CDTF">2026-09-24T17:20:26Z</dcterms:modified>
</cp:coreProperties>
</file>